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88163" cy="100171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14" d="100"/>
          <a:sy n="114" d="100"/>
        </p:scale>
        <p:origin x="1291" y="-379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406" cy="500515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208" y="0"/>
            <a:ext cx="2984405" cy="500515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r">
              <a:defRPr sz="1200"/>
            </a:lvl1pPr>
          </a:lstStyle>
          <a:p>
            <a:fld id="{F6F32C0F-4A7B-483C-B18C-F5B4D22CAD9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6763" y="752475"/>
            <a:ext cx="2816225" cy="3756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53" tIns="46077" rIns="92153" bIns="4607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353" y="4757452"/>
            <a:ext cx="5511460" cy="4508047"/>
          </a:xfrm>
          <a:prstGeom prst="rect">
            <a:avLst/>
          </a:prstGeom>
        </p:spPr>
        <p:txBody>
          <a:bodyPr vert="horz" lIns="92153" tIns="46077" rIns="92153" bIns="4607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4902"/>
            <a:ext cx="2984406" cy="500515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208" y="9514902"/>
            <a:ext cx="2984405" cy="500515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r">
              <a:defRPr sz="1200"/>
            </a:lvl1pPr>
          </a:lstStyle>
          <a:p>
            <a:fld id="{6C6D4870-BC03-4209-BF57-0CD9A8351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1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D4870-BC03-4209-BF57-0CD9A83515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3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03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0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0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59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0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7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0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2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5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F1361-4AC9-4CA1-AB8B-351103BCDA6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59178-CCD6-478E-9F3D-9B048519C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0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mcrbaggao@gmail.com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76200"/>
            <a:ext cx="6629400" cy="830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>
              <a:latin typeface="OCR A Extended" panose="02010509020102010303" pitchFamily="50" charset="0"/>
            </a:endParaRPr>
          </a:p>
          <a:p>
            <a:endParaRPr lang="en-US" sz="1200" dirty="0">
              <a:latin typeface="OCR A Extended" panose="02010509020102010303" pitchFamily="50" charset="0"/>
            </a:endParaRPr>
          </a:p>
          <a:p>
            <a:endParaRPr lang="en-US" sz="1200" dirty="0">
              <a:latin typeface="OCR A Extended" panose="02010509020102010303" pitchFamily="50" charset="0"/>
            </a:endParaRPr>
          </a:p>
          <a:p>
            <a:endParaRPr lang="en-US" sz="1200" dirty="0">
              <a:latin typeface="OCR A Extended" panose="02010509020102010303" pitchFamily="50" charset="0"/>
            </a:endParaRPr>
          </a:p>
          <a:p>
            <a:endParaRPr lang="en-US" sz="1200" dirty="0">
              <a:latin typeface="OCR A Extended" panose="02010509020102010303" pitchFamily="50" charset="0"/>
            </a:endParaRPr>
          </a:p>
          <a:p>
            <a:endParaRPr lang="en-US" sz="1200" dirty="0">
              <a:latin typeface="OCR A Extended" panose="02010509020102010303" pitchFamily="50" charset="0"/>
            </a:endParaRPr>
          </a:p>
          <a:p>
            <a:endParaRPr lang="en-US" sz="1200" dirty="0">
              <a:latin typeface="OCR A Extended" panose="02010509020102010303" pitchFamily="50" charset="0"/>
            </a:endParaRPr>
          </a:p>
          <a:p>
            <a:r>
              <a:rPr lang="en-US" sz="1200" dirty="0">
                <a:latin typeface="OCR A Extended" panose="02010509020102010303" pitchFamily="50" charset="0"/>
              </a:rPr>
              <a:t>Publication Notice</a:t>
            </a:r>
          </a:p>
          <a:p>
            <a:r>
              <a:rPr lang="en-US" sz="1200" dirty="0">
                <a:latin typeface="OCR A Extended" panose="02010509020102010303" pitchFamily="50" charset="0"/>
              </a:rPr>
              <a:t>R.A. 10172/9048</a:t>
            </a:r>
            <a:endParaRPr lang="en-US" sz="1200" b="1" dirty="0">
              <a:latin typeface="OCR A Extended" panose="02010509020102010303" pitchFamily="50" charset="0"/>
            </a:endParaRPr>
          </a:p>
          <a:p>
            <a:pPr algn="ctr"/>
            <a:r>
              <a:rPr lang="en-US" sz="1200" b="1" dirty="0">
                <a:latin typeface="OCR A Extended" panose="02010509020102010303" pitchFamily="50" charset="0"/>
              </a:rPr>
              <a:t>NOTICE TO THE PUBLIC</a:t>
            </a:r>
          </a:p>
          <a:p>
            <a:r>
              <a:rPr lang="en-US" sz="1200" dirty="0">
                <a:latin typeface="OCR A Extended" panose="02010509020102010303" pitchFamily="50" charset="0"/>
              </a:rPr>
              <a:t>CFN – </a:t>
            </a:r>
            <a:r>
              <a:rPr lang="en-US" sz="1200" b="1" u="sng" dirty="0">
                <a:latin typeface="OCR A Extended" panose="02010509020102010303" pitchFamily="50" charset="0"/>
              </a:rPr>
              <a:t>0009-2026</a:t>
            </a:r>
          </a:p>
          <a:p>
            <a:r>
              <a:rPr lang="en-US" sz="1200" dirty="0">
                <a:latin typeface="OCR A Extended" panose="02010509020102010303" pitchFamily="50" charset="0"/>
              </a:rPr>
              <a:t>CCE – </a:t>
            </a:r>
            <a:r>
              <a:rPr lang="en-US" sz="1200" b="1" u="sng" dirty="0">
                <a:latin typeface="OCR A Extended" panose="02010509020102010303" pitchFamily="50" charset="0"/>
              </a:rPr>
              <a:t>0000-0000</a:t>
            </a:r>
            <a:r>
              <a:rPr lang="en-US" sz="1200" dirty="0">
                <a:latin typeface="OCR A Extended" panose="02010509020102010303" pitchFamily="50" charset="0"/>
              </a:rPr>
              <a:t>		  	                          Date: </a:t>
            </a:r>
            <a:r>
              <a:rPr lang="en-US" sz="1200" b="1" u="sng" dirty="0">
                <a:latin typeface="OCR A Extended" panose="02010509020102010303" pitchFamily="50" charset="0"/>
              </a:rPr>
              <a:t>April 20, 2026</a:t>
            </a:r>
          </a:p>
          <a:p>
            <a:endParaRPr lang="en-US" sz="1200" b="1" u="sng" dirty="0">
              <a:latin typeface="OCR A Extended" panose="02010509020102010303" pitchFamily="50" charset="0"/>
            </a:endParaRPr>
          </a:p>
          <a:p>
            <a:pPr algn="just"/>
            <a:r>
              <a:rPr lang="en-US" sz="1200" dirty="0">
                <a:latin typeface="OCR A Extended" panose="02010509020102010303" pitchFamily="50" charset="0"/>
              </a:rPr>
              <a:t>	In Compliance with the publication requirement and pursuant to OCRG Memorandum Circular No. 2013-1 Guidelines in the Implementation of Administrative Order No. 1  Series of 2012 (IRR on R.A. 10172), Notice is hereby served to the public that </a:t>
            </a:r>
            <a:r>
              <a:rPr lang="en-US" sz="1200" b="1" u="sng" dirty="0">
                <a:latin typeface="OCR A Extended" panose="02010509020102010303" pitchFamily="50" charset="0"/>
              </a:rPr>
              <a:t>MERLIN ANTONIO CASTILLO</a:t>
            </a:r>
            <a:r>
              <a:rPr lang="en-US" sz="1200" b="1" dirty="0">
                <a:latin typeface="OCR A Extended" panose="02010509020102010303" pitchFamily="50" charset="0"/>
              </a:rPr>
              <a:t> </a:t>
            </a:r>
            <a:r>
              <a:rPr lang="en-US" sz="1200" dirty="0">
                <a:latin typeface="OCR A Extended" panose="02010509020102010303" pitchFamily="50" charset="0"/>
              </a:rPr>
              <a:t>has filed with this Office, a petition for:</a:t>
            </a:r>
          </a:p>
          <a:p>
            <a:pPr algn="just"/>
            <a:endParaRPr lang="en-US" sz="1200" dirty="0">
              <a:latin typeface="OCR A Extended" panose="02010509020102010303" pitchFamily="50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OCR A Extended" panose="02010509020102010303" pitchFamily="50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OCR A Extended" panose="02010509020102010303" pitchFamily="50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OCR A Extended" panose="02010509020102010303" pitchFamily="50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OCR A Extended" panose="02010509020102010303" pitchFamily="50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OCR A Extended" panose="02010509020102010303" pitchFamily="50" charset="0"/>
            </a:endParaRPr>
          </a:p>
          <a:p>
            <a:pPr algn="just"/>
            <a:endParaRPr lang="en-US" sz="1200" dirty="0">
              <a:latin typeface="OCR A Extended" panose="02010509020102010303" pitchFamily="50" charset="0"/>
            </a:endParaRPr>
          </a:p>
          <a:p>
            <a:pPr algn="just"/>
            <a:endParaRPr lang="en-US" sz="1200" dirty="0">
              <a:latin typeface="OCR A Extended" panose="02010509020102010303" pitchFamily="50" charset="0"/>
            </a:endParaRPr>
          </a:p>
          <a:p>
            <a:pPr algn="just"/>
            <a:endParaRPr lang="en-US" sz="1200" dirty="0">
              <a:latin typeface="OCR A Extended" panose="02010509020102010303" pitchFamily="50" charset="0"/>
            </a:endParaRPr>
          </a:p>
          <a:p>
            <a:pPr algn="just"/>
            <a:endParaRPr lang="en-US" sz="1200" dirty="0">
              <a:latin typeface="OCR A Extended" panose="02010509020102010303" pitchFamily="50" charset="0"/>
            </a:endParaRPr>
          </a:p>
          <a:p>
            <a:pPr algn="just"/>
            <a:endParaRPr lang="en-US" sz="1200" dirty="0">
              <a:latin typeface="OCR A Extended" panose="02010509020102010303" pitchFamily="50" charset="0"/>
            </a:endParaRPr>
          </a:p>
          <a:p>
            <a:pPr algn="just"/>
            <a:r>
              <a:rPr lang="en-US" sz="1200" dirty="0">
                <a:latin typeface="OCR A Extended" panose="02010509020102010303" pitchFamily="50" charset="0"/>
              </a:rPr>
              <a:t>in the certificate of live birth of </a:t>
            </a:r>
            <a:r>
              <a:rPr lang="en-US" sz="1200" b="1" u="sng" dirty="0">
                <a:latin typeface="OCR A Extended" panose="02010509020102010303" pitchFamily="50" charset="0"/>
              </a:rPr>
              <a:t>MARLENE ANTONIO</a:t>
            </a:r>
            <a:r>
              <a:rPr lang="en-US" sz="1200" b="1" dirty="0">
                <a:latin typeface="OCR A Extended" panose="02010509020102010303" pitchFamily="50" charset="0"/>
              </a:rPr>
              <a:t> </a:t>
            </a:r>
            <a:r>
              <a:rPr lang="en-US" sz="1200" dirty="0">
                <a:latin typeface="OCR A Extended" panose="02010509020102010303" pitchFamily="50" charset="0"/>
              </a:rPr>
              <a:t>at </a:t>
            </a:r>
            <a:r>
              <a:rPr lang="en-US" sz="1200" b="1" u="sng" dirty="0">
                <a:latin typeface="OCR A Extended" panose="02010509020102010303" pitchFamily="50" charset="0"/>
              </a:rPr>
              <a:t>BAGGAO, CAGAYAN</a:t>
            </a:r>
            <a:r>
              <a:rPr lang="en-US" sz="1200" b="1" dirty="0">
                <a:latin typeface="OCR A Extended" panose="02010509020102010303" pitchFamily="50" charset="0"/>
              </a:rPr>
              <a:t> </a:t>
            </a:r>
            <a:r>
              <a:rPr lang="en-US" sz="1200" dirty="0">
                <a:latin typeface="OCR A Extended" panose="02010509020102010303" pitchFamily="50" charset="0"/>
              </a:rPr>
              <a:t>whose parents are </a:t>
            </a:r>
            <a:r>
              <a:rPr lang="en-US" sz="1200" b="1" u="sng" dirty="0">
                <a:latin typeface="OCR A Extended" panose="02010509020102010303" pitchFamily="50" charset="0"/>
              </a:rPr>
              <a:t>CANDIDO ANTONIO &amp; JULIETA DOMINGO</a:t>
            </a:r>
            <a:r>
              <a:rPr lang="en-US" sz="1200" dirty="0">
                <a:latin typeface="OCR A Extended" panose="02010509020102010303" pitchFamily="50" charset="0"/>
              </a:rPr>
              <a:t>.</a:t>
            </a:r>
          </a:p>
          <a:p>
            <a:pPr algn="just"/>
            <a:endParaRPr lang="en-US" sz="1200" dirty="0">
              <a:latin typeface="OCR A Extended" panose="02010509020102010303" pitchFamily="50" charset="0"/>
            </a:endParaRPr>
          </a:p>
          <a:p>
            <a:pPr algn="just"/>
            <a:r>
              <a:rPr lang="en-US" sz="1200" dirty="0">
                <a:latin typeface="OCR A Extended" panose="02010509020102010303" pitchFamily="50" charset="0"/>
              </a:rPr>
              <a:t>	Any person adversely affected by said petition may file his/her written opposition with this Office not later </a:t>
            </a:r>
            <a:r>
              <a:rPr lang="en-US" sz="1200">
                <a:latin typeface="OCR A Extended" panose="02010509020102010303" pitchFamily="50" charset="0"/>
              </a:rPr>
              <a:t>than </a:t>
            </a:r>
            <a:r>
              <a:rPr lang="en-US" sz="1200" b="1" u="sng">
                <a:latin typeface="OCR A Extended" panose="02010509020102010303" pitchFamily="50" charset="0"/>
              </a:rPr>
              <a:t>MAY 04, 2026</a:t>
            </a:r>
            <a:r>
              <a:rPr lang="en-US" sz="1200">
                <a:latin typeface="OCR A Extended" panose="02010509020102010303" pitchFamily="50" charset="0"/>
              </a:rPr>
              <a:t>.</a:t>
            </a:r>
            <a:endParaRPr lang="en-US" sz="1200" dirty="0">
              <a:latin typeface="OCR A Extended" panose="02010509020102010303" pitchFamily="50" charset="0"/>
            </a:endParaRPr>
          </a:p>
          <a:p>
            <a:pPr algn="just"/>
            <a:endParaRPr lang="en-US" sz="1200" b="1" u="sng" dirty="0">
              <a:latin typeface="OCR A Extended" panose="02010509020102010303" pitchFamily="50" charset="0"/>
            </a:endParaRPr>
          </a:p>
          <a:p>
            <a:pPr lvl="8"/>
            <a:r>
              <a:rPr lang="en-US" sz="1200" b="1" dirty="0">
                <a:latin typeface="OCR A Extended" panose="02010509020102010303" pitchFamily="50" charset="0"/>
              </a:rPr>
              <a:t> ATANACIO G. TUNGPALAN</a:t>
            </a:r>
          </a:p>
          <a:p>
            <a:pPr lvl="8"/>
            <a:r>
              <a:rPr lang="en-US" sz="1200" dirty="0">
                <a:latin typeface="OCR A Extended" panose="02010509020102010303" pitchFamily="50" charset="0"/>
              </a:rPr>
              <a:t>Municipal Civil Registrar</a:t>
            </a:r>
          </a:p>
          <a:p>
            <a:pPr marL="2054225" lvl="8" indent="-2054225"/>
            <a:r>
              <a:rPr lang="en-US" sz="1200" dirty="0">
                <a:latin typeface="OCR A Extended" panose="02010509020102010303" pitchFamily="50" charset="0"/>
              </a:rPr>
              <a:t>Name of Newspaper	: </a:t>
            </a:r>
            <a:r>
              <a:rPr lang="en-US" sz="1200" u="sng" dirty="0">
                <a:latin typeface="OCR A Extended" panose="02010509020102010303" pitchFamily="50" charset="0"/>
              </a:rPr>
              <a:t>The Northern Forum</a:t>
            </a:r>
          </a:p>
          <a:p>
            <a:pPr marL="2054225" lvl="8" indent="-2054225"/>
            <a:r>
              <a:rPr lang="en-US" sz="1200" dirty="0">
                <a:latin typeface="OCR A Extended" panose="02010509020102010303" pitchFamily="50" charset="0"/>
              </a:rPr>
              <a:t>Place of Publication	: </a:t>
            </a:r>
            <a:r>
              <a:rPr lang="en-US" sz="1200" u="sng" dirty="0" err="1">
                <a:latin typeface="OCR A Extended" panose="02010509020102010303" pitchFamily="50" charset="0"/>
              </a:rPr>
              <a:t>Tuguegarao</a:t>
            </a:r>
            <a:r>
              <a:rPr lang="en-US" sz="1200" u="sng" dirty="0">
                <a:latin typeface="OCR A Extended" panose="02010509020102010303" pitchFamily="50" charset="0"/>
              </a:rPr>
              <a:t> City, Cagayan</a:t>
            </a:r>
          </a:p>
          <a:p>
            <a:pPr marL="2054225" lvl="8" indent="-2054225"/>
            <a:r>
              <a:rPr lang="en-US" sz="1200" dirty="0">
                <a:latin typeface="OCR A Extended" panose="02010509020102010303" pitchFamily="50" charset="0"/>
              </a:rPr>
              <a:t>Date of Publication	: </a:t>
            </a:r>
            <a:r>
              <a:rPr lang="en-US" sz="1200" u="sng" dirty="0">
                <a:latin typeface="OCR A Extended" panose="02010509020102010303" pitchFamily="50" charset="0"/>
              </a:rPr>
              <a:t>APRIL 26, 2026 &amp; MAY 03, 2026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043380"/>
              </p:ext>
            </p:extLst>
          </p:nvPr>
        </p:nvGraphicFramePr>
        <p:xfrm>
          <a:off x="304800" y="3657600"/>
          <a:ext cx="6248400" cy="2172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65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OCR A Extended" panose="02010509020102010303" pitchFamily="50" charset="0"/>
                          <a:cs typeface="Aharoni" pitchFamily="2" charset="-79"/>
                        </a:rPr>
                        <a:t>NATURE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OCR A Extended" panose="02010509020102010303" pitchFamily="50" charset="0"/>
                          <a:cs typeface="Aharoni" pitchFamily="2" charset="-79"/>
                        </a:rPr>
                        <a:t>FROM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OCR A Extended" panose="02010509020102010303" pitchFamily="50" charset="0"/>
                          <a:cs typeface="Aharoni" pitchFamily="2" charset="-79"/>
                        </a:rPr>
                        <a:t>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65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+mj-lt"/>
                        </a:rPr>
                        <a:t>CHANGE OF FIRST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+mj-lt"/>
                        </a:rPr>
                        <a:t>MARLENE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j-lt"/>
                        </a:rPr>
                        <a:t>MERLIN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286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OCR A Extended" panose="02010509020102010303" pitchFamily="50" charset="0"/>
                          <a:cs typeface="Aharoni" pitchFamily="2" charset="-79"/>
                        </a:rPr>
                        <a:t>CORRECTION OF CLERICAL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8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j-lt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-.-</a:t>
                      </a:r>
                      <a:endParaRPr lang="en-PH" sz="1200" b="1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j-lt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-.-</a:t>
                      </a:r>
                      <a:endParaRPr lang="en-PH" sz="1200" b="1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j-lt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-.-</a:t>
                      </a:r>
                      <a:endParaRPr lang="en-PH" sz="1200" b="1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8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j-lt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-.-</a:t>
                      </a:r>
                      <a:endParaRPr lang="en-PH" sz="1200" b="1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j-lt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-.-</a:t>
                      </a:r>
                      <a:endParaRPr lang="en-PH" sz="1200" b="1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j-lt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-.-</a:t>
                      </a:r>
                      <a:endParaRPr lang="en-PH" sz="1200" b="1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8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PH" sz="1200" b="1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PH" sz="1200" b="1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PH" sz="1200" b="1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107783"/>
                  </a:ext>
                </a:extLst>
              </a:tr>
              <a:tr h="26381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PH" sz="1200" b="1" dirty="0">
                        <a:effectLst/>
                        <a:latin typeface="+mj-lt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PH" sz="1100" b="1" dirty="0">
                        <a:effectLst/>
                        <a:latin typeface="+mj-lt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PH" sz="1200" b="1" dirty="0">
                        <a:effectLst/>
                        <a:latin typeface="+mj-lt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276123"/>
                  </a:ext>
                </a:extLst>
              </a:tr>
              <a:tr h="26381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PH" sz="1200" b="1" dirty="0">
                        <a:effectLst/>
                        <a:latin typeface="+mj-lt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PH" sz="1100" b="1" dirty="0">
                        <a:effectLst/>
                        <a:latin typeface="+mj-lt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PH" sz="1200" b="1" dirty="0">
                        <a:effectLst/>
                        <a:latin typeface="+mj-lt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34813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057CBCB-3295-41CF-B991-C1A5F2996DE6}"/>
              </a:ext>
            </a:extLst>
          </p:cNvPr>
          <p:cNvGrpSpPr/>
          <p:nvPr/>
        </p:nvGrpSpPr>
        <p:grpSpPr>
          <a:xfrm>
            <a:off x="283210" y="-74930"/>
            <a:ext cx="6291581" cy="1446530"/>
            <a:chOff x="0" y="0"/>
            <a:chExt cx="6291985" cy="1446530"/>
          </a:xfrm>
        </p:grpSpPr>
        <p:pic>
          <p:nvPicPr>
            <p:cNvPr id="6" name="Picture 5" descr="C:\Users\GIVEN GIFT\Desktop\bagong-pilipinas-logo.png">
              <a:extLst>
                <a:ext uri="{FF2B5EF4-FFF2-40B4-BE49-F238E27FC236}">
                  <a16:creationId xmlns:a16="http://schemas.microsoft.com/office/drawing/2014/main" id="{46B8D644-5E30-477A-94F0-0B7B514EF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4510" y="0"/>
              <a:ext cx="1387475" cy="14465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 descr="C:\Users\GIVEN GIFT\Pictures\BAGGAO LOGO.png">
              <a:extLst>
                <a:ext uri="{FF2B5EF4-FFF2-40B4-BE49-F238E27FC236}">
                  <a16:creationId xmlns:a16="http://schemas.microsoft.com/office/drawing/2014/main" id="{7BE5AA20-FE6D-4523-806C-F3FCB83B5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96883"/>
              <a:ext cx="1073150" cy="106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 Box 15">
              <a:extLst>
                <a:ext uri="{FF2B5EF4-FFF2-40B4-BE49-F238E27FC236}">
                  <a16:creationId xmlns:a16="http://schemas.microsoft.com/office/drawing/2014/main" id="{F6E839B1-B4C5-42A1-920E-4FA9F4725296}"/>
                </a:ext>
              </a:extLst>
            </p:cNvPr>
            <p:cNvSpPr txBox="1"/>
            <p:nvPr/>
          </p:nvSpPr>
          <p:spPr>
            <a:xfrm>
              <a:off x="1157845" y="385948"/>
              <a:ext cx="3633470" cy="84264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Copperplate Gothic Light" panose="020E05070202060204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Republic of the Philippines</a:t>
              </a:r>
              <a:endParaRPr lang="en-PH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1200" dirty="0">
                  <a:effectLst/>
                  <a:latin typeface="Copperplate Gothic Light" panose="020E0507020206020404" pitchFamily="34" charset="0"/>
                  <a:ea typeface="Calibri" panose="020F0502020204030204" pitchFamily="34" charset="0"/>
                  <a:cs typeface="Mongolian Baiti" panose="03000500000000000000" pitchFamily="66" charset="0"/>
                </a:rPr>
                <a:t>Province of Cagayan</a:t>
              </a:r>
              <a:endParaRPr lang="en-PH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1700" b="1" u="sng" dirty="0">
                  <a:effectLst/>
                  <a:latin typeface="Copperplate Gothic Light" panose="020E0507020206020404" pitchFamily="34" charset="0"/>
                  <a:ea typeface="Calibri" panose="020F0502020204030204" pitchFamily="34" charset="0"/>
                  <a:cs typeface="Mongolian Baiti" panose="03000500000000000000" pitchFamily="66" charset="0"/>
                </a:rPr>
                <a:t>MUNICIPALITY OF BAGGAO</a:t>
              </a:r>
              <a:endParaRPr lang="en-PH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0"/>
                </a:spcAft>
              </a:pPr>
              <a:r>
                <a:rPr lang="en-US" sz="1200" b="1" dirty="0">
                  <a:effectLst/>
                  <a:latin typeface="Copperplate Gothic Light" panose="020E0507020206020404" pitchFamily="34" charset="0"/>
                  <a:ea typeface="Calibri" panose="020F0502020204030204" pitchFamily="34" charset="0"/>
                  <a:cs typeface="Mongolian Baiti" panose="03000500000000000000" pitchFamily="66" charset="0"/>
                </a:rPr>
                <a:t>OFFICE OF THE CIVIL REGISTRAR</a:t>
              </a:r>
              <a:endParaRPr lang="en-PH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effectLst/>
                  <a:latin typeface="Copperplate Gothic Light" panose="020E05070202060204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PH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8313DB8-C4EE-448E-93FA-73FE1DBB1E28}"/>
              </a:ext>
            </a:extLst>
          </p:cNvPr>
          <p:cNvGrpSpPr/>
          <p:nvPr/>
        </p:nvGrpSpPr>
        <p:grpSpPr>
          <a:xfrm>
            <a:off x="0" y="8248650"/>
            <a:ext cx="6886576" cy="1200150"/>
            <a:chOff x="0" y="0"/>
            <a:chExt cx="6886802" cy="1200150"/>
          </a:xfrm>
        </p:grpSpPr>
        <p:pic>
          <p:nvPicPr>
            <p:cNvPr id="10" name="Picture 9" descr="C:\Users\GIVEN GIFT\Pictures\BAGGAO - REVISED RED.png">
              <a:extLst>
                <a:ext uri="{FF2B5EF4-FFF2-40B4-BE49-F238E27FC236}">
                  <a16:creationId xmlns:a16="http://schemas.microsoft.com/office/drawing/2014/main" id="{6E15473D-8C7C-4795-ADC1-800BF753D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136140" cy="12001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4170598-26E0-47D8-ACD1-C198EC7CD700}"/>
                </a:ext>
              </a:extLst>
            </p:cNvPr>
            <p:cNvGrpSpPr/>
            <p:nvPr/>
          </p:nvGrpSpPr>
          <p:grpSpPr>
            <a:xfrm>
              <a:off x="2314575" y="466725"/>
              <a:ext cx="1949448" cy="305435"/>
              <a:chOff x="0" y="0"/>
              <a:chExt cx="1950004" cy="306093"/>
            </a:xfrm>
          </p:grpSpPr>
          <p:pic>
            <p:nvPicPr>
              <p:cNvPr id="18" name="Picture 17" descr="C:\Users\GIVEN GIFT\Desktop\509-5096659_address-dizhidaohang-address-icon-white-png-transparent-png copy.png">
                <a:extLst>
                  <a:ext uri="{FF2B5EF4-FFF2-40B4-BE49-F238E27FC236}">
                    <a16:creationId xmlns:a16="http://schemas.microsoft.com/office/drawing/2014/main" id="{FDE7102E-1C2D-4468-931D-A3328E300A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21143"/>
                <a:ext cx="234950" cy="2724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Text Box 14">
                <a:extLst>
                  <a:ext uri="{FF2B5EF4-FFF2-40B4-BE49-F238E27FC236}">
                    <a16:creationId xmlns:a16="http://schemas.microsoft.com/office/drawing/2014/main" id="{44CC70C0-8CCE-4529-8439-85D08090E75C}"/>
                  </a:ext>
                </a:extLst>
              </p:cNvPr>
              <p:cNvSpPr txBox="1"/>
              <p:nvPr/>
            </p:nvSpPr>
            <p:spPr>
              <a:xfrm>
                <a:off x="161209" y="0"/>
                <a:ext cx="1788795" cy="306093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sz="70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Ground Floor, Executive Building</a:t>
                </a:r>
                <a:endParaRPr lang="en-PH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sz="70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Zone 4, San Jose, </a:t>
                </a:r>
                <a:r>
                  <a:rPr lang="en-US" sz="700" u="none" strike="noStrike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Baggao</a:t>
                </a:r>
                <a:r>
                  <a:rPr lang="en-US" sz="70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Cagayan, 3506</a:t>
                </a:r>
                <a:endParaRPr lang="en-PH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sz="1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PH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66F0714-046F-4049-B516-42C02C326134}"/>
                </a:ext>
              </a:extLst>
            </p:cNvPr>
            <p:cNvGrpSpPr/>
            <p:nvPr/>
          </p:nvGrpSpPr>
          <p:grpSpPr>
            <a:xfrm>
              <a:off x="5514975" y="457200"/>
              <a:ext cx="1371827" cy="259715"/>
              <a:chOff x="0" y="0"/>
              <a:chExt cx="1371827" cy="259715"/>
            </a:xfrm>
          </p:grpSpPr>
          <p:sp>
            <p:nvSpPr>
              <p:cNvPr id="16" name="Text Box 19">
                <a:extLst>
                  <a:ext uri="{FF2B5EF4-FFF2-40B4-BE49-F238E27FC236}">
                    <a16:creationId xmlns:a16="http://schemas.microsoft.com/office/drawing/2014/main" id="{749F582E-11C5-4C5A-8A34-3E19A7041FCA}"/>
                  </a:ext>
                </a:extLst>
              </p:cNvPr>
              <p:cNvSpPr txBox="1"/>
              <p:nvPr/>
            </p:nvSpPr>
            <p:spPr>
              <a:xfrm>
                <a:off x="169137" y="21142"/>
                <a:ext cx="1202690" cy="19820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US" sz="7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Baggao Information Office</a:t>
                </a:r>
                <a:endParaRPr lang="en-PH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7" name="Picture 16" descr="C:\Users\GIVEN GIFT\Desktop\fb_icon-icons.com_65434.png">
                <a:extLst>
                  <a:ext uri="{FF2B5EF4-FFF2-40B4-BE49-F238E27FC236}">
                    <a16:creationId xmlns:a16="http://schemas.microsoft.com/office/drawing/2014/main" id="{D30D847D-D783-43E5-8299-2473B25DE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259715" cy="2597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0D873A2-1B88-4674-86D7-89418460CF08}"/>
                </a:ext>
              </a:extLst>
            </p:cNvPr>
            <p:cNvGrpSpPr/>
            <p:nvPr/>
          </p:nvGrpSpPr>
          <p:grpSpPr>
            <a:xfrm>
              <a:off x="4152900" y="476250"/>
              <a:ext cx="1414144" cy="285115"/>
              <a:chOff x="0" y="0"/>
              <a:chExt cx="1414234" cy="285115"/>
            </a:xfrm>
          </p:grpSpPr>
          <p:sp>
            <p:nvSpPr>
              <p:cNvPr id="14" name="Text Box 12">
                <a:extLst>
                  <a:ext uri="{FF2B5EF4-FFF2-40B4-BE49-F238E27FC236}">
                    <a16:creationId xmlns:a16="http://schemas.microsoft.com/office/drawing/2014/main" id="{977C8167-0FA2-48AE-B0EB-219C328474F9}"/>
                  </a:ext>
                </a:extLst>
              </p:cNvPr>
              <p:cNvSpPr txBox="1"/>
              <p:nvPr/>
            </p:nvSpPr>
            <p:spPr>
              <a:xfrm>
                <a:off x="217259" y="36999"/>
                <a:ext cx="1196975" cy="21082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PH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700" u="sng">
                    <a:solidFill>
                      <a:srgbClr val="0563C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  <a:hlinkClick r:id="rId8"/>
                  </a:rPr>
                  <a:t>mcrbaggao@gmail.com</a:t>
                </a:r>
                <a:endParaRPr lang="en-PH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sz="1100">
                    <a:effectLst/>
                    <a:latin typeface="Eras Medium ITC" panose="020B06020305040208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PH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5" name="Picture 14" descr="C:\Users\GIVEN GIFT\Desktop\2473274-200.png">
                <a:extLst>
                  <a:ext uri="{FF2B5EF4-FFF2-40B4-BE49-F238E27FC236}">
                    <a16:creationId xmlns:a16="http://schemas.microsoft.com/office/drawing/2014/main" id="{E5CCDCFE-313E-480F-BBF2-3B7BBA097A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285115" cy="2851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57065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3898</TotalTime>
  <Words>237</Words>
  <Application>Microsoft Office PowerPoint</Application>
  <PresentationFormat>On-screen Show (4:3)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Copperplate Gothic Light</vt:lpstr>
      <vt:lpstr>Eras Medium ITC</vt:lpstr>
      <vt:lpstr>OCR A Extended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Atanacio Tungpalan</dc:creator>
  <cp:lastModifiedBy>tungpalan.anatacio05@outlook.com</cp:lastModifiedBy>
  <cp:revision>372</cp:revision>
  <cp:lastPrinted>2026-01-13T05:40:05Z</cp:lastPrinted>
  <dcterms:created xsi:type="dcterms:W3CDTF">2013-02-28T19:06:43Z</dcterms:created>
  <dcterms:modified xsi:type="dcterms:W3CDTF">2026-04-20T02:51:25Z</dcterms:modified>
</cp:coreProperties>
</file>