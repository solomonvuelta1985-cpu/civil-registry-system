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dbe199b8064ae2" /><Relationship Type="http://schemas.openxmlformats.org/officeDocument/2006/relationships/extended-properties" Target="/docProps/app.xml" Id="R73290567c45849ac" /><Relationship Type="http://schemas.openxmlformats.org/officeDocument/2006/relationships/officeDocument" Target="/ppt/presentation.xml" Id="R7ddd22417b7c45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b30667579499f"/>
  </p:sldMasterIdLst>
  <p:notesMasterIdLst>
    <p:notesMasterId xmlns:r="http://schemas.openxmlformats.org/officeDocument/2006/relationships" r:id="R6ef79b530c4b4387"/>
  </p:notesMasterIdLst>
  <p:sldIdLst>
    <p:sldId xmlns:r="http://schemas.openxmlformats.org/officeDocument/2006/relationships" id="256" r:id="Rd03f1949ecb445e7"/>
    <p:sldId xmlns:r="http://schemas.openxmlformats.org/officeDocument/2006/relationships" id="257" r:id="R420a2bf3182f431d"/>
    <p:sldId xmlns:r="http://schemas.openxmlformats.org/officeDocument/2006/relationships" id="258" r:id="R39a5309311444be0"/>
    <p:sldId xmlns:r="http://schemas.openxmlformats.org/officeDocument/2006/relationships" id="259" r:id="R9be2e66b9e574e73"/>
    <p:sldId xmlns:r="http://schemas.openxmlformats.org/officeDocument/2006/relationships" id="260" r:id="R078c072acb234f87"/>
    <p:sldId xmlns:r="http://schemas.openxmlformats.org/officeDocument/2006/relationships" id="261" r:id="R0abd1047b58a4a48"/>
    <p:sldId xmlns:r="http://schemas.openxmlformats.org/officeDocument/2006/relationships" id="262" r:id="Rbbdcea95c26b4884"/>
    <p:sldId xmlns:r="http://schemas.openxmlformats.org/officeDocument/2006/relationships" id="263" r:id="R54efbe815b934a0d"/>
    <p:sldId xmlns:r="http://schemas.openxmlformats.org/officeDocument/2006/relationships" id="264" r:id="R2cd92edaba214860"/>
    <p:sldId xmlns:r="http://schemas.openxmlformats.org/officeDocument/2006/relationships" id="265" r:id="Rb77f39fa959f4e2d"/>
    <p:sldId xmlns:r="http://schemas.openxmlformats.org/officeDocument/2006/relationships" id="266" r:id="R8622955eb50e48d9"/>
    <p:sldId xmlns:r="http://schemas.openxmlformats.org/officeDocument/2006/relationships" id="267" r:id="R0b8bcdbe946d43a5"/>
    <p:sldId xmlns:r="http://schemas.openxmlformats.org/officeDocument/2006/relationships" id="268" r:id="Re17b6563a0714d7e"/>
    <p:sldId xmlns:r="http://schemas.openxmlformats.org/officeDocument/2006/relationships" id="269" r:id="R2b81ce3212274584"/>
    <p:sldId xmlns:r="http://schemas.openxmlformats.org/officeDocument/2006/relationships" id="270" r:id="R1328431e2bc941e1"/>
    <p:sldId xmlns:r="http://schemas.openxmlformats.org/officeDocument/2006/relationships" id="271" r:id="R2bed1009af4944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dff7734b8343ed" /><Relationship Type="http://schemas.openxmlformats.org/officeDocument/2006/relationships/slideMaster" Target="/ppt/slideMasters/slideMaster1.xml" Id="R15eb30667579499f" /><Relationship Type="http://schemas.openxmlformats.org/officeDocument/2006/relationships/notesMaster" Target="/ppt/notesMasters/notesMaster1.xml" Id="R6ef79b530c4b4387" /><Relationship Type="http://schemas.openxmlformats.org/officeDocument/2006/relationships/presProps" Target="/ppt/presProps.xml" Id="Rda9c5b607abc4918" /><Relationship Type="http://schemas.openxmlformats.org/officeDocument/2006/relationships/tableStyles" Target="/ppt/tableStyles.xml" Id="R427900f4f8b24082" /><Relationship Type="http://schemas.openxmlformats.org/officeDocument/2006/relationships/slide" Target="/ppt/slides/slide1.xml" Id="Rd03f1949ecb445e7" /><Relationship Type="http://schemas.openxmlformats.org/officeDocument/2006/relationships/slide" Target="/ppt/slides/slide2.xml" Id="R420a2bf3182f431d" /><Relationship Type="http://schemas.openxmlformats.org/officeDocument/2006/relationships/slide" Target="/ppt/slides/slide3.xml" Id="R39a5309311444be0" /><Relationship Type="http://schemas.openxmlformats.org/officeDocument/2006/relationships/slide" Target="/ppt/slides/slide4.xml" Id="R9be2e66b9e574e73" /><Relationship Type="http://schemas.openxmlformats.org/officeDocument/2006/relationships/slide" Target="/ppt/slides/slide5.xml" Id="R078c072acb234f87" /><Relationship Type="http://schemas.openxmlformats.org/officeDocument/2006/relationships/slide" Target="/ppt/slides/slide6.xml" Id="R0abd1047b58a4a48" /><Relationship Type="http://schemas.openxmlformats.org/officeDocument/2006/relationships/slide" Target="/ppt/slides/slide7.xml" Id="Rbbdcea95c26b4884" /><Relationship Type="http://schemas.openxmlformats.org/officeDocument/2006/relationships/slide" Target="/ppt/slides/slide8.xml" Id="R54efbe815b934a0d" /><Relationship Type="http://schemas.openxmlformats.org/officeDocument/2006/relationships/slide" Target="/ppt/slides/slide9.xml" Id="R2cd92edaba214860" /><Relationship Type="http://schemas.openxmlformats.org/officeDocument/2006/relationships/slide" Target="/ppt/slides/slide10.xml" Id="Rb77f39fa959f4e2d" /><Relationship Type="http://schemas.openxmlformats.org/officeDocument/2006/relationships/slide" Target="/ppt/slides/slide11.xml" Id="R8622955eb50e48d9" /><Relationship Type="http://schemas.openxmlformats.org/officeDocument/2006/relationships/slide" Target="/ppt/slides/slide12.xml" Id="R0b8bcdbe946d43a5" /><Relationship Type="http://schemas.openxmlformats.org/officeDocument/2006/relationships/slide" Target="/ppt/slides/slide13.xml" Id="Re17b6563a0714d7e" /><Relationship Type="http://schemas.openxmlformats.org/officeDocument/2006/relationships/slide" Target="/ppt/slides/slide14.xml" Id="R2b81ce3212274584" /><Relationship Type="http://schemas.openxmlformats.org/officeDocument/2006/relationships/slide" Target="/ppt/slides/slide15.xml" Id="R1328431e2bc941e1" /><Relationship Type="http://schemas.openxmlformats.org/officeDocument/2006/relationships/slide" Target="/ppt/slides/slide16.xml" Id="R2bed1009af49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67fea967fd41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87a6dee31452a" /><Relationship Type="http://schemas.openxmlformats.org/officeDocument/2006/relationships/notesMaster" Target="/ppt/notesMasters/notesMaster1.xml" Id="Rdf85fd2877664e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1babf1af024224" /><Relationship Type="http://schemas.openxmlformats.org/officeDocument/2006/relationships/notesMaster" Target="/ppt/notesMasters/notesMaster1.xml" Id="R1e24d51dca77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85c863aeaf43d8" /><Relationship Type="http://schemas.openxmlformats.org/officeDocument/2006/relationships/notesMaster" Target="/ppt/notesMasters/notesMaster1.xml" Id="R5ab2a2d583a24d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f155ec6954831" /><Relationship Type="http://schemas.openxmlformats.org/officeDocument/2006/relationships/notesMaster" Target="/ppt/notesMasters/notesMaster1.xml" Id="R768fa7e29cbf47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e2ca5918f54b8d" /><Relationship Type="http://schemas.openxmlformats.org/officeDocument/2006/relationships/notesMaster" Target="/ppt/notesMasters/notesMaster1.xml" Id="R1c23707ab60b49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dcfa04caf04466" /><Relationship Type="http://schemas.openxmlformats.org/officeDocument/2006/relationships/notesMaster" Target="/ppt/notesMasters/notesMaster1.xml" Id="R23ae8faa624642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5f4455bf34b0b" /><Relationship Type="http://schemas.openxmlformats.org/officeDocument/2006/relationships/notesMaster" Target="/ppt/notesMasters/notesMaster1.xml" Id="Raafd88b13038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3b0aab812e4db0" /><Relationship Type="http://schemas.openxmlformats.org/officeDocument/2006/relationships/notesMaster" Target="/ppt/notesMasters/notesMaster1.xml" Id="R2b14fe8b2f9645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00c032a12d4d50" /><Relationship Type="http://schemas.openxmlformats.org/officeDocument/2006/relationships/notesMaster" Target="/ppt/notesMasters/notesMaster1.xml" Id="Rc27cddabd72842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a56e7706ec4de3" /><Relationship Type="http://schemas.openxmlformats.org/officeDocument/2006/relationships/notesMaster" Target="/ppt/notesMasters/notesMaster1.xml" Id="R5d3f9ced10e744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60e935a8304895" /><Relationship Type="http://schemas.openxmlformats.org/officeDocument/2006/relationships/notesMaster" Target="/ppt/notesMasters/notesMaster1.xml" Id="R63db9f4be06d46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a4562cf3d44eec" /><Relationship Type="http://schemas.openxmlformats.org/officeDocument/2006/relationships/notesMaster" Target="/ppt/notesMasters/notesMaster1.xml" Id="Ree46f5ec9acf40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81908a7bb947d7" /><Relationship Type="http://schemas.openxmlformats.org/officeDocument/2006/relationships/notesMaster" Target="/ppt/notesMasters/notesMaster1.xml" Id="R26c3909fb9834a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13e4a9792242b9" /><Relationship Type="http://schemas.openxmlformats.org/officeDocument/2006/relationships/notesMaster" Target="/ppt/notesMasters/notesMaster1.xml" Id="R8bc74c70c12b40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f1e582ca2242db" /><Relationship Type="http://schemas.openxmlformats.org/officeDocument/2006/relationships/notesMaster" Target="/ppt/notesMasters/notesMaster1.xml" Id="R42ff39a67a6c41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1d6db99bcd48ff" /><Relationship Type="http://schemas.openxmlformats.org/officeDocument/2006/relationships/notesMaster" Target="/ppt/notesMasters/notesMaster1.xml" Id="Raebe0d97e7394a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SYSTEM_SHOWCASE_SUMMARY.md; SYSTEM_OVERVIEW.md. The deck describes the deployed iScan CRDMS and its documented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1 and 4; SYSTEM_SHOWCASE_SUMMARY.md. Four certificate categories are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2, 3, 12, and 19; NAS_DEPLOYMENT_GUIDE.md. The Cloudflare route is for remote access; the local route remains available on the 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13; COMPLETE_FEATURES_LIST.md Phase 3. The workflow states and transition tracking are documented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assets/js/certificate-form-handler.js auto-save/restore implementation; public/logout.php cleanup; docs/NARRATIVE_REPORT.md section 9.4. The deck distinguishes draft recovery from a database save.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upload_sub_dir(), reconcile_pdf_folder(), and upload_file(); public/folder_browser.php; docs/UPLOAD_FOLDER_REORGANIZATION.md.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12; scanner_service/scanner_service.py; includes/config.php MAX_FILE_SIZE; includes/functions.php compute_file_hash() and check_pdf_duplicate().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assets/js/ocr-processor.js; assets/js/ocr-form-integration.js; public/pdf_comparison_viewer.php; COMPLETE_FEATURES_LIST.md Phases 2 and 4. OCR suggestions require encoder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public/folder_browser.php; public/advanced_search.php; public/records_viewer.php; SYSTEM_OVERVIEW.md sections 6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includes/auth.php; includes/permissions.php; admin/activity_logs.php; public/workflow_dashboard.php; SYSTEM_OVERVIEW.md sections 9, 10, and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backup_pdf_file(); admin/pdf_backup_manager.php; admin/pdf_integrity_report.php; public/trash.php; SYSTEM_OVERVIEW.md section 14. NAS file/database backup statements refer to the documented deployment procedure and the verified pre-update backups created for this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includes/security.php; includes/security_headers.php; includes/auth.php; docs/NAS_SECURITY_REMEDIATION.md; docs/SECURITY_AUDIT_2026-09-07.md. Present these as implemented application controls, with operational review and restore testing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includes/asset_urls.php; .env.example OFFLINE_MODE; docs/SYNOLOGY_NAS_DEPLOYMENT.md sections 10 and 17; NAS_DEPLOYMENT_GUIDE.md. Offline mode requires locally downloaded assets and a local access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admin/activity_logs.php. RA 9048 is intentionally out of scope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deck content synthesized from the system repository and deployment notes. Use only features that have been tested in the current NAS deployment during the live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admin/activity_logs.php; SYSTEM_OVERVIEW.md sections 9, 10, and 14. Permanent delete is restricted to administrators; soft-deleted records remain restorable through Trash.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ea99bd7b94d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bc851cdcc54985" /><Relationship Type="http://schemas.openxmlformats.org/officeDocument/2006/relationships/slideLayout" Target="/ppt/slideLayouts/slideLayout1.xml" Id="Re5bd63f691d349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d63f691d349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9fe2125454b13" /><Relationship Type="http://schemas.openxmlformats.org/officeDocument/2006/relationships/image" Target="/ppt/media/image.png" Id="R448e4c7630c6461f" /><Relationship Type="http://schemas.openxmlformats.org/officeDocument/2006/relationships/notesSlide" Target="/ppt/notesSlides/notesSlide1.xml" Id="Rf21f541f8ca34b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ebdaa02e34b9a" /><Relationship Type="http://schemas.openxmlformats.org/officeDocument/2006/relationships/notesSlide" Target="/ppt/notesSlides/notesSlide2.xml" Id="Re6da62cc38824a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e1bf02d4a4087" /><Relationship Type="http://schemas.openxmlformats.org/officeDocument/2006/relationships/image" Target="/ppt/media/image.jpeg" Id="R650f70ee846146bf" /><Relationship Type="http://schemas.openxmlformats.org/officeDocument/2006/relationships/notesSlide" Target="/ppt/notesSlides/notesSlide3.xml" Id="R0d8d656c974b45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9416359574e1f" /><Relationship Type="http://schemas.openxmlformats.org/officeDocument/2006/relationships/notesSlide" Target="/ppt/notesSlides/notesSlide4.xml" Id="R3e454aa296c548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5ce60c3444944" /><Relationship Type="http://schemas.openxmlformats.org/officeDocument/2006/relationships/notesSlide" Target="/ppt/notesSlides/notesSlide5.xml" Id="R04415b90bd3543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cdddbf88b46ad" /><Relationship Type="http://schemas.openxmlformats.org/officeDocument/2006/relationships/notesSlide" Target="/ppt/notesSlides/notesSlide6.xml" Id="R7a096984b5844e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3a5dc44b454b" /><Relationship Type="http://schemas.openxmlformats.org/officeDocument/2006/relationships/notesSlide" Target="/ppt/notesSlides/notesSlide7.xml" Id="R0caa99c349fe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a5f0a77334588" /><Relationship Type="http://schemas.openxmlformats.org/officeDocument/2006/relationships/notesSlide" Target="/ppt/notesSlides/notesSlide8.xml" Id="R5acfbe51947142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f0392c43444aa" /><Relationship Type="http://schemas.openxmlformats.org/officeDocument/2006/relationships/notesSlide" Target="/ppt/notesSlides/notesSlide9.xml" Id="R03ec8b15f73d4c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0e3fdf9d94cf0" /><Relationship Type="http://schemas.openxmlformats.org/officeDocument/2006/relationships/notesSlide" Target="/ppt/notesSlides/notesSlide10.xml" Id="Re206f1da5eb644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f028601b54280" /><Relationship Type="http://schemas.openxmlformats.org/officeDocument/2006/relationships/notesSlide" Target="/ppt/notesSlides/notesSlide11.xml" Id="Rb8e44068f38e4d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24db7ecd54024" /><Relationship Type="http://schemas.openxmlformats.org/officeDocument/2006/relationships/notesSlide" Target="/ppt/notesSlides/notesSlide12.xml" Id="Rdf085c031fb14e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14aea4eff4776" /><Relationship Type="http://schemas.openxmlformats.org/officeDocument/2006/relationships/notesSlide" Target="/ppt/notesSlides/notesSlide13.xml" Id="R6149bdfbc44743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4f103a31043d3" /><Relationship Type="http://schemas.openxmlformats.org/officeDocument/2006/relationships/notesSlide" Target="/ppt/notesSlides/notesSlide14.xml" Id="R13a798d592af48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2eb8ef0f24fc7" /><Relationship Type="http://schemas.openxmlformats.org/officeDocument/2006/relationships/notesSlide" Target="/ppt/notesSlides/notesSlide15.xml" Id="Rd5f6c5facf6346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62c2a10b64c1b" /><Relationship Type="http://schemas.openxmlformats.org/officeDocument/2006/relationships/image" Target="/ppt/media/image2.jpeg" Id="R449b8a63ada44f3d" /><Relationship Type="http://schemas.openxmlformats.org/officeDocument/2006/relationships/notesSlide" Target="/ppt/notesSlides/notesSlide16.xml" Id="Ref086218d5e947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DC71D-4AFB-441B-98F9-AE484F6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07896-C595-4A85-A9CD-2B1C5B6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236E7-BA40-4BEB-BB0F-85D92F0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2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F6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e4c7630c6461f"/>
          <a:stretch xmlns:a="http://schemas.openxmlformats.org/drawingml/2006/main"/>
        </p:blipFill>
        <p:spPr>
          <a:xfrm xmlns:a="http://schemas.openxmlformats.org/drawingml/2006/main">
            <a:off x="876300" y="922618"/>
            <a:ext cx="2095500" cy="20790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F31E-3895-4F59-ACFB-E290997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90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 CRDMS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A239F-B14C-4161-9FDF-2637F01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DD0E7"/>
                </a:solidFill>
                <a:latin typeface="Arial"/>
                <a:ea typeface="Arial"/>
                <a:cs typeface="Arial"/>
              </a:rPr>
              <a:t>Civil Registry Records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ADEC-706C-43C8-B6C6-0A08B6B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features, operating workflow, security, backup, and online/offline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8F8C-C956-4640-B4CA-B2B4E14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57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DD0E7"/>
                </a:solidFill>
                <a:latin typeface="Arial"/>
                <a:ea typeface="Arial"/>
                <a:cs typeface="Arial"/>
              </a:rPr>
              <a:t>Municipal Civil Registrar's Office  |  Municipality of Baggao</a:t>
            </a:r>
          </a:p>
        </p:txBody>
      </p:sp>
    </p:spTree>
    <p:extLst>
      <p:ext uri="{BB962C8B-B14F-4D97-AF65-F5344CB8AC3E}">
        <p14:creationId xmlns:p14="http://schemas.microsoft.com/office/powerpoint/2010/main" val="813497792"/>
      </p:ext>
    </p:extLst>
  </p:cSld>
  <p:transition spd="slow" advClick="1">
    <p:morph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175E5-B633-4F99-8FC8-84EAB6D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SYSTEM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56BBF-7801-4F81-82C2-BB6BD41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CRDMS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8D4E6-2208-4804-8BA8-862A55A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93ADA-8204-4120-95BE-D62E1E2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E6C80"/>
                </a:solidFill>
                <a:latin typeface="Arial"/>
                <a:ea typeface="Arial"/>
                <a:cs typeface="Arial"/>
              </a:rPr>
              <a:t>A single workspace for capturing, encoding, reviewing, finding, and protecting civil registry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640D-F738-4AB7-AA08-D2C9EED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18428-2DC6-4317-B74C-1BDC7FA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Birth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29252-AE14-418A-8E5E-35ED705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Live Birth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5C59-8D5C-41C1-87C3-0033525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AF7BB-F7DF-499E-804E-14A10AFD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A92F2-602B-4427-9A5B-1ADE1EC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Marriage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6DFE-B196-4F4B-9E00-9719E9BB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06F7-0BEC-423E-93EE-7A91CEA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C28F2-FD49-47F8-8164-6AF0E8B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Death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C2B2D-0CA5-4942-81E0-91ABEFD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048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solidFill>
              <a:srgbClr val="FDEC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E2C56-1A02-4BCE-B6DF-501E6C5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 License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247E1-9712-4FF9-8C83-11C3D90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Application for Marriage License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96BBC-C5CB-4FAC-9E59-105199C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Runs on the office NAS with a local database and local PDF storage. Authorized staff can use the public Cloudflare URL or the local LAN address.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5DACA-74D8-482C-9249-296CDE5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result is a searchable digital registry with a controlled record lifecycle and a clear accountability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0EC08-49FA-4C9C-80FF-F51E980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3D22D-D527-4565-BD2C-CBB6A14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275095839"/>
      </p:ext>
    </p:extLst>
  </p:cSld>
  <p:transition spd="slow" advClick="1">
    <p:morph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FA8A6-DEF8-4C0E-8BF9-E6F8409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39B2D-70B8-4F65-AA66-2124022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04CA-B5CC-48A8-A806-4562EB3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79BB-7C09-4253-93F8-18782D1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browser is the work surface. The NAS holds the application, database, and PDF archive.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BBF7-6A86-4357-A6C8-24D401D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095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EA105-5CC0-4A76-A814-C4B5223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Staff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0731-D403-4989-A395-315F2A5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Forms, folder tree,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5C3C-5021-4950-AB10-F121284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5696B-BD17-4128-9595-8A4BDE9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19350"/>
            <a:ext cx="24765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A243-6F1B-4B36-8B68-EDBBFA9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Synology 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B2A19-FE7A-4C41-ADAF-8BEBFF8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21336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Station + PHP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75DFF-D4B5-4714-80D2-FC05AA0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2564D-CD48-4F04-ACA9-68168DE0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7DC2-2FBF-428A-8066-A78FD08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1A8CC-0A74-4DA6-8689-1F785D25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Structured record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96A18-A908-4147-968E-2F6D652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1FE0-5722-4B11-9F2E-0E901D1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EADC9-6E2B-4F1D-A8FB-B8E9198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Uploads and backups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69EFC-718B-4492-A7C0-C55A05E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5767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F2B4-293F-481F-BDBE-7B7CA1C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Remote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664AC-9488-42AA-BF8C-3168AE3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38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Cloudflare Tunnel → https://iscan.cdrms.online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2B236-C26F-4F02-AB5C-C0DD3DC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3A535-8442-43DF-A312-38EA83C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6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Same-LAN access → NAS IP and Web Station 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6BEDE-E4FE-4FBC-A7F6-67D7E56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85BD4-47C8-41FA-AA5E-12EDB329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f70ee846146bf"/>
          <a:stretch xmlns:a="http://schemas.openxmlformats.org/drawingml/2006/main"/>
        </p:blipFill>
        <p:spPr>
          <a:xfrm xmlns:a="http://schemas.openxmlformats.org/drawingml/2006/main">
            <a:off x="10382250" y="4286250"/>
            <a:ext cx="857250" cy="85725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</p:spTree>
    <p:extLst>
      <p:ext uri="{BB962C8B-B14F-4D97-AF65-F5344CB8AC3E}">
        <p14:creationId xmlns:p14="http://schemas.microsoft.com/office/powerpoint/2010/main" val="1081152631"/>
      </p:ext>
    </p:extLst>
  </p:cSld>
  <p:transition spd="slow" advClick="1">
    <p:morph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78BA0F-C74C-4E95-9E5E-1559454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FROM PAPER TO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DEF7D-09A6-4775-B2A1-B800357A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record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723D-EFCE-464C-9EB3-4C42A19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2CBD-8F6F-4734-B3B3-9524D80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Each record follows a visible path so staff can see what needs encoding, review, approval, or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4B96-8D10-43B6-8470-CAF4A28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9437-47BC-41BE-97FF-6A0F902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7A9C7-DD83-4EC7-A740-4B3B4E1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3319-0033-4CEB-B01E-F8F824E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670F4-07A5-4339-A4EE-AE5CF22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or 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E3C9F-3B51-4622-B9AB-91E2332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5343-EF2F-4B08-9559-90B60C3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08F7A-0020-4D43-9DC3-31B0096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9DF01-EAC7-4012-A706-2AD44F8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EE4F7-14B9-4103-A461-A92BA80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9FBEE-CBF7-46C9-A4DF-6E6911E6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OCR assists data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7E7CC-C359-4A53-8DA7-0440ED3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40594-AA81-4A9E-8716-066A88B4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38BD-08D4-4481-AD88-91E2850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D2A8E-EF0A-481E-8866-B479921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BF69C-E4D1-42EC-A150-0E234D2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422A8-D3A4-4BDA-84B2-938D7DB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Compare PDF and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0086F-474F-4C46-BC39-DA00069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09FE9-E1E5-4799-BBB3-05D636A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49F99-EFD6-4466-BFE9-248DD64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B4A98-BFBE-42A1-8283-D642850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7830D-0C34-41E0-A7D7-83A5586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02797-BF9B-4609-A11E-A1C9906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Role-based transition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6D53C-E97C-47DF-9670-AAC049C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2665B-CB72-48EB-910D-2AA42F4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D1025-8F9D-4E6B-8C39-56DAD29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9CEE2-1737-4423-B089-14FFB98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608D3-D4FA-4B08-9981-749F2DD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EBB98-4BDB-41CA-A857-9ACBAA32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Searchable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C6841-A5BC-4860-8432-60AA207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B5AFAD-0F3E-48E2-A68B-4E492A5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branches remain traceable with the responsible user, timestamp, and notes.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7C2E52-BCA2-4F93-A374-B55AAD5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2816D-EDEA-4F4C-9579-15BFCB9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81958925"/>
      </p:ext>
    </p:extLst>
  </p:cSld>
  <p:transition spd="slow" advClick="1">
    <p:morph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90E32-2574-4579-A1B4-AE71A1D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9E4C2-31FA-4CFF-A922-E1FE73BC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Auto-save and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98F3-01C6-4A73-ABD1-64BCA1F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D55AF-9931-4428-9186-01E7EFA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Auto-save protects work in progress when a browser closes, a laptop restarts, or a user needs to return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544EA-2FB3-4385-A3AE-2ECBA97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A59FD-4CD1-4D15-B3D7-BB351188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1 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65CE-938E-4E38-B9CC-E8D8811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 fields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B1D42-5735-42A9-BC0E-F46434E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5B80-252F-4B63-A19C-934EF63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B0C7E-6250-41C6-9F42-25FC151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2  Auto-save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2C12-D468-411E-ABC3-CFC3612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stays in browser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E90D0-D01D-4E3B-805D-C7809B7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4C3A5-8CD6-43D0-B6EF-CA0DED7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9DD4C-D3BA-4109-8914-B3DFAE18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3 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2B00-C261-4F41-B151-9B9339D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User is offered the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72A99-A2C0-4190-86EC-4E719C0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2B88D-6A60-48DC-AE1B-238068F9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619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7141E-1C94-4BFE-9094-F99DF29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38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Save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43C02-DEC7-4EB0-A18B-00C634A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52775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758A-87FE-4BF5-BF4B-ECE952B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Draft keys are scoped to the user/session and certificate type.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Saved records clear their draft; edit mode clears stale draft data.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Auto-save is a recovery aid. The official record is created only after the Save action succeeds.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2EDE1-99BB-4992-B255-46A9D97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0B45F-867A-4586-87BA-ED01656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148007197"/>
      </p:ext>
    </p:extLst>
  </p:cSld>
  <p:transition spd="slow" advClick="1">
    <p:morph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4010E-4A6A-4853-989F-B6D8C9C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ORGANIZED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378C-49A4-490D-8AF9-1394A23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Automatic folders and Folder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FDB8E-93A1-49E8-882D-4A1B9C9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6B99-9BAF-460E-A728-3D42EE2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upload path follows the record itself, so staff can browse by certificate type, year, and last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BA30-8DDC-49E8-BCC1-C4D8688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3340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488C-8C1F-4D04-AEDD-2002FAF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birth / 1972 / TARUBAL 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866C1-3067-44A5-880A-88B749A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4EF"/>
                </a:solidFill>
                <a:latin typeface="Arial"/>
                <a:ea typeface="Arial"/>
                <a:cs typeface="Arial"/>
              </a:rPr>
              <a:t>cert_...pdf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F74B-1677-4BA8-8760-EC88480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FD4EF"/>
                </a:solidFill>
                <a:latin typeface="Arial"/>
                <a:ea typeface="Arial"/>
                <a:cs typeface="Arial"/>
              </a:rPr>
              <a:t>type  /  year  /  normalized last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A18CD-65BC-4219-B0EF-32A043F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folders are created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A3A8-F294-467B-B7D8-9A642F6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381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system derives the year from the event date when available.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It normalizes the last name for a consistent folder name.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directory is created on first upload and reconciled when a record's name or date changes.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Folder Browser counts and filters records without exposing raw server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08787-7CBF-4554-AD16-D72190A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7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This structure makes historical records easier to browse while the database remains the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045F-CE50-4B20-B52D-87E37D3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8FBCF-3F5F-4B0C-809C-201E843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495445670"/>
      </p:ext>
    </p:extLst>
  </p:cSld>
  <p:transition spd="slow" advClick="1">
    <p:morph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26143-FF4A-4917-9DFF-1553605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406A3-5720-4108-92EC-25D8E38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Scanning and PDF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53AC-FA5F-475F-9E6E-1A6983C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C8C3-955F-4085-AE68-64BEBA59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7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Paper certificates can enter the system through a connected Epson DS-530 II scanner or a normal PDF upload.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E7DA9-D92A-492E-B41A-7B915EBA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269D-EE44-463B-85D4-AFA914C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Epson DS-530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B031-51B7-4490-A0E7-3791E2A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Scanner service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300 dpi / color or BW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EDC93-DB4D-4399-B509-923ED4D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452F6-26B5-4C7A-9A4F-5942189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AB98-36C0-4BE9-8C89-182CCB8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AC09C-656A-47E5-A579-B3C1C00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Document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or Choose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BF75-3769-4F38-980D-6173C71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3815C-608A-4641-BFA5-11AF430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D6F9-A139-4D7D-BA48-1457C32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EFF4D-AD23-4580-9EC0-59B5152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only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25 MB 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5E1CB-402B-4C51-9E47-EF5EE3A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0163C-BC27-4715-A1C9-F1FF0FC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1238250" cy="14287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EE426-AEC2-42A0-870E-2DCDED0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337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CCF2D-A947-4D9A-BC6F-516C53E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48025"/>
            <a:ext cx="895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Hash +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folder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A8AB8-23F7-44B1-A512-876D6DC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66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scanner service returns a PDF to the browser for review.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upload path validates file type and size before it is stored.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file receives a SHA-256 hash and is checked for duplicate attachment.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50A32-7ACD-4E17-BE99-8AEB1980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9C8BC-1F64-4363-9705-A790B19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1216587554"/>
      </p:ext>
    </p:extLst>
  </p:cSld>
  <p:transition spd="slow" advClick="1">
    <p:morph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6CC7A-0CCA-47FC-8A59-9964894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A23AC-ECEB-4BB2-BCEB-871C602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OCR-assisted encoding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8B9E-C72C-4586-A007-6AFE00A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3DED-B7E9-4721-8E93-10E9265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OCR reduces retyping, while the encoder remains responsible for checking every extracted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A1D1B-C009-4D42-87BA-A39C9B8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F89F-E4A5-40DC-BB06-3888B33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6C1E-F481-438D-BD6A-0FDA680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EFD9F-2B02-4DC4-B5EB-21BE2F4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861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 LIVE BIRTH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6B07-1AC0-4ACD-86F1-AB926E4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1047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DC19F-2F5F-4C3B-AC7D-ED374C3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7B1CF-6065-4EA4-B82E-63DA805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Suggested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E45EC-773E-4409-95FC-F7DF232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Child name     Juan Dela Cruz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25D4-4897-4F37-8600-34208E5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Date of birth  12 May 1972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25C75-25A8-43FD-B09F-67A259E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Confidence     94%   •  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33C3C-AD3F-4184-8157-BD19B60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PDF Comparison Viewer places the original document beside the encoded fields for final checking.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8B205-B9BB-463D-B3B6-8B71531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3D765-FF41-4F6F-BFC3-18EE7AF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916350285"/>
      </p:ext>
    </p:extLst>
  </p:cSld>
  <p:transition spd="slow" advClick="1">
    <p:morph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924AC-2685-4774-9881-388225B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9351-91E2-433C-8F3D-0C4C8D4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 and record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F9889-1FF6-4E19-A28A-09FF5E51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4FCFF-1987-4327-A5EB-CF9A350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Records can be found by folder, name, registry number, date, location, or parent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C5A9E-E3AF-4C72-B81C-94A8F7F9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608FA-BA15-41DB-974D-F2AAB7E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Folder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4DA87-8DDD-4F0E-A3F2-2B8E1E9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Type → Year → Last name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Counts and quick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1E54B-8DC7-4B04-B8AF-DA0D96E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53431-77B7-4C1C-A29E-6438CF1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Advanced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90C28-AF22-44D0-80EF-B8CC78F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Exact multi-token match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Fuzzy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ED8E4-2F90-4BB9-9AAE-E8E7A3FE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43C4-5DCD-4EFD-AA0D-D0A43071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Records 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4307-BF23-4639-A65F-2B5B5B6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Paging, filters, previews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Controlled PDF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1AE6E-B7F1-4CD3-9AAA-C89565E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86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E969-67E1-4A64-8CEF-376F2AC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12CCA-6F21-4888-86E9-E33659C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1943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View, edit, archive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or 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A910B-1769-4DEA-A3AB-4FEBE78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0F04B-7A25-4AC1-A95F-495C3BA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BD46B-6589-49AF-A764-6CF0C0F3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20706-CF44-4011-BD1B-309B5FE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Two-pass search starts with strict multi-field matching, then falls back to fuzzy matching when needed.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viewer keeps the record data and PDF reference together for a faster retrieval process.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F38F7-E74D-4358-90A7-A42126E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BB883-48D5-440E-B08C-8EFD118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837842861"/>
      </p:ext>
    </p:extLst>
  </p:cSld>
  <p:transition spd="slow" advClick="1">
    <p:morph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F4C05-6F36-4F74-8AF5-7B30C8C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6D78-73D6-4C34-8ADB-1B68F85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Roles, approvals, and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B49-7FBC-4BE9-8D1F-DD1C5B50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8E7BC-6116-4024-BCFD-FFD8FBFA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system limits what each user can do and records the actions that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9062F-DBC9-478A-BFC2-911C0C1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2CDA8-64FF-43B1-B8E3-8017E91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730E-EB33-4B68-843F-6192B88F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users, settings,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restore,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029B1-6DBD-4FDC-B457-F956849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85F6E-4208-4F2E-A191-17FBEC8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4854-791E-45F6-8311-E1DC119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Create and update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FB07-AD22-4263-AD08-4996440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7663B-DF2F-4C3E-AFB3-A4391BD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3468-35CA-4003-A4F1-BEDF0A7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Read and retrieve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permitted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8A2E4-9281-468C-87F0-E332E04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33375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2B08A-AF5D-461B-A006-58D20FB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Every significant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326B-2813-42FE-8247-EBBF62D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9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user  •  action  •  IP  •  device  •  timestamp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3F17C-DDC4-4399-83D6-D2A0C8C8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50E8E-FF90-4EF7-8246-3F26638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Workflow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1851F-126C-4C64-9B8E-3ACBA8B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2FDDE-DC78-420B-951D-54E67BE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transitions retain notes and timestamps for follow-up.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A2559-EAA7-4FE4-986E-6186538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B367-EA8A-4477-ABC1-C230C28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838234460"/>
      </p:ext>
    </p:extLst>
  </p:cSld>
  <p:transition spd="slow" advClick="1">
    <p:morph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2A3DC-FD0A-4A6D-B6C2-47F8413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38CCE-C512-4069-B9F6-DA7CCB1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Backup, restore, and document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39869-8DE7-40B7-9881-9F3EF82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1FF1-6460-42A2-9517-20CA08D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Backups protect both the current file and the ability to return to a known-good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6A704-47ED-4ADC-B9DA-841A784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A52-2ED8-43FA-BECF-AD9532B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Replace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250D-F403-4A9C-9EE7-49BFEC0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New attachment arrives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3913F-9EE5-4D88-BF02-AAFAA3E7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0F90-4886-4530-A0E7-6A13A0B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5E89-A701-4644-9A93-9C9BF6C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 old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A7AD-8C0B-413E-BB95-4654CAE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Timestamped backup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keeps prior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A696-0DAA-4D23-A639-2F05BDD8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87168-88AF-49E0-83EB-E5B8CD2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EEDB-5494-48E5-B0D0-FD22C25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Verify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5F201-2474-47D1-A244-FB24DCF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SHA-256 detects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change or corruption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7A6BC-58E5-4DB2-9165-4AC3D73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199A6-4DAE-4B5A-808D-A80738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1219200" cy="13335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5BF58-0439-4850-9F41-FC6E48F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956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64A21-0AA3-4EF2-8F83-93DFBEC5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876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802FE-2FEB-4F0E-87DA-5E5955B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76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PDF Backup Manager supports verification, restore, and cleanup of orphaned files.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Soft-deleted records remain restorable through Trash; permanent deletion is restricted.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NAS deployment backups include a verified file archive and a database dump for rollback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94E1E-2632-4208-9F8C-CE19375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E9984-031B-4E0F-8666-A113D80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416725519"/>
      </p:ext>
    </p:extLst>
  </p:cSld>
  <p:transition spd="slow" advClick="1">
    <p:morph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72531-58F2-4ECC-BD97-6A5AF5A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32FCF-82E4-4D30-BB82-D4EB6DB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BB57-546B-4B82-95AB-841E0D6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4DB02-568F-4CE4-AFA4-664F617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Controls are layered so the system does not rely on one safeguard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BB94-003A-4266-AE54-27D2CD6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ECF8B-4BF2-44B9-9670-A498908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68073-4639-4BCE-9A12-1B5C2D9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bcrypt passwords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rate 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session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5618-BC89-433C-ADA3-D01C8B3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C705-B4DC-4E46-BBB4-A3E823C0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30703-F872-43BA-8991-DFF4427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 / Encoder / 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per-record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admin-only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8A79-23C5-4E83-8EF0-D092197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8B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D546C-269A-4BC2-A687-5D5906F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EB371-BD42-46E5-ACFE-CBB3575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CSRF tokens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prepared SQL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MIME + path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E1173-475E-49BE-93C7-6F718A4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4F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17773-F124-41E8-928F-164AE74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830DF-CEAF-43C8-B019-7657FAC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HSTS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frame and type headers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646E4-377F-4531-ADA4-69ED4A68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7F62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E2FDF-3590-49A8-B254-20F7016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9DDC0-030E-4797-A88F-A0798E4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activity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IP + device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49399-10BB-48BC-8077-0F2510E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3E9D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73FFB-D83F-48A1-A5F6-5F979EB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4F4FB-1DA2-4B88-A1FC-8E89381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SHA-256 PDFs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duplicate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backup restore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73806-3A75-4121-B153-F39421C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is an operating practice: review logs, keep backups, test restores, and update the deployment deliberately.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48C56-0379-4E37-A38B-4D2424B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35A90-8549-424F-9B85-586BC13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929886508"/>
      </p:ext>
    </p:extLst>
  </p:cSld>
  <p:transition spd="slow" advClick="1">
    <p:morph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D4267-5DA0-4746-B438-383F941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B507-AE88-45B9-B1DD-6F3073A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Online and offline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423C-5276-4A5E-81FF-4DE955F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6811-2B6D-4DA0-B34B-E14130C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same local system supports remote access when internet is available and LAN access when it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6F0A2-27D5-404D-B2F1-67FB80C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92DC-1925-4289-8485-BAA4E38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285B-DB5D-4E6F-8F9C-0038CC0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With internet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C2A00-3A9D-4BD9-BE03-F2038C8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https://iscan.cdrms.online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Cloudflare Tunnel provides remote access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CDN assets can load normally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Staff can connect from outside the office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09AC-FEE6-4B0B-89EC-F91DD5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Without internet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6548E-38BF-4D66-914D-A41C449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27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the NAS local IP and Web Station port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Database, PDFs, folders, and core PHP remain local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Set OFFLINE_MODE=true after local vendor assets are prepared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Remote Cloudflare access is unavailable until internet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0B430-C823-4059-B715-D054634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Offline readiness is a deployment setting to verify before relying on it during an outage.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A681F-E6BC-4999-9539-977EAFB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12F4-2603-4FBD-A571-8620542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851180331"/>
      </p:ext>
    </p:extLst>
  </p:cSld>
  <p:transition spd="slow" advClick="1">
    <p:morph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BE142-7508-44B6-97B0-C75112E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BEYOND THE CORE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8A598-CA44-49AB-B6B7-05B2660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Additional features worth highlighting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715A-9AE6-43D4-92AB-AF506436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39E8-F3E8-471D-8A65-88BB2D1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These modules show how the platform can support daily operations and future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447D3-40FF-49CF-8B62-298111E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BD93-8CD2-45D3-ABED-CEF54C5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FAE4E-23E0-4B06-AA78-663C0E8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Batch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EBB9A-CA0C-4C4E-B807-C83E5B5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Process historical files with progress tracking and optional OCR.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0AF77-2BD0-496A-813E-C0063D8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E68D5-A959-4C08-BB16-3D464B6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622A5-F673-49B6-AD86-7FE477E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Duplicate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3E800-FE94-4E6E-A23F-F967A4E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Flag probable duplicate registrations before they create confusion.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D73E-F3CC-4122-BB88-59E703B2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3AF2E-393B-4B4F-837A-45A1F16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FB0C6-5537-4EA0-A556-26BF6A3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61217-31A1-4B00-A0D7-D02BE5D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View trends, demographics, quality metrics, and encoder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8EF1-F32C-4C5A-9A67-D4D5B7B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2AF7B-D656-4121-A3CF-EE60AF3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55225-726C-43B9-8FD7-613BC0C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 deletion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713A8-57BF-43B1-96E6-B9AE4AE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Only administrators can permanently delete records; other roles do not receive delete permission.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0357-78EC-4306-BDF9-C707B10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8DCDE-7A40-4C08-9D30-33909A9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4D51E-A3DD-45DD-B671-030B84E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Device 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9447E-7E25-40D6-9FD8-8A047AF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Restrict login to administrator-approved devices when enabled.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6B7F9-D2D4-428E-A996-596D4F0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ADC57-0DD0-40B4-865F-B639A0BB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047F5-C6FB-46DA-BB7B-4B677E7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Calendar and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4C26D-FA0D-46B2-8F52-38CABD3B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Keep operational reminders beside the registry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33EEB-47F6-495E-8186-14DC28D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9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For the presentation, show the features that match the office's current operating scope, then label future modules as planned or optional.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31367-4ADB-4790-BB90-FA65D3D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06A04-D31A-4381-874D-315377B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446865846"/>
      </p:ext>
    </p:extLst>
  </p:cSld>
  <p:transition spd="slow" advClick="1">
    <p:morph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E1AF0-47F3-42A2-BEAB-6D843E3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PRESENTATION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FF237-A9EE-4FC9-8660-5F915CD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0813A-9656-486A-B7E4-10135CF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1240E-0D0B-456A-AB42-B3D44DE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A short sequence can show the full value without opening every module.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4BEFB-8CF8-4BE0-8F8E-F70EFA3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1F16-CA4A-47B0-A6BC-653411B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19D71-3211-445C-B08D-9B0B52F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and show the role-based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9E9E7-9347-485C-AF58-49CADCA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0EF2-E7EE-4D91-807C-561A4C4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71D2-CC97-480F-A6D8-2E6046D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record and demonstrate auto-save / restore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19B76-FD31-486D-AB8E-5EB0821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959A6-22EE-46AC-A312-581706C3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A874C-4F9D-4D65-ADE9-16C96F8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or upload a PDF, then show OCR suggestions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73C29-CA5C-4BE0-9790-205EE040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8F01B-06CB-4A03-8C4C-773EB1A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F458-70D3-4275-9AD2-52B443C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967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and open Folder Browser: type, year, last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C7D5E-C744-4AB0-8AD1-76D8FB1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A0E88-D491-45D9-A947-CBF3CE6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25456-5473-40C0-B328-4E2C315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record with search and open the PDF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143A9-F737-4869-B6FB-28C5783B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21DA0-7B7C-41E5-A769-6A2E1B7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9D903-311C-44DB-AAD8-7C1AA7B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workflow state and activity/security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24F78-5CAE-4C31-B2C4-362B1B5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749C2-172D-4BCD-8F52-A190F30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D7C52-7342-4F30-9FE9-31D8CA09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public URL versus local LAN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38D6D-5A30-4146-8729-B13897C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9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message to leave with the audience: records become faster to encode, easier to find, and safer to protect.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87947-BB80-4D53-B57B-D29E809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5AA84-F2A9-468D-93B5-8CA7C53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679911319"/>
      </p:ext>
    </p:extLst>
  </p:cSld>
  <p:transition spd="slow" advClick="1">
    <p:morph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D6C81-8003-4A49-B956-4817A8BA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ACCESS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A6CC1-2F2F-4D42-B916-06BC4ECD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can delete records?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9CBF4-6F32-4008-AABA-3AF080A8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55128-4BB6-4ED7-8022-877C857A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Deletion follows a controlled path so accidental removal does not become permanent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CCE68-9A0D-497C-8554-E687B36F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429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84F04-F6DB-48FC-852C-6B727E55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008B5-F40C-4950-8FE2-8D6311DE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5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DE1B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DE1BD"/>
                </a:solidFill>
                <a:latin typeface="Arial"/>
                <a:ea typeface="Arial"/>
                <a:cs typeface="Arial"/>
              </a:rPr>
              <a:t>Only Admin can permanently delete a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16465-F785-4B53-A2A3-A920B31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51794-BB35-4615-8ABB-7E8536C6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262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create / update assigned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6615C-CC9E-4552-85D6-F8ECDE09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F705E-ECE8-40D7-89FD-66ABAA3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read-only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4ECDC-3551-4C55-8D52-5FE11D41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D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58A"/>
                </a:solidFill>
                <a:latin typeface="Arial"/>
                <a:ea typeface="Arial"/>
                <a:cs typeface="Arial"/>
              </a:rPr>
              <a:t>Soft delete → Trash → Admin restore or permanent delete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b8a63ada44f3d"/>
          <a:stretch xmlns:a="http://schemas.openxmlformats.org/drawingml/2006/main"/>
        </p:blipFill>
        <p:spPr>
          <a:xfrm xmlns:a="http://schemas.openxmlformats.org/drawingml/2006/main">
            <a:off x="7067550" y="2230998"/>
            <a:ext cx="4000500" cy="2738904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FC09D-C91D-472C-99BE-33A86CFD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Every delete and restore action is logged with the user, IP address, device, and timestamp.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11EF5-451F-4373-BF16-AAE16E26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214B7-F608-4511-BA1C-AAA19D4D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779322845"/>
      </p:ext>
    </p:extLst>
  </p:cSld>
  <p:transition spd="slow" advClick="1">
    <p:morph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2026-09-08T11:42:43.0130000Z</dcterms:created>
  <dcterms:modified xsi:type="dcterms:W3CDTF">2026-09-08T11:42:43.0130000Z</dcterms:modified>
</coreProperties>
</file>