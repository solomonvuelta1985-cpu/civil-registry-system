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A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Magandang araw. This presentation introduces iScan, the four civil registry modules, and the complete path from a scanned document to a protected, searchable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Ito ang outline. Uunahin natin ang purpose and modules, then the system map, the record workflow, the security and recovery controls, and finally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CRDMS means Civil Registry Document Management System. In simple terms, it is the office system for scanning, encoding, organizing, searching, verifying, and protecting civil registry documents. The name iScan comes from pa-scan; in Ilokano, i-scan is an action word for scanning a document for processing and registration.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Dito makikita ang reason for the system. The benefit is not only faster encoding; it is also a more reliable way to find, verify, and account for every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core modules. Kahit anong certificate type, the staff follow the same pattern for capture, encoding, review, approval, search, and protection.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map. The browser sends requests to the PHP application on the NAS; MariaDB stores structured values and the PDF archive stores the documents. Online and local LAN access use the same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flow to remember. The document is captured, encoded, checked against the PDF, routed through the approval role, and archived. Rejected or reopened records remain traceable.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 can scan from the Epson DS-530 II or select a PDF. The system validates the upload, then OCR can suggest values; the encoder still checks every extracted value before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Auto-save is only a recovery aid. If the browser closes or the laptop restarts, the draft can be restored; the official database record exists only after Save succeeds. The default inactivity timeout is 60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creates the folder path from the record. Staff can browse by type, year, and last name, while the database remains the source of truth for the official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can use the name, registry number, date, folder, or location. The reviewer then compares the original PDF with the encoded fields before approving the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controls include five login attempts within five minutes, a default 60-minute inactivity timeout, and role-based access. Permanent deletion is Admin-only; soft deletion goes to Trash first. The system also uses bcrypt password hashing, CSRF protection, prepared SQL, MIME/path checks, security logs, and audit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Backups create a recovery point for both database and PDFs. If internet access is unavailable, staff can continue through the NAS local address; remote access returns when connectivity is restored.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supporting tools explicitly: Advanced Search, Analytics Dashboard, Records Viewer, PDF Comparison Viewer, Workflow Dashboard, Archive, Trash and Restore, Batch Upload, PDF Backup Manager, PDF Integrity Tools, Reorganize Uploads, Double Registration Linking, Family Relations, Calendar, Notes, device registration/approval/locking, User Management, System Settings, Security Logs, Reports, Data Export, Error Log Viewer, and Maintenance Mode.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demo, follow this exact order: dashboard, record creation, auto-save, scan or upload, Folder Browser, search and verification, then security logs and deletion policy. That order makes the value easy to follow for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BF561E-F246-4432-BFF0-46CFC22DFF67}"/>
              </a:ext>
            </a:extLst>
          </p:cNvPr>
          <p:cNvSpPr>
            <a:spLocks noGrp="1"/>
          </p:cNvSpPr>
          <p:nvPr/>
        </p:nvSpPr>
        <p:spPr>
          <a:xfrm>
            <a:off x="0" y="0"/>
            <a:ext cx="4762500" cy="6858000"/>
          </a:xfrm>
          <a:prstGeom prst="rect">
            <a:avLst/>
          </a:prstGeom>
          <a:solidFill>
            <a:srgbClr val="2F6BDE"/>
          </a:solidFill>
          <a:ln w="0">
            <a:noFill/>
          </a:ln>
        </p:spPr>
      </p:sp>
      <p:pic>
        <p:nvPicPr>
          <p:cNvPr id="12" name="Picture 11"/>
          <p:cNvPicPr>
            <a:picLocks noChangeAspect="1"/>
          </p:cNvPicPr>
          <p:nvPr/>
        </p:nvPicPr>
        <p:blipFill>
          <a:blip r:embed="rId3"/>
          <a:stretch/>
        </p:blipFill>
        <p:spPr>
          <a:xfrm>
            <a:off x="990600" y="1172957"/>
            <a:ext cx="2781300" cy="2759486"/>
          </a:xfrm>
          <a:prstGeom prst="roundRect">
            <a:avLst>
              <a:gd name="adj" fmla="val 50000"/>
            </a:avLst>
          </a:prstGeom>
        </p:spPr>
      </p:pic>
      <p:sp>
        <p:nvSpPr>
          <p:cNvPr id="3" name="Rectangle 2">
            <a:extLst>
              <a:ext uri="{FF2B5EF4-FFF2-40B4-BE49-F238E27FC236}">
                <a16:creationId xmlns:a16="http://schemas.microsoft.com/office/drawing/2014/main" id="{A735E840-E995-4A33-AB35-1C3A37A59358}"/>
              </a:ext>
            </a:extLst>
          </p:cNvPr>
          <p:cNvSpPr>
            <a:spLocks noGrp="1"/>
          </p:cNvSpPr>
          <p:nvPr/>
        </p:nvSpPr>
        <p:spPr>
          <a:xfrm>
            <a:off x="5410200" y="1466850"/>
            <a:ext cx="5905500" cy="666750"/>
          </a:xfrm>
          <a:prstGeom prst="rect">
            <a:avLst/>
          </a:prstGeom>
          <a:noFill/>
          <a:ln w="0">
            <a:noFill/>
          </a:ln>
        </p:spPr>
        <p:txBody>
          <a:bodyPr lIns="0" tIns="0" rIns="0" bIns="0" anchor="t">
            <a:normAutofit/>
          </a:bodyPr>
          <a:lstStyle/>
          <a:p>
            <a:pPr algn="l">
              <a:defRPr sz="3675" b="1">
                <a:solidFill>
                  <a:srgbClr val="FFFFFF"/>
                </a:solidFill>
                <a:latin typeface="Arial"/>
                <a:ea typeface="Arial"/>
                <a:cs typeface="Arial"/>
              </a:defRPr>
            </a:pPr>
            <a:r>
              <a:rPr sz="3675" b="1">
                <a:solidFill>
                  <a:srgbClr val="FFFFFF"/>
                </a:solidFill>
                <a:latin typeface="Arial"/>
                <a:ea typeface="Arial"/>
                <a:cs typeface="Arial"/>
              </a:rPr>
              <a:t>iScan CRDMS</a:t>
            </a:r>
          </a:p>
        </p:txBody>
      </p:sp>
      <p:sp>
        <p:nvSpPr>
          <p:cNvPr id="4" name="Rectangle 3">
            <a:extLst>
              <a:ext uri="{FF2B5EF4-FFF2-40B4-BE49-F238E27FC236}">
                <a16:creationId xmlns:a16="http://schemas.microsoft.com/office/drawing/2014/main" id="{8D44E1AA-7DE0-4221-9153-726ABF8025EB}"/>
              </a:ext>
            </a:extLst>
          </p:cNvPr>
          <p:cNvSpPr>
            <a:spLocks noGrp="1"/>
          </p:cNvSpPr>
          <p:nvPr/>
        </p:nvSpPr>
        <p:spPr>
          <a:xfrm>
            <a:off x="5448300" y="2266950"/>
            <a:ext cx="5524500" cy="514350"/>
          </a:xfrm>
          <a:prstGeom prst="rect">
            <a:avLst/>
          </a:prstGeom>
          <a:noFill/>
          <a:ln w="0">
            <a:noFill/>
          </a:ln>
        </p:spPr>
        <p:txBody>
          <a:bodyPr lIns="0" tIns="0" rIns="0" bIns="0" anchor="t">
            <a:normAutofit/>
          </a:bodyPr>
          <a:lstStyle/>
          <a:p>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Rectangle 4">
            <a:extLst>
              <a:ext uri="{FF2B5EF4-FFF2-40B4-BE49-F238E27FC236}">
                <a16:creationId xmlns:a16="http://schemas.microsoft.com/office/drawing/2014/main" id="{34F2126E-3179-443F-8A7E-996751349F33}"/>
              </a:ext>
            </a:extLst>
          </p:cNvPr>
          <p:cNvSpPr>
            <a:spLocks noGrp="1"/>
          </p:cNvSpPr>
          <p:nvPr/>
        </p:nvSpPr>
        <p:spPr>
          <a:xfrm>
            <a:off x="5448300" y="3086100"/>
            <a:ext cx="5143500" cy="5524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guided introduction to the records, workflow, and controls.</a:t>
            </a:r>
          </a:p>
        </p:txBody>
      </p:sp>
      <p:sp>
        <p:nvSpPr>
          <p:cNvPr id="6" name="Rectangle: Rounded Corners 5">
            <a:extLst>
              <a:ext uri="{FF2B5EF4-FFF2-40B4-BE49-F238E27FC236}">
                <a16:creationId xmlns:a16="http://schemas.microsoft.com/office/drawing/2014/main" id="{6A596E5C-DBAE-407C-8ABF-332C7DC7159C}"/>
              </a:ext>
            </a:extLst>
          </p:cNvPr>
          <p:cNvSpPr>
            <a:spLocks noGrp="1"/>
          </p:cNvSpPr>
          <p:nvPr/>
        </p:nvSpPr>
        <p:spPr>
          <a:xfrm>
            <a:off x="5448300" y="4095750"/>
            <a:ext cx="3429000" cy="361950"/>
          </a:xfrm>
          <a:prstGeom prst="roundRect">
            <a:avLst>
              <a:gd name="adj" fmla="val 21053"/>
            </a:avLst>
          </a:prstGeom>
          <a:solidFill>
            <a:srgbClr val="17A673"/>
          </a:solidFill>
          <a:ln w="0">
            <a:noFill/>
          </a:ln>
        </p:spPr>
      </p:sp>
      <p:sp>
        <p:nvSpPr>
          <p:cNvPr id="7" name="Rectangle 6">
            <a:extLst>
              <a:ext uri="{FF2B5EF4-FFF2-40B4-BE49-F238E27FC236}">
                <a16:creationId xmlns:a16="http://schemas.microsoft.com/office/drawing/2014/main" id="{0D717773-7C37-4AE8-A6A7-8DACB9885F0A}"/>
              </a:ext>
            </a:extLst>
          </p:cNvPr>
          <p:cNvSpPr>
            <a:spLocks noGrp="1"/>
          </p:cNvSpPr>
          <p:nvPr/>
        </p:nvSpPr>
        <p:spPr>
          <a:xfrm>
            <a:off x="5448300" y="4095750"/>
            <a:ext cx="34290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Rectangle 7">
            <a:extLst>
              <a:ext uri="{FF2B5EF4-FFF2-40B4-BE49-F238E27FC236}">
                <a16:creationId xmlns:a16="http://schemas.microsoft.com/office/drawing/2014/main" id="{3840E3B5-5B5A-416F-A1A6-8E24C42F5885}"/>
              </a:ext>
            </a:extLst>
          </p:cNvPr>
          <p:cNvSpPr>
            <a:spLocks noGrp="1"/>
          </p:cNvSpPr>
          <p:nvPr/>
        </p:nvSpPr>
        <p:spPr>
          <a:xfrm>
            <a:off x="5448300" y="4714875"/>
            <a:ext cx="3810000" cy="285750"/>
          </a:xfrm>
          <a:prstGeom prst="rect">
            <a:avLst/>
          </a:prstGeom>
          <a:noFill/>
          <a:ln w="0">
            <a:noFill/>
          </a:ln>
        </p:spPr>
        <p:txBody>
          <a:bodyPr lIns="0" tIns="0" rIns="0" bIns="0" anchor="t">
            <a:normAutofit/>
          </a:bodyPr>
          <a:lstStyle/>
          <a:p>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Rectangle 8">
            <a:extLst>
              <a:ext uri="{FF2B5EF4-FFF2-40B4-BE49-F238E27FC236}">
                <a16:creationId xmlns:a16="http://schemas.microsoft.com/office/drawing/2014/main" id="{E1CBADC4-AFDD-477D-8646-D78CAD3E08F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Rectangle 9">
            <a:extLst>
              <a:ext uri="{FF2B5EF4-FFF2-40B4-BE49-F238E27FC236}">
                <a16:creationId xmlns:a16="http://schemas.microsoft.com/office/drawing/2014/main" id="{33DCC7B2-11AA-4925-818A-3CB23AF81F60}"/>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01 / 15</a:t>
            </a:r>
          </a:p>
        </p:txBody>
      </p:sp>
    </p:spTree>
    <p:extLst>
      <p:ext uri="{BB962C8B-B14F-4D97-AF65-F5344CB8AC3E}">
        <p14:creationId xmlns:p14="http://schemas.microsoft.com/office/powerpoint/2010/main" val="1127990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5913D48-5C83-4874-B35B-D31FB58157F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ROADMAP</a:t>
            </a:r>
          </a:p>
        </p:txBody>
      </p:sp>
      <p:sp>
        <p:nvSpPr>
          <p:cNvPr id="2" name="Rectangle 1">
            <a:extLst>
              <a:ext uri="{FF2B5EF4-FFF2-40B4-BE49-F238E27FC236}">
                <a16:creationId xmlns:a16="http://schemas.microsoft.com/office/drawing/2014/main" id="{A10CFA3D-EA6A-4FE4-85B1-290825C8992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What we will cover</a:t>
            </a:r>
          </a:p>
        </p:txBody>
      </p:sp>
      <p:sp>
        <p:nvSpPr>
          <p:cNvPr id="3" name="Rectangle 2">
            <a:extLst>
              <a:ext uri="{FF2B5EF4-FFF2-40B4-BE49-F238E27FC236}">
                <a16:creationId xmlns:a16="http://schemas.microsoft.com/office/drawing/2014/main" id="{946D4DC5-826E-4C0C-804A-EF27A1901151}"/>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1394BE8E-7552-4FC6-BCB8-38FBE2D54FB5}"/>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presentation follows the same order a staff member follows in the system.</a:t>
            </a:r>
          </a:p>
        </p:txBody>
      </p:sp>
      <p:sp>
        <p:nvSpPr>
          <p:cNvPr id="5" name="Rectangle: Rounded Corners 4">
            <a:extLst>
              <a:ext uri="{FF2B5EF4-FFF2-40B4-BE49-F238E27FC236}">
                <a16:creationId xmlns:a16="http://schemas.microsoft.com/office/drawing/2014/main" id="{1C7D2EE1-9015-4643-914E-E199FB1BABB4}"/>
              </a:ext>
            </a:extLst>
          </p:cNvPr>
          <p:cNvSpPr>
            <a:spLocks noGrp="1"/>
          </p:cNvSpPr>
          <p:nvPr/>
        </p:nvSpPr>
        <p:spPr>
          <a:xfrm>
            <a:off x="666750" y="2266950"/>
            <a:ext cx="5238750" cy="3286125"/>
          </a:xfrm>
          <a:prstGeom prst="roundRect">
            <a:avLst>
              <a:gd name="adj" fmla="val 2319"/>
            </a:avLst>
          </a:prstGeom>
          <a:solidFill>
            <a:srgbClr val="FFFFFF"/>
          </a:solidFill>
          <a:ln w="14288">
            <a:solidFill>
              <a:srgbClr val="D8E1ED"/>
            </a:solidFill>
          </a:ln>
        </p:spPr>
      </p:sp>
      <p:sp>
        <p:nvSpPr>
          <p:cNvPr id="6" name="Rectangle: Rounded Corners 5">
            <a:extLst>
              <a:ext uri="{FF2B5EF4-FFF2-40B4-BE49-F238E27FC236}">
                <a16:creationId xmlns:a16="http://schemas.microsoft.com/office/drawing/2014/main" id="{BBEC7F54-ABA9-4E77-8120-1D6A0AD93D3C}"/>
              </a:ext>
            </a:extLst>
          </p:cNvPr>
          <p:cNvSpPr>
            <a:spLocks noGrp="1"/>
          </p:cNvSpPr>
          <p:nvPr/>
        </p:nvSpPr>
        <p:spPr>
          <a:xfrm>
            <a:off x="6286500" y="2266950"/>
            <a:ext cx="5238750" cy="3286125"/>
          </a:xfrm>
          <a:prstGeom prst="roundRect">
            <a:avLst>
              <a:gd name="adj" fmla="val 2319"/>
            </a:avLst>
          </a:prstGeom>
          <a:solidFill>
            <a:srgbClr val="FFFFFF"/>
          </a:solidFill>
          <a:ln w="14288">
            <a:solidFill>
              <a:srgbClr val="D8E1ED"/>
            </a:solidFill>
          </a:ln>
        </p:spPr>
      </p:sp>
      <p:sp>
        <p:nvSpPr>
          <p:cNvPr id="7" name="Rectangle 6">
            <a:extLst>
              <a:ext uri="{FF2B5EF4-FFF2-40B4-BE49-F238E27FC236}">
                <a16:creationId xmlns:a16="http://schemas.microsoft.com/office/drawing/2014/main" id="{292C24F7-0542-4E9F-8D91-E7DB3636B2AE}"/>
              </a:ext>
            </a:extLst>
          </p:cNvPr>
          <p:cNvSpPr>
            <a:spLocks noGrp="1"/>
          </p:cNvSpPr>
          <p:nvPr/>
        </p:nvSpPr>
        <p:spPr>
          <a:xfrm>
            <a:off x="1000125" y="2571750"/>
            <a:ext cx="4286250" cy="285750"/>
          </a:xfrm>
          <a:prstGeom prst="rect">
            <a:avLst/>
          </a:prstGeom>
          <a:noFill/>
          <a:ln w="0">
            <a:noFill/>
          </a:ln>
        </p:spPr>
        <p:txBody>
          <a:bodyPr lIns="0" tIns="0" rIns="0" bIns="0" anchor="t">
            <a:normAutofit/>
          </a:bodyPr>
          <a:lstStyle/>
          <a:p>
            <a:pPr algn="l">
              <a:defRPr sz="1875" b="1">
                <a:solidFill>
                  <a:srgbClr val="2F6BDE"/>
                </a:solidFill>
                <a:latin typeface="Arial"/>
                <a:ea typeface="Arial"/>
                <a:cs typeface="Arial"/>
              </a:defRPr>
            </a:pPr>
            <a:r>
              <a:rPr sz="1875" b="1">
                <a:solidFill>
                  <a:srgbClr val="2F6BDE"/>
                </a:solidFill>
                <a:latin typeface="Arial"/>
                <a:ea typeface="Arial"/>
                <a:cs typeface="Arial"/>
              </a:rPr>
              <a:t>Understand</a:t>
            </a:r>
          </a:p>
        </p:txBody>
      </p:sp>
      <p:sp>
        <p:nvSpPr>
          <p:cNvPr id="8" name="Rectangle: Rounded Corners 7">
            <a:extLst>
              <a:ext uri="{FF2B5EF4-FFF2-40B4-BE49-F238E27FC236}">
                <a16:creationId xmlns:a16="http://schemas.microsoft.com/office/drawing/2014/main" id="{6E5600C3-639C-4269-954F-27B657781B0A}"/>
              </a:ext>
            </a:extLst>
          </p:cNvPr>
          <p:cNvSpPr>
            <a:spLocks noGrp="1"/>
          </p:cNvSpPr>
          <p:nvPr/>
        </p:nvSpPr>
        <p:spPr>
          <a:xfrm>
            <a:off x="1000125" y="3095625"/>
            <a:ext cx="457200" cy="400050"/>
          </a:xfrm>
          <a:prstGeom prst="roundRect">
            <a:avLst>
              <a:gd name="adj" fmla="val 19048"/>
            </a:avLst>
          </a:prstGeom>
          <a:solidFill>
            <a:srgbClr val="2F6BDE"/>
          </a:solidFill>
          <a:ln w="0">
            <a:noFill/>
          </a:ln>
        </p:spPr>
      </p:sp>
      <p:sp>
        <p:nvSpPr>
          <p:cNvPr id="9" name="Rectangle 8">
            <a:extLst>
              <a:ext uri="{FF2B5EF4-FFF2-40B4-BE49-F238E27FC236}">
                <a16:creationId xmlns:a16="http://schemas.microsoft.com/office/drawing/2014/main" id="{A19D8702-43E7-47CA-BFD9-CA6E70DE85EE}"/>
              </a:ext>
            </a:extLst>
          </p:cNvPr>
          <p:cNvSpPr>
            <a:spLocks noGrp="1"/>
          </p:cNvSpPr>
          <p:nvPr/>
        </p:nvSpPr>
        <p:spPr>
          <a:xfrm>
            <a:off x="100012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0" name="Rectangle 9">
            <a:extLst>
              <a:ext uri="{FF2B5EF4-FFF2-40B4-BE49-F238E27FC236}">
                <a16:creationId xmlns:a16="http://schemas.microsoft.com/office/drawing/2014/main" id="{30E1FF28-15F1-4B97-A151-E1463EB78434}"/>
              </a:ext>
            </a:extLst>
          </p:cNvPr>
          <p:cNvSpPr>
            <a:spLocks noGrp="1"/>
          </p:cNvSpPr>
          <p:nvPr/>
        </p:nvSpPr>
        <p:spPr>
          <a:xfrm>
            <a:off x="166687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Purpose</a:t>
            </a:r>
          </a:p>
        </p:txBody>
      </p:sp>
      <p:sp>
        <p:nvSpPr>
          <p:cNvPr id="11" name="Rectangle 10">
            <a:extLst>
              <a:ext uri="{FF2B5EF4-FFF2-40B4-BE49-F238E27FC236}">
                <a16:creationId xmlns:a16="http://schemas.microsoft.com/office/drawing/2014/main" id="{35F31412-12B5-4CE8-88DE-8D33632E9F7B}"/>
              </a:ext>
            </a:extLst>
          </p:cNvPr>
          <p:cNvSpPr>
            <a:spLocks noGrp="1"/>
          </p:cNvSpPr>
          <p:nvPr/>
        </p:nvSpPr>
        <p:spPr>
          <a:xfrm>
            <a:off x="166687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What problem iScan solves</a:t>
            </a:r>
          </a:p>
        </p:txBody>
      </p:sp>
      <p:sp>
        <p:nvSpPr>
          <p:cNvPr id="12" name="Rectangle: Rounded Corners 11">
            <a:extLst>
              <a:ext uri="{FF2B5EF4-FFF2-40B4-BE49-F238E27FC236}">
                <a16:creationId xmlns:a16="http://schemas.microsoft.com/office/drawing/2014/main" id="{7A8176EE-F4E5-444F-8CCD-4AE080E5A6A1}"/>
              </a:ext>
            </a:extLst>
          </p:cNvPr>
          <p:cNvSpPr>
            <a:spLocks noGrp="1"/>
          </p:cNvSpPr>
          <p:nvPr/>
        </p:nvSpPr>
        <p:spPr>
          <a:xfrm>
            <a:off x="1000125" y="4048125"/>
            <a:ext cx="457200" cy="400050"/>
          </a:xfrm>
          <a:prstGeom prst="roundRect">
            <a:avLst>
              <a:gd name="adj" fmla="val 19048"/>
            </a:avLst>
          </a:prstGeom>
          <a:solidFill>
            <a:srgbClr val="17A673"/>
          </a:solidFill>
          <a:ln w="0">
            <a:noFill/>
          </a:ln>
        </p:spPr>
      </p:sp>
      <p:sp>
        <p:nvSpPr>
          <p:cNvPr id="13" name="Rectangle 12">
            <a:extLst>
              <a:ext uri="{FF2B5EF4-FFF2-40B4-BE49-F238E27FC236}">
                <a16:creationId xmlns:a16="http://schemas.microsoft.com/office/drawing/2014/main" id="{3F2AE724-776E-4214-9BCB-1DB7A21BA792}"/>
              </a:ext>
            </a:extLst>
          </p:cNvPr>
          <p:cNvSpPr>
            <a:spLocks noGrp="1"/>
          </p:cNvSpPr>
          <p:nvPr/>
        </p:nvSpPr>
        <p:spPr>
          <a:xfrm>
            <a:off x="100012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4" name="Rectangle 13">
            <a:extLst>
              <a:ext uri="{FF2B5EF4-FFF2-40B4-BE49-F238E27FC236}">
                <a16:creationId xmlns:a16="http://schemas.microsoft.com/office/drawing/2014/main" id="{FF6C2DBE-CE33-4778-926F-4AF2010D42BC}"/>
              </a:ext>
            </a:extLst>
          </p:cNvPr>
          <p:cNvSpPr>
            <a:spLocks noGrp="1"/>
          </p:cNvSpPr>
          <p:nvPr/>
        </p:nvSpPr>
        <p:spPr>
          <a:xfrm>
            <a:off x="166687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Core modules</a:t>
            </a:r>
          </a:p>
        </p:txBody>
      </p:sp>
      <p:sp>
        <p:nvSpPr>
          <p:cNvPr id="15" name="Rectangle 14">
            <a:extLst>
              <a:ext uri="{FF2B5EF4-FFF2-40B4-BE49-F238E27FC236}">
                <a16:creationId xmlns:a16="http://schemas.microsoft.com/office/drawing/2014/main" id="{AF80E240-4275-4DB5-ACC4-7FBC5C703B82}"/>
              </a:ext>
            </a:extLst>
          </p:cNvPr>
          <p:cNvSpPr>
            <a:spLocks noGrp="1"/>
          </p:cNvSpPr>
          <p:nvPr/>
        </p:nvSpPr>
        <p:spPr>
          <a:xfrm>
            <a:off x="166687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The four civil registry records</a:t>
            </a:r>
          </a:p>
        </p:txBody>
      </p:sp>
      <p:sp>
        <p:nvSpPr>
          <p:cNvPr id="16" name="Rectangle: Rounded Corners 15">
            <a:extLst>
              <a:ext uri="{FF2B5EF4-FFF2-40B4-BE49-F238E27FC236}">
                <a16:creationId xmlns:a16="http://schemas.microsoft.com/office/drawing/2014/main" id="{B20169C4-A570-47C3-948B-78F730B2325F}"/>
              </a:ext>
            </a:extLst>
          </p:cNvPr>
          <p:cNvSpPr>
            <a:spLocks noGrp="1"/>
          </p:cNvSpPr>
          <p:nvPr/>
        </p:nvSpPr>
        <p:spPr>
          <a:xfrm>
            <a:off x="1000125" y="5000625"/>
            <a:ext cx="457200" cy="400050"/>
          </a:xfrm>
          <a:prstGeom prst="roundRect">
            <a:avLst>
              <a:gd name="adj" fmla="val 19048"/>
            </a:avLst>
          </a:prstGeom>
          <a:solidFill>
            <a:srgbClr val="7B61D1"/>
          </a:solidFill>
          <a:ln w="0">
            <a:noFill/>
          </a:ln>
        </p:spPr>
      </p:sp>
      <p:sp>
        <p:nvSpPr>
          <p:cNvPr id="17" name="Rectangle 16">
            <a:extLst>
              <a:ext uri="{FF2B5EF4-FFF2-40B4-BE49-F238E27FC236}">
                <a16:creationId xmlns:a16="http://schemas.microsoft.com/office/drawing/2014/main" id="{5A31B416-E8E5-493C-8088-F6D06F07EACE}"/>
              </a:ext>
            </a:extLst>
          </p:cNvPr>
          <p:cNvSpPr>
            <a:spLocks noGrp="1"/>
          </p:cNvSpPr>
          <p:nvPr/>
        </p:nvSpPr>
        <p:spPr>
          <a:xfrm>
            <a:off x="100012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89CE6553-9343-4C7A-96EE-E4E79A5B4CA6}"/>
              </a:ext>
            </a:extLst>
          </p:cNvPr>
          <p:cNvSpPr>
            <a:spLocks noGrp="1"/>
          </p:cNvSpPr>
          <p:nvPr/>
        </p:nvSpPr>
        <p:spPr>
          <a:xfrm>
            <a:off x="166687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System map</a:t>
            </a:r>
          </a:p>
        </p:txBody>
      </p:sp>
      <p:sp>
        <p:nvSpPr>
          <p:cNvPr id="19" name="Rectangle 18">
            <a:extLst>
              <a:ext uri="{FF2B5EF4-FFF2-40B4-BE49-F238E27FC236}">
                <a16:creationId xmlns:a16="http://schemas.microsoft.com/office/drawing/2014/main" id="{6B52D564-33F1-484F-80D5-B8FBCCDC7B48}"/>
              </a:ext>
            </a:extLst>
          </p:cNvPr>
          <p:cNvSpPr>
            <a:spLocks noGrp="1"/>
          </p:cNvSpPr>
          <p:nvPr/>
        </p:nvSpPr>
        <p:spPr>
          <a:xfrm>
            <a:off x="166687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Browser, NAS, database, archive</a:t>
            </a:r>
          </a:p>
        </p:txBody>
      </p:sp>
      <p:sp>
        <p:nvSpPr>
          <p:cNvPr id="20" name="Rectangle 19">
            <a:extLst>
              <a:ext uri="{FF2B5EF4-FFF2-40B4-BE49-F238E27FC236}">
                <a16:creationId xmlns:a16="http://schemas.microsoft.com/office/drawing/2014/main" id="{A8E37552-81C3-4480-AEBC-08B9AC33FE6C}"/>
              </a:ext>
            </a:extLst>
          </p:cNvPr>
          <p:cNvSpPr>
            <a:spLocks noGrp="1"/>
          </p:cNvSpPr>
          <p:nvPr/>
        </p:nvSpPr>
        <p:spPr>
          <a:xfrm>
            <a:off x="6619875" y="2571750"/>
            <a:ext cx="4286250" cy="285750"/>
          </a:xfrm>
          <a:prstGeom prst="rect">
            <a:avLst/>
          </a:prstGeom>
          <a:noFill/>
          <a:ln w="0">
            <a:noFill/>
          </a:ln>
        </p:spPr>
        <p:txBody>
          <a:bodyPr lIns="0" tIns="0" rIns="0" bIns="0" anchor="t">
            <a:normAutofit/>
          </a:bodyPr>
          <a:lstStyle/>
          <a:p>
            <a:pPr algn="l">
              <a:defRPr sz="1875" b="1">
                <a:solidFill>
                  <a:srgbClr val="17A673"/>
                </a:solidFill>
                <a:latin typeface="Arial"/>
                <a:ea typeface="Arial"/>
                <a:cs typeface="Arial"/>
              </a:defRPr>
            </a:pPr>
            <a:r>
              <a:rPr sz="1875" b="1">
                <a:solidFill>
                  <a:srgbClr val="17A673"/>
                </a:solidFill>
                <a:latin typeface="Arial"/>
                <a:ea typeface="Arial"/>
                <a:cs typeface="Arial"/>
              </a:rPr>
              <a:t>Use</a:t>
            </a:r>
          </a:p>
        </p:txBody>
      </p:sp>
      <p:sp>
        <p:nvSpPr>
          <p:cNvPr id="21" name="Rectangle: Rounded Corners 20">
            <a:extLst>
              <a:ext uri="{FF2B5EF4-FFF2-40B4-BE49-F238E27FC236}">
                <a16:creationId xmlns:a16="http://schemas.microsoft.com/office/drawing/2014/main" id="{B7E84B89-5B7E-4BE3-9B7B-491E98E885C6}"/>
              </a:ext>
            </a:extLst>
          </p:cNvPr>
          <p:cNvSpPr>
            <a:spLocks noGrp="1"/>
          </p:cNvSpPr>
          <p:nvPr/>
        </p:nvSpPr>
        <p:spPr>
          <a:xfrm>
            <a:off x="6619875" y="3095625"/>
            <a:ext cx="457200" cy="400050"/>
          </a:xfrm>
          <a:prstGeom prst="roundRect">
            <a:avLst>
              <a:gd name="adj" fmla="val 19048"/>
            </a:avLst>
          </a:prstGeom>
          <a:solidFill>
            <a:srgbClr val="F6B638"/>
          </a:solidFill>
          <a:ln w="0">
            <a:noFill/>
          </a:ln>
        </p:spPr>
      </p:sp>
      <p:sp>
        <p:nvSpPr>
          <p:cNvPr id="22" name="Rectangle 21">
            <a:extLst>
              <a:ext uri="{FF2B5EF4-FFF2-40B4-BE49-F238E27FC236}">
                <a16:creationId xmlns:a16="http://schemas.microsoft.com/office/drawing/2014/main" id="{DF8B625E-6397-416F-AE1D-0A2F8EDBBE33}"/>
              </a:ext>
            </a:extLst>
          </p:cNvPr>
          <p:cNvSpPr>
            <a:spLocks noGrp="1"/>
          </p:cNvSpPr>
          <p:nvPr/>
        </p:nvSpPr>
        <p:spPr>
          <a:xfrm>
            <a:off x="661987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A12D107D-C293-48E5-9499-E302F3A28781}"/>
              </a:ext>
            </a:extLst>
          </p:cNvPr>
          <p:cNvSpPr>
            <a:spLocks noGrp="1"/>
          </p:cNvSpPr>
          <p:nvPr/>
        </p:nvSpPr>
        <p:spPr>
          <a:xfrm>
            <a:off x="728662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Record workflow</a:t>
            </a:r>
          </a:p>
        </p:txBody>
      </p:sp>
      <p:sp>
        <p:nvSpPr>
          <p:cNvPr id="24" name="Rectangle 23">
            <a:extLst>
              <a:ext uri="{FF2B5EF4-FFF2-40B4-BE49-F238E27FC236}">
                <a16:creationId xmlns:a16="http://schemas.microsoft.com/office/drawing/2014/main" id="{EB4BC841-29DE-43DF-964A-DC1567C8CBBF}"/>
              </a:ext>
            </a:extLst>
          </p:cNvPr>
          <p:cNvSpPr>
            <a:spLocks noGrp="1"/>
          </p:cNvSpPr>
          <p:nvPr/>
        </p:nvSpPr>
        <p:spPr>
          <a:xfrm>
            <a:off x="728662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Capture to archive</a:t>
            </a:r>
          </a:p>
        </p:txBody>
      </p:sp>
      <p:sp>
        <p:nvSpPr>
          <p:cNvPr id="25" name="Rectangle: Rounded Corners 24">
            <a:extLst>
              <a:ext uri="{FF2B5EF4-FFF2-40B4-BE49-F238E27FC236}">
                <a16:creationId xmlns:a16="http://schemas.microsoft.com/office/drawing/2014/main" id="{41FD376E-AB5F-4624-9D2A-4D6358D91C39}"/>
              </a:ext>
            </a:extLst>
          </p:cNvPr>
          <p:cNvSpPr>
            <a:spLocks noGrp="1"/>
          </p:cNvSpPr>
          <p:nvPr/>
        </p:nvSpPr>
        <p:spPr>
          <a:xfrm>
            <a:off x="6619875" y="4048125"/>
            <a:ext cx="457200" cy="400050"/>
          </a:xfrm>
          <a:prstGeom prst="roundRect">
            <a:avLst>
              <a:gd name="adj" fmla="val 19048"/>
            </a:avLst>
          </a:prstGeom>
          <a:solidFill>
            <a:srgbClr val="DD5577"/>
          </a:solidFill>
          <a:ln w="0">
            <a:noFill/>
          </a:ln>
        </p:spPr>
      </p:sp>
      <p:sp>
        <p:nvSpPr>
          <p:cNvPr id="26" name="Rectangle 25">
            <a:extLst>
              <a:ext uri="{FF2B5EF4-FFF2-40B4-BE49-F238E27FC236}">
                <a16:creationId xmlns:a16="http://schemas.microsoft.com/office/drawing/2014/main" id="{82883CFC-D41D-4016-862D-5C4F22F3BE13}"/>
              </a:ext>
            </a:extLst>
          </p:cNvPr>
          <p:cNvSpPr>
            <a:spLocks noGrp="1"/>
          </p:cNvSpPr>
          <p:nvPr/>
        </p:nvSpPr>
        <p:spPr>
          <a:xfrm>
            <a:off x="661987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00C325D3-F508-484A-A83B-6987302AA528}"/>
              </a:ext>
            </a:extLst>
          </p:cNvPr>
          <p:cNvSpPr>
            <a:spLocks noGrp="1"/>
          </p:cNvSpPr>
          <p:nvPr/>
        </p:nvSpPr>
        <p:spPr>
          <a:xfrm>
            <a:off x="728662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Controls</a:t>
            </a:r>
          </a:p>
        </p:txBody>
      </p:sp>
      <p:sp>
        <p:nvSpPr>
          <p:cNvPr id="28" name="Rectangle 27">
            <a:extLst>
              <a:ext uri="{FF2B5EF4-FFF2-40B4-BE49-F238E27FC236}">
                <a16:creationId xmlns:a16="http://schemas.microsoft.com/office/drawing/2014/main" id="{E2476229-76C3-4C13-8353-2219D4F353F9}"/>
              </a:ext>
            </a:extLst>
          </p:cNvPr>
          <p:cNvSpPr>
            <a:spLocks noGrp="1"/>
          </p:cNvSpPr>
          <p:nvPr/>
        </p:nvSpPr>
        <p:spPr>
          <a:xfrm>
            <a:off x="728662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Security, backup, continuity</a:t>
            </a:r>
          </a:p>
        </p:txBody>
      </p:sp>
      <p:sp>
        <p:nvSpPr>
          <p:cNvPr id="29" name="Rectangle: Rounded Corners 28">
            <a:extLst>
              <a:ext uri="{FF2B5EF4-FFF2-40B4-BE49-F238E27FC236}">
                <a16:creationId xmlns:a16="http://schemas.microsoft.com/office/drawing/2014/main" id="{952CA90B-2184-42CA-8ED2-8C8695840D9F}"/>
              </a:ext>
            </a:extLst>
          </p:cNvPr>
          <p:cNvSpPr>
            <a:spLocks noGrp="1"/>
          </p:cNvSpPr>
          <p:nvPr/>
        </p:nvSpPr>
        <p:spPr>
          <a:xfrm>
            <a:off x="6619875" y="5000625"/>
            <a:ext cx="457200" cy="400050"/>
          </a:xfrm>
          <a:prstGeom prst="roundRect">
            <a:avLst>
              <a:gd name="adj" fmla="val 19048"/>
            </a:avLst>
          </a:prstGeom>
          <a:solidFill>
            <a:srgbClr val="2F6BDE"/>
          </a:solidFill>
          <a:ln w="0">
            <a:noFill/>
          </a:ln>
        </p:spPr>
      </p:sp>
      <p:sp>
        <p:nvSpPr>
          <p:cNvPr id="30" name="Rectangle 29">
            <a:extLst>
              <a:ext uri="{FF2B5EF4-FFF2-40B4-BE49-F238E27FC236}">
                <a16:creationId xmlns:a16="http://schemas.microsoft.com/office/drawing/2014/main" id="{E44A7D83-E1F1-4EFC-9AFD-64AE606B71BE}"/>
              </a:ext>
            </a:extLst>
          </p:cNvPr>
          <p:cNvSpPr>
            <a:spLocks noGrp="1"/>
          </p:cNvSpPr>
          <p:nvPr/>
        </p:nvSpPr>
        <p:spPr>
          <a:xfrm>
            <a:off x="661987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31" name="Rectangle 30">
            <a:extLst>
              <a:ext uri="{FF2B5EF4-FFF2-40B4-BE49-F238E27FC236}">
                <a16:creationId xmlns:a16="http://schemas.microsoft.com/office/drawing/2014/main" id="{10EA18DF-9210-494D-B1DD-B24E29B3A69B}"/>
              </a:ext>
            </a:extLst>
          </p:cNvPr>
          <p:cNvSpPr>
            <a:spLocks noGrp="1"/>
          </p:cNvSpPr>
          <p:nvPr/>
        </p:nvSpPr>
        <p:spPr>
          <a:xfrm>
            <a:off x="728662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Live demo</a:t>
            </a:r>
          </a:p>
        </p:txBody>
      </p:sp>
      <p:sp>
        <p:nvSpPr>
          <p:cNvPr id="32" name="Rectangle 31">
            <a:extLst>
              <a:ext uri="{FF2B5EF4-FFF2-40B4-BE49-F238E27FC236}">
                <a16:creationId xmlns:a16="http://schemas.microsoft.com/office/drawing/2014/main" id="{56AE5604-240F-4396-B7CA-2801F6AB43BC}"/>
              </a:ext>
            </a:extLst>
          </p:cNvPr>
          <p:cNvSpPr>
            <a:spLocks noGrp="1"/>
          </p:cNvSpPr>
          <p:nvPr/>
        </p:nvSpPr>
        <p:spPr>
          <a:xfrm>
            <a:off x="728662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Show the real screens</a:t>
            </a:r>
          </a:p>
        </p:txBody>
      </p:sp>
      <p:sp>
        <p:nvSpPr>
          <p:cNvPr id="33" name="Rectangle 32">
            <a:extLst>
              <a:ext uri="{FF2B5EF4-FFF2-40B4-BE49-F238E27FC236}">
                <a16:creationId xmlns:a16="http://schemas.microsoft.com/office/drawing/2014/main" id="{5D6F61D9-0C44-4DC0-B436-E02618DA42E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4" name="Rectangle 33">
            <a:extLst>
              <a:ext uri="{FF2B5EF4-FFF2-40B4-BE49-F238E27FC236}">
                <a16:creationId xmlns:a16="http://schemas.microsoft.com/office/drawing/2014/main" id="{5A95389F-E955-4651-AB0F-6E3B961EE9A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02 / 15</a:t>
            </a:r>
          </a:p>
        </p:txBody>
      </p:sp>
    </p:spTree>
    <p:extLst>
      <p:ext uri="{BB962C8B-B14F-4D97-AF65-F5344CB8AC3E}">
        <p14:creationId xmlns:p14="http://schemas.microsoft.com/office/powerpoint/2010/main" val="130134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061ED-9324-4ABD-BF05-BF1BC0A5549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INTRODUCTION</a:t>
            </a:r>
          </a:p>
        </p:txBody>
      </p:sp>
      <p:sp>
        <p:nvSpPr>
          <p:cNvPr id="2" name="Rectangle 1">
            <a:extLst>
              <a:ext uri="{FF2B5EF4-FFF2-40B4-BE49-F238E27FC236}">
                <a16:creationId xmlns:a16="http://schemas.microsoft.com/office/drawing/2014/main" id="{6124CE75-B55C-4B0B-912B-9EDBC27D5F6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lang="en-US" sz="2700" b="1">
                <a:solidFill>
                  <a:srgbClr val="17263A"/>
                </a:solidFill>
                <a:latin typeface="Arial"/>
                <a:ea typeface="Arial"/>
                <a:cs typeface="Arial"/>
              </a:rPr>
              <a:t>What is CRDMS and why iScan?</a:t>
            </a:r>
            <a:endParaRPr sz="2700" b="1">
              <a:solidFill>
                <a:srgbClr val="17263A"/>
              </a:solidFill>
              <a:latin typeface="Arial"/>
              <a:ea typeface="Arial"/>
              <a:cs typeface="Arial"/>
            </a:endParaRPr>
          </a:p>
        </p:txBody>
      </p:sp>
      <p:sp>
        <p:nvSpPr>
          <p:cNvPr id="3" name="Rectangle 2">
            <a:extLst>
              <a:ext uri="{FF2B5EF4-FFF2-40B4-BE49-F238E27FC236}">
                <a16:creationId xmlns:a16="http://schemas.microsoft.com/office/drawing/2014/main" id="{09BD379E-F778-4487-837A-7BFD3E1C0186}"/>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E2F5E42D-7606-4E31-B743-0B22DAFCA2A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lang="en-US" sz="1650">
                <a:solidFill>
                  <a:srgbClr val="5E6C80"/>
                </a:solidFill>
                <a:latin typeface="Arial"/>
                <a:ea typeface="Arial"/>
                <a:cs typeface="Arial"/>
              </a:rPr>
              <a:t>CRDMS means Civil Registry Document Management System.</a:t>
            </a:r>
            <a:endParaRPr sz="1650">
              <a:solidFill>
                <a:srgbClr val="5E6C80"/>
              </a:solidFill>
              <a:latin typeface="Arial"/>
              <a:ea typeface="Arial"/>
              <a:cs typeface="Arial"/>
            </a:endParaRPr>
          </a:p>
        </p:txBody>
      </p:sp>
      <p:sp>
        <p:nvSpPr>
          <p:cNvPr id="5" name="Rectangle: Rounded Corners 4">
            <a:extLst>
              <a:ext uri="{FF2B5EF4-FFF2-40B4-BE49-F238E27FC236}">
                <a16:creationId xmlns:a16="http://schemas.microsoft.com/office/drawing/2014/main" id="{3E6EB51F-BB86-4C29-89D4-5AE4AF02132A}"/>
              </a:ext>
            </a:extLst>
          </p:cNvPr>
          <p:cNvSpPr>
            <a:spLocks noGrp="1"/>
          </p:cNvSpPr>
          <p:nvPr/>
        </p:nvSpPr>
        <p:spPr>
          <a:xfrm>
            <a:off x="666750" y="2333625"/>
            <a:ext cx="4857750" cy="2857500"/>
          </a:xfrm>
          <a:prstGeom prst="roundRect">
            <a:avLst>
              <a:gd name="adj" fmla="val 2667"/>
            </a:avLst>
          </a:prstGeom>
          <a:solidFill>
            <a:srgbClr val="10243E"/>
          </a:solidFill>
          <a:ln w="0">
            <a:noFill/>
          </a:ln>
        </p:spPr>
      </p:sp>
      <p:sp>
        <p:nvSpPr>
          <p:cNvPr id="6" name="Rectangle 5">
            <a:extLst>
              <a:ext uri="{FF2B5EF4-FFF2-40B4-BE49-F238E27FC236}">
                <a16:creationId xmlns:a16="http://schemas.microsoft.com/office/drawing/2014/main" id="{59D12C0D-64D4-4EB1-B82B-AAE757D18A46}"/>
              </a:ext>
            </a:extLst>
          </p:cNvPr>
          <p:cNvSpPr>
            <a:spLocks noGrp="1"/>
          </p:cNvSpPr>
          <p:nvPr/>
        </p:nvSpPr>
        <p:spPr>
          <a:xfrm>
            <a:off x="1000125" y="2714625"/>
            <a:ext cx="4191000" cy="333375"/>
          </a:xfrm>
          <a:prstGeom prst="rect">
            <a:avLst/>
          </a:prstGeom>
          <a:noFill/>
          <a:ln w="0">
            <a:noFill/>
          </a:ln>
        </p:spPr>
        <p:txBody>
          <a:bodyPr lIns="0" tIns="0" rIns="0" bIns="0" anchor="t">
            <a:normAutofit/>
          </a:bodyPr>
          <a:lstStyle/>
          <a:p>
            <a:pPr algn="l">
              <a:defRPr sz="2175" b="1">
                <a:solidFill>
                  <a:srgbClr val="FFFFFF"/>
                </a:solidFill>
                <a:latin typeface="Arial"/>
                <a:ea typeface="Arial"/>
                <a:cs typeface="Arial"/>
              </a:defRPr>
            </a:pPr>
            <a:r>
              <a:rPr lang="en-US" sz="2175" b="1">
                <a:solidFill>
                  <a:srgbClr val="FFFFFF"/>
                </a:solidFill>
                <a:latin typeface="Arial"/>
                <a:ea typeface="Arial"/>
                <a:cs typeface="Arial"/>
              </a:rPr>
              <a:t>What CRDMS does</a:t>
            </a:r>
            <a:endParaRPr sz="2175"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E0038ED-9BB2-47CC-8BC9-2424F4946C58}"/>
              </a:ext>
            </a:extLst>
          </p:cNvPr>
          <p:cNvSpPr>
            <a:spLocks noGrp="1"/>
          </p:cNvSpPr>
          <p:nvPr/>
        </p:nvSpPr>
        <p:spPr>
          <a:xfrm>
            <a:off x="1000125" y="3381375"/>
            <a:ext cx="4095750" cy="876300"/>
          </a:xfrm>
          <a:prstGeom prst="rect">
            <a:avLst/>
          </a:prstGeom>
          <a:noFill/>
          <a:ln w="0">
            <a:noFill/>
          </a:ln>
        </p:spPr>
        <p:txBody>
          <a:bodyPr lIns="0" tIns="0" rIns="0" bIns="0" anchor="t">
            <a:normAutofit/>
          </a:bodyPr>
          <a:lstStyle/>
          <a:p>
            <a:pPr algn="l">
              <a:defRPr sz="1800">
                <a:solidFill>
                  <a:srgbClr val="BFD0E7"/>
                </a:solidFill>
                <a:latin typeface="Arial"/>
                <a:ea typeface="Arial"/>
                <a:cs typeface="Arial"/>
              </a:defRPr>
            </a:pPr>
            <a:r>
              <a:rPr lang="en-US" sz="1800">
                <a:solidFill>
                  <a:srgbClr val="BFD0E7"/>
                </a:solidFill>
                <a:latin typeface="Arial"/>
                <a:ea typeface="Arial"/>
                <a:cs typeface="Arial"/>
              </a:rPr>
              <a:t>It is a digital system that scans, encodes, organizes, searches, verifies, and protects civil registry documents.</a:t>
            </a:r>
            <a:endParaRPr sz="1800">
              <a:solidFill>
                <a:srgbClr val="BFD0E7"/>
              </a:solidFill>
              <a:latin typeface="Arial"/>
              <a:ea typeface="Arial"/>
              <a:cs typeface="Arial"/>
            </a:endParaRPr>
          </a:p>
        </p:txBody>
      </p:sp>
      <p:sp>
        <p:nvSpPr>
          <p:cNvPr id="8" name="Rectangle: Rounded Corners 7">
            <a:extLst>
              <a:ext uri="{FF2B5EF4-FFF2-40B4-BE49-F238E27FC236}">
                <a16:creationId xmlns:a16="http://schemas.microsoft.com/office/drawing/2014/main" id="{0FCE8C85-1E81-4DCA-ADD1-35782607E173}"/>
              </a:ext>
            </a:extLst>
          </p:cNvPr>
          <p:cNvSpPr>
            <a:spLocks noGrp="1"/>
          </p:cNvSpPr>
          <p:nvPr/>
        </p:nvSpPr>
        <p:spPr>
          <a:xfrm>
            <a:off x="1000125" y="4552950"/>
            <a:ext cx="1714500" cy="361950"/>
          </a:xfrm>
          <a:prstGeom prst="roundRect">
            <a:avLst>
              <a:gd name="adj" fmla="val 21053"/>
            </a:avLst>
          </a:prstGeom>
          <a:solidFill>
            <a:srgbClr val="17A673"/>
          </a:solidFill>
          <a:ln w="0">
            <a:noFill/>
          </a:ln>
        </p:spPr>
      </p:sp>
      <p:sp>
        <p:nvSpPr>
          <p:cNvPr id="9" name="Rectangle 8">
            <a:extLst>
              <a:ext uri="{FF2B5EF4-FFF2-40B4-BE49-F238E27FC236}">
                <a16:creationId xmlns:a16="http://schemas.microsoft.com/office/drawing/2014/main" id="{C63221F6-9A9E-4EF5-8090-40E39B8822DF}"/>
              </a:ext>
            </a:extLst>
          </p:cNvPr>
          <p:cNvSpPr>
            <a:spLocks noGrp="1"/>
          </p:cNvSpPr>
          <p:nvPr/>
        </p:nvSpPr>
        <p:spPr>
          <a:xfrm>
            <a:off x="1000125" y="4552950"/>
            <a:ext cx="1714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BROWSER + NAS</a:t>
            </a:r>
          </a:p>
        </p:txBody>
      </p:sp>
      <p:sp>
        <p:nvSpPr>
          <p:cNvPr id="10" name="Rectangle: Rounded Corners 9">
            <a:extLst>
              <a:ext uri="{FF2B5EF4-FFF2-40B4-BE49-F238E27FC236}">
                <a16:creationId xmlns:a16="http://schemas.microsoft.com/office/drawing/2014/main" id="{CA94A34F-1C48-43C5-8F25-C4539CF6D3AB}"/>
              </a:ext>
            </a:extLst>
          </p:cNvPr>
          <p:cNvSpPr>
            <a:spLocks noGrp="1"/>
          </p:cNvSpPr>
          <p:nvPr/>
        </p:nvSpPr>
        <p:spPr>
          <a:xfrm>
            <a:off x="6191250" y="2333625"/>
            <a:ext cx="5334000" cy="2857500"/>
          </a:xfrm>
          <a:prstGeom prst="roundRect">
            <a:avLst>
              <a:gd name="adj" fmla="val 2667"/>
            </a:avLst>
          </a:prstGeom>
          <a:solidFill>
            <a:srgbClr val="EAF2FF"/>
          </a:solidFill>
          <a:ln w="0">
            <a:noFill/>
          </a:ln>
        </p:spPr>
      </p:sp>
      <p:sp>
        <p:nvSpPr>
          <p:cNvPr id="11" name="Rectangle 10">
            <a:extLst>
              <a:ext uri="{FF2B5EF4-FFF2-40B4-BE49-F238E27FC236}">
                <a16:creationId xmlns:a16="http://schemas.microsoft.com/office/drawing/2014/main" id="{01D0F8ED-38B9-409C-AA46-AB7348A3A826}"/>
              </a:ext>
            </a:extLst>
          </p:cNvPr>
          <p:cNvSpPr>
            <a:spLocks noGrp="1"/>
          </p:cNvSpPr>
          <p:nvPr/>
        </p:nvSpPr>
        <p:spPr>
          <a:xfrm>
            <a:off x="6572250" y="2714625"/>
            <a:ext cx="4476750" cy="333375"/>
          </a:xfrm>
          <a:prstGeom prst="rect">
            <a:avLst/>
          </a:prstGeom>
          <a:noFill/>
          <a:ln w="0">
            <a:noFill/>
          </a:ln>
        </p:spPr>
        <p:txBody>
          <a:bodyPr lIns="0" tIns="0" rIns="0" bIns="0" anchor="t">
            <a:normAutofit/>
          </a:bodyPr>
          <a:lstStyle/>
          <a:p>
            <a:pPr algn="l">
              <a:defRPr sz="2175" b="1">
                <a:solidFill>
                  <a:srgbClr val="17263A"/>
                </a:solidFill>
                <a:latin typeface="Arial"/>
                <a:ea typeface="Arial"/>
                <a:cs typeface="Arial"/>
              </a:defRPr>
            </a:pPr>
            <a:r>
              <a:rPr lang="en-US" sz="2175" b="1">
                <a:solidFill>
                  <a:srgbClr val="17263A"/>
                </a:solidFill>
                <a:latin typeface="Arial"/>
                <a:ea typeface="Arial"/>
                <a:cs typeface="Arial"/>
              </a:rPr>
              <a:t>Why the name iScan?</a:t>
            </a:r>
            <a:endParaRPr sz="21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7F1477E7-1D3E-4098-86AA-206134A9A75C}"/>
              </a:ext>
            </a:extLst>
          </p:cNvPr>
          <p:cNvSpPr>
            <a:spLocks noGrp="1"/>
          </p:cNvSpPr>
          <p:nvPr/>
        </p:nvSpPr>
        <p:spPr>
          <a:xfrm>
            <a:off x="6572250" y="33337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3" name="Rectangle 12">
            <a:extLst>
              <a:ext uri="{FF2B5EF4-FFF2-40B4-BE49-F238E27FC236}">
                <a16:creationId xmlns:a16="http://schemas.microsoft.com/office/drawing/2014/main" id="{D12D9E86-6372-4D59-913B-23DD8EA21AA2}"/>
              </a:ext>
            </a:extLst>
          </p:cNvPr>
          <p:cNvSpPr>
            <a:spLocks noGrp="1"/>
          </p:cNvSpPr>
          <p:nvPr/>
        </p:nvSpPr>
        <p:spPr>
          <a:xfrm>
            <a:off x="6572250" y="3905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4" name="Rectangle 13">
            <a:extLst>
              <a:ext uri="{FF2B5EF4-FFF2-40B4-BE49-F238E27FC236}">
                <a16:creationId xmlns:a16="http://schemas.microsoft.com/office/drawing/2014/main" id="{28E23FB7-9BDC-4AE8-8F06-B1B03558BCF5}"/>
              </a:ext>
            </a:extLst>
          </p:cNvPr>
          <p:cNvSpPr>
            <a:spLocks noGrp="1"/>
          </p:cNvSpPr>
          <p:nvPr/>
        </p:nvSpPr>
        <p:spPr>
          <a:xfrm>
            <a:off x="6572250" y="447675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lang="en-US" sz="1425">
                <a:solidFill>
                  <a:srgbClr val="17263A"/>
                </a:solidFill>
                <a:latin typeface="Arial"/>
                <a:ea typeface="Arial"/>
                <a:cs typeface="Arial"/>
              </a:rPr>
              <a:t>iScan comes from pa-scan. In Ilokano, i-scan is an action word: scan this document for processing and registration.</a:t>
            </a:r>
            <a:endParaRPr sz="1425">
              <a:solidFill>
                <a:srgbClr val="17263A"/>
              </a:solidFill>
              <a:latin typeface="Arial"/>
              <a:ea typeface="Arial"/>
              <a:cs typeface="Arial"/>
            </a:endParaRPr>
          </a:p>
        </p:txBody>
      </p:sp>
      <p:sp>
        <p:nvSpPr>
          <p:cNvPr id="15" name="Rectangle 14">
            <a:extLst>
              <a:ext uri="{FF2B5EF4-FFF2-40B4-BE49-F238E27FC236}">
                <a16:creationId xmlns:a16="http://schemas.microsoft.com/office/drawing/2014/main" id="{8529C63B-369A-4AF6-992E-876DD7BA870E}"/>
              </a:ext>
            </a:extLst>
          </p:cNvPr>
          <p:cNvSpPr>
            <a:spLocks noGrp="1"/>
          </p:cNvSpPr>
          <p:nvPr/>
        </p:nvSpPr>
        <p:spPr>
          <a:xfrm>
            <a:off x="1143000" y="5619750"/>
            <a:ext cx="9906000" cy="285750"/>
          </a:xfrm>
          <a:prstGeom prst="rect">
            <a:avLst/>
          </a:prstGeom>
          <a:noFill/>
          <a:ln w="0">
            <a:noFill/>
          </a:ln>
        </p:spPr>
        <p:txBody>
          <a:bodyPr lIns="0" tIns="0" rIns="0" bIns="0" anchor="t">
            <a:normAutofit/>
          </a:bodyPr>
          <a:lstStyle/>
          <a:p>
            <a:pPr algn="ctr">
              <a:defRPr sz="1575" b="1">
                <a:solidFill>
                  <a:srgbClr val="2F6BDE"/>
                </a:solidFill>
                <a:latin typeface="Arial"/>
                <a:ea typeface="Arial"/>
                <a:cs typeface="Arial"/>
              </a:defRPr>
            </a:pPr>
            <a:r>
              <a:rPr lang="en-US" sz="1575" b="1">
                <a:solidFill>
                  <a:srgbClr val="2F6BDE"/>
                </a:solidFill>
                <a:latin typeface="Arial"/>
                <a:ea typeface="Arial"/>
                <a:cs typeface="Arial"/>
              </a:rPr>
              <a:t>Scan -&gt; organize -&gt; verify -&gt; protect.</a:t>
            </a:r>
            <a:endParaRPr sz="1575" b="1">
              <a:solidFill>
                <a:srgbClr val="2F6BDE"/>
              </a:solidFill>
              <a:latin typeface="Arial"/>
              <a:ea typeface="Arial"/>
              <a:cs typeface="Arial"/>
            </a:endParaRPr>
          </a:p>
        </p:txBody>
      </p:sp>
      <p:sp>
        <p:nvSpPr>
          <p:cNvPr id="16" name="Rectangle 15">
            <a:extLst>
              <a:ext uri="{FF2B5EF4-FFF2-40B4-BE49-F238E27FC236}">
                <a16:creationId xmlns:a16="http://schemas.microsoft.com/office/drawing/2014/main" id="{47352885-FF5B-4958-8884-C3972CA52469}"/>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C547C8FF-F4D2-4101-9D75-F671DE040F37}"/>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03 / 15</a:t>
            </a:r>
          </a:p>
        </p:txBody>
      </p:sp>
    </p:spTree>
    <p:extLst>
      <p:ext uri="{BB962C8B-B14F-4D97-AF65-F5344CB8AC3E}">
        <p14:creationId xmlns:p14="http://schemas.microsoft.com/office/powerpoint/2010/main" val="4573436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13FB441-A98A-4403-8616-E535A6E1363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WHY IT MATTERS</a:t>
            </a:r>
          </a:p>
        </p:txBody>
      </p:sp>
      <p:sp>
        <p:nvSpPr>
          <p:cNvPr id="2" name="Rectangle 1">
            <a:extLst>
              <a:ext uri="{FF2B5EF4-FFF2-40B4-BE49-F238E27FC236}">
                <a16:creationId xmlns:a16="http://schemas.microsoft.com/office/drawing/2014/main" id="{F191CB55-DBD9-44BC-A062-18631318D42D}"/>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From scattered files to an accountable record</a:t>
            </a:r>
          </a:p>
        </p:txBody>
      </p:sp>
      <p:sp>
        <p:nvSpPr>
          <p:cNvPr id="3" name="Rectangle 2">
            <a:extLst>
              <a:ext uri="{FF2B5EF4-FFF2-40B4-BE49-F238E27FC236}">
                <a16:creationId xmlns:a16="http://schemas.microsoft.com/office/drawing/2014/main" id="{3EE467C7-D2C4-49BC-907C-AFB58BCE32E4}"/>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4387CA29-D074-405F-BE8A-BF20B032A602}"/>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system solves a records-handling problem before it becomes a retrieval problem.</a:t>
            </a:r>
          </a:p>
        </p:txBody>
      </p:sp>
      <p:sp>
        <p:nvSpPr>
          <p:cNvPr id="5" name="Rectangle: Rounded Corners 4">
            <a:extLst>
              <a:ext uri="{FF2B5EF4-FFF2-40B4-BE49-F238E27FC236}">
                <a16:creationId xmlns:a16="http://schemas.microsoft.com/office/drawing/2014/main" id="{6E517816-C424-4355-B0B4-41275C851FAD}"/>
              </a:ext>
            </a:extLst>
          </p:cNvPr>
          <p:cNvSpPr>
            <a:spLocks noGrp="1"/>
          </p:cNvSpPr>
          <p:nvPr/>
        </p:nvSpPr>
        <p:spPr>
          <a:xfrm>
            <a:off x="666750" y="2333625"/>
            <a:ext cx="4762500" cy="2857500"/>
          </a:xfrm>
          <a:prstGeom prst="roundRect">
            <a:avLst>
              <a:gd name="adj" fmla="val 2667"/>
            </a:avLst>
          </a:prstGeom>
          <a:solidFill>
            <a:srgbClr val="FFF4F0"/>
          </a:solidFill>
          <a:ln w="19050">
            <a:solidFill>
              <a:srgbClr val="F3A28D"/>
            </a:solidFill>
          </a:ln>
        </p:spPr>
      </p:sp>
      <p:sp>
        <p:nvSpPr>
          <p:cNvPr id="6" name="Rectangle 5">
            <a:extLst>
              <a:ext uri="{FF2B5EF4-FFF2-40B4-BE49-F238E27FC236}">
                <a16:creationId xmlns:a16="http://schemas.microsoft.com/office/drawing/2014/main" id="{16F95187-68A2-478C-B284-33913975DE39}"/>
              </a:ext>
            </a:extLst>
          </p:cNvPr>
          <p:cNvSpPr>
            <a:spLocks noGrp="1"/>
          </p:cNvSpPr>
          <p:nvPr/>
        </p:nvSpPr>
        <p:spPr>
          <a:xfrm>
            <a:off x="1000125" y="2647950"/>
            <a:ext cx="4000500" cy="304800"/>
          </a:xfrm>
          <a:prstGeom prst="rect">
            <a:avLst/>
          </a:prstGeom>
          <a:noFill/>
          <a:ln w="0">
            <a:noFill/>
          </a:ln>
        </p:spPr>
        <p:txBody>
          <a:bodyPr lIns="0" tIns="0" rIns="0" bIns="0" anchor="t">
            <a:normAutofit fontScale="98765"/>
          </a:bodyPr>
          <a:lstStyle/>
          <a:p>
            <a:pPr algn="l">
              <a:defRPr sz="2025" b="1">
                <a:solidFill>
                  <a:srgbClr val="A63C2B"/>
                </a:solidFill>
                <a:latin typeface="Arial"/>
                <a:ea typeface="Arial"/>
                <a:cs typeface="Arial"/>
              </a:defRPr>
            </a:pPr>
            <a:r>
              <a:rPr sz="2025" b="1">
                <a:solidFill>
                  <a:srgbClr val="A63C2B"/>
                </a:solidFill>
                <a:latin typeface="Arial"/>
                <a:ea typeface="Arial"/>
                <a:cs typeface="Arial"/>
              </a:rPr>
              <a:t>Before iScan</a:t>
            </a:r>
          </a:p>
        </p:txBody>
      </p:sp>
      <p:sp>
        <p:nvSpPr>
          <p:cNvPr id="7" name="Rectangle 6">
            <a:extLst>
              <a:ext uri="{FF2B5EF4-FFF2-40B4-BE49-F238E27FC236}">
                <a16:creationId xmlns:a16="http://schemas.microsoft.com/office/drawing/2014/main" id="{C30D2CAA-55C1-4257-9BD8-C2AB13C40178}"/>
              </a:ext>
            </a:extLst>
          </p:cNvPr>
          <p:cNvSpPr>
            <a:spLocks noGrp="1"/>
          </p:cNvSpPr>
          <p:nvPr/>
        </p:nvSpPr>
        <p:spPr>
          <a:xfrm>
            <a:off x="1000125" y="3219450"/>
            <a:ext cx="4000500" cy="323850"/>
          </a:xfrm>
          <a:prstGeom prst="rect">
            <a:avLst/>
          </a:prstGeom>
          <a:noFill/>
          <a:ln w="0">
            <a:noFill/>
          </a:ln>
        </p:spPr>
        <p:txBody>
          <a:bodyPr lIns="0" tIns="0" rIns="0" bIns="0" anchor="t">
            <a:normAutofit/>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Paper and PDFs are stored in different places.</a:t>
            </a:r>
          </a:p>
        </p:txBody>
      </p:sp>
      <p:sp>
        <p:nvSpPr>
          <p:cNvPr id="8" name="Rectangle 7">
            <a:extLst>
              <a:ext uri="{FF2B5EF4-FFF2-40B4-BE49-F238E27FC236}">
                <a16:creationId xmlns:a16="http://schemas.microsoft.com/office/drawing/2014/main" id="{1919C582-8780-49C5-A054-86996ABFCC86}"/>
              </a:ext>
            </a:extLst>
          </p:cNvPr>
          <p:cNvSpPr>
            <a:spLocks noGrp="1"/>
          </p:cNvSpPr>
          <p:nvPr/>
        </p:nvSpPr>
        <p:spPr>
          <a:xfrm>
            <a:off x="1000125" y="3762375"/>
            <a:ext cx="4095750" cy="323850"/>
          </a:xfrm>
          <a:prstGeom prst="rect">
            <a:avLst/>
          </a:prstGeom>
          <a:noFill/>
          <a:ln w="0">
            <a:noFill/>
          </a:ln>
        </p:spPr>
        <p:txBody>
          <a:bodyPr lIns="0" tIns="0" rIns="0" bIns="0" anchor="t">
            <a:normAutofit fontScale="82782"/>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Finding a record depends on memory and manual checking.</a:t>
            </a:r>
          </a:p>
        </p:txBody>
      </p:sp>
      <p:sp>
        <p:nvSpPr>
          <p:cNvPr id="9" name="Rectangle 8">
            <a:extLst>
              <a:ext uri="{FF2B5EF4-FFF2-40B4-BE49-F238E27FC236}">
                <a16:creationId xmlns:a16="http://schemas.microsoft.com/office/drawing/2014/main" id="{6BEF0D4C-E16C-4601-A176-02F6234F88B8}"/>
              </a:ext>
            </a:extLst>
          </p:cNvPr>
          <p:cNvSpPr>
            <a:spLocks noGrp="1"/>
          </p:cNvSpPr>
          <p:nvPr/>
        </p:nvSpPr>
        <p:spPr>
          <a:xfrm>
            <a:off x="1000125" y="4305300"/>
            <a:ext cx="4095750" cy="323850"/>
          </a:xfrm>
          <a:prstGeom prst="rect">
            <a:avLst/>
          </a:prstGeom>
          <a:noFill/>
          <a:ln w="0">
            <a:noFill/>
          </a:ln>
        </p:spPr>
        <p:txBody>
          <a:bodyPr lIns="0" tIns="0" rIns="0" bIns="0" anchor="t">
            <a:normAutofit fontScale="89839"/>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It is difficult to prove who changed or removed a record.</a:t>
            </a:r>
          </a:p>
        </p:txBody>
      </p:sp>
      <p:sp>
        <p:nvSpPr>
          <p:cNvPr id="10" name="Rectangle 9">
            <a:extLst>
              <a:ext uri="{FF2B5EF4-FFF2-40B4-BE49-F238E27FC236}">
                <a16:creationId xmlns:a16="http://schemas.microsoft.com/office/drawing/2014/main" id="{35C57422-1B49-4B26-A94D-DF46088F43FE}"/>
              </a:ext>
            </a:extLst>
          </p:cNvPr>
          <p:cNvSpPr>
            <a:spLocks noGrp="1"/>
          </p:cNvSpPr>
          <p:nvPr/>
        </p:nvSpPr>
        <p:spPr>
          <a:xfrm>
            <a:off x="5715000" y="352425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1" name="Rectangle: Rounded Corners 10">
            <a:extLst>
              <a:ext uri="{FF2B5EF4-FFF2-40B4-BE49-F238E27FC236}">
                <a16:creationId xmlns:a16="http://schemas.microsoft.com/office/drawing/2014/main" id="{32CD8D86-6F0C-4CEC-80E2-932E11A12885}"/>
              </a:ext>
            </a:extLst>
          </p:cNvPr>
          <p:cNvSpPr>
            <a:spLocks noGrp="1"/>
          </p:cNvSpPr>
          <p:nvPr/>
        </p:nvSpPr>
        <p:spPr>
          <a:xfrm>
            <a:off x="6762750" y="2333625"/>
            <a:ext cx="4762500" cy="2857500"/>
          </a:xfrm>
          <a:prstGeom prst="roundRect">
            <a:avLst>
              <a:gd name="adj" fmla="val 2667"/>
            </a:avLst>
          </a:prstGeom>
          <a:solidFill>
            <a:srgbClr val="E9F8F1"/>
          </a:solidFill>
          <a:ln w="19050">
            <a:solidFill>
              <a:srgbClr val="17A673"/>
            </a:solidFill>
          </a:ln>
        </p:spPr>
      </p:sp>
      <p:sp>
        <p:nvSpPr>
          <p:cNvPr id="12" name="Rectangle 11">
            <a:extLst>
              <a:ext uri="{FF2B5EF4-FFF2-40B4-BE49-F238E27FC236}">
                <a16:creationId xmlns:a16="http://schemas.microsoft.com/office/drawing/2014/main" id="{7ED1E4CD-004C-4958-B876-199784CE4D80}"/>
              </a:ext>
            </a:extLst>
          </p:cNvPr>
          <p:cNvSpPr>
            <a:spLocks noGrp="1"/>
          </p:cNvSpPr>
          <p:nvPr/>
        </p:nvSpPr>
        <p:spPr>
          <a:xfrm>
            <a:off x="7096125" y="2647950"/>
            <a:ext cx="4000500" cy="304800"/>
          </a:xfrm>
          <a:prstGeom prst="rect">
            <a:avLst/>
          </a:prstGeom>
          <a:noFill/>
          <a:ln w="0">
            <a:noFill/>
          </a:ln>
        </p:spPr>
        <p:txBody>
          <a:bodyPr lIns="0" tIns="0" rIns="0" bIns="0" anchor="t">
            <a:normAutofit fontScale="98765"/>
          </a:bodyPr>
          <a:lstStyle/>
          <a:p>
            <a:pPr algn="l">
              <a:defRPr sz="2025" b="1">
                <a:solidFill>
                  <a:srgbClr val="087B55"/>
                </a:solidFill>
                <a:latin typeface="Arial"/>
                <a:ea typeface="Arial"/>
                <a:cs typeface="Arial"/>
              </a:defRPr>
            </a:pPr>
            <a:r>
              <a:rPr sz="2025" b="1">
                <a:solidFill>
                  <a:srgbClr val="087B55"/>
                </a:solidFill>
                <a:latin typeface="Arial"/>
                <a:ea typeface="Arial"/>
                <a:cs typeface="Arial"/>
              </a:rPr>
              <a:t>With iScan</a:t>
            </a:r>
          </a:p>
        </p:txBody>
      </p:sp>
      <p:sp>
        <p:nvSpPr>
          <p:cNvPr id="13" name="Rectangle 12">
            <a:extLst>
              <a:ext uri="{FF2B5EF4-FFF2-40B4-BE49-F238E27FC236}">
                <a16:creationId xmlns:a16="http://schemas.microsoft.com/office/drawing/2014/main" id="{F7CFC17E-2EF3-428F-997E-20F892EEB7D9}"/>
              </a:ext>
            </a:extLst>
          </p:cNvPr>
          <p:cNvSpPr>
            <a:spLocks noGrp="1"/>
          </p:cNvSpPr>
          <p:nvPr/>
        </p:nvSpPr>
        <p:spPr>
          <a:xfrm>
            <a:off x="7096125" y="3219450"/>
            <a:ext cx="4000500" cy="323850"/>
          </a:xfrm>
          <a:prstGeom prst="rect">
            <a:avLst/>
          </a:prstGeom>
          <a:noFill/>
          <a:ln w="0">
            <a:noFill/>
          </a:ln>
        </p:spPr>
        <p:txBody>
          <a:bodyPr lIns="0" tIns="0" rIns="0" bIns="0" anchor="t">
            <a:normAutofit/>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The record and PDF stay linked.</a:t>
            </a:r>
          </a:p>
        </p:txBody>
      </p:sp>
      <p:sp>
        <p:nvSpPr>
          <p:cNvPr id="14" name="Rectangle 13">
            <a:extLst>
              <a:ext uri="{FF2B5EF4-FFF2-40B4-BE49-F238E27FC236}">
                <a16:creationId xmlns:a16="http://schemas.microsoft.com/office/drawing/2014/main" id="{B16BAAF6-6185-40F8-B24F-FEA038BB9803}"/>
              </a:ext>
            </a:extLst>
          </p:cNvPr>
          <p:cNvSpPr>
            <a:spLocks noGrp="1"/>
          </p:cNvSpPr>
          <p:nvPr/>
        </p:nvSpPr>
        <p:spPr>
          <a:xfrm>
            <a:off x="7096125" y="3762375"/>
            <a:ext cx="4095750" cy="323850"/>
          </a:xfrm>
          <a:prstGeom prst="rect">
            <a:avLst/>
          </a:prstGeom>
          <a:noFill/>
          <a:ln w="0">
            <a:noFill/>
          </a:ln>
        </p:spPr>
        <p:txBody>
          <a:bodyPr lIns="0" tIns="0" rIns="0" bIns="0" anchor="t">
            <a:normAutofit fontScale="93108"/>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Search, folders, and verification use the same record.</a:t>
            </a:r>
          </a:p>
        </p:txBody>
      </p:sp>
      <p:sp>
        <p:nvSpPr>
          <p:cNvPr id="15" name="Rectangle 14">
            <a:extLst>
              <a:ext uri="{FF2B5EF4-FFF2-40B4-BE49-F238E27FC236}">
                <a16:creationId xmlns:a16="http://schemas.microsoft.com/office/drawing/2014/main" id="{D474818E-5EE1-4A7A-B119-01B5C88A88BC}"/>
              </a:ext>
            </a:extLst>
          </p:cNvPr>
          <p:cNvSpPr>
            <a:spLocks noGrp="1"/>
          </p:cNvSpPr>
          <p:nvPr/>
        </p:nvSpPr>
        <p:spPr>
          <a:xfrm>
            <a:off x="7096125" y="4305300"/>
            <a:ext cx="4095750" cy="323850"/>
          </a:xfrm>
          <a:prstGeom prst="rect">
            <a:avLst/>
          </a:prstGeom>
          <a:noFill/>
          <a:ln w="0">
            <a:noFill/>
          </a:ln>
        </p:spPr>
        <p:txBody>
          <a:bodyPr lIns="0" tIns="0" rIns="0" bIns="0" anchor="t">
            <a:normAutofit fontScale="92203"/>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Roles, logs, and approvals make actions accountable.</a:t>
            </a:r>
          </a:p>
        </p:txBody>
      </p:sp>
      <p:sp>
        <p:nvSpPr>
          <p:cNvPr id="16" name="Rectangle 15">
            <a:extLst>
              <a:ext uri="{FF2B5EF4-FFF2-40B4-BE49-F238E27FC236}">
                <a16:creationId xmlns:a16="http://schemas.microsoft.com/office/drawing/2014/main" id="{DC5CD382-5331-4B58-A42F-568F27FF6B5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29CD6D63-F08F-43C9-9F12-F0CA089E409E}"/>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04 / 15</a:t>
            </a:r>
          </a:p>
        </p:txBody>
      </p:sp>
    </p:spTree>
    <p:extLst>
      <p:ext uri="{BB962C8B-B14F-4D97-AF65-F5344CB8AC3E}">
        <p14:creationId xmlns:p14="http://schemas.microsoft.com/office/powerpoint/2010/main" val="936514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3FE4C0-E249-41DC-B658-0B1A03B4F4C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Rectangle 1">
            <a:extLst>
              <a:ext uri="{FF2B5EF4-FFF2-40B4-BE49-F238E27FC236}">
                <a16:creationId xmlns:a16="http://schemas.microsoft.com/office/drawing/2014/main" id="{4F15E7AE-CA0F-4EB0-89B0-3B1C183688DC}"/>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Rectangle 2">
            <a:extLst>
              <a:ext uri="{FF2B5EF4-FFF2-40B4-BE49-F238E27FC236}">
                <a16:creationId xmlns:a16="http://schemas.microsoft.com/office/drawing/2014/main" id="{53AE5365-6BB2-42C4-B83A-8E5E9FCF3B85}"/>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10C4CAC8-6049-435A-8376-9211F35D3C86}"/>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same controlled workflow supports each record type.</a:t>
            </a:r>
          </a:p>
        </p:txBody>
      </p:sp>
      <p:sp>
        <p:nvSpPr>
          <p:cNvPr id="5" name="Rectangle: Rounded Corners 4">
            <a:extLst>
              <a:ext uri="{FF2B5EF4-FFF2-40B4-BE49-F238E27FC236}">
                <a16:creationId xmlns:a16="http://schemas.microsoft.com/office/drawing/2014/main" id="{D1B65F50-C372-4C97-B1CF-603FC49CC7B3}"/>
              </a:ext>
            </a:extLst>
          </p:cNvPr>
          <p:cNvSpPr>
            <a:spLocks noGrp="1"/>
          </p:cNvSpPr>
          <p:nvPr/>
        </p:nvSpPr>
        <p:spPr>
          <a:xfrm>
            <a:off x="666750" y="2286000"/>
            <a:ext cx="5143500" cy="1333500"/>
          </a:xfrm>
          <a:prstGeom prst="roundRect">
            <a:avLst>
              <a:gd name="adj" fmla="val 5714"/>
            </a:avLst>
          </a:prstGeom>
          <a:solidFill>
            <a:srgbClr val="F5F7FB"/>
          </a:solidFill>
          <a:ln w="14288">
            <a:solidFill>
              <a:srgbClr val="D8E1ED"/>
            </a:solidFill>
          </a:ln>
        </p:spPr>
      </p:sp>
      <p:sp>
        <p:nvSpPr>
          <p:cNvPr id="6" name="Rectangle: Rounded Corners 5">
            <a:extLst>
              <a:ext uri="{FF2B5EF4-FFF2-40B4-BE49-F238E27FC236}">
                <a16:creationId xmlns:a16="http://schemas.microsoft.com/office/drawing/2014/main" id="{B4261153-947F-4E7F-9876-D1DCA149E229}"/>
              </a:ext>
            </a:extLst>
          </p:cNvPr>
          <p:cNvSpPr>
            <a:spLocks noGrp="1"/>
          </p:cNvSpPr>
          <p:nvPr/>
        </p:nvSpPr>
        <p:spPr>
          <a:xfrm>
            <a:off x="895350" y="2552700"/>
            <a:ext cx="571500" cy="571500"/>
          </a:xfrm>
          <a:prstGeom prst="roundRect">
            <a:avLst>
              <a:gd name="adj" fmla="val 13333"/>
            </a:avLst>
          </a:prstGeom>
          <a:solidFill>
            <a:srgbClr val="2F6BDE"/>
          </a:solidFill>
          <a:ln w="0">
            <a:noFill/>
          </a:ln>
        </p:spPr>
      </p:sp>
      <p:sp>
        <p:nvSpPr>
          <p:cNvPr id="7" name="Rectangle 6">
            <a:extLst>
              <a:ext uri="{FF2B5EF4-FFF2-40B4-BE49-F238E27FC236}">
                <a16:creationId xmlns:a16="http://schemas.microsoft.com/office/drawing/2014/main" id="{357A22B5-F67C-43B5-B23E-28A18930C4CC}"/>
              </a:ext>
            </a:extLst>
          </p:cNvPr>
          <p:cNvSpPr>
            <a:spLocks noGrp="1"/>
          </p:cNvSpPr>
          <p:nvPr/>
        </p:nvSpPr>
        <p:spPr>
          <a:xfrm>
            <a:off x="89535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Rectangle 7">
            <a:extLst>
              <a:ext uri="{FF2B5EF4-FFF2-40B4-BE49-F238E27FC236}">
                <a16:creationId xmlns:a16="http://schemas.microsoft.com/office/drawing/2014/main" id="{9DE8E8AC-69E4-457E-AE82-DE2B99FD30D1}"/>
              </a:ext>
            </a:extLst>
          </p:cNvPr>
          <p:cNvSpPr>
            <a:spLocks noGrp="1"/>
          </p:cNvSpPr>
          <p:nvPr/>
        </p:nvSpPr>
        <p:spPr>
          <a:xfrm>
            <a:off x="173355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Rectangle 8">
            <a:extLst>
              <a:ext uri="{FF2B5EF4-FFF2-40B4-BE49-F238E27FC236}">
                <a16:creationId xmlns:a16="http://schemas.microsoft.com/office/drawing/2014/main" id="{D5361242-401C-4DCD-8F60-AB6884FC1097}"/>
              </a:ext>
            </a:extLst>
          </p:cNvPr>
          <p:cNvSpPr>
            <a:spLocks noGrp="1"/>
          </p:cNvSpPr>
          <p:nvPr/>
        </p:nvSpPr>
        <p:spPr>
          <a:xfrm>
            <a:off x="173355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Birth records and scanned certificates</a:t>
            </a:r>
          </a:p>
        </p:txBody>
      </p:sp>
      <p:sp>
        <p:nvSpPr>
          <p:cNvPr id="10" name="Rectangle: Rounded Corners 9">
            <a:extLst>
              <a:ext uri="{FF2B5EF4-FFF2-40B4-BE49-F238E27FC236}">
                <a16:creationId xmlns:a16="http://schemas.microsoft.com/office/drawing/2014/main" id="{32F66440-D28E-4AAD-BB1B-EE0DF5B8A3AA}"/>
              </a:ext>
            </a:extLst>
          </p:cNvPr>
          <p:cNvSpPr>
            <a:spLocks noGrp="1"/>
          </p:cNvSpPr>
          <p:nvPr/>
        </p:nvSpPr>
        <p:spPr>
          <a:xfrm>
            <a:off x="6286500" y="2286000"/>
            <a:ext cx="5143500" cy="1333500"/>
          </a:xfrm>
          <a:prstGeom prst="roundRect">
            <a:avLst>
              <a:gd name="adj" fmla="val 5714"/>
            </a:avLst>
          </a:prstGeom>
          <a:solidFill>
            <a:srgbClr val="F5F7FB"/>
          </a:solidFill>
          <a:ln w="14288">
            <a:solidFill>
              <a:srgbClr val="D8E1ED"/>
            </a:solidFill>
          </a:ln>
        </p:spPr>
      </p:sp>
      <p:sp>
        <p:nvSpPr>
          <p:cNvPr id="11" name="Rectangle: Rounded Corners 10">
            <a:extLst>
              <a:ext uri="{FF2B5EF4-FFF2-40B4-BE49-F238E27FC236}">
                <a16:creationId xmlns:a16="http://schemas.microsoft.com/office/drawing/2014/main" id="{3BCAEE7A-886A-47C0-8F60-AD9D5BE31090}"/>
              </a:ext>
            </a:extLst>
          </p:cNvPr>
          <p:cNvSpPr>
            <a:spLocks noGrp="1"/>
          </p:cNvSpPr>
          <p:nvPr/>
        </p:nvSpPr>
        <p:spPr>
          <a:xfrm>
            <a:off x="6515100" y="2552700"/>
            <a:ext cx="571500" cy="571500"/>
          </a:xfrm>
          <a:prstGeom prst="roundRect">
            <a:avLst>
              <a:gd name="adj" fmla="val 13333"/>
            </a:avLst>
          </a:prstGeom>
          <a:solidFill>
            <a:srgbClr val="17A673"/>
          </a:solidFill>
          <a:ln w="0">
            <a:noFill/>
          </a:ln>
        </p:spPr>
      </p:sp>
      <p:sp>
        <p:nvSpPr>
          <p:cNvPr id="12" name="Rectangle 11">
            <a:extLst>
              <a:ext uri="{FF2B5EF4-FFF2-40B4-BE49-F238E27FC236}">
                <a16:creationId xmlns:a16="http://schemas.microsoft.com/office/drawing/2014/main" id="{3C4DC3A1-0CFE-4A30-8FFB-39B58D957B92}"/>
              </a:ext>
            </a:extLst>
          </p:cNvPr>
          <p:cNvSpPr>
            <a:spLocks noGrp="1"/>
          </p:cNvSpPr>
          <p:nvPr/>
        </p:nvSpPr>
        <p:spPr>
          <a:xfrm>
            <a:off x="651510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3CAF7D29-A56F-443D-A168-F1D02E6C3DF7}"/>
              </a:ext>
            </a:extLst>
          </p:cNvPr>
          <p:cNvSpPr>
            <a:spLocks noGrp="1"/>
          </p:cNvSpPr>
          <p:nvPr/>
        </p:nvSpPr>
        <p:spPr>
          <a:xfrm>
            <a:off x="735330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Rectangle 13">
            <a:extLst>
              <a:ext uri="{FF2B5EF4-FFF2-40B4-BE49-F238E27FC236}">
                <a16:creationId xmlns:a16="http://schemas.microsoft.com/office/drawing/2014/main" id="{ABC67F31-A4AD-4ED5-894B-E2138F021ED7}"/>
              </a:ext>
            </a:extLst>
          </p:cNvPr>
          <p:cNvSpPr>
            <a:spLocks noGrp="1"/>
          </p:cNvSpPr>
          <p:nvPr/>
        </p:nvSpPr>
        <p:spPr>
          <a:xfrm>
            <a:off x="735330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Death records and supporting documents</a:t>
            </a:r>
          </a:p>
        </p:txBody>
      </p:sp>
      <p:sp>
        <p:nvSpPr>
          <p:cNvPr id="15" name="Rectangle: Rounded Corners 14">
            <a:extLst>
              <a:ext uri="{FF2B5EF4-FFF2-40B4-BE49-F238E27FC236}">
                <a16:creationId xmlns:a16="http://schemas.microsoft.com/office/drawing/2014/main" id="{74D46F0C-DE09-4BE4-8BA0-F9E587B1999C}"/>
              </a:ext>
            </a:extLst>
          </p:cNvPr>
          <p:cNvSpPr>
            <a:spLocks noGrp="1"/>
          </p:cNvSpPr>
          <p:nvPr/>
        </p:nvSpPr>
        <p:spPr>
          <a:xfrm>
            <a:off x="666750" y="3952875"/>
            <a:ext cx="5143500" cy="1333500"/>
          </a:xfrm>
          <a:prstGeom prst="roundRect">
            <a:avLst>
              <a:gd name="adj" fmla="val 5714"/>
            </a:avLst>
          </a:prstGeom>
          <a:solidFill>
            <a:srgbClr val="F5F7FB"/>
          </a:solidFill>
          <a:ln w="14288">
            <a:solidFill>
              <a:srgbClr val="D8E1ED"/>
            </a:solidFill>
          </a:ln>
        </p:spPr>
      </p:sp>
      <p:sp>
        <p:nvSpPr>
          <p:cNvPr id="16" name="Rectangle: Rounded Corners 15">
            <a:extLst>
              <a:ext uri="{FF2B5EF4-FFF2-40B4-BE49-F238E27FC236}">
                <a16:creationId xmlns:a16="http://schemas.microsoft.com/office/drawing/2014/main" id="{B0A4A4AA-0C33-4A76-9578-84324178F2A6}"/>
              </a:ext>
            </a:extLst>
          </p:cNvPr>
          <p:cNvSpPr>
            <a:spLocks noGrp="1"/>
          </p:cNvSpPr>
          <p:nvPr/>
        </p:nvSpPr>
        <p:spPr>
          <a:xfrm>
            <a:off x="895350" y="4219575"/>
            <a:ext cx="571500" cy="571500"/>
          </a:xfrm>
          <a:prstGeom prst="roundRect">
            <a:avLst>
              <a:gd name="adj" fmla="val 13333"/>
            </a:avLst>
          </a:prstGeom>
          <a:solidFill>
            <a:srgbClr val="7B61D1"/>
          </a:solidFill>
          <a:ln w="0">
            <a:noFill/>
          </a:ln>
        </p:spPr>
      </p:sp>
      <p:sp>
        <p:nvSpPr>
          <p:cNvPr id="17" name="Rectangle 16">
            <a:extLst>
              <a:ext uri="{FF2B5EF4-FFF2-40B4-BE49-F238E27FC236}">
                <a16:creationId xmlns:a16="http://schemas.microsoft.com/office/drawing/2014/main" id="{FFF46D75-E81F-434D-84F3-9FA62965834C}"/>
              </a:ext>
            </a:extLst>
          </p:cNvPr>
          <p:cNvSpPr>
            <a:spLocks noGrp="1"/>
          </p:cNvSpPr>
          <p:nvPr/>
        </p:nvSpPr>
        <p:spPr>
          <a:xfrm>
            <a:off x="89535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72A61F5B-68A8-4194-938D-6170F49A3662}"/>
              </a:ext>
            </a:extLst>
          </p:cNvPr>
          <p:cNvSpPr>
            <a:spLocks noGrp="1"/>
          </p:cNvSpPr>
          <p:nvPr/>
        </p:nvSpPr>
        <p:spPr>
          <a:xfrm>
            <a:off x="173355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Rectangle 18">
            <a:extLst>
              <a:ext uri="{FF2B5EF4-FFF2-40B4-BE49-F238E27FC236}">
                <a16:creationId xmlns:a16="http://schemas.microsoft.com/office/drawing/2014/main" id="{15C2C992-2BFE-4172-93E3-CC4D06C2CC2B}"/>
              </a:ext>
            </a:extLst>
          </p:cNvPr>
          <p:cNvSpPr>
            <a:spLocks noGrp="1"/>
          </p:cNvSpPr>
          <p:nvPr/>
        </p:nvSpPr>
        <p:spPr>
          <a:xfrm>
            <a:off x="173355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records and verification</a:t>
            </a:r>
          </a:p>
        </p:txBody>
      </p:sp>
      <p:sp>
        <p:nvSpPr>
          <p:cNvPr id="20" name="Rectangle: Rounded Corners 19">
            <a:extLst>
              <a:ext uri="{FF2B5EF4-FFF2-40B4-BE49-F238E27FC236}">
                <a16:creationId xmlns:a16="http://schemas.microsoft.com/office/drawing/2014/main" id="{2E1CA950-48F9-402D-8E97-CF11EEB208C3}"/>
              </a:ext>
            </a:extLst>
          </p:cNvPr>
          <p:cNvSpPr>
            <a:spLocks noGrp="1"/>
          </p:cNvSpPr>
          <p:nvPr/>
        </p:nvSpPr>
        <p:spPr>
          <a:xfrm>
            <a:off x="6286500" y="3952875"/>
            <a:ext cx="5143500" cy="1333500"/>
          </a:xfrm>
          <a:prstGeom prst="roundRect">
            <a:avLst>
              <a:gd name="adj" fmla="val 5714"/>
            </a:avLst>
          </a:prstGeom>
          <a:solidFill>
            <a:srgbClr val="F5F7FB"/>
          </a:solidFill>
          <a:ln w="14288">
            <a:solidFill>
              <a:srgbClr val="D8E1ED"/>
            </a:solidFill>
          </a:ln>
        </p:spPr>
      </p:sp>
      <p:sp>
        <p:nvSpPr>
          <p:cNvPr id="21" name="Rectangle: Rounded Corners 20">
            <a:extLst>
              <a:ext uri="{FF2B5EF4-FFF2-40B4-BE49-F238E27FC236}">
                <a16:creationId xmlns:a16="http://schemas.microsoft.com/office/drawing/2014/main" id="{31D38816-8DC9-41A7-ADE0-00C5FA1BC5CD}"/>
              </a:ext>
            </a:extLst>
          </p:cNvPr>
          <p:cNvSpPr>
            <a:spLocks noGrp="1"/>
          </p:cNvSpPr>
          <p:nvPr/>
        </p:nvSpPr>
        <p:spPr>
          <a:xfrm>
            <a:off x="6515100" y="4219575"/>
            <a:ext cx="571500" cy="571500"/>
          </a:xfrm>
          <a:prstGeom prst="roundRect">
            <a:avLst>
              <a:gd name="adj" fmla="val 13333"/>
            </a:avLst>
          </a:prstGeom>
          <a:solidFill>
            <a:srgbClr val="F6B638"/>
          </a:solidFill>
          <a:ln w="0">
            <a:noFill/>
          </a:ln>
        </p:spPr>
      </p:sp>
      <p:sp>
        <p:nvSpPr>
          <p:cNvPr id="22" name="Rectangle 21">
            <a:extLst>
              <a:ext uri="{FF2B5EF4-FFF2-40B4-BE49-F238E27FC236}">
                <a16:creationId xmlns:a16="http://schemas.microsoft.com/office/drawing/2014/main" id="{C7725363-DA69-4642-82B1-A7D6098E3810}"/>
              </a:ext>
            </a:extLst>
          </p:cNvPr>
          <p:cNvSpPr>
            <a:spLocks noGrp="1"/>
          </p:cNvSpPr>
          <p:nvPr/>
        </p:nvSpPr>
        <p:spPr>
          <a:xfrm>
            <a:off x="651510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11A109B5-FE71-4035-9039-0A75247623A7}"/>
              </a:ext>
            </a:extLst>
          </p:cNvPr>
          <p:cNvSpPr>
            <a:spLocks noGrp="1"/>
          </p:cNvSpPr>
          <p:nvPr/>
        </p:nvSpPr>
        <p:spPr>
          <a:xfrm>
            <a:off x="735330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Rectangle 23">
            <a:extLst>
              <a:ext uri="{FF2B5EF4-FFF2-40B4-BE49-F238E27FC236}">
                <a16:creationId xmlns:a16="http://schemas.microsoft.com/office/drawing/2014/main" id="{E14431BC-3F62-464B-9A1E-A21785B72EBB}"/>
              </a:ext>
            </a:extLst>
          </p:cNvPr>
          <p:cNvSpPr>
            <a:spLocks noGrp="1"/>
          </p:cNvSpPr>
          <p:nvPr/>
        </p:nvSpPr>
        <p:spPr>
          <a:xfrm>
            <a:off x="735330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license applications</a:t>
            </a:r>
          </a:p>
        </p:txBody>
      </p:sp>
      <p:sp>
        <p:nvSpPr>
          <p:cNvPr id="25" name="Rectangle 24">
            <a:extLst>
              <a:ext uri="{FF2B5EF4-FFF2-40B4-BE49-F238E27FC236}">
                <a16:creationId xmlns:a16="http://schemas.microsoft.com/office/drawing/2014/main" id="{CB109085-6E56-44C2-AE96-FCA6C5144590}"/>
              </a:ext>
            </a:extLst>
          </p:cNvPr>
          <p:cNvSpPr>
            <a:spLocks noGrp="1"/>
          </p:cNvSpPr>
          <p:nvPr/>
        </p:nvSpPr>
        <p:spPr>
          <a:xfrm>
            <a:off x="1619250" y="5619750"/>
            <a:ext cx="8953500" cy="285750"/>
          </a:xfrm>
          <a:prstGeom prst="rect">
            <a:avLst/>
          </a:prstGeom>
          <a:noFill/>
          <a:ln w="0">
            <a:noFill/>
          </a:ln>
        </p:spPr>
        <p:txBody>
          <a:bodyPr lIns="0" tIns="0" rIns="0" bIns="0" anchor="t">
            <a:normAutofit/>
          </a:bodyPr>
          <a:lstStyle/>
          <a:p>
            <a:pPr algn="ctr">
              <a:defRPr sz="1575" b="1">
                <a:solidFill>
                  <a:srgbClr val="17A673"/>
                </a:solidFill>
                <a:latin typeface="Arial"/>
                <a:ea typeface="Arial"/>
                <a:cs typeface="Arial"/>
              </a:defRPr>
            </a:pPr>
            <a:r>
              <a:rPr sz="1575" b="1">
                <a:solidFill>
                  <a:srgbClr val="17A673"/>
                </a:solidFill>
                <a:latin typeface="Arial"/>
                <a:ea typeface="Arial"/>
                <a:cs typeface="Arial"/>
              </a:rPr>
              <a:t>One record standard: data + PDF + workflow + audit trail.</a:t>
            </a:r>
          </a:p>
        </p:txBody>
      </p:sp>
      <p:sp>
        <p:nvSpPr>
          <p:cNvPr id="26" name="Rectangle 25">
            <a:extLst>
              <a:ext uri="{FF2B5EF4-FFF2-40B4-BE49-F238E27FC236}">
                <a16:creationId xmlns:a16="http://schemas.microsoft.com/office/drawing/2014/main" id="{09B2F5AC-4359-4478-B2D9-2B432E40897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7" name="Rectangle 26">
            <a:extLst>
              <a:ext uri="{FF2B5EF4-FFF2-40B4-BE49-F238E27FC236}">
                <a16:creationId xmlns:a16="http://schemas.microsoft.com/office/drawing/2014/main" id="{17843A32-4890-4047-9090-79F2625633FC}"/>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05 / 15</a:t>
            </a:r>
          </a:p>
        </p:txBody>
      </p:sp>
    </p:spTree>
    <p:extLst>
      <p:ext uri="{BB962C8B-B14F-4D97-AF65-F5344CB8AC3E}">
        <p14:creationId xmlns:p14="http://schemas.microsoft.com/office/powerpoint/2010/main" val="1841518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91614F7-182D-41CE-928B-5734FD67BF0F}"/>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SYSTEM MAP</a:t>
            </a:r>
          </a:p>
        </p:txBody>
      </p:sp>
      <p:sp>
        <p:nvSpPr>
          <p:cNvPr id="2" name="Rectangle 1">
            <a:extLst>
              <a:ext uri="{FF2B5EF4-FFF2-40B4-BE49-F238E27FC236}">
                <a16:creationId xmlns:a16="http://schemas.microsoft.com/office/drawing/2014/main" id="{F365F6FF-0A16-40B7-9325-F56EC7C51CF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How the parts work together</a:t>
            </a:r>
          </a:p>
        </p:txBody>
      </p:sp>
      <p:sp>
        <p:nvSpPr>
          <p:cNvPr id="3" name="Rectangle 2">
            <a:extLst>
              <a:ext uri="{FF2B5EF4-FFF2-40B4-BE49-F238E27FC236}">
                <a16:creationId xmlns:a16="http://schemas.microsoft.com/office/drawing/2014/main" id="{CCB011A5-50D0-4888-BEEE-71389752C81E}"/>
              </a:ext>
            </a:extLst>
          </p:cNvPr>
          <p:cNvSpPr>
            <a:spLocks noGrp="1"/>
          </p:cNvSpPr>
          <p:nvPr/>
        </p:nvSpPr>
        <p:spPr>
          <a:xfrm>
            <a:off x="609600" y="1200150"/>
            <a:ext cx="685800" cy="47625"/>
          </a:xfrm>
          <a:prstGeom prst="rect">
            <a:avLst/>
          </a:prstGeom>
          <a:solidFill>
            <a:srgbClr val="4A8DFF"/>
          </a:solidFill>
          <a:ln w="0">
            <a:noFill/>
          </a:ln>
        </p:spPr>
      </p:sp>
      <p:sp>
        <p:nvSpPr>
          <p:cNvPr id="4" name="Rectangle 3">
            <a:extLst>
              <a:ext uri="{FF2B5EF4-FFF2-40B4-BE49-F238E27FC236}">
                <a16:creationId xmlns:a16="http://schemas.microsoft.com/office/drawing/2014/main" id="{0E927D0F-FEA2-44D9-918C-A23D096F39F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The browser is the work surface; the NAS is the office system of record.</a:t>
            </a:r>
          </a:p>
        </p:txBody>
      </p:sp>
      <p:sp>
        <p:nvSpPr>
          <p:cNvPr id="5" name="Rectangle: Rounded Corners 4">
            <a:extLst>
              <a:ext uri="{FF2B5EF4-FFF2-40B4-BE49-F238E27FC236}">
                <a16:creationId xmlns:a16="http://schemas.microsoft.com/office/drawing/2014/main" id="{E23033DB-9240-4E4D-B0DA-7548ECB3305B}"/>
              </a:ext>
            </a:extLst>
          </p:cNvPr>
          <p:cNvSpPr>
            <a:spLocks noGrp="1"/>
          </p:cNvSpPr>
          <p:nvPr/>
        </p:nvSpPr>
        <p:spPr>
          <a:xfrm>
            <a:off x="666750" y="2571750"/>
            <a:ext cx="2190750" cy="1428750"/>
          </a:xfrm>
          <a:prstGeom prst="roundRect">
            <a:avLst>
              <a:gd name="adj" fmla="val 5333"/>
            </a:avLst>
          </a:prstGeom>
          <a:solidFill>
            <a:srgbClr val="2F6BDE"/>
          </a:solidFill>
          <a:ln w="0">
            <a:noFill/>
          </a:ln>
        </p:spPr>
      </p:sp>
      <p:sp>
        <p:nvSpPr>
          <p:cNvPr id="6" name="Rectangle 5">
            <a:extLst>
              <a:ext uri="{FF2B5EF4-FFF2-40B4-BE49-F238E27FC236}">
                <a16:creationId xmlns:a16="http://schemas.microsoft.com/office/drawing/2014/main" id="{E59FE730-8A66-4DFF-98D6-7D4BE3FD9961}"/>
              </a:ext>
            </a:extLst>
          </p:cNvPr>
          <p:cNvSpPr>
            <a:spLocks noGrp="1"/>
          </p:cNvSpPr>
          <p:nvPr/>
        </p:nvSpPr>
        <p:spPr>
          <a:xfrm>
            <a:off x="838200" y="2895600"/>
            <a:ext cx="18478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Staff browser</a:t>
            </a:r>
          </a:p>
        </p:txBody>
      </p:sp>
      <p:sp>
        <p:nvSpPr>
          <p:cNvPr id="7" name="Rectangle 6">
            <a:extLst>
              <a:ext uri="{FF2B5EF4-FFF2-40B4-BE49-F238E27FC236}">
                <a16:creationId xmlns:a16="http://schemas.microsoft.com/office/drawing/2014/main" id="{94272462-742D-4905-9F82-475E3DB10C02}"/>
              </a:ext>
            </a:extLst>
          </p:cNvPr>
          <p:cNvSpPr>
            <a:spLocks noGrp="1"/>
          </p:cNvSpPr>
          <p:nvPr/>
        </p:nvSpPr>
        <p:spPr>
          <a:xfrm>
            <a:off x="838200" y="3371850"/>
            <a:ext cx="1847850" cy="266700"/>
          </a:xfrm>
          <a:prstGeom prst="rect">
            <a:avLst/>
          </a:prstGeom>
          <a:noFill/>
          <a:ln w="0">
            <a:noFill/>
          </a:ln>
        </p:spPr>
        <p:txBody>
          <a:bodyPr lIns="0" tIns="0" rIns="0" bIns="0" anchor="t">
            <a:normAutofit/>
          </a:bodyPr>
          <a:lstStyle/>
          <a:p>
            <a:pPr algn="ctr">
              <a:defRPr sz="1200">
                <a:solidFill>
                  <a:srgbClr val="FFFFFF"/>
                </a:solidFill>
                <a:latin typeface="Arial"/>
                <a:ea typeface="Arial"/>
                <a:cs typeface="Arial"/>
              </a:defRPr>
            </a:pPr>
            <a:r>
              <a:rPr sz="1200">
                <a:solidFill>
                  <a:srgbClr val="FFFFFF"/>
                </a:solidFill>
                <a:latin typeface="Arial"/>
                <a:ea typeface="Arial"/>
                <a:cs typeface="Arial"/>
              </a:rPr>
              <a:t>forms • search • viewer</a:t>
            </a:r>
          </a:p>
        </p:txBody>
      </p:sp>
      <p:sp>
        <p:nvSpPr>
          <p:cNvPr id="8" name="Rectangle 7">
            <a:extLst>
              <a:ext uri="{FF2B5EF4-FFF2-40B4-BE49-F238E27FC236}">
                <a16:creationId xmlns:a16="http://schemas.microsoft.com/office/drawing/2014/main" id="{F0DF5149-90AA-4133-9237-0D414E7C8542}"/>
              </a:ext>
            </a:extLst>
          </p:cNvPr>
          <p:cNvSpPr>
            <a:spLocks noGrp="1"/>
          </p:cNvSpPr>
          <p:nvPr/>
        </p:nvSpPr>
        <p:spPr>
          <a:xfrm>
            <a:off x="3000375" y="3048000"/>
            <a:ext cx="514350" cy="400050"/>
          </a:xfrm>
          <a:prstGeom prst="rect">
            <a:avLst/>
          </a:prstGeom>
          <a:noFill/>
          <a:ln w="0">
            <a:noFill/>
          </a:ln>
        </p:spPr>
        <p:txBody>
          <a:bodyPr lIns="0" tIns="0" rIns="0" bIns="0" anchor="t">
            <a:normAutofit fontScale="92105"/>
          </a:bodyPr>
          <a:lstStyle/>
          <a:p>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9" name="Rectangle: Rounded Corners 8">
            <a:extLst>
              <a:ext uri="{FF2B5EF4-FFF2-40B4-BE49-F238E27FC236}">
                <a16:creationId xmlns:a16="http://schemas.microsoft.com/office/drawing/2014/main" id="{9371D6A5-B07B-4FD3-A208-30F6F9CCD2EF}"/>
              </a:ext>
            </a:extLst>
          </p:cNvPr>
          <p:cNvSpPr>
            <a:spLocks noGrp="1"/>
          </p:cNvSpPr>
          <p:nvPr/>
        </p:nvSpPr>
        <p:spPr>
          <a:xfrm>
            <a:off x="3714750" y="2266950"/>
            <a:ext cx="2857500" cy="2047875"/>
          </a:xfrm>
          <a:prstGeom prst="roundRect">
            <a:avLst>
              <a:gd name="adj" fmla="val 3721"/>
            </a:avLst>
          </a:prstGeom>
          <a:solidFill>
            <a:srgbClr val="183657"/>
          </a:solidFill>
          <a:ln w="19050">
            <a:solidFill>
              <a:srgbClr val="2F6BDE"/>
            </a:solidFill>
          </a:ln>
        </p:spPr>
      </p:sp>
      <p:sp>
        <p:nvSpPr>
          <p:cNvPr id="10" name="Rectangle 9">
            <a:extLst>
              <a:ext uri="{FF2B5EF4-FFF2-40B4-BE49-F238E27FC236}">
                <a16:creationId xmlns:a16="http://schemas.microsoft.com/office/drawing/2014/main" id="{AD631699-8B5F-4462-A405-7093E9476760}"/>
              </a:ext>
            </a:extLst>
          </p:cNvPr>
          <p:cNvSpPr>
            <a:spLocks noGrp="1"/>
          </p:cNvSpPr>
          <p:nvPr/>
        </p:nvSpPr>
        <p:spPr>
          <a:xfrm>
            <a:off x="4000500" y="2609850"/>
            <a:ext cx="2286000" cy="323850"/>
          </a:xfrm>
          <a:prstGeom prst="rect">
            <a:avLst/>
          </a:prstGeom>
          <a:noFill/>
          <a:ln w="0">
            <a:noFill/>
          </a:ln>
        </p:spPr>
        <p:txBody>
          <a:bodyPr lIns="0" tIns="0" rIns="0" bIns="0" anchor="t">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Rectangle 10">
            <a:extLst>
              <a:ext uri="{FF2B5EF4-FFF2-40B4-BE49-F238E27FC236}">
                <a16:creationId xmlns:a16="http://schemas.microsoft.com/office/drawing/2014/main" id="{28FE95C1-B716-47F4-96F4-BB4227036152}"/>
              </a:ext>
            </a:extLst>
          </p:cNvPr>
          <p:cNvSpPr>
            <a:spLocks noGrp="1"/>
          </p:cNvSpPr>
          <p:nvPr/>
        </p:nvSpPr>
        <p:spPr>
          <a:xfrm>
            <a:off x="4000500" y="3219450"/>
            <a:ext cx="2286000" cy="590550"/>
          </a:xfrm>
          <a:prstGeom prst="rect">
            <a:avLst/>
          </a:prstGeom>
          <a:noFill/>
          <a:ln w="0">
            <a:noFill/>
          </a:ln>
        </p:spPr>
        <p:txBody>
          <a:bodyPr lIns="0" tIns="0" rIns="0" bIns="0" anchor="t">
            <a:normAutofit/>
          </a:bodyPr>
          <a:lstStyle/>
          <a:p>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Rectangle 11">
            <a:extLst>
              <a:ext uri="{FF2B5EF4-FFF2-40B4-BE49-F238E27FC236}">
                <a16:creationId xmlns:a16="http://schemas.microsoft.com/office/drawing/2014/main" id="{3D2A19F7-CE71-4D84-9C40-A8C4AE926D01}"/>
              </a:ext>
            </a:extLst>
          </p:cNvPr>
          <p:cNvSpPr>
            <a:spLocks noGrp="1"/>
          </p:cNvSpPr>
          <p:nvPr/>
        </p:nvSpPr>
        <p:spPr>
          <a:xfrm>
            <a:off x="67627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Rectangle: Rounded Corners 12">
            <a:extLst>
              <a:ext uri="{FF2B5EF4-FFF2-40B4-BE49-F238E27FC236}">
                <a16:creationId xmlns:a16="http://schemas.microsoft.com/office/drawing/2014/main" id="{7EA0CFC2-C33E-48CF-8C7E-9C2155B39C66}"/>
              </a:ext>
            </a:extLst>
          </p:cNvPr>
          <p:cNvSpPr>
            <a:spLocks noGrp="1"/>
          </p:cNvSpPr>
          <p:nvPr/>
        </p:nvSpPr>
        <p:spPr>
          <a:xfrm>
            <a:off x="7524750" y="2571750"/>
            <a:ext cx="1809750" cy="1428750"/>
          </a:xfrm>
          <a:prstGeom prst="roundRect">
            <a:avLst>
              <a:gd name="adj" fmla="val 5333"/>
            </a:avLst>
          </a:prstGeom>
          <a:solidFill>
            <a:srgbClr val="17A673"/>
          </a:solidFill>
          <a:ln w="0">
            <a:noFill/>
          </a:ln>
        </p:spPr>
      </p:sp>
      <p:sp>
        <p:nvSpPr>
          <p:cNvPr id="14" name="Rectangle 13">
            <a:extLst>
              <a:ext uri="{FF2B5EF4-FFF2-40B4-BE49-F238E27FC236}">
                <a16:creationId xmlns:a16="http://schemas.microsoft.com/office/drawing/2014/main" id="{09A9A764-5D69-42B0-AB7D-CA493B72F5BB}"/>
              </a:ext>
            </a:extLst>
          </p:cNvPr>
          <p:cNvSpPr>
            <a:spLocks noGrp="1"/>
          </p:cNvSpPr>
          <p:nvPr/>
        </p:nvSpPr>
        <p:spPr>
          <a:xfrm>
            <a:off x="7715250" y="2895600"/>
            <a:ext cx="14287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MariaDB</a:t>
            </a:r>
          </a:p>
        </p:txBody>
      </p:sp>
      <p:sp>
        <p:nvSpPr>
          <p:cNvPr id="15" name="Rectangle 14">
            <a:extLst>
              <a:ext uri="{FF2B5EF4-FFF2-40B4-BE49-F238E27FC236}">
                <a16:creationId xmlns:a16="http://schemas.microsoft.com/office/drawing/2014/main" id="{2FDCBA23-A620-4CA2-BB28-ACFCE381782C}"/>
              </a:ext>
            </a:extLst>
          </p:cNvPr>
          <p:cNvSpPr>
            <a:spLocks noGrp="1"/>
          </p:cNvSpPr>
          <p:nvPr/>
        </p:nvSpPr>
        <p:spPr>
          <a:xfrm>
            <a:off x="7715250" y="3371850"/>
            <a:ext cx="1428750" cy="266700"/>
          </a:xfrm>
          <a:prstGeom prst="rect">
            <a:avLst/>
          </a:prstGeom>
          <a:noFill/>
          <a:ln w="0">
            <a:noFill/>
          </a:ln>
        </p:spPr>
        <p:txBody>
          <a:bodyPr lIns="0" tIns="0" rIns="0" bIns="0" anchor="t">
            <a:normAutofit/>
          </a:bodyPr>
          <a:lstStyle/>
          <a:p>
            <a:pPr algn="ctr">
              <a:defRPr sz="1275">
                <a:solidFill>
                  <a:srgbClr val="FFFFFF"/>
                </a:solidFill>
                <a:latin typeface="Arial"/>
                <a:ea typeface="Arial"/>
                <a:cs typeface="Arial"/>
              </a:defRPr>
            </a:pPr>
            <a:r>
              <a:rPr sz="1275">
                <a:solidFill>
                  <a:srgbClr val="FFFFFF"/>
                </a:solidFill>
                <a:latin typeface="Arial"/>
                <a:ea typeface="Arial"/>
                <a:cs typeface="Arial"/>
              </a:rPr>
              <a:t>record data</a:t>
            </a:r>
          </a:p>
        </p:txBody>
      </p:sp>
      <p:sp>
        <p:nvSpPr>
          <p:cNvPr id="16" name="Rectangle: Rounded Corners 15">
            <a:extLst>
              <a:ext uri="{FF2B5EF4-FFF2-40B4-BE49-F238E27FC236}">
                <a16:creationId xmlns:a16="http://schemas.microsoft.com/office/drawing/2014/main" id="{6BC78357-D94A-42A1-B9F3-2F7D6570704F}"/>
              </a:ext>
            </a:extLst>
          </p:cNvPr>
          <p:cNvSpPr>
            <a:spLocks noGrp="1"/>
          </p:cNvSpPr>
          <p:nvPr/>
        </p:nvSpPr>
        <p:spPr>
          <a:xfrm>
            <a:off x="9620250" y="2571750"/>
            <a:ext cx="1809750" cy="1428750"/>
          </a:xfrm>
          <a:prstGeom prst="roundRect">
            <a:avLst>
              <a:gd name="adj" fmla="val 5333"/>
            </a:avLst>
          </a:prstGeom>
          <a:solidFill>
            <a:srgbClr val="F6B638"/>
          </a:solidFill>
          <a:ln w="0">
            <a:noFill/>
          </a:ln>
        </p:spPr>
      </p:sp>
      <p:sp>
        <p:nvSpPr>
          <p:cNvPr id="17" name="Rectangle 16">
            <a:extLst>
              <a:ext uri="{FF2B5EF4-FFF2-40B4-BE49-F238E27FC236}">
                <a16:creationId xmlns:a16="http://schemas.microsoft.com/office/drawing/2014/main" id="{A331644B-3BB1-4D8F-AA38-C7AB790F3F6C}"/>
              </a:ext>
            </a:extLst>
          </p:cNvPr>
          <p:cNvSpPr>
            <a:spLocks noGrp="1"/>
          </p:cNvSpPr>
          <p:nvPr/>
        </p:nvSpPr>
        <p:spPr>
          <a:xfrm>
            <a:off x="9810750" y="2895600"/>
            <a:ext cx="1428750" cy="285750"/>
          </a:xfrm>
          <a:prstGeom prst="rect">
            <a:avLst/>
          </a:prstGeom>
          <a:noFill/>
          <a:ln w="0">
            <a:noFill/>
          </a:ln>
        </p:spPr>
        <p:txBody>
          <a:bodyPr lIns="0" tIns="0" rIns="0" bIns="0" anchor="t">
            <a:normAutofit/>
          </a:bodyPr>
          <a:lstStyle/>
          <a:p>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Rectangle 17">
            <a:extLst>
              <a:ext uri="{FF2B5EF4-FFF2-40B4-BE49-F238E27FC236}">
                <a16:creationId xmlns:a16="http://schemas.microsoft.com/office/drawing/2014/main" id="{9AF27F8B-71E8-46E7-A972-755DB4EC3155}"/>
              </a:ext>
            </a:extLst>
          </p:cNvPr>
          <p:cNvSpPr>
            <a:spLocks noGrp="1"/>
          </p:cNvSpPr>
          <p:nvPr/>
        </p:nvSpPr>
        <p:spPr>
          <a:xfrm>
            <a:off x="9810750" y="3371850"/>
            <a:ext cx="1428750" cy="266700"/>
          </a:xfrm>
          <a:prstGeom prst="rect">
            <a:avLst/>
          </a:prstGeom>
          <a:noFill/>
          <a:ln w="0">
            <a:noFill/>
          </a:ln>
        </p:spPr>
        <p:txBody>
          <a:bodyPr lIns="0" tIns="0" rIns="0" bIns="0" anchor="t">
            <a:normAutofit/>
          </a:bodyPr>
          <a:lstStyle/>
          <a:p>
            <a:pPr algn="ctr">
              <a:defRPr sz="1275">
                <a:solidFill>
                  <a:srgbClr val="17263A"/>
                </a:solidFill>
                <a:latin typeface="Arial"/>
                <a:ea typeface="Arial"/>
                <a:cs typeface="Arial"/>
              </a:defRPr>
            </a:pPr>
            <a:r>
              <a:rPr sz="1275">
                <a:solidFill>
                  <a:srgbClr val="17263A"/>
                </a:solidFill>
                <a:latin typeface="Arial"/>
                <a:ea typeface="Arial"/>
                <a:cs typeface="Arial"/>
              </a:rPr>
              <a:t>uploads + backups</a:t>
            </a:r>
          </a:p>
        </p:txBody>
      </p:sp>
      <p:sp>
        <p:nvSpPr>
          <p:cNvPr id="19" name="Rectangle: Rounded Corners 18">
            <a:extLst>
              <a:ext uri="{FF2B5EF4-FFF2-40B4-BE49-F238E27FC236}">
                <a16:creationId xmlns:a16="http://schemas.microsoft.com/office/drawing/2014/main" id="{C3CF9789-2D09-41C6-861E-183BC4A245D0}"/>
              </a:ext>
            </a:extLst>
          </p:cNvPr>
          <p:cNvSpPr>
            <a:spLocks noGrp="1"/>
          </p:cNvSpPr>
          <p:nvPr/>
        </p:nvSpPr>
        <p:spPr>
          <a:xfrm>
            <a:off x="1809750" y="5000625"/>
            <a:ext cx="8572500" cy="704850"/>
          </a:xfrm>
          <a:prstGeom prst="roundRect">
            <a:avLst>
              <a:gd name="adj" fmla="val 10811"/>
            </a:avLst>
          </a:prstGeom>
          <a:solidFill>
            <a:srgbClr val="183657"/>
          </a:solidFill>
          <a:ln w="9525">
            <a:solidFill>
              <a:srgbClr val="BFD0E7"/>
            </a:solidFill>
          </a:ln>
        </p:spPr>
      </p:sp>
      <p:sp>
        <p:nvSpPr>
          <p:cNvPr id="20" name="Rectangle 19">
            <a:extLst>
              <a:ext uri="{FF2B5EF4-FFF2-40B4-BE49-F238E27FC236}">
                <a16:creationId xmlns:a16="http://schemas.microsoft.com/office/drawing/2014/main" id="{A911A616-15F2-40CB-A0A2-37C9F2FF19C5}"/>
              </a:ext>
            </a:extLst>
          </p:cNvPr>
          <p:cNvSpPr>
            <a:spLocks noGrp="1"/>
          </p:cNvSpPr>
          <p:nvPr/>
        </p:nvSpPr>
        <p:spPr>
          <a:xfrm>
            <a:off x="2095500" y="5191125"/>
            <a:ext cx="1047750" cy="238125"/>
          </a:xfrm>
          <a:prstGeom prst="rect">
            <a:avLst/>
          </a:prstGeom>
          <a:noFill/>
          <a:ln w="0">
            <a:noFill/>
          </a:ln>
        </p:spPr>
        <p:txBody>
          <a:bodyPr lIns="0" tIns="0" rIns="0" bIns="0" anchor="t">
            <a:normAutofit/>
          </a:bodyPr>
          <a:lstStyle/>
          <a:p>
            <a:pPr algn="l">
              <a:defRPr sz="1350" b="1">
                <a:solidFill>
                  <a:srgbClr val="8EB7FF"/>
                </a:solidFill>
                <a:latin typeface="Arial"/>
                <a:ea typeface="Arial"/>
                <a:cs typeface="Arial"/>
              </a:defRPr>
            </a:pPr>
            <a:r>
              <a:rPr sz="1350" b="1">
                <a:solidFill>
                  <a:srgbClr val="8EB7FF"/>
                </a:solidFill>
                <a:latin typeface="Arial"/>
                <a:ea typeface="Arial"/>
                <a:cs typeface="Arial"/>
              </a:rPr>
              <a:t>Online</a:t>
            </a:r>
          </a:p>
        </p:txBody>
      </p:sp>
      <p:sp>
        <p:nvSpPr>
          <p:cNvPr id="21" name="Rectangle 20">
            <a:extLst>
              <a:ext uri="{FF2B5EF4-FFF2-40B4-BE49-F238E27FC236}">
                <a16:creationId xmlns:a16="http://schemas.microsoft.com/office/drawing/2014/main" id="{596BC9C5-BA45-46FC-B734-BDEFE3659C39}"/>
              </a:ext>
            </a:extLst>
          </p:cNvPr>
          <p:cNvSpPr>
            <a:spLocks noGrp="1"/>
          </p:cNvSpPr>
          <p:nvPr/>
        </p:nvSpPr>
        <p:spPr>
          <a:xfrm>
            <a:off x="3333750" y="5191125"/>
            <a:ext cx="3143250" cy="238125"/>
          </a:xfrm>
          <a:prstGeom prst="rect">
            <a:avLst/>
          </a:prstGeom>
          <a:noFill/>
          <a:ln w="0">
            <a:noFill/>
          </a:ln>
        </p:spPr>
        <p:txBody>
          <a:bodyPr lIns="0" tIns="0" rIns="0" bIns="0" anchor="t">
            <a:norm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iscan.cdrms.online</a:t>
            </a:r>
          </a:p>
        </p:txBody>
      </p:sp>
      <p:sp>
        <p:nvSpPr>
          <p:cNvPr id="22" name="Rectangle 21">
            <a:extLst>
              <a:ext uri="{FF2B5EF4-FFF2-40B4-BE49-F238E27FC236}">
                <a16:creationId xmlns:a16="http://schemas.microsoft.com/office/drawing/2014/main" id="{5AD0E351-717C-48D7-94F2-72B94455D2FD}"/>
              </a:ext>
            </a:extLst>
          </p:cNvPr>
          <p:cNvSpPr>
            <a:spLocks noGrp="1"/>
          </p:cNvSpPr>
          <p:nvPr/>
        </p:nvSpPr>
        <p:spPr>
          <a:xfrm>
            <a:off x="6762750" y="5191125"/>
            <a:ext cx="1143000" cy="238125"/>
          </a:xfrm>
          <a:prstGeom prst="rect">
            <a:avLst/>
          </a:prstGeom>
          <a:noFill/>
          <a:ln w="0">
            <a:noFill/>
          </a:ln>
        </p:spPr>
        <p:txBody>
          <a:bodyPr lIns="0" tIns="0" rIns="0" bIns="0" anchor="t">
            <a:normAutofit/>
          </a:bodyPr>
          <a:lstStyle/>
          <a:p>
            <a:pPr algn="l">
              <a:defRPr sz="1350" b="1">
                <a:solidFill>
                  <a:srgbClr val="6DE0B0"/>
                </a:solidFill>
                <a:latin typeface="Arial"/>
                <a:ea typeface="Arial"/>
                <a:cs typeface="Arial"/>
              </a:defRPr>
            </a:pPr>
            <a:r>
              <a:rPr sz="1350" b="1">
                <a:solidFill>
                  <a:srgbClr val="6DE0B0"/>
                </a:solidFill>
                <a:latin typeface="Arial"/>
                <a:ea typeface="Arial"/>
                <a:cs typeface="Arial"/>
              </a:rPr>
              <a:t>Local LAN</a:t>
            </a:r>
          </a:p>
        </p:txBody>
      </p:sp>
      <p:sp>
        <p:nvSpPr>
          <p:cNvPr id="23" name="Rectangle 22">
            <a:extLst>
              <a:ext uri="{FF2B5EF4-FFF2-40B4-BE49-F238E27FC236}">
                <a16:creationId xmlns:a16="http://schemas.microsoft.com/office/drawing/2014/main" id="{37927DCB-00C3-431E-9BD9-9317D43ADADA}"/>
              </a:ext>
            </a:extLst>
          </p:cNvPr>
          <p:cNvSpPr>
            <a:spLocks noGrp="1"/>
          </p:cNvSpPr>
          <p:nvPr/>
        </p:nvSpPr>
        <p:spPr>
          <a:xfrm>
            <a:off x="8096250" y="5191125"/>
            <a:ext cx="2000250" cy="238125"/>
          </a:xfrm>
          <a:prstGeom prst="rect">
            <a:avLst/>
          </a:prstGeom>
          <a:noFill/>
          <a:ln w="0">
            <a:noFill/>
          </a:ln>
        </p:spPr>
        <p:txBody>
          <a:bodyPr lIns="0" tIns="0" rIns="0" bIns="0" anchor="t">
            <a:normAutofit fontScale="98281"/>
          </a:bodyPr>
          <a:lstStyle/>
          <a:p>
            <a:pPr algn="l">
              <a:defRPr sz="1350">
                <a:solidFill>
                  <a:srgbClr val="FFFFFF"/>
                </a:solidFill>
                <a:latin typeface="Arial"/>
                <a:ea typeface="Arial"/>
                <a:cs typeface="Arial"/>
              </a:defRPr>
            </a:pPr>
            <a:r>
              <a:rPr sz="1350">
                <a:solidFill>
                  <a:srgbClr val="FFFFFF"/>
                </a:solidFill>
                <a:latin typeface="Arial"/>
                <a:ea typeface="Arial"/>
                <a:cs typeface="Arial"/>
              </a:rPr>
              <a:t>NAS IP + Web Station port</a:t>
            </a:r>
          </a:p>
        </p:txBody>
      </p:sp>
      <p:sp>
        <p:nvSpPr>
          <p:cNvPr id="24" name="Rectangle 23">
            <a:extLst>
              <a:ext uri="{FF2B5EF4-FFF2-40B4-BE49-F238E27FC236}">
                <a16:creationId xmlns:a16="http://schemas.microsoft.com/office/drawing/2014/main" id="{78BF203B-4C53-48C7-A927-343C4B91AF8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8B1396E1-A198-467E-95EF-7FC556044589}"/>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06 / 15</a:t>
            </a:r>
          </a:p>
        </p:txBody>
      </p:sp>
    </p:spTree>
    <p:extLst>
      <p:ext uri="{BB962C8B-B14F-4D97-AF65-F5344CB8AC3E}">
        <p14:creationId xmlns:p14="http://schemas.microsoft.com/office/powerpoint/2010/main" val="18839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33563AE-720F-4B75-8903-3499DE5C09D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RECORD LIFECYCLE</a:t>
            </a:r>
          </a:p>
        </p:txBody>
      </p:sp>
      <p:sp>
        <p:nvSpPr>
          <p:cNvPr id="2" name="Rectangle 1">
            <a:extLst>
              <a:ext uri="{FF2B5EF4-FFF2-40B4-BE49-F238E27FC236}">
                <a16:creationId xmlns:a16="http://schemas.microsoft.com/office/drawing/2014/main" id="{6338D70A-E92F-46D6-8690-5A4559ADD569}"/>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The end-to-end record flow</a:t>
            </a:r>
          </a:p>
        </p:txBody>
      </p:sp>
      <p:sp>
        <p:nvSpPr>
          <p:cNvPr id="3" name="Rectangle 2">
            <a:extLst>
              <a:ext uri="{FF2B5EF4-FFF2-40B4-BE49-F238E27FC236}">
                <a16:creationId xmlns:a16="http://schemas.microsoft.com/office/drawing/2014/main" id="{97EFC672-00E0-4444-BFCC-06F198862567}"/>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B20E93A1-19D5-441F-8560-A574CE60539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record becomes official only after the correct review and save steps.</a:t>
            </a:r>
          </a:p>
        </p:txBody>
      </p:sp>
      <p:sp>
        <p:nvSpPr>
          <p:cNvPr id="5" name="Rectangle: Rounded Corners 4">
            <a:extLst>
              <a:ext uri="{FF2B5EF4-FFF2-40B4-BE49-F238E27FC236}">
                <a16:creationId xmlns:a16="http://schemas.microsoft.com/office/drawing/2014/main" id="{31969B3C-B525-41F6-A657-448E7DBD44A3}"/>
              </a:ext>
            </a:extLst>
          </p:cNvPr>
          <p:cNvSpPr>
            <a:spLocks noGrp="1"/>
          </p:cNvSpPr>
          <p:nvPr/>
        </p:nvSpPr>
        <p:spPr>
          <a:xfrm>
            <a:off x="523875" y="2476500"/>
            <a:ext cx="1952625" cy="1524000"/>
          </a:xfrm>
          <a:prstGeom prst="roundRect">
            <a:avLst>
              <a:gd name="adj" fmla="val 5000"/>
            </a:avLst>
          </a:prstGeom>
          <a:solidFill>
            <a:srgbClr val="F5F7FB"/>
          </a:solidFill>
          <a:ln w="19050">
            <a:solidFill>
              <a:srgbClr val="2F6BDE"/>
            </a:solidFill>
          </a:ln>
        </p:spPr>
      </p:sp>
      <p:sp>
        <p:nvSpPr>
          <p:cNvPr id="6" name="Rectangle: Rounded Corners 5">
            <a:extLst>
              <a:ext uri="{FF2B5EF4-FFF2-40B4-BE49-F238E27FC236}">
                <a16:creationId xmlns:a16="http://schemas.microsoft.com/office/drawing/2014/main" id="{B07A1111-A8FA-4E54-90BB-F66A02582017}"/>
              </a:ext>
            </a:extLst>
          </p:cNvPr>
          <p:cNvSpPr>
            <a:spLocks noGrp="1"/>
          </p:cNvSpPr>
          <p:nvPr/>
        </p:nvSpPr>
        <p:spPr>
          <a:xfrm>
            <a:off x="1209675" y="2667000"/>
            <a:ext cx="571500" cy="438150"/>
          </a:xfrm>
          <a:prstGeom prst="roundRect">
            <a:avLst>
              <a:gd name="adj" fmla="val 17391"/>
            </a:avLst>
          </a:prstGeom>
          <a:solidFill>
            <a:srgbClr val="2F6BDE"/>
          </a:solidFill>
          <a:ln w="0">
            <a:noFill/>
          </a:ln>
        </p:spPr>
      </p:sp>
      <p:sp>
        <p:nvSpPr>
          <p:cNvPr id="7" name="Rectangle 6">
            <a:extLst>
              <a:ext uri="{FF2B5EF4-FFF2-40B4-BE49-F238E27FC236}">
                <a16:creationId xmlns:a16="http://schemas.microsoft.com/office/drawing/2014/main" id="{53025BFC-874A-4878-9C45-F9AAE9C91466}"/>
              </a:ext>
            </a:extLst>
          </p:cNvPr>
          <p:cNvSpPr>
            <a:spLocks noGrp="1"/>
          </p:cNvSpPr>
          <p:nvPr/>
        </p:nvSpPr>
        <p:spPr>
          <a:xfrm>
            <a:off x="12096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3E622384-C4E7-4CE1-A462-620E223669AC}"/>
              </a:ext>
            </a:extLst>
          </p:cNvPr>
          <p:cNvSpPr>
            <a:spLocks noGrp="1"/>
          </p:cNvSpPr>
          <p:nvPr/>
        </p:nvSpPr>
        <p:spPr>
          <a:xfrm>
            <a:off x="6953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Capture</a:t>
            </a:r>
          </a:p>
        </p:txBody>
      </p:sp>
      <p:sp>
        <p:nvSpPr>
          <p:cNvPr id="9" name="Rectangle 8">
            <a:extLst>
              <a:ext uri="{FF2B5EF4-FFF2-40B4-BE49-F238E27FC236}">
                <a16:creationId xmlns:a16="http://schemas.microsoft.com/office/drawing/2014/main" id="{9A4C424D-2846-4560-BCE7-638EA5F93278}"/>
              </a:ext>
            </a:extLst>
          </p:cNvPr>
          <p:cNvSpPr>
            <a:spLocks noGrp="1"/>
          </p:cNvSpPr>
          <p:nvPr/>
        </p:nvSpPr>
        <p:spPr>
          <a:xfrm>
            <a:off x="6953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Scan or upload</a:t>
            </a:r>
          </a:p>
        </p:txBody>
      </p:sp>
      <p:sp>
        <p:nvSpPr>
          <p:cNvPr id="10" name="Rectangle 9">
            <a:extLst>
              <a:ext uri="{FF2B5EF4-FFF2-40B4-BE49-F238E27FC236}">
                <a16:creationId xmlns:a16="http://schemas.microsoft.com/office/drawing/2014/main" id="{D03E15BA-AA6A-4607-A049-1CBED93146B3}"/>
              </a:ext>
            </a:extLst>
          </p:cNvPr>
          <p:cNvSpPr>
            <a:spLocks noGrp="1"/>
          </p:cNvSpPr>
          <p:nvPr/>
        </p:nvSpPr>
        <p:spPr>
          <a:xfrm>
            <a:off x="2514600" y="30480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1" name="Rectangle: Rounded Corners 10">
            <a:extLst>
              <a:ext uri="{FF2B5EF4-FFF2-40B4-BE49-F238E27FC236}">
                <a16:creationId xmlns:a16="http://schemas.microsoft.com/office/drawing/2014/main" id="{235BB278-5771-4E14-98AC-9DEECB0B6FF8}"/>
              </a:ext>
            </a:extLst>
          </p:cNvPr>
          <p:cNvSpPr>
            <a:spLocks noGrp="1"/>
          </p:cNvSpPr>
          <p:nvPr/>
        </p:nvSpPr>
        <p:spPr>
          <a:xfrm>
            <a:off x="2828925" y="2476500"/>
            <a:ext cx="1952625" cy="1524000"/>
          </a:xfrm>
          <a:prstGeom prst="roundRect">
            <a:avLst>
              <a:gd name="adj" fmla="val 5000"/>
            </a:avLst>
          </a:prstGeom>
          <a:solidFill>
            <a:srgbClr val="F5F7FB"/>
          </a:solidFill>
          <a:ln w="19050">
            <a:solidFill>
              <a:srgbClr val="17A673"/>
            </a:solidFill>
          </a:ln>
        </p:spPr>
      </p:sp>
      <p:sp>
        <p:nvSpPr>
          <p:cNvPr id="12" name="Rectangle: Rounded Corners 11">
            <a:extLst>
              <a:ext uri="{FF2B5EF4-FFF2-40B4-BE49-F238E27FC236}">
                <a16:creationId xmlns:a16="http://schemas.microsoft.com/office/drawing/2014/main" id="{963392F1-29FA-45A4-A544-8890E35A70AD}"/>
              </a:ext>
            </a:extLst>
          </p:cNvPr>
          <p:cNvSpPr>
            <a:spLocks noGrp="1"/>
          </p:cNvSpPr>
          <p:nvPr/>
        </p:nvSpPr>
        <p:spPr>
          <a:xfrm>
            <a:off x="3514725" y="2667000"/>
            <a:ext cx="571500" cy="438150"/>
          </a:xfrm>
          <a:prstGeom prst="roundRect">
            <a:avLst>
              <a:gd name="adj" fmla="val 17391"/>
            </a:avLst>
          </a:prstGeom>
          <a:solidFill>
            <a:srgbClr val="17A673"/>
          </a:solidFill>
          <a:ln w="0">
            <a:noFill/>
          </a:ln>
        </p:spPr>
      </p:sp>
      <p:sp>
        <p:nvSpPr>
          <p:cNvPr id="13" name="Rectangle 12">
            <a:extLst>
              <a:ext uri="{FF2B5EF4-FFF2-40B4-BE49-F238E27FC236}">
                <a16:creationId xmlns:a16="http://schemas.microsoft.com/office/drawing/2014/main" id="{66566616-0810-4474-9F3C-A6F1E9AA2399}"/>
              </a:ext>
            </a:extLst>
          </p:cNvPr>
          <p:cNvSpPr>
            <a:spLocks noGrp="1"/>
          </p:cNvSpPr>
          <p:nvPr/>
        </p:nvSpPr>
        <p:spPr>
          <a:xfrm>
            <a:off x="35147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A087962C-0B3D-40E9-837F-E69A6DC0BB73}"/>
              </a:ext>
            </a:extLst>
          </p:cNvPr>
          <p:cNvSpPr>
            <a:spLocks noGrp="1"/>
          </p:cNvSpPr>
          <p:nvPr/>
        </p:nvSpPr>
        <p:spPr>
          <a:xfrm>
            <a:off x="30003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Encode</a:t>
            </a:r>
          </a:p>
        </p:txBody>
      </p:sp>
      <p:sp>
        <p:nvSpPr>
          <p:cNvPr id="15" name="Rectangle 14">
            <a:extLst>
              <a:ext uri="{FF2B5EF4-FFF2-40B4-BE49-F238E27FC236}">
                <a16:creationId xmlns:a16="http://schemas.microsoft.com/office/drawing/2014/main" id="{3CC242A7-3329-4CDD-A038-269CF4BF5D2C}"/>
              </a:ext>
            </a:extLst>
          </p:cNvPr>
          <p:cNvSpPr>
            <a:spLocks noGrp="1"/>
          </p:cNvSpPr>
          <p:nvPr/>
        </p:nvSpPr>
        <p:spPr>
          <a:xfrm>
            <a:off x="30003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Enter record data</a:t>
            </a:r>
          </a:p>
        </p:txBody>
      </p:sp>
      <p:sp>
        <p:nvSpPr>
          <p:cNvPr id="16" name="Rectangle 15">
            <a:extLst>
              <a:ext uri="{FF2B5EF4-FFF2-40B4-BE49-F238E27FC236}">
                <a16:creationId xmlns:a16="http://schemas.microsoft.com/office/drawing/2014/main" id="{001E3875-A2E0-43B6-9A38-AD7EACF5F5C5}"/>
              </a:ext>
            </a:extLst>
          </p:cNvPr>
          <p:cNvSpPr>
            <a:spLocks noGrp="1"/>
          </p:cNvSpPr>
          <p:nvPr/>
        </p:nvSpPr>
        <p:spPr>
          <a:xfrm>
            <a:off x="48196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7" name="Rectangle: Rounded Corners 16">
            <a:extLst>
              <a:ext uri="{FF2B5EF4-FFF2-40B4-BE49-F238E27FC236}">
                <a16:creationId xmlns:a16="http://schemas.microsoft.com/office/drawing/2014/main" id="{794507E3-75A8-4E88-9FCD-A632AF2973A0}"/>
              </a:ext>
            </a:extLst>
          </p:cNvPr>
          <p:cNvSpPr>
            <a:spLocks noGrp="1"/>
          </p:cNvSpPr>
          <p:nvPr/>
        </p:nvSpPr>
        <p:spPr>
          <a:xfrm>
            <a:off x="5133975" y="2476500"/>
            <a:ext cx="1952625" cy="1524000"/>
          </a:xfrm>
          <a:prstGeom prst="roundRect">
            <a:avLst>
              <a:gd name="adj" fmla="val 5000"/>
            </a:avLst>
          </a:prstGeom>
          <a:solidFill>
            <a:srgbClr val="F5F7FB"/>
          </a:solidFill>
          <a:ln w="19050">
            <a:solidFill>
              <a:srgbClr val="F6B638"/>
            </a:solidFill>
          </a:ln>
        </p:spPr>
      </p:sp>
      <p:sp>
        <p:nvSpPr>
          <p:cNvPr id="18" name="Rectangle: Rounded Corners 17">
            <a:extLst>
              <a:ext uri="{FF2B5EF4-FFF2-40B4-BE49-F238E27FC236}">
                <a16:creationId xmlns:a16="http://schemas.microsoft.com/office/drawing/2014/main" id="{EBAE537C-65FE-4328-A34D-523947D54320}"/>
              </a:ext>
            </a:extLst>
          </p:cNvPr>
          <p:cNvSpPr>
            <a:spLocks noGrp="1"/>
          </p:cNvSpPr>
          <p:nvPr/>
        </p:nvSpPr>
        <p:spPr>
          <a:xfrm>
            <a:off x="5819775" y="2667000"/>
            <a:ext cx="571500" cy="438150"/>
          </a:xfrm>
          <a:prstGeom prst="roundRect">
            <a:avLst>
              <a:gd name="adj" fmla="val 17391"/>
            </a:avLst>
          </a:prstGeom>
          <a:solidFill>
            <a:srgbClr val="F6B638"/>
          </a:solidFill>
          <a:ln w="0">
            <a:noFill/>
          </a:ln>
        </p:spPr>
      </p:sp>
      <p:sp>
        <p:nvSpPr>
          <p:cNvPr id="19" name="Rectangle 18">
            <a:extLst>
              <a:ext uri="{FF2B5EF4-FFF2-40B4-BE49-F238E27FC236}">
                <a16:creationId xmlns:a16="http://schemas.microsoft.com/office/drawing/2014/main" id="{893A800A-F7A3-47DA-B6FA-F3567F0E6B3E}"/>
              </a:ext>
            </a:extLst>
          </p:cNvPr>
          <p:cNvSpPr>
            <a:spLocks noGrp="1"/>
          </p:cNvSpPr>
          <p:nvPr/>
        </p:nvSpPr>
        <p:spPr>
          <a:xfrm>
            <a:off x="58197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Rectangle 19">
            <a:extLst>
              <a:ext uri="{FF2B5EF4-FFF2-40B4-BE49-F238E27FC236}">
                <a16:creationId xmlns:a16="http://schemas.microsoft.com/office/drawing/2014/main" id="{571E4676-13E7-4F1C-B5ED-E2D4A199AC1E}"/>
              </a:ext>
            </a:extLst>
          </p:cNvPr>
          <p:cNvSpPr>
            <a:spLocks noGrp="1"/>
          </p:cNvSpPr>
          <p:nvPr/>
        </p:nvSpPr>
        <p:spPr>
          <a:xfrm>
            <a:off x="53054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Review</a:t>
            </a:r>
          </a:p>
        </p:txBody>
      </p:sp>
      <p:sp>
        <p:nvSpPr>
          <p:cNvPr id="21" name="Rectangle 20">
            <a:extLst>
              <a:ext uri="{FF2B5EF4-FFF2-40B4-BE49-F238E27FC236}">
                <a16:creationId xmlns:a16="http://schemas.microsoft.com/office/drawing/2014/main" id="{0DC0CBF9-5D23-49F7-98FB-D34373F1054F}"/>
              </a:ext>
            </a:extLst>
          </p:cNvPr>
          <p:cNvSpPr>
            <a:spLocks noGrp="1"/>
          </p:cNvSpPr>
          <p:nvPr/>
        </p:nvSpPr>
        <p:spPr>
          <a:xfrm>
            <a:off x="53054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Compare PDF and fields</a:t>
            </a:r>
          </a:p>
        </p:txBody>
      </p:sp>
      <p:sp>
        <p:nvSpPr>
          <p:cNvPr id="22" name="Rectangle 21">
            <a:extLst>
              <a:ext uri="{FF2B5EF4-FFF2-40B4-BE49-F238E27FC236}">
                <a16:creationId xmlns:a16="http://schemas.microsoft.com/office/drawing/2014/main" id="{5C2320A2-9C15-4E5E-95C8-5647A77E9531}"/>
              </a:ext>
            </a:extLst>
          </p:cNvPr>
          <p:cNvSpPr>
            <a:spLocks noGrp="1"/>
          </p:cNvSpPr>
          <p:nvPr/>
        </p:nvSpPr>
        <p:spPr>
          <a:xfrm>
            <a:off x="7124700" y="3048000"/>
            <a:ext cx="514350" cy="400050"/>
          </a:xfrm>
          <a:prstGeom prst="rect">
            <a:avLst/>
          </a:prstGeom>
          <a:noFill/>
          <a:ln w="0">
            <a:noFill/>
          </a:ln>
        </p:spPr>
        <p:txBody>
          <a:bodyPr lIns="0" tIns="0" rIns="0" bIns="0" anchor="t">
            <a:normAutofit fontScale="92105"/>
          </a:bodyPr>
          <a:lstStyle/>
          <a:p>
            <a:pPr algn="ctr">
              <a:defRPr sz="2850" b="1">
                <a:solidFill>
                  <a:srgbClr val="F6B638"/>
                </a:solidFill>
                <a:latin typeface="Arial"/>
                <a:ea typeface="Arial"/>
                <a:cs typeface="Arial"/>
              </a:defRPr>
            </a:pPr>
            <a:r>
              <a:rPr sz="2850" b="1">
                <a:solidFill>
                  <a:srgbClr val="F6B638"/>
                </a:solidFill>
                <a:latin typeface="Arial"/>
                <a:ea typeface="Arial"/>
                <a:cs typeface="Arial"/>
              </a:rPr>
              <a:t>→</a:t>
            </a:r>
          </a:p>
        </p:txBody>
      </p:sp>
      <p:sp>
        <p:nvSpPr>
          <p:cNvPr id="23" name="Rectangle: Rounded Corners 22">
            <a:extLst>
              <a:ext uri="{FF2B5EF4-FFF2-40B4-BE49-F238E27FC236}">
                <a16:creationId xmlns:a16="http://schemas.microsoft.com/office/drawing/2014/main" id="{663CD7C3-F839-46B0-A567-1EFC02484BB0}"/>
              </a:ext>
            </a:extLst>
          </p:cNvPr>
          <p:cNvSpPr>
            <a:spLocks noGrp="1"/>
          </p:cNvSpPr>
          <p:nvPr/>
        </p:nvSpPr>
        <p:spPr>
          <a:xfrm>
            <a:off x="7439025" y="2476500"/>
            <a:ext cx="1952625" cy="1524000"/>
          </a:xfrm>
          <a:prstGeom prst="roundRect">
            <a:avLst>
              <a:gd name="adj" fmla="val 5000"/>
            </a:avLst>
          </a:prstGeom>
          <a:solidFill>
            <a:srgbClr val="F5F7FB"/>
          </a:solidFill>
          <a:ln w="19050">
            <a:solidFill>
              <a:srgbClr val="7B61D1"/>
            </a:solidFill>
          </a:ln>
        </p:spPr>
      </p:sp>
      <p:sp>
        <p:nvSpPr>
          <p:cNvPr id="24" name="Rectangle: Rounded Corners 23">
            <a:extLst>
              <a:ext uri="{FF2B5EF4-FFF2-40B4-BE49-F238E27FC236}">
                <a16:creationId xmlns:a16="http://schemas.microsoft.com/office/drawing/2014/main" id="{BB7DB321-E3E0-4728-8297-FF722A2CDE11}"/>
              </a:ext>
            </a:extLst>
          </p:cNvPr>
          <p:cNvSpPr>
            <a:spLocks noGrp="1"/>
          </p:cNvSpPr>
          <p:nvPr/>
        </p:nvSpPr>
        <p:spPr>
          <a:xfrm>
            <a:off x="8124825" y="2667000"/>
            <a:ext cx="571500" cy="438150"/>
          </a:xfrm>
          <a:prstGeom prst="roundRect">
            <a:avLst>
              <a:gd name="adj" fmla="val 17391"/>
            </a:avLst>
          </a:prstGeom>
          <a:solidFill>
            <a:srgbClr val="7B61D1"/>
          </a:solidFill>
          <a:ln w="0">
            <a:noFill/>
          </a:ln>
        </p:spPr>
      </p:sp>
      <p:sp>
        <p:nvSpPr>
          <p:cNvPr id="25" name="Rectangle 24">
            <a:extLst>
              <a:ext uri="{FF2B5EF4-FFF2-40B4-BE49-F238E27FC236}">
                <a16:creationId xmlns:a16="http://schemas.microsoft.com/office/drawing/2014/main" id="{7D9D7523-5325-4C8B-9D45-FECB3600ABE9}"/>
              </a:ext>
            </a:extLst>
          </p:cNvPr>
          <p:cNvSpPr>
            <a:spLocks noGrp="1"/>
          </p:cNvSpPr>
          <p:nvPr/>
        </p:nvSpPr>
        <p:spPr>
          <a:xfrm>
            <a:off x="81248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FDC1D221-2880-4567-8D2E-C6EFDBB2ADF1}"/>
              </a:ext>
            </a:extLst>
          </p:cNvPr>
          <p:cNvSpPr>
            <a:spLocks noGrp="1"/>
          </p:cNvSpPr>
          <p:nvPr/>
        </p:nvSpPr>
        <p:spPr>
          <a:xfrm>
            <a:off x="76104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Approve</a:t>
            </a:r>
          </a:p>
        </p:txBody>
      </p:sp>
      <p:sp>
        <p:nvSpPr>
          <p:cNvPr id="27" name="Rectangle 26">
            <a:extLst>
              <a:ext uri="{FF2B5EF4-FFF2-40B4-BE49-F238E27FC236}">
                <a16:creationId xmlns:a16="http://schemas.microsoft.com/office/drawing/2014/main" id="{F85D78BE-A58B-4241-8ADB-CA55017B2A64}"/>
              </a:ext>
            </a:extLst>
          </p:cNvPr>
          <p:cNvSpPr>
            <a:spLocks noGrp="1"/>
          </p:cNvSpPr>
          <p:nvPr/>
        </p:nvSpPr>
        <p:spPr>
          <a:xfrm>
            <a:off x="76104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Role-based transition</a:t>
            </a:r>
          </a:p>
        </p:txBody>
      </p:sp>
      <p:sp>
        <p:nvSpPr>
          <p:cNvPr id="28" name="Rectangle 27">
            <a:extLst>
              <a:ext uri="{FF2B5EF4-FFF2-40B4-BE49-F238E27FC236}">
                <a16:creationId xmlns:a16="http://schemas.microsoft.com/office/drawing/2014/main" id="{D1AF3E65-E319-45D5-89D3-3ECAFDAE93F0}"/>
              </a:ext>
            </a:extLst>
          </p:cNvPr>
          <p:cNvSpPr>
            <a:spLocks noGrp="1"/>
          </p:cNvSpPr>
          <p:nvPr/>
        </p:nvSpPr>
        <p:spPr>
          <a:xfrm>
            <a:off x="9429750" y="3048000"/>
            <a:ext cx="514350" cy="400050"/>
          </a:xfrm>
          <a:prstGeom prst="rect">
            <a:avLst/>
          </a:prstGeom>
          <a:noFill/>
          <a:ln w="0">
            <a:noFill/>
          </a:ln>
        </p:spPr>
        <p:txBody>
          <a:bodyPr lIns="0" tIns="0" rIns="0" bIns="0" anchor="t">
            <a:normAutofit fontScale="92105"/>
          </a:bodyPr>
          <a:lstStyle/>
          <a:p>
            <a:pPr algn="ctr">
              <a:defRPr sz="2850" b="1">
                <a:solidFill>
                  <a:srgbClr val="7B61D1"/>
                </a:solidFill>
                <a:latin typeface="Arial"/>
                <a:ea typeface="Arial"/>
                <a:cs typeface="Arial"/>
              </a:defRPr>
            </a:pPr>
            <a:r>
              <a:rPr sz="2850" b="1">
                <a:solidFill>
                  <a:srgbClr val="7B61D1"/>
                </a:solidFill>
                <a:latin typeface="Arial"/>
                <a:ea typeface="Arial"/>
                <a:cs typeface="Arial"/>
              </a:rPr>
              <a:t>→</a:t>
            </a:r>
          </a:p>
        </p:txBody>
      </p:sp>
      <p:sp>
        <p:nvSpPr>
          <p:cNvPr id="29" name="Rectangle: Rounded Corners 28">
            <a:extLst>
              <a:ext uri="{FF2B5EF4-FFF2-40B4-BE49-F238E27FC236}">
                <a16:creationId xmlns:a16="http://schemas.microsoft.com/office/drawing/2014/main" id="{B3DA57C2-E230-4D29-AF8B-3DF4F23B1515}"/>
              </a:ext>
            </a:extLst>
          </p:cNvPr>
          <p:cNvSpPr>
            <a:spLocks noGrp="1"/>
          </p:cNvSpPr>
          <p:nvPr/>
        </p:nvSpPr>
        <p:spPr>
          <a:xfrm>
            <a:off x="9744075" y="2476500"/>
            <a:ext cx="1952625" cy="1524000"/>
          </a:xfrm>
          <a:prstGeom prst="roundRect">
            <a:avLst>
              <a:gd name="adj" fmla="val 5000"/>
            </a:avLst>
          </a:prstGeom>
          <a:solidFill>
            <a:srgbClr val="F5F7FB"/>
          </a:solidFill>
          <a:ln w="19050">
            <a:solidFill>
              <a:srgbClr val="DD5577"/>
            </a:solidFill>
          </a:ln>
        </p:spPr>
      </p:sp>
      <p:sp>
        <p:nvSpPr>
          <p:cNvPr id="30" name="Rectangle: Rounded Corners 29">
            <a:extLst>
              <a:ext uri="{FF2B5EF4-FFF2-40B4-BE49-F238E27FC236}">
                <a16:creationId xmlns:a16="http://schemas.microsoft.com/office/drawing/2014/main" id="{B42252BF-09F2-43D1-A925-12D5E0621886}"/>
              </a:ext>
            </a:extLst>
          </p:cNvPr>
          <p:cNvSpPr>
            <a:spLocks noGrp="1"/>
          </p:cNvSpPr>
          <p:nvPr/>
        </p:nvSpPr>
        <p:spPr>
          <a:xfrm>
            <a:off x="10429875" y="2667000"/>
            <a:ext cx="571500" cy="438150"/>
          </a:xfrm>
          <a:prstGeom prst="roundRect">
            <a:avLst>
              <a:gd name="adj" fmla="val 17391"/>
            </a:avLst>
          </a:prstGeom>
          <a:solidFill>
            <a:srgbClr val="DD5577"/>
          </a:solidFill>
          <a:ln w="0">
            <a:noFill/>
          </a:ln>
        </p:spPr>
      </p:sp>
      <p:sp>
        <p:nvSpPr>
          <p:cNvPr id="31" name="Rectangle 30">
            <a:extLst>
              <a:ext uri="{FF2B5EF4-FFF2-40B4-BE49-F238E27FC236}">
                <a16:creationId xmlns:a16="http://schemas.microsoft.com/office/drawing/2014/main" id="{7C9B938E-1E8F-4229-870B-07B4F379EEE1}"/>
              </a:ext>
            </a:extLst>
          </p:cNvPr>
          <p:cNvSpPr>
            <a:spLocks noGrp="1"/>
          </p:cNvSpPr>
          <p:nvPr/>
        </p:nvSpPr>
        <p:spPr>
          <a:xfrm>
            <a:off x="104298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Rectangle 31">
            <a:extLst>
              <a:ext uri="{FF2B5EF4-FFF2-40B4-BE49-F238E27FC236}">
                <a16:creationId xmlns:a16="http://schemas.microsoft.com/office/drawing/2014/main" id="{69C31BBA-C315-48B3-B1D6-E41864F01F9F}"/>
              </a:ext>
            </a:extLst>
          </p:cNvPr>
          <p:cNvSpPr>
            <a:spLocks noGrp="1"/>
          </p:cNvSpPr>
          <p:nvPr/>
        </p:nvSpPr>
        <p:spPr>
          <a:xfrm>
            <a:off x="99155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Archive</a:t>
            </a:r>
          </a:p>
        </p:txBody>
      </p:sp>
      <p:sp>
        <p:nvSpPr>
          <p:cNvPr id="33" name="Rectangle 32">
            <a:extLst>
              <a:ext uri="{FF2B5EF4-FFF2-40B4-BE49-F238E27FC236}">
                <a16:creationId xmlns:a16="http://schemas.microsoft.com/office/drawing/2014/main" id="{F90CF353-D2F7-44F3-98A2-1BC181BBF9DC}"/>
              </a:ext>
            </a:extLst>
          </p:cNvPr>
          <p:cNvSpPr>
            <a:spLocks noGrp="1"/>
          </p:cNvSpPr>
          <p:nvPr/>
        </p:nvSpPr>
        <p:spPr>
          <a:xfrm>
            <a:off x="99155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Searchable record</a:t>
            </a:r>
          </a:p>
        </p:txBody>
      </p:sp>
      <p:sp>
        <p:nvSpPr>
          <p:cNvPr id="34" name="Rectangle: Rounded Corners 33">
            <a:extLst>
              <a:ext uri="{FF2B5EF4-FFF2-40B4-BE49-F238E27FC236}">
                <a16:creationId xmlns:a16="http://schemas.microsoft.com/office/drawing/2014/main" id="{EEAF2563-73A2-4E7E-BB97-1D584AFE64DA}"/>
              </a:ext>
            </a:extLst>
          </p:cNvPr>
          <p:cNvSpPr>
            <a:spLocks noGrp="1"/>
          </p:cNvSpPr>
          <p:nvPr/>
        </p:nvSpPr>
        <p:spPr>
          <a:xfrm>
            <a:off x="1714500" y="4762500"/>
            <a:ext cx="8763000" cy="714375"/>
          </a:xfrm>
          <a:prstGeom prst="roundRect">
            <a:avLst>
              <a:gd name="adj" fmla="val 10667"/>
            </a:avLst>
          </a:prstGeom>
          <a:solidFill>
            <a:srgbClr val="EAF2FF"/>
          </a:solidFill>
          <a:ln w="0">
            <a:noFill/>
          </a:ln>
        </p:spPr>
      </p:sp>
      <p:sp>
        <p:nvSpPr>
          <p:cNvPr id="35" name="Rectangle 34">
            <a:extLst>
              <a:ext uri="{FF2B5EF4-FFF2-40B4-BE49-F238E27FC236}">
                <a16:creationId xmlns:a16="http://schemas.microsoft.com/office/drawing/2014/main" id="{98789F66-570C-4987-B1E1-403496F8272E}"/>
              </a:ext>
            </a:extLst>
          </p:cNvPr>
          <p:cNvSpPr>
            <a:spLocks noGrp="1"/>
          </p:cNvSpPr>
          <p:nvPr/>
        </p:nvSpPr>
        <p:spPr>
          <a:xfrm>
            <a:off x="1952625" y="4981575"/>
            <a:ext cx="8286750" cy="28575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Draft  →  Pending Review  →  Verified  →  Approved  →  Archived</a:t>
            </a:r>
          </a:p>
        </p:txBody>
      </p:sp>
      <p:sp>
        <p:nvSpPr>
          <p:cNvPr id="36" name="Rectangle 35">
            <a:extLst>
              <a:ext uri="{FF2B5EF4-FFF2-40B4-BE49-F238E27FC236}">
                <a16:creationId xmlns:a16="http://schemas.microsoft.com/office/drawing/2014/main" id="{8FB219C2-75C9-4EB7-A131-06930B5A338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Rectangle 36">
            <a:extLst>
              <a:ext uri="{FF2B5EF4-FFF2-40B4-BE49-F238E27FC236}">
                <a16:creationId xmlns:a16="http://schemas.microsoft.com/office/drawing/2014/main" id="{C0345DAF-0417-41E9-BF8C-06FADE55DDF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07 / 15</a:t>
            </a:r>
          </a:p>
        </p:txBody>
      </p:sp>
    </p:spTree>
    <p:extLst>
      <p:ext uri="{BB962C8B-B14F-4D97-AF65-F5344CB8AC3E}">
        <p14:creationId xmlns:p14="http://schemas.microsoft.com/office/powerpoint/2010/main" val="1834917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BFE6A1-5997-448D-902D-5A4D68CBA25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1</a:t>
            </a:r>
          </a:p>
        </p:txBody>
      </p:sp>
      <p:sp>
        <p:nvSpPr>
          <p:cNvPr id="2" name="Rectangle 1">
            <a:extLst>
              <a:ext uri="{FF2B5EF4-FFF2-40B4-BE49-F238E27FC236}">
                <a16:creationId xmlns:a16="http://schemas.microsoft.com/office/drawing/2014/main" id="{93A1640E-1994-43C3-AC19-BD065BD099C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Capture: scan, upload, and OCR</a:t>
            </a:r>
          </a:p>
        </p:txBody>
      </p:sp>
      <p:sp>
        <p:nvSpPr>
          <p:cNvPr id="3" name="Rectangle 2">
            <a:extLst>
              <a:ext uri="{FF2B5EF4-FFF2-40B4-BE49-F238E27FC236}">
                <a16:creationId xmlns:a16="http://schemas.microsoft.com/office/drawing/2014/main" id="{F8DD440C-88F0-4B84-AB3B-4B527FA9001F}"/>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60A1D7F8-D63C-41E6-A640-15AA822D7CE9}"/>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Epson DS-530 II or a browser PDF upload.</a:t>
            </a:r>
          </a:p>
        </p:txBody>
      </p:sp>
      <p:pic>
        <p:nvPicPr>
          <p:cNvPr id="24" name="Picture 23"/>
          <p:cNvPicPr>
            <a:picLocks noChangeAspect="1"/>
          </p:cNvPicPr>
          <p:nvPr/>
        </p:nvPicPr>
        <p:blipFill>
          <a:blip r:embed="rId3"/>
          <a:stretch/>
        </p:blipFill>
        <p:spPr>
          <a:xfrm>
            <a:off x="609600" y="2303033"/>
            <a:ext cx="5524500" cy="3109183"/>
          </a:xfrm>
          <a:prstGeom prst="roundRect">
            <a:avLst>
              <a:gd name="adj" fmla="val 6667"/>
            </a:avLst>
          </a:prstGeom>
        </p:spPr>
      </p:pic>
      <p:sp>
        <p:nvSpPr>
          <p:cNvPr id="6" name="Rectangle: Rounded Corners 5">
            <a:extLst>
              <a:ext uri="{FF2B5EF4-FFF2-40B4-BE49-F238E27FC236}">
                <a16:creationId xmlns:a16="http://schemas.microsoft.com/office/drawing/2014/main" id="{42622F22-ACF9-4A8D-A86E-673D93CEB36F}"/>
              </a:ext>
            </a:extLst>
          </p:cNvPr>
          <p:cNvSpPr>
            <a:spLocks noGrp="1"/>
          </p:cNvSpPr>
          <p:nvPr/>
        </p:nvSpPr>
        <p:spPr>
          <a:xfrm>
            <a:off x="6762750" y="2381250"/>
            <a:ext cx="4476750" cy="2857500"/>
          </a:xfrm>
          <a:prstGeom prst="roundRect">
            <a:avLst>
              <a:gd name="adj" fmla="val 2667"/>
            </a:avLst>
          </a:prstGeom>
          <a:solidFill>
            <a:srgbClr val="FFFFFF"/>
          </a:solidFill>
          <a:ln w="14288">
            <a:solidFill>
              <a:srgbClr val="D8E1ED"/>
            </a:solidFill>
          </a:ln>
        </p:spPr>
      </p:sp>
      <p:sp>
        <p:nvSpPr>
          <p:cNvPr id="7" name="Rectangle: Rounded Corners 6">
            <a:extLst>
              <a:ext uri="{FF2B5EF4-FFF2-40B4-BE49-F238E27FC236}">
                <a16:creationId xmlns:a16="http://schemas.microsoft.com/office/drawing/2014/main" id="{0133F7B9-F6D9-4687-8C9C-6094E9F8B0BB}"/>
              </a:ext>
            </a:extLst>
          </p:cNvPr>
          <p:cNvSpPr>
            <a:spLocks noGrp="1"/>
          </p:cNvSpPr>
          <p:nvPr/>
        </p:nvSpPr>
        <p:spPr>
          <a:xfrm>
            <a:off x="7067550" y="2714625"/>
            <a:ext cx="419100" cy="361950"/>
          </a:xfrm>
          <a:prstGeom prst="roundRect">
            <a:avLst>
              <a:gd name="adj" fmla="val 21053"/>
            </a:avLst>
          </a:prstGeom>
          <a:solidFill>
            <a:srgbClr val="2F6BDE"/>
          </a:solidFill>
          <a:ln w="0">
            <a:noFill/>
          </a:ln>
        </p:spPr>
      </p:sp>
      <p:sp>
        <p:nvSpPr>
          <p:cNvPr id="8" name="Rectangle 7">
            <a:extLst>
              <a:ext uri="{FF2B5EF4-FFF2-40B4-BE49-F238E27FC236}">
                <a16:creationId xmlns:a16="http://schemas.microsoft.com/office/drawing/2014/main" id="{A3D7EFAA-1DBF-4AA3-9C11-214AF98E606B}"/>
              </a:ext>
            </a:extLst>
          </p:cNvPr>
          <p:cNvSpPr>
            <a:spLocks noGrp="1"/>
          </p:cNvSpPr>
          <p:nvPr/>
        </p:nvSpPr>
        <p:spPr>
          <a:xfrm>
            <a:off x="7067550" y="2714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8B6AB0BC-CFCA-4B54-B72E-6E654F03BF31}"/>
              </a:ext>
            </a:extLst>
          </p:cNvPr>
          <p:cNvSpPr>
            <a:spLocks noGrp="1"/>
          </p:cNvSpPr>
          <p:nvPr/>
        </p:nvSpPr>
        <p:spPr>
          <a:xfrm>
            <a:off x="7667625" y="2705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Rectangle: Rounded Corners 9">
            <a:extLst>
              <a:ext uri="{FF2B5EF4-FFF2-40B4-BE49-F238E27FC236}">
                <a16:creationId xmlns:a16="http://schemas.microsoft.com/office/drawing/2014/main" id="{1B667730-92F0-4814-8252-41DB772A20DC}"/>
              </a:ext>
            </a:extLst>
          </p:cNvPr>
          <p:cNvSpPr>
            <a:spLocks noGrp="1"/>
          </p:cNvSpPr>
          <p:nvPr/>
        </p:nvSpPr>
        <p:spPr>
          <a:xfrm>
            <a:off x="7067550" y="3476625"/>
            <a:ext cx="419100" cy="361950"/>
          </a:xfrm>
          <a:prstGeom prst="roundRect">
            <a:avLst>
              <a:gd name="adj" fmla="val 21053"/>
            </a:avLst>
          </a:prstGeom>
          <a:solidFill>
            <a:srgbClr val="17A673"/>
          </a:solidFill>
          <a:ln w="0">
            <a:noFill/>
          </a:ln>
        </p:spPr>
      </p:sp>
      <p:sp>
        <p:nvSpPr>
          <p:cNvPr id="11" name="Rectangle 10">
            <a:extLst>
              <a:ext uri="{FF2B5EF4-FFF2-40B4-BE49-F238E27FC236}">
                <a16:creationId xmlns:a16="http://schemas.microsoft.com/office/drawing/2014/main" id="{7EC71E4F-D585-476D-9ED9-49CE82DE0B5C}"/>
              </a:ext>
            </a:extLst>
          </p:cNvPr>
          <p:cNvSpPr>
            <a:spLocks noGrp="1"/>
          </p:cNvSpPr>
          <p:nvPr/>
        </p:nvSpPr>
        <p:spPr>
          <a:xfrm>
            <a:off x="7067550" y="3476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A3EF768D-1A85-421A-8C41-3B5B1F959F90}"/>
              </a:ext>
            </a:extLst>
          </p:cNvPr>
          <p:cNvSpPr>
            <a:spLocks noGrp="1"/>
          </p:cNvSpPr>
          <p:nvPr/>
        </p:nvSpPr>
        <p:spPr>
          <a:xfrm>
            <a:off x="7667625" y="3467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Rectangle 12">
            <a:extLst>
              <a:ext uri="{FF2B5EF4-FFF2-40B4-BE49-F238E27FC236}">
                <a16:creationId xmlns:a16="http://schemas.microsoft.com/office/drawing/2014/main" id="{76089F41-07F0-476D-B853-DD97B3B17CD5}"/>
              </a:ext>
            </a:extLst>
          </p:cNvPr>
          <p:cNvSpPr>
            <a:spLocks noGrp="1"/>
          </p:cNvSpPr>
          <p:nvPr/>
        </p:nvSpPr>
        <p:spPr>
          <a:xfrm>
            <a:off x="7667625" y="378142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Type, size, and content checks run first.</a:t>
            </a:r>
          </a:p>
        </p:txBody>
      </p:sp>
      <p:sp>
        <p:nvSpPr>
          <p:cNvPr id="14" name="Rectangle: Rounded Corners 13">
            <a:extLst>
              <a:ext uri="{FF2B5EF4-FFF2-40B4-BE49-F238E27FC236}">
                <a16:creationId xmlns:a16="http://schemas.microsoft.com/office/drawing/2014/main" id="{84BEB1B4-87C9-403D-8736-9326375BDEE7}"/>
              </a:ext>
            </a:extLst>
          </p:cNvPr>
          <p:cNvSpPr>
            <a:spLocks noGrp="1"/>
          </p:cNvSpPr>
          <p:nvPr/>
        </p:nvSpPr>
        <p:spPr>
          <a:xfrm>
            <a:off x="7067550" y="4333875"/>
            <a:ext cx="419100" cy="361950"/>
          </a:xfrm>
          <a:prstGeom prst="roundRect">
            <a:avLst>
              <a:gd name="adj" fmla="val 21053"/>
            </a:avLst>
          </a:prstGeom>
          <a:solidFill>
            <a:srgbClr val="F6B638"/>
          </a:solidFill>
          <a:ln w="0">
            <a:noFill/>
          </a:ln>
        </p:spPr>
      </p:sp>
      <p:sp>
        <p:nvSpPr>
          <p:cNvPr id="15" name="Rectangle 14">
            <a:extLst>
              <a:ext uri="{FF2B5EF4-FFF2-40B4-BE49-F238E27FC236}">
                <a16:creationId xmlns:a16="http://schemas.microsoft.com/office/drawing/2014/main" id="{0FE7451D-C9DD-423E-A93C-578147CE52EA}"/>
              </a:ext>
            </a:extLst>
          </p:cNvPr>
          <p:cNvSpPr>
            <a:spLocks noGrp="1"/>
          </p:cNvSpPr>
          <p:nvPr/>
        </p:nvSpPr>
        <p:spPr>
          <a:xfrm>
            <a:off x="7067550" y="433387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C7101D85-D7D5-4315-A5FD-5C7C9CB4A139}"/>
              </a:ext>
            </a:extLst>
          </p:cNvPr>
          <p:cNvSpPr>
            <a:spLocks noGrp="1"/>
          </p:cNvSpPr>
          <p:nvPr/>
        </p:nvSpPr>
        <p:spPr>
          <a:xfrm>
            <a:off x="7667625" y="432435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Rectangle 16">
            <a:extLst>
              <a:ext uri="{FF2B5EF4-FFF2-40B4-BE49-F238E27FC236}">
                <a16:creationId xmlns:a16="http://schemas.microsoft.com/office/drawing/2014/main" id="{377811F6-3B93-4599-A8D9-6B717132878F}"/>
              </a:ext>
            </a:extLst>
          </p:cNvPr>
          <p:cNvSpPr>
            <a:spLocks noGrp="1"/>
          </p:cNvSpPr>
          <p:nvPr/>
        </p:nvSpPr>
        <p:spPr>
          <a:xfrm>
            <a:off x="7667625" y="463867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Verify every value against the original.</a:t>
            </a:r>
          </a:p>
        </p:txBody>
      </p:sp>
      <p:sp>
        <p:nvSpPr>
          <p:cNvPr id="18" name="Rectangle 17">
            <a:extLst>
              <a:ext uri="{FF2B5EF4-FFF2-40B4-BE49-F238E27FC236}">
                <a16:creationId xmlns:a16="http://schemas.microsoft.com/office/drawing/2014/main" id="{BDFC3F12-E97D-4E72-BBC5-E6D92D89A2A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Rectangle 18">
            <a:extLst>
              <a:ext uri="{FF2B5EF4-FFF2-40B4-BE49-F238E27FC236}">
                <a16:creationId xmlns:a16="http://schemas.microsoft.com/office/drawing/2014/main" id="{2E52293B-CEE6-4727-9FC5-69C4B7741A7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08 / 15</a:t>
            </a:r>
          </a:p>
        </p:txBody>
      </p:sp>
    </p:spTree>
    <p:extLst>
      <p:ext uri="{BB962C8B-B14F-4D97-AF65-F5344CB8AC3E}">
        <p14:creationId xmlns:p14="http://schemas.microsoft.com/office/powerpoint/2010/main" val="11911186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862E7AD-743E-416F-8ECA-203681D2950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2</a:t>
            </a:r>
          </a:p>
        </p:txBody>
      </p:sp>
      <p:sp>
        <p:nvSpPr>
          <p:cNvPr id="2" name="Rectangle 1">
            <a:extLst>
              <a:ext uri="{FF2B5EF4-FFF2-40B4-BE49-F238E27FC236}">
                <a16:creationId xmlns:a16="http://schemas.microsoft.com/office/drawing/2014/main" id="{C8903D7D-F6BA-4A7B-93E2-B8B58B44156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Encode with recovery built in</a:t>
            </a:r>
          </a:p>
        </p:txBody>
      </p:sp>
      <p:sp>
        <p:nvSpPr>
          <p:cNvPr id="3" name="Rectangle 2">
            <a:extLst>
              <a:ext uri="{FF2B5EF4-FFF2-40B4-BE49-F238E27FC236}">
                <a16:creationId xmlns:a16="http://schemas.microsoft.com/office/drawing/2014/main" id="{57B25AAB-AC72-4419-A3A8-02F8C6ADD5CD}"/>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DD69D561-B387-4C84-87E4-D9AF7ABE4580}"/>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Auto-save protects work in progress; the database Save creates the official record.</a:t>
            </a:r>
          </a:p>
        </p:txBody>
      </p:sp>
      <p:sp>
        <p:nvSpPr>
          <p:cNvPr id="5" name="Rectangle: Rounded Corners 4">
            <a:extLst>
              <a:ext uri="{FF2B5EF4-FFF2-40B4-BE49-F238E27FC236}">
                <a16:creationId xmlns:a16="http://schemas.microsoft.com/office/drawing/2014/main" id="{A428D9DC-73C5-4AEB-A88C-8CEEF035DE6B}"/>
              </a:ext>
            </a:extLst>
          </p:cNvPr>
          <p:cNvSpPr>
            <a:spLocks noGrp="1"/>
          </p:cNvSpPr>
          <p:nvPr/>
        </p:nvSpPr>
        <p:spPr>
          <a:xfrm>
            <a:off x="666750" y="2381250"/>
            <a:ext cx="1809750" cy="1333500"/>
          </a:xfrm>
          <a:prstGeom prst="roundRect">
            <a:avLst>
              <a:gd name="adj" fmla="val 5714"/>
            </a:avLst>
          </a:prstGeom>
          <a:solidFill>
            <a:srgbClr val="EAF2FF"/>
          </a:solidFill>
          <a:ln w="0">
            <a:noFill/>
          </a:ln>
        </p:spPr>
      </p:sp>
      <p:sp>
        <p:nvSpPr>
          <p:cNvPr id="6" name="Rectangle 5">
            <a:extLst>
              <a:ext uri="{FF2B5EF4-FFF2-40B4-BE49-F238E27FC236}">
                <a16:creationId xmlns:a16="http://schemas.microsoft.com/office/drawing/2014/main" id="{9968BF77-0686-4B0F-922A-38FA4BCF0885}"/>
              </a:ext>
            </a:extLst>
          </p:cNvPr>
          <p:cNvSpPr>
            <a:spLocks noGrp="1"/>
          </p:cNvSpPr>
          <p:nvPr/>
        </p:nvSpPr>
        <p:spPr>
          <a:xfrm>
            <a:off x="781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Rectangle 6">
            <a:extLst>
              <a:ext uri="{FF2B5EF4-FFF2-40B4-BE49-F238E27FC236}">
                <a16:creationId xmlns:a16="http://schemas.microsoft.com/office/drawing/2014/main" id="{CCA4CEB0-97C5-47B4-9A56-F04D274A81FC}"/>
              </a:ext>
            </a:extLst>
          </p:cNvPr>
          <p:cNvSpPr>
            <a:spLocks noGrp="1"/>
          </p:cNvSpPr>
          <p:nvPr/>
        </p:nvSpPr>
        <p:spPr>
          <a:xfrm>
            <a:off x="781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Fields change</a:t>
            </a:r>
          </a:p>
        </p:txBody>
      </p:sp>
      <p:sp>
        <p:nvSpPr>
          <p:cNvPr id="8" name="Rectangle 7">
            <a:extLst>
              <a:ext uri="{FF2B5EF4-FFF2-40B4-BE49-F238E27FC236}">
                <a16:creationId xmlns:a16="http://schemas.microsoft.com/office/drawing/2014/main" id="{CDA6C808-9883-46A2-97AC-5B31675C0106}"/>
              </a:ext>
            </a:extLst>
          </p:cNvPr>
          <p:cNvSpPr>
            <a:spLocks noGrp="1"/>
          </p:cNvSpPr>
          <p:nvPr/>
        </p:nvSpPr>
        <p:spPr>
          <a:xfrm>
            <a:off x="2514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Rectangle: Rounded Corners 8">
            <a:extLst>
              <a:ext uri="{FF2B5EF4-FFF2-40B4-BE49-F238E27FC236}">
                <a16:creationId xmlns:a16="http://schemas.microsoft.com/office/drawing/2014/main" id="{B4531AD5-93F1-4091-AABF-A5360757638A}"/>
              </a:ext>
            </a:extLst>
          </p:cNvPr>
          <p:cNvSpPr>
            <a:spLocks noGrp="1"/>
          </p:cNvSpPr>
          <p:nvPr/>
        </p:nvSpPr>
        <p:spPr>
          <a:xfrm>
            <a:off x="2762250" y="2381250"/>
            <a:ext cx="1809750" cy="1333500"/>
          </a:xfrm>
          <a:prstGeom prst="roundRect">
            <a:avLst>
              <a:gd name="adj" fmla="val 5714"/>
            </a:avLst>
          </a:prstGeom>
          <a:solidFill>
            <a:srgbClr val="E9F8F1"/>
          </a:solidFill>
          <a:ln w="0">
            <a:noFill/>
          </a:ln>
        </p:spPr>
      </p:sp>
      <p:sp>
        <p:nvSpPr>
          <p:cNvPr id="10" name="Rectangle 9">
            <a:extLst>
              <a:ext uri="{FF2B5EF4-FFF2-40B4-BE49-F238E27FC236}">
                <a16:creationId xmlns:a16="http://schemas.microsoft.com/office/drawing/2014/main" id="{273A6882-F4C7-4210-9267-9BFACC7391A5}"/>
              </a:ext>
            </a:extLst>
          </p:cNvPr>
          <p:cNvSpPr>
            <a:spLocks noGrp="1"/>
          </p:cNvSpPr>
          <p:nvPr/>
        </p:nvSpPr>
        <p:spPr>
          <a:xfrm>
            <a:off x="28765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Rectangle 10">
            <a:extLst>
              <a:ext uri="{FF2B5EF4-FFF2-40B4-BE49-F238E27FC236}">
                <a16:creationId xmlns:a16="http://schemas.microsoft.com/office/drawing/2014/main" id="{C56060B8-5D4D-40FE-A717-30031C608549}"/>
              </a:ext>
            </a:extLst>
          </p:cNvPr>
          <p:cNvSpPr>
            <a:spLocks noGrp="1"/>
          </p:cNvSpPr>
          <p:nvPr/>
        </p:nvSpPr>
        <p:spPr>
          <a:xfrm>
            <a:off x="28765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Rectangle 11">
            <a:extLst>
              <a:ext uri="{FF2B5EF4-FFF2-40B4-BE49-F238E27FC236}">
                <a16:creationId xmlns:a16="http://schemas.microsoft.com/office/drawing/2014/main" id="{42D1B937-5E47-4E1F-BE1C-8C39EA8F3CAA}"/>
              </a:ext>
            </a:extLst>
          </p:cNvPr>
          <p:cNvSpPr>
            <a:spLocks noGrp="1"/>
          </p:cNvSpPr>
          <p:nvPr/>
        </p:nvSpPr>
        <p:spPr>
          <a:xfrm>
            <a:off x="46101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Rectangle: Rounded Corners 12">
            <a:extLst>
              <a:ext uri="{FF2B5EF4-FFF2-40B4-BE49-F238E27FC236}">
                <a16:creationId xmlns:a16="http://schemas.microsoft.com/office/drawing/2014/main" id="{6659DC25-D5F4-46E5-8F99-6B210B8205A8}"/>
              </a:ext>
            </a:extLst>
          </p:cNvPr>
          <p:cNvSpPr>
            <a:spLocks noGrp="1"/>
          </p:cNvSpPr>
          <p:nvPr/>
        </p:nvSpPr>
        <p:spPr>
          <a:xfrm>
            <a:off x="4857750" y="2381250"/>
            <a:ext cx="1809750" cy="1333500"/>
          </a:xfrm>
          <a:prstGeom prst="roundRect">
            <a:avLst>
              <a:gd name="adj" fmla="val 5714"/>
            </a:avLst>
          </a:prstGeom>
          <a:solidFill>
            <a:srgbClr val="FFF5DE"/>
          </a:solidFill>
          <a:ln w="0">
            <a:noFill/>
          </a:ln>
        </p:spPr>
      </p:sp>
      <p:sp>
        <p:nvSpPr>
          <p:cNvPr id="14" name="Rectangle 13">
            <a:extLst>
              <a:ext uri="{FF2B5EF4-FFF2-40B4-BE49-F238E27FC236}">
                <a16:creationId xmlns:a16="http://schemas.microsoft.com/office/drawing/2014/main" id="{CA88D26E-1348-4DFF-A3A5-35CF69AD2209}"/>
              </a:ext>
            </a:extLst>
          </p:cNvPr>
          <p:cNvSpPr>
            <a:spLocks noGrp="1"/>
          </p:cNvSpPr>
          <p:nvPr/>
        </p:nvSpPr>
        <p:spPr>
          <a:xfrm>
            <a:off x="4972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Rectangle 14">
            <a:extLst>
              <a:ext uri="{FF2B5EF4-FFF2-40B4-BE49-F238E27FC236}">
                <a16:creationId xmlns:a16="http://schemas.microsoft.com/office/drawing/2014/main" id="{9B24109A-103E-4688-B2A4-4F5CF00B4B13}"/>
              </a:ext>
            </a:extLst>
          </p:cNvPr>
          <p:cNvSpPr>
            <a:spLocks noGrp="1"/>
          </p:cNvSpPr>
          <p:nvPr/>
        </p:nvSpPr>
        <p:spPr>
          <a:xfrm>
            <a:off x="4972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can return after interruption</a:t>
            </a:r>
          </a:p>
        </p:txBody>
      </p:sp>
      <p:sp>
        <p:nvSpPr>
          <p:cNvPr id="16" name="Rectangle 15">
            <a:extLst>
              <a:ext uri="{FF2B5EF4-FFF2-40B4-BE49-F238E27FC236}">
                <a16:creationId xmlns:a16="http://schemas.microsoft.com/office/drawing/2014/main" id="{3A35F172-83B9-4414-A669-669F1FAD1F5E}"/>
              </a:ext>
            </a:extLst>
          </p:cNvPr>
          <p:cNvSpPr>
            <a:spLocks noGrp="1"/>
          </p:cNvSpPr>
          <p:nvPr/>
        </p:nvSpPr>
        <p:spPr>
          <a:xfrm>
            <a:off x="6705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Rectangle: Rounded Corners 16">
            <a:extLst>
              <a:ext uri="{FF2B5EF4-FFF2-40B4-BE49-F238E27FC236}">
                <a16:creationId xmlns:a16="http://schemas.microsoft.com/office/drawing/2014/main" id="{AA0ECD65-4560-43A9-87C6-C1EC0286AC33}"/>
              </a:ext>
            </a:extLst>
          </p:cNvPr>
          <p:cNvSpPr>
            <a:spLocks noGrp="1"/>
          </p:cNvSpPr>
          <p:nvPr/>
        </p:nvSpPr>
        <p:spPr>
          <a:xfrm>
            <a:off x="6953250" y="2381250"/>
            <a:ext cx="1809750" cy="1333500"/>
          </a:xfrm>
          <a:prstGeom prst="roundRect">
            <a:avLst>
              <a:gd name="adj" fmla="val 5714"/>
            </a:avLst>
          </a:prstGeom>
          <a:solidFill>
            <a:srgbClr val="10243E"/>
          </a:solidFill>
          <a:ln w="0">
            <a:noFill/>
          </a:ln>
        </p:spPr>
      </p:sp>
      <p:sp>
        <p:nvSpPr>
          <p:cNvPr id="18" name="Rectangle 17">
            <a:extLst>
              <a:ext uri="{FF2B5EF4-FFF2-40B4-BE49-F238E27FC236}">
                <a16:creationId xmlns:a16="http://schemas.microsoft.com/office/drawing/2014/main" id="{21C7C2B3-E57B-470C-8C89-38A3252BAD98}"/>
              </a:ext>
            </a:extLst>
          </p:cNvPr>
          <p:cNvSpPr>
            <a:spLocks noGrp="1"/>
          </p:cNvSpPr>
          <p:nvPr/>
        </p:nvSpPr>
        <p:spPr>
          <a:xfrm>
            <a:off x="7067550" y="2647950"/>
            <a:ext cx="1581150" cy="266700"/>
          </a:xfrm>
          <a:prstGeom prst="rect">
            <a:avLst/>
          </a:prstGeom>
          <a:noFill/>
          <a:ln w="0">
            <a:noFill/>
          </a:ln>
        </p:spPr>
        <p:txBody>
          <a:bodyPr lIns="0" tIns="0" rIns="0" bIns="0" anchor="t">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Rectangle 18">
            <a:extLst>
              <a:ext uri="{FF2B5EF4-FFF2-40B4-BE49-F238E27FC236}">
                <a16:creationId xmlns:a16="http://schemas.microsoft.com/office/drawing/2014/main" id="{25B63112-919B-45B6-A9BB-9928B8F82907}"/>
              </a:ext>
            </a:extLst>
          </p:cNvPr>
          <p:cNvSpPr>
            <a:spLocks noGrp="1"/>
          </p:cNvSpPr>
          <p:nvPr/>
        </p:nvSpPr>
        <p:spPr>
          <a:xfrm>
            <a:off x="7067550" y="3143250"/>
            <a:ext cx="1581150" cy="457200"/>
          </a:xfrm>
          <a:prstGeom prst="rect">
            <a:avLst/>
          </a:prstGeom>
          <a:noFill/>
          <a:ln w="0">
            <a:noFill/>
          </a:ln>
        </p:spPr>
        <p:txBody>
          <a:bodyPr lIns="0" tIns="0" rIns="0" bIns="0" anchor="t">
            <a:normAutofit/>
          </a:bodyPr>
          <a:lstStyle/>
          <a:p>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Picture 44"/>
          <p:cNvPicPr>
            <a:picLocks noChangeAspect="1"/>
          </p:cNvPicPr>
          <p:nvPr/>
        </p:nvPicPr>
        <p:blipFill>
          <a:blip r:embed="rId3"/>
          <a:stretch/>
        </p:blipFill>
        <p:spPr>
          <a:xfrm>
            <a:off x="8750423" y="4333875"/>
            <a:ext cx="2454029" cy="1381125"/>
          </a:xfrm>
          <a:prstGeom prst="roundRect">
            <a:avLst>
              <a:gd name="adj" fmla="val 12414"/>
            </a:avLst>
          </a:prstGeom>
        </p:spPr>
      </p:pic>
      <p:sp>
        <p:nvSpPr>
          <p:cNvPr id="21" name="Rectangle 20">
            <a:extLst>
              <a:ext uri="{FF2B5EF4-FFF2-40B4-BE49-F238E27FC236}">
                <a16:creationId xmlns:a16="http://schemas.microsoft.com/office/drawing/2014/main" id="{B0A90BE8-1684-4098-8D19-35D863AA3DA5}"/>
              </a:ext>
            </a:extLst>
          </p:cNvPr>
          <p:cNvSpPr>
            <a:spLocks noGrp="1"/>
          </p:cNvSpPr>
          <p:nvPr/>
        </p:nvSpPr>
        <p:spPr>
          <a:xfrm>
            <a:off x="904875" y="452437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Rectangle 21">
            <a:extLst>
              <a:ext uri="{FF2B5EF4-FFF2-40B4-BE49-F238E27FC236}">
                <a16:creationId xmlns:a16="http://schemas.microsoft.com/office/drawing/2014/main" id="{E11CFD60-3F13-483B-B0E7-14CA98E8D8D8}"/>
              </a:ext>
            </a:extLst>
          </p:cNvPr>
          <p:cNvSpPr>
            <a:spLocks noGrp="1"/>
          </p:cNvSpPr>
          <p:nvPr/>
        </p:nvSpPr>
        <p:spPr>
          <a:xfrm>
            <a:off x="904875" y="4953000"/>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Rectangle 22">
            <a:extLst>
              <a:ext uri="{FF2B5EF4-FFF2-40B4-BE49-F238E27FC236}">
                <a16:creationId xmlns:a16="http://schemas.microsoft.com/office/drawing/2014/main" id="{456DCAFD-D0AF-48EA-879E-029750DA43BB}"/>
              </a:ext>
            </a:extLst>
          </p:cNvPr>
          <p:cNvSpPr>
            <a:spLocks noGrp="1"/>
          </p:cNvSpPr>
          <p:nvPr/>
        </p:nvSpPr>
        <p:spPr>
          <a:xfrm>
            <a:off x="904875" y="538162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Default inactivity timeout: 60 minutes.</a:t>
            </a:r>
          </a:p>
        </p:txBody>
      </p:sp>
      <p:sp>
        <p:nvSpPr>
          <p:cNvPr id="24" name="Rectangle 23">
            <a:extLst>
              <a:ext uri="{FF2B5EF4-FFF2-40B4-BE49-F238E27FC236}">
                <a16:creationId xmlns:a16="http://schemas.microsoft.com/office/drawing/2014/main" id="{EA6A648F-79B3-4548-AE32-8D2D1B3D83C3}"/>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7CDAE635-706F-47AA-9E98-ADE687CF1FF2}"/>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09 / 15</a:t>
            </a:r>
          </a:p>
        </p:txBody>
      </p:sp>
    </p:spTree>
    <p:extLst>
      <p:ext uri="{BB962C8B-B14F-4D97-AF65-F5344CB8AC3E}">
        <p14:creationId xmlns:p14="http://schemas.microsoft.com/office/powerpoint/2010/main" val="104760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4DBDF2-227D-430F-B7B7-922BC7F0BCC1}"/>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3</a:t>
            </a:r>
          </a:p>
        </p:txBody>
      </p:sp>
      <p:sp>
        <p:nvSpPr>
          <p:cNvPr id="2" name="Rectangle 1">
            <a:extLst>
              <a:ext uri="{FF2B5EF4-FFF2-40B4-BE49-F238E27FC236}">
                <a16:creationId xmlns:a16="http://schemas.microsoft.com/office/drawing/2014/main" id="{DAAB64CC-455C-4CBC-973D-F37EEB96DFB4}"/>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Rectangle 2">
            <a:extLst>
              <a:ext uri="{FF2B5EF4-FFF2-40B4-BE49-F238E27FC236}">
                <a16:creationId xmlns:a16="http://schemas.microsoft.com/office/drawing/2014/main" id="{021D116C-B0BD-496A-9D72-CB3E39EE87C5}"/>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7C9B75B1-E952-46C9-8129-A24E1C2E7CF7}"/>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certificate type, year, and normalized last name.</a:t>
            </a:r>
          </a:p>
        </p:txBody>
      </p:sp>
      <p:sp>
        <p:nvSpPr>
          <p:cNvPr id="5" name="Rectangle: Rounded Corners 4">
            <a:extLst>
              <a:ext uri="{FF2B5EF4-FFF2-40B4-BE49-F238E27FC236}">
                <a16:creationId xmlns:a16="http://schemas.microsoft.com/office/drawing/2014/main" id="{B1D3228B-AD29-45E0-85D6-FBB185AE569D}"/>
              </a:ext>
            </a:extLst>
          </p:cNvPr>
          <p:cNvSpPr>
            <a:spLocks noGrp="1"/>
          </p:cNvSpPr>
          <p:nvPr/>
        </p:nvSpPr>
        <p:spPr>
          <a:xfrm>
            <a:off x="666750" y="2381250"/>
            <a:ext cx="5334000" cy="2333625"/>
          </a:xfrm>
          <a:prstGeom prst="roundRect">
            <a:avLst>
              <a:gd name="adj" fmla="val 3265"/>
            </a:avLst>
          </a:prstGeom>
          <a:solidFill>
            <a:srgbClr val="10243E"/>
          </a:solidFill>
          <a:ln w="0">
            <a:noFill/>
          </a:ln>
        </p:spPr>
      </p:sp>
      <p:sp>
        <p:nvSpPr>
          <p:cNvPr id="6" name="Rectangle 5">
            <a:extLst>
              <a:ext uri="{FF2B5EF4-FFF2-40B4-BE49-F238E27FC236}">
                <a16:creationId xmlns:a16="http://schemas.microsoft.com/office/drawing/2014/main" id="{FD0FC446-8548-4F7C-AEEC-402B192373A4}"/>
              </a:ext>
            </a:extLst>
          </p:cNvPr>
          <p:cNvSpPr>
            <a:spLocks noGrp="1"/>
          </p:cNvSpPr>
          <p:nvPr/>
        </p:nvSpPr>
        <p:spPr>
          <a:xfrm>
            <a:off x="1000125" y="2952750"/>
            <a:ext cx="4667250" cy="400050"/>
          </a:xfrm>
          <a:prstGeom prst="rect">
            <a:avLst/>
          </a:prstGeom>
          <a:noFill/>
          <a:ln w="0">
            <a:noFill/>
          </a:ln>
        </p:spPr>
        <p:txBody>
          <a:bodyPr lIns="0" tIns="0" rIns="0" bIns="0" anchor="t">
            <a:normAutofit/>
          </a:body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Rectangle 6">
            <a:extLst>
              <a:ext uri="{FF2B5EF4-FFF2-40B4-BE49-F238E27FC236}">
                <a16:creationId xmlns:a16="http://schemas.microsoft.com/office/drawing/2014/main" id="{E8AD9351-A08A-42B8-B35C-ECBD61498B72}"/>
              </a:ext>
            </a:extLst>
          </p:cNvPr>
          <p:cNvSpPr>
            <a:spLocks noGrp="1"/>
          </p:cNvSpPr>
          <p:nvPr/>
        </p:nvSpPr>
        <p:spPr>
          <a:xfrm>
            <a:off x="1000125" y="3552825"/>
            <a:ext cx="4667250" cy="304800"/>
          </a:xfrm>
          <a:prstGeom prst="rect">
            <a:avLst/>
          </a:prstGeom>
          <a:noFill/>
          <a:ln w="0">
            <a:noFill/>
          </a:ln>
        </p:spPr>
        <p:txBody>
          <a:bodyPr lIns="0" tIns="0" rIns="0" bIns="0" anchor="t">
            <a:normAutofit/>
          </a:bodyPr>
          <a:lstStyle/>
          <a:p>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Rectangle 7">
            <a:extLst>
              <a:ext uri="{FF2B5EF4-FFF2-40B4-BE49-F238E27FC236}">
                <a16:creationId xmlns:a16="http://schemas.microsoft.com/office/drawing/2014/main" id="{34E98469-58B7-4B6D-909C-FB2E5F0C9158}"/>
              </a:ext>
            </a:extLst>
          </p:cNvPr>
          <p:cNvSpPr>
            <a:spLocks noGrp="1"/>
          </p:cNvSpPr>
          <p:nvPr/>
        </p:nvSpPr>
        <p:spPr>
          <a:xfrm>
            <a:off x="1000125" y="4162425"/>
            <a:ext cx="4667250" cy="238125"/>
          </a:xfrm>
          <a:prstGeom prst="rect">
            <a:avLst/>
          </a:prstGeom>
          <a:noFill/>
          <a:ln w="0">
            <a:noFill/>
          </a:ln>
        </p:spPr>
        <p:txBody>
          <a:bodyPr lIns="0" tIns="0" rIns="0" bIns="0" anchor="t">
            <a:normAutofit/>
          </a:bodyPr>
          <a:lstStyle/>
          <a:p>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pic>
        <p:nvPicPr>
          <p:cNvPr id="25" name="Picture 24"/>
          <p:cNvPicPr>
            <a:picLocks noChangeAspect="1"/>
          </p:cNvPicPr>
          <p:nvPr/>
        </p:nvPicPr>
        <p:blipFill>
          <a:blip r:embed="rId3"/>
          <a:stretch/>
        </p:blipFill>
        <p:spPr>
          <a:xfrm>
            <a:off x="1416844" y="5048250"/>
            <a:ext cx="1643063" cy="1095375"/>
          </a:xfrm>
          <a:prstGeom prst="roundRect">
            <a:avLst>
              <a:gd name="adj" fmla="val 15652"/>
            </a:avLst>
          </a:prstGeom>
        </p:spPr>
      </p:pic>
      <p:sp>
        <p:nvSpPr>
          <p:cNvPr id="10" name="Rectangle 9">
            <a:extLst>
              <a:ext uri="{FF2B5EF4-FFF2-40B4-BE49-F238E27FC236}">
                <a16:creationId xmlns:a16="http://schemas.microsoft.com/office/drawing/2014/main" id="{BEF602DD-87E5-483D-9B8C-23D9DE1FDC15}"/>
              </a:ext>
            </a:extLst>
          </p:cNvPr>
          <p:cNvSpPr>
            <a:spLocks noGrp="1"/>
          </p:cNvSpPr>
          <p:nvPr/>
        </p:nvSpPr>
        <p:spPr>
          <a:xfrm>
            <a:off x="6667500" y="2571750"/>
            <a:ext cx="4000500" cy="304800"/>
          </a:xfrm>
          <a:prstGeom prst="rect">
            <a:avLst/>
          </a:prstGeom>
          <a:noFill/>
          <a:ln w="0">
            <a:noFill/>
          </a:ln>
        </p:spPr>
        <p:txBody>
          <a:bodyPr lIns="0" tIns="0" rIns="0" bIns="0" anchor="t">
            <a:normAutofit/>
          </a:bodyPr>
          <a:lstStyle/>
          <a:p>
            <a:pPr algn="l">
              <a:defRPr sz="1875" b="1">
                <a:solidFill>
                  <a:srgbClr val="17263A"/>
                </a:solidFill>
                <a:latin typeface="Arial"/>
                <a:ea typeface="Arial"/>
                <a:cs typeface="Arial"/>
              </a:defRPr>
            </a:pPr>
            <a:r>
              <a:rPr sz="1875" b="1">
                <a:solidFill>
                  <a:srgbClr val="17263A"/>
                </a:solidFill>
                <a:latin typeface="Arial"/>
                <a:ea typeface="Arial"/>
                <a:cs typeface="Arial"/>
              </a:rPr>
              <a:t>How browsing works</a:t>
            </a:r>
          </a:p>
        </p:txBody>
      </p:sp>
      <p:sp>
        <p:nvSpPr>
          <p:cNvPr id="11" name="Rectangle 10">
            <a:extLst>
              <a:ext uri="{FF2B5EF4-FFF2-40B4-BE49-F238E27FC236}">
                <a16:creationId xmlns:a16="http://schemas.microsoft.com/office/drawing/2014/main" id="{51D32F1E-736B-4075-AA8F-5C4D5DD03268}"/>
              </a:ext>
            </a:extLst>
          </p:cNvPr>
          <p:cNvSpPr>
            <a:spLocks noGrp="1"/>
          </p:cNvSpPr>
          <p:nvPr/>
        </p:nvSpPr>
        <p:spPr>
          <a:xfrm>
            <a:off x="6667500" y="3143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a:t>
            </a:r>
          </a:p>
        </p:txBody>
      </p:sp>
      <p:sp>
        <p:nvSpPr>
          <p:cNvPr id="12" name="Rectangle 11">
            <a:extLst>
              <a:ext uri="{FF2B5EF4-FFF2-40B4-BE49-F238E27FC236}">
                <a16:creationId xmlns:a16="http://schemas.microsoft.com/office/drawing/2014/main" id="{126D13EC-66D5-4B77-914A-B01B4C23CADA}"/>
              </a:ext>
            </a:extLst>
          </p:cNvPr>
          <p:cNvSpPr>
            <a:spLocks noGrp="1"/>
          </p:cNvSpPr>
          <p:nvPr/>
        </p:nvSpPr>
        <p:spPr>
          <a:xfrm>
            <a:off x="6667500" y="366712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Names are normalized for safe, predictable paths.</a:t>
            </a:r>
          </a:p>
        </p:txBody>
      </p:sp>
      <p:sp>
        <p:nvSpPr>
          <p:cNvPr id="13" name="Rectangle 12">
            <a:extLst>
              <a:ext uri="{FF2B5EF4-FFF2-40B4-BE49-F238E27FC236}">
                <a16:creationId xmlns:a16="http://schemas.microsoft.com/office/drawing/2014/main" id="{24EE4FBA-5D26-47AA-A1F8-FC1C040D8A96}"/>
              </a:ext>
            </a:extLst>
          </p:cNvPr>
          <p:cNvSpPr>
            <a:spLocks noGrp="1"/>
          </p:cNvSpPr>
          <p:nvPr/>
        </p:nvSpPr>
        <p:spPr>
          <a:xfrm>
            <a:off x="6667500" y="419100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 gives a visual route to the record.</a:t>
            </a:r>
          </a:p>
        </p:txBody>
      </p:sp>
      <p:sp>
        <p:nvSpPr>
          <p:cNvPr id="14" name="Rectangle 13">
            <a:extLst>
              <a:ext uri="{FF2B5EF4-FFF2-40B4-BE49-F238E27FC236}">
                <a16:creationId xmlns:a16="http://schemas.microsoft.com/office/drawing/2014/main" id="{274E27B5-687C-4B43-84EE-982D2EEBE591}"/>
              </a:ext>
            </a:extLst>
          </p:cNvPr>
          <p:cNvSpPr>
            <a:spLocks noGrp="1"/>
          </p:cNvSpPr>
          <p:nvPr/>
        </p:nvSpPr>
        <p:spPr>
          <a:xfrm>
            <a:off x="4762500" y="5429250"/>
            <a:ext cx="6381750" cy="285750"/>
          </a:xfrm>
          <a:prstGeom prst="rect">
            <a:avLst/>
          </a:prstGeom>
          <a:noFill/>
          <a:ln w="0">
            <a:noFill/>
          </a:ln>
        </p:spPr>
        <p:txBody>
          <a:bodyPr lIns="0" tIns="0" rIns="0" bIns="0" anchor="t">
            <a:normAutofit/>
          </a:bodyPr>
          <a:lstStyle/>
          <a:p>
            <a:pPr algn="ctr">
              <a:defRPr sz="1425" b="1">
                <a:solidFill>
                  <a:srgbClr val="17A673"/>
                </a:solidFill>
                <a:latin typeface="Arial"/>
                <a:ea typeface="Arial"/>
                <a:cs typeface="Arial"/>
              </a:defRPr>
            </a:pPr>
            <a:r>
              <a:rPr sz="1425" b="1">
                <a:solidFill>
                  <a:srgbClr val="17A673"/>
                </a:solidFill>
                <a:latin typeface="Arial"/>
                <a:ea typeface="Arial"/>
                <a:cs typeface="Arial"/>
              </a:rPr>
              <a:t>Database = source of truth  |  Folders = practical browsing</a:t>
            </a:r>
          </a:p>
        </p:txBody>
      </p:sp>
      <p:sp>
        <p:nvSpPr>
          <p:cNvPr id="15" name="Rectangle 14">
            <a:extLst>
              <a:ext uri="{FF2B5EF4-FFF2-40B4-BE49-F238E27FC236}">
                <a16:creationId xmlns:a16="http://schemas.microsoft.com/office/drawing/2014/main" id="{B32162A9-440F-482C-B290-FC1D377632E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Rectangle 15">
            <a:extLst>
              <a:ext uri="{FF2B5EF4-FFF2-40B4-BE49-F238E27FC236}">
                <a16:creationId xmlns:a16="http://schemas.microsoft.com/office/drawing/2014/main" id="{8E9E91C5-6DC0-43E8-8331-2E4ECDA96F3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10 / 15</a:t>
            </a:r>
          </a:p>
        </p:txBody>
      </p:sp>
    </p:spTree>
    <p:extLst>
      <p:ext uri="{BB962C8B-B14F-4D97-AF65-F5344CB8AC3E}">
        <p14:creationId xmlns:p14="http://schemas.microsoft.com/office/powerpoint/2010/main" val="445267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1253D91-D983-4FE4-BB51-398BEC63E993}"/>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4</a:t>
            </a:r>
          </a:p>
        </p:txBody>
      </p:sp>
      <p:sp>
        <p:nvSpPr>
          <p:cNvPr id="2" name="Rectangle 1">
            <a:extLst>
              <a:ext uri="{FF2B5EF4-FFF2-40B4-BE49-F238E27FC236}">
                <a16:creationId xmlns:a16="http://schemas.microsoft.com/office/drawing/2014/main" id="{D4F44184-E6D6-4186-A832-9C3786EE1E21}"/>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Search, compare, and verify</a:t>
            </a:r>
          </a:p>
        </p:txBody>
      </p:sp>
      <p:sp>
        <p:nvSpPr>
          <p:cNvPr id="3" name="Rectangle 2">
            <a:extLst>
              <a:ext uri="{FF2B5EF4-FFF2-40B4-BE49-F238E27FC236}">
                <a16:creationId xmlns:a16="http://schemas.microsoft.com/office/drawing/2014/main" id="{C2CDC859-8565-4DA1-90DE-AC1312F5A94E}"/>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AC531813-5D49-4A04-BAE6-3FCDB1754D5C}"/>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Retrieval is a verification step, not only a lookup step.</a:t>
            </a:r>
          </a:p>
        </p:txBody>
      </p:sp>
      <p:sp>
        <p:nvSpPr>
          <p:cNvPr id="5" name="Rectangle: Rounded Corners 4">
            <a:extLst>
              <a:ext uri="{FF2B5EF4-FFF2-40B4-BE49-F238E27FC236}">
                <a16:creationId xmlns:a16="http://schemas.microsoft.com/office/drawing/2014/main" id="{2544F0D2-A653-4B47-955F-56DFBCB2362D}"/>
              </a:ext>
            </a:extLst>
          </p:cNvPr>
          <p:cNvSpPr>
            <a:spLocks noGrp="1"/>
          </p:cNvSpPr>
          <p:nvPr/>
        </p:nvSpPr>
        <p:spPr>
          <a:xfrm>
            <a:off x="666750" y="2381250"/>
            <a:ext cx="4762500" cy="2952750"/>
          </a:xfrm>
          <a:prstGeom prst="roundRect">
            <a:avLst>
              <a:gd name="adj" fmla="val 2581"/>
            </a:avLst>
          </a:prstGeom>
          <a:solidFill>
            <a:srgbClr val="F5F7FB"/>
          </a:solidFill>
          <a:ln w="14288">
            <a:solidFill>
              <a:srgbClr val="D8E1ED"/>
            </a:solidFill>
          </a:ln>
        </p:spPr>
      </p:sp>
      <p:sp>
        <p:nvSpPr>
          <p:cNvPr id="6" name="Rectangle 5">
            <a:extLst>
              <a:ext uri="{FF2B5EF4-FFF2-40B4-BE49-F238E27FC236}">
                <a16:creationId xmlns:a16="http://schemas.microsoft.com/office/drawing/2014/main" id="{FA8F4AB6-03CC-4496-95AD-D0F3892A0361}"/>
              </a:ext>
            </a:extLst>
          </p:cNvPr>
          <p:cNvSpPr>
            <a:spLocks noGrp="1"/>
          </p:cNvSpPr>
          <p:nvPr/>
        </p:nvSpPr>
        <p:spPr>
          <a:xfrm>
            <a:off x="952500" y="2667000"/>
            <a:ext cx="38100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Rectangle: Rounded Corners 6">
            <a:extLst>
              <a:ext uri="{FF2B5EF4-FFF2-40B4-BE49-F238E27FC236}">
                <a16:creationId xmlns:a16="http://schemas.microsoft.com/office/drawing/2014/main" id="{6EC04F5A-4F41-4E7B-B773-CEC2A0610B1F}"/>
              </a:ext>
            </a:extLst>
          </p:cNvPr>
          <p:cNvSpPr>
            <a:spLocks noGrp="1"/>
          </p:cNvSpPr>
          <p:nvPr/>
        </p:nvSpPr>
        <p:spPr>
          <a:xfrm>
            <a:off x="952500" y="3190875"/>
            <a:ext cx="4000500" cy="457200"/>
          </a:xfrm>
          <a:prstGeom prst="roundRect">
            <a:avLst>
              <a:gd name="adj" fmla="val 16667"/>
            </a:avLst>
          </a:prstGeom>
          <a:solidFill>
            <a:srgbClr val="FFFFFF"/>
          </a:solidFill>
          <a:ln w="9525">
            <a:solidFill>
              <a:srgbClr val="D8E1ED"/>
            </a:solidFill>
          </a:ln>
        </p:spPr>
      </p:sp>
      <p:sp>
        <p:nvSpPr>
          <p:cNvPr id="8" name="Rectangle 7">
            <a:extLst>
              <a:ext uri="{FF2B5EF4-FFF2-40B4-BE49-F238E27FC236}">
                <a16:creationId xmlns:a16="http://schemas.microsoft.com/office/drawing/2014/main" id="{6B8062F2-6935-4E05-88F1-773317157768}"/>
              </a:ext>
            </a:extLst>
          </p:cNvPr>
          <p:cNvSpPr>
            <a:spLocks noGrp="1"/>
          </p:cNvSpPr>
          <p:nvPr/>
        </p:nvSpPr>
        <p:spPr>
          <a:xfrm>
            <a:off x="1143000" y="3333750"/>
            <a:ext cx="3429000" cy="20955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Name / registry no. / date / folder</a:t>
            </a:r>
          </a:p>
        </p:txBody>
      </p:sp>
      <p:sp>
        <p:nvSpPr>
          <p:cNvPr id="9" name="Rectangle: Rounded Corners 8">
            <a:extLst>
              <a:ext uri="{FF2B5EF4-FFF2-40B4-BE49-F238E27FC236}">
                <a16:creationId xmlns:a16="http://schemas.microsoft.com/office/drawing/2014/main" id="{F5F4EDC6-309D-4EB0-85E6-95A0D882C1E2}"/>
              </a:ext>
            </a:extLst>
          </p:cNvPr>
          <p:cNvSpPr>
            <a:spLocks noGrp="1"/>
          </p:cNvSpPr>
          <p:nvPr/>
        </p:nvSpPr>
        <p:spPr>
          <a:xfrm>
            <a:off x="3619500" y="3857625"/>
            <a:ext cx="1333500" cy="361950"/>
          </a:xfrm>
          <a:prstGeom prst="roundRect">
            <a:avLst>
              <a:gd name="adj" fmla="val 21053"/>
            </a:avLst>
          </a:prstGeom>
          <a:solidFill>
            <a:srgbClr val="2F6BDE"/>
          </a:solidFill>
          <a:ln w="0">
            <a:noFill/>
          </a:ln>
        </p:spPr>
      </p:sp>
      <p:sp>
        <p:nvSpPr>
          <p:cNvPr id="10" name="Rectangle 9">
            <a:extLst>
              <a:ext uri="{FF2B5EF4-FFF2-40B4-BE49-F238E27FC236}">
                <a16:creationId xmlns:a16="http://schemas.microsoft.com/office/drawing/2014/main" id="{04994055-AC4A-4688-BBDA-DB1FCBD4E05E}"/>
              </a:ext>
            </a:extLst>
          </p:cNvPr>
          <p:cNvSpPr>
            <a:spLocks noGrp="1"/>
          </p:cNvSpPr>
          <p:nvPr/>
        </p:nvSpPr>
        <p:spPr>
          <a:xfrm>
            <a:off x="3619500" y="3857625"/>
            <a:ext cx="1333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Rectangle 10">
            <a:extLst>
              <a:ext uri="{FF2B5EF4-FFF2-40B4-BE49-F238E27FC236}">
                <a16:creationId xmlns:a16="http://schemas.microsoft.com/office/drawing/2014/main" id="{4333982F-3437-4A9D-B54F-DEB6B0FCC279}"/>
              </a:ext>
            </a:extLst>
          </p:cNvPr>
          <p:cNvSpPr>
            <a:spLocks noGrp="1"/>
          </p:cNvSpPr>
          <p:nvPr/>
        </p:nvSpPr>
        <p:spPr>
          <a:xfrm>
            <a:off x="1000125" y="4476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Rectangle 11">
            <a:extLst>
              <a:ext uri="{FF2B5EF4-FFF2-40B4-BE49-F238E27FC236}">
                <a16:creationId xmlns:a16="http://schemas.microsoft.com/office/drawing/2014/main" id="{AA2C2157-6B10-409E-9922-81E324F3DC3B}"/>
              </a:ext>
            </a:extLst>
          </p:cNvPr>
          <p:cNvSpPr>
            <a:spLocks noGrp="1"/>
          </p:cNvSpPr>
          <p:nvPr/>
        </p:nvSpPr>
        <p:spPr>
          <a:xfrm>
            <a:off x="1000125" y="4857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Rectangle: Rounded Corners 12">
            <a:extLst>
              <a:ext uri="{FF2B5EF4-FFF2-40B4-BE49-F238E27FC236}">
                <a16:creationId xmlns:a16="http://schemas.microsoft.com/office/drawing/2014/main" id="{DF6FE28B-1009-46C0-9C57-17AC93598E35}"/>
              </a:ext>
            </a:extLst>
          </p:cNvPr>
          <p:cNvSpPr>
            <a:spLocks noGrp="1"/>
          </p:cNvSpPr>
          <p:nvPr/>
        </p:nvSpPr>
        <p:spPr>
          <a:xfrm>
            <a:off x="6191250" y="2381250"/>
            <a:ext cx="5334000" cy="2952750"/>
          </a:xfrm>
          <a:prstGeom prst="roundRect">
            <a:avLst>
              <a:gd name="adj" fmla="val 2581"/>
            </a:avLst>
          </a:prstGeom>
          <a:solidFill>
            <a:srgbClr val="10243E"/>
          </a:solidFill>
          <a:ln w="0">
            <a:noFill/>
          </a:ln>
        </p:spPr>
      </p:sp>
      <p:sp>
        <p:nvSpPr>
          <p:cNvPr id="14" name="Rectangle 13">
            <a:extLst>
              <a:ext uri="{FF2B5EF4-FFF2-40B4-BE49-F238E27FC236}">
                <a16:creationId xmlns:a16="http://schemas.microsoft.com/office/drawing/2014/main" id="{54FD7EE4-3C8E-4C14-831E-01A67849E1B1}"/>
              </a:ext>
            </a:extLst>
          </p:cNvPr>
          <p:cNvSpPr>
            <a:spLocks noGrp="1"/>
          </p:cNvSpPr>
          <p:nvPr/>
        </p:nvSpPr>
        <p:spPr>
          <a:xfrm>
            <a:off x="6524625" y="2667000"/>
            <a:ext cx="4667250" cy="285750"/>
          </a:xfrm>
          <a:prstGeom prst="rect">
            <a:avLst/>
          </a:prstGeom>
          <a:noFill/>
          <a:ln w="0">
            <a:noFill/>
          </a:ln>
        </p:spPr>
        <p:txBody>
          <a:bodyPr lIns="0" tIns="0" rIns="0" bIns="0" anchor="t">
            <a:normAutofit/>
          </a:bodyPr>
          <a:lstStyle/>
          <a:p>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Rectangle: Rounded Corners 14">
            <a:extLst>
              <a:ext uri="{FF2B5EF4-FFF2-40B4-BE49-F238E27FC236}">
                <a16:creationId xmlns:a16="http://schemas.microsoft.com/office/drawing/2014/main" id="{77D23147-710C-4891-9DF4-0DA4CA311764}"/>
              </a:ext>
            </a:extLst>
          </p:cNvPr>
          <p:cNvSpPr>
            <a:spLocks noGrp="1"/>
          </p:cNvSpPr>
          <p:nvPr/>
        </p:nvSpPr>
        <p:spPr>
          <a:xfrm>
            <a:off x="6524625" y="3238500"/>
            <a:ext cx="2095500" cy="1619250"/>
          </a:xfrm>
          <a:prstGeom prst="roundRect">
            <a:avLst>
              <a:gd name="adj" fmla="val 4706"/>
            </a:avLst>
          </a:prstGeom>
          <a:solidFill>
            <a:srgbClr val="EAF2FF"/>
          </a:solidFill>
          <a:ln w="0">
            <a:noFill/>
          </a:ln>
        </p:spPr>
      </p:sp>
      <p:sp>
        <p:nvSpPr>
          <p:cNvPr id="16" name="Rectangle 15">
            <a:extLst>
              <a:ext uri="{FF2B5EF4-FFF2-40B4-BE49-F238E27FC236}">
                <a16:creationId xmlns:a16="http://schemas.microsoft.com/office/drawing/2014/main" id="{990D2425-484A-47F9-9019-D97D8B69C843}"/>
              </a:ext>
            </a:extLst>
          </p:cNvPr>
          <p:cNvSpPr>
            <a:spLocks noGrp="1"/>
          </p:cNvSpPr>
          <p:nvPr/>
        </p:nvSpPr>
        <p:spPr>
          <a:xfrm>
            <a:off x="6762750" y="3762375"/>
            <a:ext cx="1619250" cy="552450"/>
          </a:xfrm>
          <a:prstGeom prst="rect">
            <a:avLst/>
          </a:prstGeom>
          <a:noFill/>
          <a:ln w="0">
            <a:noFill/>
          </a:ln>
        </p:spPr>
        <p:txBody>
          <a:bodyPr lIns="0" tIns="0" rIns="0" bIns="0" anchor="t">
            <a:normAutofit fontScale="86309"/>
          </a:bodyPr>
          <a:lstStyle/>
          <a:p>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Rectangle: Rounded Corners 16">
            <a:extLst>
              <a:ext uri="{FF2B5EF4-FFF2-40B4-BE49-F238E27FC236}">
                <a16:creationId xmlns:a16="http://schemas.microsoft.com/office/drawing/2014/main" id="{44709344-3DAB-4A9C-A9AD-1EDFA570374F}"/>
              </a:ext>
            </a:extLst>
          </p:cNvPr>
          <p:cNvSpPr>
            <a:spLocks noGrp="1"/>
          </p:cNvSpPr>
          <p:nvPr/>
        </p:nvSpPr>
        <p:spPr>
          <a:xfrm>
            <a:off x="9001125" y="3238500"/>
            <a:ext cx="2095500" cy="1619250"/>
          </a:xfrm>
          <a:prstGeom prst="roundRect">
            <a:avLst>
              <a:gd name="adj" fmla="val 4706"/>
            </a:avLst>
          </a:prstGeom>
          <a:solidFill>
            <a:srgbClr val="E9F8F1"/>
          </a:solidFill>
          <a:ln w="0">
            <a:noFill/>
          </a:ln>
        </p:spPr>
      </p:sp>
      <p:sp>
        <p:nvSpPr>
          <p:cNvPr id="18" name="Rectangle 17">
            <a:extLst>
              <a:ext uri="{FF2B5EF4-FFF2-40B4-BE49-F238E27FC236}">
                <a16:creationId xmlns:a16="http://schemas.microsoft.com/office/drawing/2014/main" id="{5692F783-6616-42C3-9C59-E0587FC79DF5}"/>
              </a:ext>
            </a:extLst>
          </p:cNvPr>
          <p:cNvSpPr>
            <a:spLocks noGrp="1"/>
          </p:cNvSpPr>
          <p:nvPr/>
        </p:nvSpPr>
        <p:spPr>
          <a:xfrm>
            <a:off x="9239250" y="3762375"/>
            <a:ext cx="1619250" cy="552450"/>
          </a:xfrm>
          <a:prstGeom prst="rect">
            <a:avLst/>
          </a:prstGeom>
          <a:noFill/>
          <a:ln w="0">
            <a:noFill/>
          </a:ln>
        </p:spPr>
        <p:txBody>
          <a:bodyPr lIns="0" tIns="0" rIns="0" bIns="0" anchor="t">
            <a:normAutofit fontScale="86309"/>
          </a:bodyPr>
          <a:lstStyle/>
          <a:p>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Rectangle 18">
            <a:extLst>
              <a:ext uri="{FF2B5EF4-FFF2-40B4-BE49-F238E27FC236}">
                <a16:creationId xmlns:a16="http://schemas.microsoft.com/office/drawing/2014/main" id="{B06D93B5-CDDC-43F0-B79A-E5DD3932858D}"/>
              </a:ext>
            </a:extLst>
          </p:cNvPr>
          <p:cNvSpPr>
            <a:spLocks noGrp="1"/>
          </p:cNvSpPr>
          <p:nvPr/>
        </p:nvSpPr>
        <p:spPr>
          <a:xfrm>
            <a:off x="6524625" y="5048250"/>
            <a:ext cx="4572000" cy="2286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Compare before approval</a:t>
            </a:r>
          </a:p>
        </p:txBody>
      </p:sp>
      <p:sp>
        <p:nvSpPr>
          <p:cNvPr id="20" name="Rectangle 19">
            <a:extLst>
              <a:ext uri="{FF2B5EF4-FFF2-40B4-BE49-F238E27FC236}">
                <a16:creationId xmlns:a16="http://schemas.microsoft.com/office/drawing/2014/main" id="{28258B8A-2A78-440C-A7FF-BF51396A2B37}"/>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Rectangle 20">
            <a:extLst>
              <a:ext uri="{FF2B5EF4-FFF2-40B4-BE49-F238E27FC236}">
                <a16:creationId xmlns:a16="http://schemas.microsoft.com/office/drawing/2014/main" id="{869742B7-B90F-4CFE-978E-962A3FFC4085}"/>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11 / 15</a:t>
            </a:r>
          </a:p>
        </p:txBody>
      </p:sp>
    </p:spTree>
    <p:extLst>
      <p:ext uri="{BB962C8B-B14F-4D97-AF65-F5344CB8AC3E}">
        <p14:creationId xmlns:p14="http://schemas.microsoft.com/office/powerpoint/2010/main" val="796974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8A73D5-3CF7-4F57-A0CE-63D918106AB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CONTROLS</a:t>
            </a:r>
          </a:p>
        </p:txBody>
      </p:sp>
      <p:sp>
        <p:nvSpPr>
          <p:cNvPr id="2" name="Rectangle 1">
            <a:extLst>
              <a:ext uri="{FF2B5EF4-FFF2-40B4-BE49-F238E27FC236}">
                <a16:creationId xmlns:a16="http://schemas.microsoft.com/office/drawing/2014/main" id="{40DCFC83-B488-4C89-9521-7DF440B70A28}"/>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Rectangle 2">
            <a:extLst>
              <a:ext uri="{FF2B5EF4-FFF2-40B4-BE49-F238E27FC236}">
                <a16:creationId xmlns:a16="http://schemas.microsoft.com/office/drawing/2014/main" id="{FE0BDA58-3A21-45DE-BAD6-1BED539060BC}"/>
              </a:ext>
            </a:extLst>
          </p:cNvPr>
          <p:cNvSpPr>
            <a:spLocks noGrp="1"/>
          </p:cNvSpPr>
          <p:nvPr/>
        </p:nvSpPr>
        <p:spPr>
          <a:xfrm>
            <a:off x="609600" y="1200150"/>
            <a:ext cx="685800" cy="47625"/>
          </a:xfrm>
          <a:prstGeom prst="rect">
            <a:avLst/>
          </a:prstGeom>
          <a:solidFill>
            <a:srgbClr val="4A8DFF"/>
          </a:solidFill>
          <a:ln w="0">
            <a:noFill/>
          </a:ln>
        </p:spPr>
      </p:sp>
      <p:sp>
        <p:nvSpPr>
          <p:cNvPr id="4" name="Rectangle 3">
            <a:extLst>
              <a:ext uri="{FF2B5EF4-FFF2-40B4-BE49-F238E27FC236}">
                <a16:creationId xmlns:a16="http://schemas.microsoft.com/office/drawing/2014/main" id="{53F029D7-A65A-470C-B6C1-9D89F2681F68}"/>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Protection is layered across login, sessions, files, permissions, and logs.</a:t>
            </a:r>
          </a:p>
        </p:txBody>
      </p:sp>
      <p:pic>
        <p:nvPicPr>
          <p:cNvPr id="28" name="Picture 27"/>
          <p:cNvPicPr>
            <a:picLocks noChangeAspect="1"/>
          </p:cNvPicPr>
          <p:nvPr/>
        </p:nvPicPr>
        <p:blipFill>
          <a:blip r:embed="rId3"/>
          <a:stretch/>
        </p:blipFill>
        <p:spPr>
          <a:xfrm>
            <a:off x="7953375" y="2270590"/>
            <a:ext cx="3524250" cy="1983445"/>
          </a:xfrm>
          <a:prstGeom prst="roundRect">
            <a:avLst>
              <a:gd name="adj" fmla="val 8163"/>
            </a:avLst>
          </a:prstGeom>
        </p:spPr>
      </p:pic>
      <p:sp>
        <p:nvSpPr>
          <p:cNvPr id="6" name="Rectangle: Rounded Corners 5">
            <a:extLst>
              <a:ext uri="{FF2B5EF4-FFF2-40B4-BE49-F238E27FC236}">
                <a16:creationId xmlns:a16="http://schemas.microsoft.com/office/drawing/2014/main" id="{ADAE3396-EF22-40A3-833F-90435470B7D8}"/>
              </a:ext>
            </a:extLst>
          </p:cNvPr>
          <p:cNvSpPr>
            <a:spLocks noGrp="1"/>
          </p:cNvSpPr>
          <p:nvPr/>
        </p:nvSpPr>
        <p:spPr>
          <a:xfrm>
            <a:off x="666750" y="2381250"/>
            <a:ext cx="3143250" cy="857250"/>
          </a:xfrm>
          <a:prstGeom prst="roundRect">
            <a:avLst>
              <a:gd name="adj" fmla="val 8889"/>
            </a:avLst>
          </a:prstGeom>
          <a:solidFill>
            <a:srgbClr val="183657"/>
          </a:solidFill>
          <a:ln w="19050">
            <a:solidFill>
              <a:srgbClr val="2F6BDE"/>
            </a:solidFill>
          </a:ln>
        </p:spPr>
      </p:sp>
      <p:sp>
        <p:nvSpPr>
          <p:cNvPr id="7" name="Rectangle 6">
            <a:extLst>
              <a:ext uri="{FF2B5EF4-FFF2-40B4-BE49-F238E27FC236}">
                <a16:creationId xmlns:a16="http://schemas.microsoft.com/office/drawing/2014/main" id="{21D8B289-29F4-4E90-86F6-B3F943CB5118}"/>
              </a:ext>
            </a:extLst>
          </p:cNvPr>
          <p:cNvSpPr>
            <a:spLocks noGrp="1"/>
          </p:cNvSpPr>
          <p:nvPr/>
        </p:nvSpPr>
        <p:spPr>
          <a:xfrm>
            <a:off x="838200"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Rectangle 7">
            <a:extLst>
              <a:ext uri="{FF2B5EF4-FFF2-40B4-BE49-F238E27FC236}">
                <a16:creationId xmlns:a16="http://schemas.microsoft.com/office/drawing/2014/main" id="{E9593196-FA0C-4448-AE9D-3872EE58BF26}"/>
              </a:ext>
            </a:extLst>
          </p:cNvPr>
          <p:cNvSpPr>
            <a:spLocks noGrp="1"/>
          </p:cNvSpPr>
          <p:nvPr/>
        </p:nvSpPr>
        <p:spPr>
          <a:xfrm>
            <a:off x="838200"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5 attempts / 5-minute window</a:t>
            </a:r>
          </a:p>
        </p:txBody>
      </p:sp>
      <p:sp>
        <p:nvSpPr>
          <p:cNvPr id="9" name="Rectangle: Rounded Corners 8">
            <a:extLst>
              <a:ext uri="{FF2B5EF4-FFF2-40B4-BE49-F238E27FC236}">
                <a16:creationId xmlns:a16="http://schemas.microsoft.com/office/drawing/2014/main" id="{CE31935A-CC0E-4141-944D-03069CC6F60F}"/>
              </a:ext>
            </a:extLst>
          </p:cNvPr>
          <p:cNvSpPr>
            <a:spLocks noGrp="1"/>
          </p:cNvSpPr>
          <p:nvPr/>
        </p:nvSpPr>
        <p:spPr>
          <a:xfrm>
            <a:off x="4238625" y="2381250"/>
            <a:ext cx="3143250" cy="857250"/>
          </a:xfrm>
          <a:prstGeom prst="roundRect">
            <a:avLst>
              <a:gd name="adj" fmla="val 8889"/>
            </a:avLst>
          </a:prstGeom>
          <a:solidFill>
            <a:srgbClr val="183657"/>
          </a:solidFill>
          <a:ln w="19050">
            <a:solidFill>
              <a:srgbClr val="17A673"/>
            </a:solidFill>
          </a:ln>
        </p:spPr>
      </p:sp>
      <p:sp>
        <p:nvSpPr>
          <p:cNvPr id="10" name="Rectangle 9">
            <a:extLst>
              <a:ext uri="{FF2B5EF4-FFF2-40B4-BE49-F238E27FC236}">
                <a16:creationId xmlns:a16="http://schemas.microsoft.com/office/drawing/2014/main" id="{660074E2-2E60-47C8-9A88-BEDF3C31990A}"/>
              </a:ext>
            </a:extLst>
          </p:cNvPr>
          <p:cNvSpPr>
            <a:spLocks noGrp="1"/>
          </p:cNvSpPr>
          <p:nvPr/>
        </p:nvSpPr>
        <p:spPr>
          <a:xfrm>
            <a:off x="4410075"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Rectangle 10">
            <a:extLst>
              <a:ext uri="{FF2B5EF4-FFF2-40B4-BE49-F238E27FC236}">
                <a16:creationId xmlns:a16="http://schemas.microsoft.com/office/drawing/2014/main" id="{8AB0005B-FC4F-45A5-8643-27340380D1B9}"/>
              </a:ext>
            </a:extLst>
          </p:cNvPr>
          <p:cNvSpPr>
            <a:spLocks noGrp="1"/>
          </p:cNvSpPr>
          <p:nvPr/>
        </p:nvSpPr>
        <p:spPr>
          <a:xfrm>
            <a:off x="4410075"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60 minutes inactive by default</a:t>
            </a:r>
          </a:p>
        </p:txBody>
      </p:sp>
      <p:sp>
        <p:nvSpPr>
          <p:cNvPr id="12" name="Rectangle: Rounded Corners 11">
            <a:extLst>
              <a:ext uri="{FF2B5EF4-FFF2-40B4-BE49-F238E27FC236}">
                <a16:creationId xmlns:a16="http://schemas.microsoft.com/office/drawing/2014/main" id="{4E0829A6-111E-4052-BA95-BD5F0FE82985}"/>
              </a:ext>
            </a:extLst>
          </p:cNvPr>
          <p:cNvSpPr>
            <a:spLocks noGrp="1"/>
          </p:cNvSpPr>
          <p:nvPr/>
        </p:nvSpPr>
        <p:spPr>
          <a:xfrm>
            <a:off x="666750" y="3476625"/>
            <a:ext cx="3143250" cy="857250"/>
          </a:xfrm>
          <a:prstGeom prst="roundRect">
            <a:avLst>
              <a:gd name="adj" fmla="val 8889"/>
            </a:avLst>
          </a:prstGeom>
          <a:solidFill>
            <a:srgbClr val="183657"/>
          </a:solidFill>
          <a:ln w="19050">
            <a:solidFill>
              <a:srgbClr val="7B61D1"/>
            </a:solidFill>
          </a:ln>
        </p:spPr>
      </p:sp>
      <p:sp>
        <p:nvSpPr>
          <p:cNvPr id="13" name="Rectangle 12">
            <a:extLst>
              <a:ext uri="{FF2B5EF4-FFF2-40B4-BE49-F238E27FC236}">
                <a16:creationId xmlns:a16="http://schemas.microsoft.com/office/drawing/2014/main" id="{29BC8384-67E9-462D-9764-2AB9CFB59F94}"/>
              </a:ext>
            </a:extLst>
          </p:cNvPr>
          <p:cNvSpPr>
            <a:spLocks noGrp="1"/>
          </p:cNvSpPr>
          <p:nvPr/>
        </p:nvSpPr>
        <p:spPr>
          <a:xfrm>
            <a:off x="838200"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Rectangle 13">
            <a:extLst>
              <a:ext uri="{FF2B5EF4-FFF2-40B4-BE49-F238E27FC236}">
                <a16:creationId xmlns:a16="http://schemas.microsoft.com/office/drawing/2014/main" id="{D3D75663-E1F5-4DF5-B4B9-3BAB63F36B89}"/>
              </a:ext>
            </a:extLst>
          </p:cNvPr>
          <p:cNvSpPr>
            <a:spLocks noGrp="1"/>
          </p:cNvSpPr>
          <p:nvPr/>
        </p:nvSpPr>
        <p:spPr>
          <a:xfrm>
            <a:off x="838200"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Admin • Encoder • Viewer</a:t>
            </a:r>
          </a:p>
        </p:txBody>
      </p:sp>
      <p:sp>
        <p:nvSpPr>
          <p:cNvPr id="15" name="Rectangle: Rounded Corners 14">
            <a:extLst>
              <a:ext uri="{FF2B5EF4-FFF2-40B4-BE49-F238E27FC236}">
                <a16:creationId xmlns:a16="http://schemas.microsoft.com/office/drawing/2014/main" id="{5CE34D04-14EC-46F2-9618-5B2AB0A12004}"/>
              </a:ext>
            </a:extLst>
          </p:cNvPr>
          <p:cNvSpPr>
            <a:spLocks noGrp="1"/>
          </p:cNvSpPr>
          <p:nvPr/>
        </p:nvSpPr>
        <p:spPr>
          <a:xfrm>
            <a:off x="4238625" y="3476625"/>
            <a:ext cx="3143250" cy="857250"/>
          </a:xfrm>
          <a:prstGeom prst="roundRect">
            <a:avLst>
              <a:gd name="adj" fmla="val 8889"/>
            </a:avLst>
          </a:prstGeom>
          <a:solidFill>
            <a:srgbClr val="183657"/>
          </a:solidFill>
          <a:ln w="19050">
            <a:solidFill>
              <a:srgbClr val="F6B638"/>
            </a:solidFill>
          </a:ln>
        </p:spPr>
      </p:sp>
      <p:sp>
        <p:nvSpPr>
          <p:cNvPr id="16" name="Rectangle 15">
            <a:extLst>
              <a:ext uri="{FF2B5EF4-FFF2-40B4-BE49-F238E27FC236}">
                <a16:creationId xmlns:a16="http://schemas.microsoft.com/office/drawing/2014/main" id="{C3E7FC54-029E-4204-8059-58234490E729}"/>
              </a:ext>
            </a:extLst>
          </p:cNvPr>
          <p:cNvSpPr>
            <a:spLocks noGrp="1"/>
          </p:cNvSpPr>
          <p:nvPr/>
        </p:nvSpPr>
        <p:spPr>
          <a:xfrm>
            <a:off x="4410075"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Rectangle 16">
            <a:extLst>
              <a:ext uri="{FF2B5EF4-FFF2-40B4-BE49-F238E27FC236}">
                <a16:creationId xmlns:a16="http://schemas.microsoft.com/office/drawing/2014/main" id="{252405BC-7A9B-44D0-95BA-23BF3A797C7E}"/>
              </a:ext>
            </a:extLst>
          </p:cNvPr>
          <p:cNvSpPr>
            <a:spLocks noGrp="1"/>
          </p:cNvSpPr>
          <p:nvPr/>
        </p:nvSpPr>
        <p:spPr>
          <a:xfrm>
            <a:off x="4410075"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User • action • IP • device • time</a:t>
            </a:r>
          </a:p>
        </p:txBody>
      </p:sp>
      <p:sp>
        <p:nvSpPr>
          <p:cNvPr id="18" name="Rectangle: Rounded Corners 17">
            <a:extLst>
              <a:ext uri="{FF2B5EF4-FFF2-40B4-BE49-F238E27FC236}">
                <a16:creationId xmlns:a16="http://schemas.microsoft.com/office/drawing/2014/main" id="{31DA1BFE-66E0-485C-A2A1-505D9B88C626}"/>
              </a:ext>
            </a:extLst>
          </p:cNvPr>
          <p:cNvSpPr>
            <a:spLocks noGrp="1"/>
          </p:cNvSpPr>
          <p:nvPr/>
        </p:nvSpPr>
        <p:spPr>
          <a:xfrm>
            <a:off x="666750" y="4762500"/>
            <a:ext cx="6715125" cy="971550"/>
          </a:xfrm>
          <a:prstGeom prst="roundRect">
            <a:avLst>
              <a:gd name="adj" fmla="val 7843"/>
            </a:avLst>
          </a:prstGeom>
          <a:solidFill>
            <a:srgbClr val="183657"/>
          </a:solidFill>
          <a:ln w="19050">
            <a:solidFill>
              <a:srgbClr val="DD5577"/>
            </a:solidFill>
          </a:ln>
        </p:spPr>
      </p:sp>
      <p:sp>
        <p:nvSpPr>
          <p:cNvPr id="19" name="Rectangle 18">
            <a:extLst>
              <a:ext uri="{FF2B5EF4-FFF2-40B4-BE49-F238E27FC236}">
                <a16:creationId xmlns:a16="http://schemas.microsoft.com/office/drawing/2014/main" id="{05EBB922-DEA1-4448-B675-53CC38B5590F}"/>
              </a:ext>
            </a:extLst>
          </p:cNvPr>
          <p:cNvSpPr>
            <a:spLocks noGrp="1"/>
          </p:cNvSpPr>
          <p:nvPr/>
        </p:nvSpPr>
        <p:spPr>
          <a:xfrm>
            <a:off x="904875" y="4953000"/>
            <a:ext cx="1714500" cy="247650"/>
          </a:xfrm>
          <a:prstGeom prst="rect">
            <a:avLst/>
          </a:prstGeom>
          <a:noFill/>
          <a:ln w="0">
            <a:noFill/>
          </a:ln>
        </p:spPr>
        <p:txBody>
          <a:bodyPr lIns="0" tIns="0" rIns="0" bIns="0" anchor="t">
            <a:normAutofit/>
          </a:bodyPr>
          <a:lstStyle/>
          <a:p>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Rectangle 19">
            <a:extLst>
              <a:ext uri="{FF2B5EF4-FFF2-40B4-BE49-F238E27FC236}">
                <a16:creationId xmlns:a16="http://schemas.microsoft.com/office/drawing/2014/main" id="{CADD97A6-5048-4EC4-BDD4-AC42229013E9}"/>
              </a:ext>
            </a:extLst>
          </p:cNvPr>
          <p:cNvSpPr>
            <a:spLocks noGrp="1"/>
          </p:cNvSpPr>
          <p:nvPr/>
        </p:nvSpPr>
        <p:spPr>
          <a:xfrm>
            <a:off x="904875" y="5286375"/>
            <a:ext cx="1714500" cy="266700"/>
          </a:xfrm>
          <a:prstGeom prst="rect">
            <a:avLst/>
          </a:prstGeom>
          <a:noFill/>
          <a:ln w="0">
            <a:noFill/>
          </a:ln>
        </p:spPr>
        <p:txBody>
          <a:bodyPr lIns="0" tIns="0" rIns="0" bIns="0" anchor="t">
            <a:normAutofit/>
          </a:bodyPr>
          <a:lstStyle/>
          <a:p>
            <a:pPr algn="l">
              <a:defRPr sz="1575" b="1">
                <a:solidFill>
                  <a:srgbClr val="FFB6C7"/>
                </a:solidFill>
                <a:latin typeface="Arial"/>
                <a:ea typeface="Arial"/>
                <a:cs typeface="Arial"/>
              </a:defRPr>
            </a:pPr>
            <a:r>
              <a:rPr sz="1575" b="1">
                <a:solidFill>
                  <a:srgbClr val="FFB6C7"/>
                </a:solidFill>
                <a:latin typeface="Arial"/>
                <a:ea typeface="Arial"/>
                <a:cs typeface="Arial"/>
              </a:rPr>
              <a:t>Admin only</a:t>
            </a:r>
          </a:p>
        </p:txBody>
      </p:sp>
      <p:sp>
        <p:nvSpPr>
          <p:cNvPr id="21" name="Rectangle 20">
            <a:extLst>
              <a:ext uri="{FF2B5EF4-FFF2-40B4-BE49-F238E27FC236}">
                <a16:creationId xmlns:a16="http://schemas.microsoft.com/office/drawing/2014/main" id="{7ACEBC6D-9506-43C7-A3D9-A6AC25609961}"/>
              </a:ext>
            </a:extLst>
          </p:cNvPr>
          <p:cNvSpPr>
            <a:spLocks noGrp="1"/>
          </p:cNvSpPr>
          <p:nvPr/>
        </p:nvSpPr>
        <p:spPr>
          <a:xfrm>
            <a:off x="2857500" y="5143500"/>
            <a:ext cx="4191000" cy="323850"/>
          </a:xfrm>
          <a:prstGeom prst="rect">
            <a:avLst/>
          </a:prstGeom>
          <a:noFill/>
          <a:ln w="0">
            <a:noFill/>
          </a:ln>
        </p:spPr>
        <p:txBody>
          <a:bodyPr lIns="0" tIns="0" rIns="0" bIns="0" anchor="t">
            <a:normAutofit fontScale="94380"/>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Soft delete → Trash → Admin restore or permanent delete</a:t>
            </a:r>
          </a:p>
        </p:txBody>
      </p:sp>
      <p:sp>
        <p:nvSpPr>
          <p:cNvPr id="22" name="Rectangle 21">
            <a:extLst>
              <a:ext uri="{FF2B5EF4-FFF2-40B4-BE49-F238E27FC236}">
                <a16:creationId xmlns:a16="http://schemas.microsoft.com/office/drawing/2014/main" id="{B1A4F288-9FA5-4644-91C1-A4722CEA76FA}"/>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Rectangle 22">
            <a:extLst>
              <a:ext uri="{FF2B5EF4-FFF2-40B4-BE49-F238E27FC236}">
                <a16:creationId xmlns:a16="http://schemas.microsoft.com/office/drawing/2014/main" id="{516EBE7A-F0AF-46B0-9EDB-A0D5B5350B7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12 / 15</a:t>
            </a:r>
          </a:p>
        </p:txBody>
      </p:sp>
    </p:spTree>
    <p:extLst>
      <p:ext uri="{BB962C8B-B14F-4D97-AF65-F5344CB8AC3E}">
        <p14:creationId xmlns:p14="http://schemas.microsoft.com/office/powerpoint/2010/main" val="114296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F53F6EC-C477-49DC-AEEC-693B7FEA0DBC}"/>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CONTROLS</a:t>
            </a:r>
          </a:p>
        </p:txBody>
      </p:sp>
      <p:sp>
        <p:nvSpPr>
          <p:cNvPr id="2" name="Rectangle 1">
            <a:extLst>
              <a:ext uri="{FF2B5EF4-FFF2-40B4-BE49-F238E27FC236}">
                <a16:creationId xmlns:a16="http://schemas.microsoft.com/office/drawing/2014/main" id="{1FA17822-1CE4-4904-9A30-FEE6ED63BF33}"/>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Rectangle 2">
            <a:extLst>
              <a:ext uri="{FF2B5EF4-FFF2-40B4-BE49-F238E27FC236}">
                <a16:creationId xmlns:a16="http://schemas.microsoft.com/office/drawing/2014/main" id="{49E92F94-D184-43D0-A48B-AC68917176C4}"/>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69259676-B0F9-4D75-906F-5C3720AF00CA}"/>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office can recover records and keep working through a network interruption.</a:t>
            </a:r>
          </a:p>
        </p:txBody>
      </p:sp>
      <p:pic>
        <p:nvPicPr>
          <p:cNvPr id="20" name="Picture 19"/>
          <p:cNvPicPr>
            <a:picLocks noChangeAspect="1"/>
          </p:cNvPicPr>
          <p:nvPr/>
        </p:nvPicPr>
        <p:blipFill>
          <a:blip r:embed="rId3"/>
          <a:stretch/>
        </p:blipFill>
        <p:spPr>
          <a:xfrm>
            <a:off x="720904" y="2381250"/>
            <a:ext cx="4654192" cy="2619375"/>
          </a:xfrm>
          <a:prstGeom prst="roundRect">
            <a:avLst>
              <a:gd name="adj" fmla="val 8000"/>
            </a:avLst>
          </a:prstGeom>
        </p:spPr>
      </p:pic>
      <p:sp>
        <p:nvSpPr>
          <p:cNvPr id="6" name="Rectangle: Rounded Corners 5">
            <a:extLst>
              <a:ext uri="{FF2B5EF4-FFF2-40B4-BE49-F238E27FC236}">
                <a16:creationId xmlns:a16="http://schemas.microsoft.com/office/drawing/2014/main" id="{64716BC0-C686-4502-BEB8-2043350EFA8D}"/>
              </a:ext>
            </a:extLst>
          </p:cNvPr>
          <p:cNvSpPr>
            <a:spLocks noGrp="1"/>
          </p:cNvSpPr>
          <p:nvPr/>
        </p:nvSpPr>
        <p:spPr>
          <a:xfrm>
            <a:off x="6191250" y="2333625"/>
            <a:ext cx="5238750" cy="1476375"/>
          </a:xfrm>
          <a:prstGeom prst="roundRect">
            <a:avLst>
              <a:gd name="adj" fmla="val 5161"/>
            </a:avLst>
          </a:prstGeom>
          <a:solidFill>
            <a:srgbClr val="FFF5DE"/>
          </a:solidFill>
          <a:ln w="0">
            <a:noFill/>
          </a:ln>
        </p:spPr>
      </p:sp>
      <p:sp>
        <p:nvSpPr>
          <p:cNvPr id="7" name="Rectangle 6">
            <a:extLst>
              <a:ext uri="{FF2B5EF4-FFF2-40B4-BE49-F238E27FC236}">
                <a16:creationId xmlns:a16="http://schemas.microsoft.com/office/drawing/2014/main" id="{1823A9F9-D1CD-4167-9331-DB055059502F}"/>
              </a:ext>
            </a:extLst>
          </p:cNvPr>
          <p:cNvSpPr>
            <a:spLocks noGrp="1"/>
          </p:cNvSpPr>
          <p:nvPr/>
        </p:nvSpPr>
        <p:spPr>
          <a:xfrm>
            <a:off x="6477000" y="259080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Rectangle 7">
            <a:extLst>
              <a:ext uri="{FF2B5EF4-FFF2-40B4-BE49-F238E27FC236}">
                <a16:creationId xmlns:a16="http://schemas.microsoft.com/office/drawing/2014/main" id="{A59E2B69-B3C8-4660-AA80-0AF4D7535193}"/>
              </a:ext>
            </a:extLst>
          </p:cNvPr>
          <p:cNvSpPr>
            <a:spLocks noGrp="1"/>
          </p:cNvSpPr>
          <p:nvPr/>
        </p:nvSpPr>
        <p:spPr>
          <a:xfrm>
            <a:off x="6477000" y="304800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PDF and database backups support recovery.</a:t>
            </a:r>
          </a:p>
        </p:txBody>
      </p:sp>
      <p:sp>
        <p:nvSpPr>
          <p:cNvPr id="9" name="Rectangle 8">
            <a:extLst>
              <a:ext uri="{FF2B5EF4-FFF2-40B4-BE49-F238E27FC236}">
                <a16:creationId xmlns:a16="http://schemas.microsoft.com/office/drawing/2014/main" id="{DD3CCCBA-D6F2-4CC1-BF34-B5F9BE76061B}"/>
              </a:ext>
            </a:extLst>
          </p:cNvPr>
          <p:cNvSpPr>
            <a:spLocks noGrp="1"/>
          </p:cNvSpPr>
          <p:nvPr/>
        </p:nvSpPr>
        <p:spPr>
          <a:xfrm>
            <a:off x="6477000" y="338137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Rectangle: Rounded Corners 9">
            <a:extLst>
              <a:ext uri="{FF2B5EF4-FFF2-40B4-BE49-F238E27FC236}">
                <a16:creationId xmlns:a16="http://schemas.microsoft.com/office/drawing/2014/main" id="{209A5C90-7D70-4A50-9B15-17DB7CF43714}"/>
              </a:ext>
            </a:extLst>
          </p:cNvPr>
          <p:cNvSpPr>
            <a:spLocks noGrp="1"/>
          </p:cNvSpPr>
          <p:nvPr/>
        </p:nvSpPr>
        <p:spPr>
          <a:xfrm>
            <a:off x="6191250" y="4143375"/>
            <a:ext cx="5238750" cy="1476375"/>
          </a:xfrm>
          <a:prstGeom prst="roundRect">
            <a:avLst>
              <a:gd name="adj" fmla="val 5161"/>
            </a:avLst>
          </a:prstGeom>
          <a:solidFill>
            <a:srgbClr val="E9F8F1"/>
          </a:solidFill>
          <a:ln w="0">
            <a:noFill/>
          </a:ln>
        </p:spPr>
      </p:sp>
      <p:sp>
        <p:nvSpPr>
          <p:cNvPr id="11" name="Rectangle 10">
            <a:extLst>
              <a:ext uri="{FF2B5EF4-FFF2-40B4-BE49-F238E27FC236}">
                <a16:creationId xmlns:a16="http://schemas.microsoft.com/office/drawing/2014/main" id="{35934AC7-21D0-435C-A717-B70F162B574A}"/>
              </a:ext>
            </a:extLst>
          </p:cNvPr>
          <p:cNvSpPr>
            <a:spLocks noGrp="1"/>
          </p:cNvSpPr>
          <p:nvPr/>
        </p:nvSpPr>
        <p:spPr>
          <a:xfrm>
            <a:off x="6477000" y="440055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Rectangle 11">
            <a:extLst>
              <a:ext uri="{FF2B5EF4-FFF2-40B4-BE49-F238E27FC236}">
                <a16:creationId xmlns:a16="http://schemas.microsoft.com/office/drawing/2014/main" id="{BB736BAB-8C2C-420C-9005-E2C9B5A35FCC}"/>
              </a:ext>
            </a:extLst>
          </p:cNvPr>
          <p:cNvSpPr>
            <a:spLocks noGrp="1"/>
          </p:cNvSpPr>
          <p:nvPr/>
        </p:nvSpPr>
        <p:spPr>
          <a:xfrm>
            <a:off x="6477000" y="485775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Rectangle 12">
            <a:extLst>
              <a:ext uri="{FF2B5EF4-FFF2-40B4-BE49-F238E27FC236}">
                <a16:creationId xmlns:a16="http://schemas.microsoft.com/office/drawing/2014/main" id="{CC4CB1E1-964F-4F6B-AA59-21EAFFB8C64A}"/>
              </a:ext>
            </a:extLst>
          </p:cNvPr>
          <p:cNvSpPr>
            <a:spLocks noGrp="1"/>
          </p:cNvSpPr>
          <p:nvPr/>
        </p:nvSpPr>
        <p:spPr>
          <a:xfrm>
            <a:off x="6477000" y="5191125"/>
            <a:ext cx="46672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with internet.</a:t>
            </a:r>
          </a:p>
        </p:txBody>
      </p:sp>
      <p:sp>
        <p:nvSpPr>
          <p:cNvPr id="14" name="Rectangle 13">
            <a:extLst>
              <a:ext uri="{FF2B5EF4-FFF2-40B4-BE49-F238E27FC236}">
                <a16:creationId xmlns:a16="http://schemas.microsoft.com/office/drawing/2014/main" id="{96B36176-D05A-48CB-866D-C25D0CE5F485}"/>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Rectangle 14">
            <a:extLst>
              <a:ext uri="{FF2B5EF4-FFF2-40B4-BE49-F238E27FC236}">
                <a16:creationId xmlns:a16="http://schemas.microsoft.com/office/drawing/2014/main" id="{4C1A8D4C-3EA4-4BB6-B568-8AF9D252C5D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13 / 15</a:t>
            </a:r>
          </a:p>
        </p:txBody>
      </p:sp>
    </p:spTree>
    <p:extLst>
      <p:ext uri="{BB962C8B-B14F-4D97-AF65-F5344CB8AC3E}">
        <p14:creationId xmlns:p14="http://schemas.microsoft.com/office/powerpoint/2010/main" val="15891165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2941F9A-0667-4715-B6FA-0C6F2B98CF9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BEYOND THE CORE FLOW</a:t>
            </a:r>
          </a:p>
        </p:txBody>
      </p:sp>
      <p:sp>
        <p:nvSpPr>
          <p:cNvPr id="2" name="Rectangle 1">
            <a:extLst>
              <a:ext uri="{FF2B5EF4-FFF2-40B4-BE49-F238E27FC236}">
                <a16:creationId xmlns:a16="http://schemas.microsoft.com/office/drawing/2014/main" id="{93BDC138-9F20-4F94-AEA7-316E84E094C7}"/>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Supporting tools around the record</a:t>
            </a:r>
          </a:p>
        </p:txBody>
      </p:sp>
      <p:sp>
        <p:nvSpPr>
          <p:cNvPr id="3" name="Rectangle 2">
            <a:extLst>
              <a:ext uri="{FF2B5EF4-FFF2-40B4-BE49-F238E27FC236}">
                <a16:creationId xmlns:a16="http://schemas.microsoft.com/office/drawing/2014/main" id="{DB73E29F-73EE-4C22-AD00-8E39A25F09F9}"/>
              </a:ext>
            </a:extLst>
          </p:cNvPr>
          <p:cNvSpPr>
            <a:spLocks noGrp="1"/>
          </p:cNvSpPr>
          <p:nvPr/>
        </p:nvSpPr>
        <p:spPr>
          <a:xfrm>
            <a:off x="609600" y="1200150"/>
            <a:ext cx="685800" cy="47625"/>
          </a:xfrm>
          <a:prstGeom prst="rect">
            <a:avLst/>
          </a:prstGeom>
          <a:solidFill>
            <a:srgbClr val="2F6BDE"/>
          </a:solidFill>
          <a:ln w="0">
            <a:noFill/>
          </a:ln>
        </p:spPr>
      </p:sp>
      <p:sp>
        <p:nvSpPr>
          <p:cNvPr id="4" name="Rectangle 3">
            <a:extLst>
              <a:ext uri="{FF2B5EF4-FFF2-40B4-BE49-F238E27FC236}">
                <a16:creationId xmlns:a16="http://schemas.microsoft.com/office/drawing/2014/main" id="{6747F85E-4ADF-4241-B72B-65CEBDCC165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These functions help administrators and staff manage the system at scale.</a:t>
            </a:r>
          </a:p>
        </p:txBody>
      </p:sp>
      <p:sp>
        <p:nvSpPr>
          <p:cNvPr id="5" name="Rectangle: Rounded Corners 4">
            <a:extLst>
              <a:ext uri="{FF2B5EF4-FFF2-40B4-BE49-F238E27FC236}">
                <a16:creationId xmlns:a16="http://schemas.microsoft.com/office/drawing/2014/main" id="{A588425A-54FB-4466-A4DC-D52460AA2BD9}"/>
              </a:ext>
            </a:extLst>
          </p:cNvPr>
          <p:cNvSpPr>
            <a:spLocks noGrp="1"/>
          </p:cNvSpPr>
          <p:nvPr/>
        </p:nvSpPr>
        <p:spPr>
          <a:xfrm>
            <a:off x="666750" y="2286000"/>
            <a:ext cx="5143500" cy="1000125"/>
          </a:xfrm>
          <a:prstGeom prst="roundRect">
            <a:avLst>
              <a:gd name="adj" fmla="val 7619"/>
            </a:avLst>
          </a:prstGeom>
          <a:solidFill>
            <a:srgbClr val="F5F7FB"/>
          </a:solidFill>
          <a:ln w="11430">
            <a:solidFill>
              <a:srgbClr val="D8E1ED"/>
            </a:solidFill>
          </a:ln>
        </p:spPr>
      </p:sp>
      <p:sp>
        <p:nvSpPr>
          <p:cNvPr id="6" name="Rectangle 5">
            <a:extLst>
              <a:ext uri="{FF2B5EF4-FFF2-40B4-BE49-F238E27FC236}">
                <a16:creationId xmlns:a16="http://schemas.microsoft.com/office/drawing/2014/main" id="{B0E2F85D-0468-4C61-ABE4-4D36B24F654B}"/>
              </a:ext>
            </a:extLst>
          </p:cNvPr>
          <p:cNvSpPr>
            <a:spLocks noGrp="1"/>
          </p:cNvSpPr>
          <p:nvPr/>
        </p:nvSpPr>
        <p:spPr>
          <a:xfrm>
            <a:off x="666750" y="2286000"/>
            <a:ext cx="95250" cy="1000125"/>
          </a:xfrm>
          <a:prstGeom prst="rect">
            <a:avLst/>
          </a:prstGeom>
          <a:solidFill>
            <a:srgbClr val="2F6BDE"/>
          </a:solidFill>
          <a:ln w="0">
            <a:noFill/>
          </a:ln>
        </p:spPr>
      </p:sp>
      <p:sp>
        <p:nvSpPr>
          <p:cNvPr id="7" name="Rectangle 6">
            <a:extLst>
              <a:ext uri="{FF2B5EF4-FFF2-40B4-BE49-F238E27FC236}">
                <a16:creationId xmlns:a16="http://schemas.microsoft.com/office/drawing/2014/main" id="{C66AB588-48E4-45FA-B54A-AF15D640A5AA}"/>
              </a:ext>
            </a:extLst>
          </p:cNvPr>
          <p:cNvSpPr>
            <a:spLocks noGrp="1"/>
          </p:cNvSpPr>
          <p:nvPr/>
        </p:nvSpPr>
        <p:spPr>
          <a:xfrm>
            <a:off x="95250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Search and dashboards</a:t>
            </a:r>
            <a:endParaRPr sz="1575" b="1">
              <a:solidFill>
                <a:srgbClr val="17263A"/>
              </a:solidFill>
              <a:latin typeface="Arial"/>
              <a:ea typeface="Arial"/>
              <a:cs typeface="Arial"/>
            </a:endParaRPr>
          </a:p>
        </p:txBody>
      </p:sp>
      <p:sp>
        <p:nvSpPr>
          <p:cNvPr id="8" name="Rectangle 7">
            <a:extLst>
              <a:ext uri="{FF2B5EF4-FFF2-40B4-BE49-F238E27FC236}">
                <a16:creationId xmlns:a16="http://schemas.microsoft.com/office/drawing/2014/main" id="{F0C81987-3794-49B1-A5A7-40EF89BC1FAC}"/>
              </a:ext>
            </a:extLst>
          </p:cNvPr>
          <p:cNvSpPr>
            <a:spLocks noGrp="1"/>
          </p:cNvSpPr>
          <p:nvPr/>
        </p:nvSpPr>
        <p:spPr>
          <a:xfrm>
            <a:off x="95250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Advanced Search | Analytics Dashboard | Records Viewer | PDF Comparison Viewer</a:t>
            </a:r>
            <a:endParaRPr sz="1300">
              <a:solidFill>
                <a:srgbClr val="5E6C80"/>
              </a:solidFill>
              <a:latin typeface="Arial"/>
              <a:ea typeface="Arial"/>
              <a:cs typeface="Arial"/>
            </a:endParaRPr>
          </a:p>
        </p:txBody>
      </p:sp>
      <p:sp>
        <p:nvSpPr>
          <p:cNvPr id="9" name="Rectangle: Rounded Corners 8">
            <a:extLst>
              <a:ext uri="{FF2B5EF4-FFF2-40B4-BE49-F238E27FC236}">
                <a16:creationId xmlns:a16="http://schemas.microsoft.com/office/drawing/2014/main" id="{852E8D2A-3378-40A4-BD5B-ED9AA8074978}"/>
              </a:ext>
            </a:extLst>
          </p:cNvPr>
          <p:cNvSpPr>
            <a:spLocks noGrp="1"/>
          </p:cNvSpPr>
          <p:nvPr/>
        </p:nvSpPr>
        <p:spPr>
          <a:xfrm>
            <a:off x="6286500" y="2286000"/>
            <a:ext cx="5143500" cy="1000125"/>
          </a:xfrm>
          <a:prstGeom prst="roundRect">
            <a:avLst>
              <a:gd name="adj" fmla="val 7619"/>
            </a:avLst>
          </a:prstGeom>
          <a:solidFill>
            <a:srgbClr val="F5F7FB"/>
          </a:solidFill>
          <a:ln w="11430">
            <a:solidFill>
              <a:srgbClr val="D8E1ED"/>
            </a:solidFill>
          </a:ln>
        </p:spPr>
      </p:sp>
      <p:sp>
        <p:nvSpPr>
          <p:cNvPr id="10" name="Rectangle 9">
            <a:extLst>
              <a:ext uri="{FF2B5EF4-FFF2-40B4-BE49-F238E27FC236}">
                <a16:creationId xmlns:a16="http://schemas.microsoft.com/office/drawing/2014/main" id="{CEBAAD8F-4E06-496C-A4F0-C748904A21EB}"/>
              </a:ext>
            </a:extLst>
          </p:cNvPr>
          <p:cNvSpPr>
            <a:spLocks noGrp="1"/>
          </p:cNvSpPr>
          <p:nvPr/>
        </p:nvSpPr>
        <p:spPr>
          <a:xfrm>
            <a:off x="6286500" y="2286000"/>
            <a:ext cx="95250" cy="1000125"/>
          </a:xfrm>
          <a:prstGeom prst="rect">
            <a:avLst/>
          </a:prstGeom>
          <a:solidFill>
            <a:srgbClr val="17A673"/>
          </a:solidFill>
          <a:ln w="0">
            <a:noFill/>
          </a:ln>
        </p:spPr>
      </p:sp>
      <p:sp>
        <p:nvSpPr>
          <p:cNvPr id="11" name="Rectangle 10">
            <a:extLst>
              <a:ext uri="{FF2B5EF4-FFF2-40B4-BE49-F238E27FC236}">
                <a16:creationId xmlns:a16="http://schemas.microsoft.com/office/drawing/2014/main" id="{89AACA72-60F9-460A-9DB0-16332E3E6F54}"/>
              </a:ext>
            </a:extLst>
          </p:cNvPr>
          <p:cNvSpPr>
            <a:spLocks noGrp="1"/>
          </p:cNvSpPr>
          <p:nvPr/>
        </p:nvSpPr>
        <p:spPr>
          <a:xfrm>
            <a:off x="657225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Workflow and archive</a:t>
            </a:r>
            <a:endParaRPr sz="15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FF784E48-8EA0-440D-9AD2-B6CD6CA360EE}"/>
              </a:ext>
            </a:extLst>
          </p:cNvPr>
          <p:cNvSpPr>
            <a:spLocks noGrp="1"/>
          </p:cNvSpPr>
          <p:nvPr/>
        </p:nvSpPr>
        <p:spPr>
          <a:xfrm>
            <a:off x="657225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Workflow Dashboard | Archive | Trash | Restore</a:t>
            </a:r>
            <a:endParaRPr sz="1300">
              <a:solidFill>
                <a:srgbClr val="5E6C80"/>
              </a:solidFill>
              <a:latin typeface="Arial"/>
              <a:ea typeface="Arial"/>
              <a:cs typeface="Arial"/>
            </a:endParaRPr>
          </a:p>
        </p:txBody>
      </p:sp>
      <p:sp>
        <p:nvSpPr>
          <p:cNvPr id="13" name="Rectangle: Rounded Corners 12">
            <a:extLst>
              <a:ext uri="{FF2B5EF4-FFF2-40B4-BE49-F238E27FC236}">
                <a16:creationId xmlns:a16="http://schemas.microsoft.com/office/drawing/2014/main" id="{8452C5A0-11E3-4671-8580-BEF561FE3FE9}"/>
              </a:ext>
            </a:extLst>
          </p:cNvPr>
          <p:cNvSpPr>
            <a:spLocks noGrp="1"/>
          </p:cNvSpPr>
          <p:nvPr/>
        </p:nvSpPr>
        <p:spPr>
          <a:xfrm>
            <a:off x="666750" y="3571875"/>
            <a:ext cx="5143500" cy="1000125"/>
          </a:xfrm>
          <a:prstGeom prst="roundRect">
            <a:avLst>
              <a:gd name="adj" fmla="val 7619"/>
            </a:avLst>
          </a:prstGeom>
          <a:solidFill>
            <a:srgbClr val="F5F7FB"/>
          </a:solidFill>
          <a:ln w="11430">
            <a:solidFill>
              <a:srgbClr val="D8E1ED"/>
            </a:solidFill>
          </a:ln>
        </p:spPr>
      </p:sp>
      <p:sp>
        <p:nvSpPr>
          <p:cNvPr id="14" name="Rectangle 13">
            <a:extLst>
              <a:ext uri="{FF2B5EF4-FFF2-40B4-BE49-F238E27FC236}">
                <a16:creationId xmlns:a16="http://schemas.microsoft.com/office/drawing/2014/main" id="{6532673C-8BD8-443C-BB5B-5A561E5D0C13}"/>
              </a:ext>
            </a:extLst>
          </p:cNvPr>
          <p:cNvSpPr>
            <a:spLocks noGrp="1"/>
          </p:cNvSpPr>
          <p:nvPr/>
        </p:nvSpPr>
        <p:spPr>
          <a:xfrm>
            <a:off x="666750" y="3571875"/>
            <a:ext cx="95250" cy="1000125"/>
          </a:xfrm>
          <a:prstGeom prst="rect">
            <a:avLst/>
          </a:prstGeom>
          <a:solidFill>
            <a:srgbClr val="7B61D1"/>
          </a:solidFill>
          <a:ln w="0">
            <a:noFill/>
          </a:ln>
        </p:spPr>
      </p:sp>
      <p:sp>
        <p:nvSpPr>
          <p:cNvPr id="15" name="Rectangle 14">
            <a:extLst>
              <a:ext uri="{FF2B5EF4-FFF2-40B4-BE49-F238E27FC236}">
                <a16:creationId xmlns:a16="http://schemas.microsoft.com/office/drawing/2014/main" id="{36065CB2-642A-4357-8D0D-C52465FB2D62}"/>
              </a:ext>
            </a:extLst>
          </p:cNvPr>
          <p:cNvSpPr>
            <a:spLocks noGrp="1"/>
          </p:cNvSpPr>
          <p:nvPr/>
        </p:nvSpPr>
        <p:spPr>
          <a:xfrm>
            <a:off x="95250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Upload and PDF tools</a:t>
            </a:r>
            <a:endParaRPr sz="1900" b="1">
              <a:solidFill>
                <a:srgbClr val="17263A"/>
              </a:solidFill>
              <a:latin typeface="Arial"/>
              <a:ea typeface="Arial"/>
              <a:cs typeface="Arial"/>
            </a:endParaRPr>
          </a:p>
        </p:txBody>
      </p:sp>
      <p:sp>
        <p:nvSpPr>
          <p:cNvPr id="16" name="Rectangle 15">
            <a:extLst>
              <a:ext uri="{FF2B5EF4-FFF2-40B4-BE49-F238E27FC236}">
                <a16:creationId xmlns:a16="http://schemas.microsoft.com/office/drawing/2014/main" id="{742E19F3-9A21-4870-8FFF-D0F695F4B208}"/>
              </a:ext>
            </a:extLst>
          </p:cNvPr>
          <p:cNvSpPr>
            <a:spLocks noGrp="1"/>
          </p:cNvSpPr>
          <p:nvPr/>
        </p:nvSpPr>
        <p:spPr>
          <a:xfrm>
            <a:off x="95250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Batch Upload | PDF Backup Manager | PDF Integrity Tools | Reorganize Uploads</a:t>
            </a:r>
            <a:endParaRPr sz="1300">
              <a:solidFill>
                <a:srgbClr val="5E6C80"/>
              </a:solidFill>
              <a:latin typeface="Arial"/>
              <a:ea typeface="Arial"/>
              <a:cs typeface="Arial"/>
            </a:endParaRPr>
          </a:p>
        </p:txBody>
      </p:sp>
      <p:sp>
        <p:nvSpPr>
          <p:cNvPr id="17" name="Rectangle: Rounded Corners 16">
            <a:extLst>
              <a:ext uri="{FF2B5EF4-FFF2-40B4-BE49-F238E27FC236}">
                <a16:creationId xmlns:a16="http://schemas.microsoft.com/office/drawing/2014/main" id="{859F21C2-EA8C-4670-A6F7-5BB4813A78E1}"/>
              </a:ext>
            </a:extLst>
          </p:cNvPr>
          <p:cNvSpPr>
            <a:spLocks noGrp="1"/>
          </p:cNvSpPr>
          <p:nvPr/>
        </p:nvSpPr>
        <p:spPr>
          <a:xfrm>
            <a:off x="6286500" y="3571875"/>
            <a:ext cx="5143500" cy="1000125"/>
          </a:xfrm>
          <a:prstGeom prst="roundRect">
            <a:avLst>
              <a:gd name="adj" fmla="val 7619"/>
            </a:avLst>
          </a:prstGeom>
          <a:solidFill>
            <a:srgbClr val="F5F7FB"/>
          </a:solidFill>
          <a:ln w="11430">
            <a:solidFill>
              <a:srgbClr val="D8E1ED"/>
            </a:solidFill>
          </a:ln>
        </p:spPr>
      </p:sp>
      <p:sp>
        <p:nvSpPr>
          <p:cNvPr id="18" name="Rectangle 17">
            <a:extLst>
              <a:ext uri="{FF2B5EF4-FFF2-40B4-BE49-F238E27FC236}">
                <a16:creationId xmlns:a16="http://schemas.microsoft.com/office/drawing/2014/main" id="{07DDA78A-1FBC-492D-B062-56557A0BC3D6}"/>
              </a:ext>
            </a:extLst>
          </p:cNvPr>
          <p:cNvSpPr>
            <a:spLocks noGrp="1"/>
          </p:cNvSpPr>
          <p:nvPr/>
        </p:nvSpPr>
        <p:spPr>
          <a:xfrm>
            <a:off x="6286500" y="3571875"/>
            <a:ext cx="95250" cy="1000125"/>
          </a:xfrm>
          <a:prstGeom prst="rect">
            <a:avLst/>
          </a:prstGeom>
          <a:solidFill>
            <a:srgbClr val="F6B638"/>
          </a:solidFill>
          <a:ln w="0">
            <a:noFill/>
          </a:ln>
        </p:spPr>
      </p:sp>
      <p:sp>
        <p:nvSpPr>
          <p:cNvPr id="19" name="Rectangle 18">
            <a:extLst>
              <a:ext uri="{FF2B5EF4-FFF2-40B4-BE49-F238E27FC236}">
                <a16:creationId xmlns:a16="http://schemas.microsoft.com/office/drawing/2014/main" id="{82948DCE-06A3-44C2-B307-C734FB69E44C}"/>
              </a:ext>
            </a:extLst>
          </p:cNvPr>
          <p:cNvSpPr>
            <a:spLocks noGrp="1"/>
          </p:cNvSpPr>
          <p:nvPr/>
        </p:nvSpPr>
        <p:spPr>
          <a:xfrm>
            <a:off x="657225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Relationships and notes</a:t>
            </a:r>
            <a:endParaRPr sz="1900" b="1">
              <a:solidFill>
                <a:srgbClr val="17263A"/>
              </a:solidFill>
              <a:latin typeface="Arial"/>
              <a:ea typeface="Arial"/>
              <a:cs typeface="Arial"/>
            </a:endParaRPr>
          </a:p>
        </p:txBody>
      </p:sp>
      <p:sp>
        <p:nvSpPr>
          <p:cNvPr id="20" name="Rectangle 19">
            <a:extLst>
              <a:ext uri="{FF2B5EF4-FFF2-40B4-BE49-F238E27FC236}">
                <a16:creationId xmlns:a16="http://schemas.microsoft.com/office/drawing/2014/main" id="{4D3B4D7C-9BA7-47E1-AF7D-D10BD3F5D79F}"/>
              </a:ext>
            </a:extLst>
          </p:cNvPr>
          <p:cNvSpPr>
            <a:spLocks noGrp="1"/>
          </p:cNvSpPr>
          <p:nvPr/>
        </p:nvSpPr>
        <p:spPr>
          <a:xfrm>
            <a:off x="657225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Double Registration Linking | Family Relations | Calendar | Notes</a:t>
            </a:r>
            <a:endParaRPr sz="1300">
              <a:solidFill>
                <a:srgbClr val="5E6C80"/>
              </a:solidFill>
              <a:latin typeface="Arial"/>
              <a:ea typeface="Arial"/>
              <a:cs typeface="Arial"/>
            </a:endParaRPr>
          </a:p>
        </p:txBody>
      </p:sp>
      <p:sp>
        <p:nvSpPr>
          <p:cNvPr id="21" name="Rectangle: Rounded Corners 20">
            <a:extLst>
              <a:ext uri="{FF2B5EF4-FFF2-40B4-BE49-F238E27FC236}">
                <a16:creationId xmlns:a16="http://schemas.microsoft.com/office/drawing/2014/main" id="{FDE638B9-789A-4791-9B44-99D4201132B8}"/>
              </a:ext>
            </a:extLst>
          </p:cNvPr>
          <p:cNvSpPr>
            <a:spLocks noGrp="1"/>
          </p:cNvSpPr>
          <p:nvPr/>
        </p:nvSpPr>
        <p:spPr>
          <a:xfrm>
            <a:off x="666750" y="4857750"/>
            <a:ext cx="5143500" cy="1000125"/>
          </a:xfrm>
          <a:prstGeom prst="roundRect">
            <a:avLst>
              <a:gd name="adj" fmla="val 7619"/>
            </a:avLst>
          </a:prstGeom>
          <a:solidFill>
            <a:srgbClr val="F5F7FB"/>
          </a:solidFill>
          <a:ln w="11430">
            <a:solidFill>
              <a:srgbClr val="D8E1ED"/>
            </a:solidFill>
          </a:ln>
        </p:spPr>
      </p:sp>
      <p:sp>
        <p:nvSpPr>
          <p:cNvPr id="22" name="Rectangle 21">
            <a:extLst>
              <a:ext uri="{FF2B5EF4-FFF2-40B4-BE49-F238E27FC236}">
                <a16:creationId xmlns:a16="http://schemas.microsoft.com/office/drawing/2014/main" id="{0442E61B-96E8-4CA0-AE47-C18A6F667C34}"/>
              </a:ext>
            </a:extLst>
          </p:cNvPr>
          <p:cNvSpPr>
            <a:spLocks noGrp="1"/>
          </p:cNvSpPr>
          <p:nvPr/>
        </p:nvSpPr>
        <p:spPr>
          <a:xfrm>
            <a:off x="666750" y="4857750"/>
            <a:ext cx="95250" cy="1000125"/>
          </a:xfrm>
          <a:prstGeom prst="rect">
            <a:avLst/>
          </a:prstGeom>
          <a:solidFill>
            <a:srgbClr val="DD5577"/>
          </a:solidFill>
          <a:ln w="0">
            <a:noFill/>
          </a:ln>
        </p:spPr>
      </p:sp>
      <p:sp>
        <p:nvSpPr>
          <p:cNvPr id="23" name="Rectangle 22">
            <a:extLst>
              <a:ext uri="{FF2B5EF4-FFF2-40B4-BE49-F238E27FC236}">
                <a16:creationId xmlns:a16="http://schemas.microsoft.com/office/drawing/2014/main" id="{5AD1F889-4005-4394-9759-08C749DAA285}"/>
              </a:ext>
            </a:extLst>
          </p:cNvPr>
          <p:cNvSpPr>
            <a:spLocks noGrp="1"/>
          </p:cNvSpPr>
          <p:nvPr/>
        </p:nvSpPr>
        <p:spPr>
          <a:xfrm>
            <a:off x="95250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Administration and security</a:t>
            </a:r>
            <a:endParaRPr sz="1900" b="1">
              <a:solidFill>
                <a:srgbClr val="17263A"/>
              </a:solidFill>
              <a:latin typeface="Arial"/>
              <a:ea typeface="Arial"/>
              <a:cs typeface="Arial"/>
            </a:endParaRPr>
          </a:p>
        </p:txBody>
      </p:sp>
      <p:sp>
        <p:nvSpPr>
          <p:cNvPr id="24" name="Rectangle 23">
            <a:extLst>
              <a:ext uri="{FF2B5EF4-FFF2-40B4-BE49-F238E27FC236}">
                <a16:creationId xmlns:a16="http://schemas.microsoft.com/office/drawing/2014/main" id="{C321E8BA-4FFC-4D89-AD0C-549A4808406F}"/>
              </a:ext>
            </a:extLst>
          </p:cNvPr>
          <p:cNvSpPr>
            <a:spLocks noGrp="1"/>
          </p:cNvSpPr>
          <p:nvPr/>
        </p:nvSpPr>
        <p:spPr>
          <a:xfrm>
            <a:off x="95250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Device registration / approval / locking | User Management | System Settings | Security Logs</a:t>
            </a:r>
            <a:endParaRPr sz="1300">
              <a:solidFill>
                <a:srgbClr val="5E6C80"/>
              </a:solidFill>
              <a:latin typeface="Arial"/>
              <a:ea typeface="Arial"/>
              <a:cs typeface="Arial"/>
            </a:endParaRPr>
          </a:p>
        </p:txBody>
      </p:sp>
      <p:sp>
        <p:nvSpPr>
          <p:cNvPr id="25" name="Rectangle: Rounded Corners 24">
            <a:extLst>
              <a:ext uri="{FF2B5EF4-FFF2-40B4-BE49-F238E27FC236}">
                <a16:creationId xmlns:a16="http://schemas.microsoft.com/office/drawing/2014/main" id="{DB7643E6-60EA-4E01-83E9-CBC58D3A8AEE}"/>
              </a:ext>
            </a:extLst>
          </p:cNvPr>
          <p:cNvSpPr>
            <a:spLocks noGrp="1"/>
          </p:cNvSpPr>
          <p:nvPr/>
        </p:nvSpPr>
        <p:spPr>
          <a:xfrm>
            <a:off x="6286500" y="4857750"/>
            <a:ext cx="5143500" cy="1000125"/>
          </a:xfrm>
          <a:prstGeom prst="roundRect">
            <a:avLst>
              <a:gd name="adj" fmla="val 7619"/>
            </a:avLst>
          </a:prstGeom>
          <a:solidFill>
            <a:srgbClr val="F5F7FB"/>
          </a:solidFill>
          <a:ln w="11430">
            <a:solidFill>
              <a:srgbClr val="D8E1ED"/>
            </a:solidFill>
          </a:ln>
        </p:spPr>
      </p:sp>
      <p:sp>
        <p:nvSpPr>
          <p:cNvPr id="26" name="Rectangle 25">
            <a:extLst>
              <a:ext uri="{FF2B5EF4-FFF2-40B4-BE49-F238E27FC236}">
                <a16:creationId xmlns:a16="http://schemas.microsoft.com/office/drawing/2014/main" id="{EFCE7587-1699-4E2E-A849-899DB8C77B3A}"/>
              </a:ext>
            </a:extLst>
          </p:cNvPr>
          <p:cNvSpPr>
            <a:spLocks noGrp="1"/>
          </p:cNvSpPr>
          <p:nvPr/>
        </p:nvSpPr>
        <p:spPr>
          <a:xfrm>
            <a:off x="6286500" y="4857750"/>
            <a:ext cx="95250" cy="1000125"/>
          </a:xfrm>
          <a:prstGeom prst="rect">
            <a:avLst/>
          </a:prstGeom>
          <a:solidFill>
            <a:srgbClr val="2F6BDE"/>
          </a:solidFill>
          <a:ln w="0">
            <a:noFill/>
          </a:ln>
        </p:spPr>
      </p:sp>
      <p:sp>
        <p:nvSpPr>
          <p:cNvPr id="27" name="Rectangle 26">
            <a:extLst>
              <a:ext uri="{FF2B5EF4-FFF2-40B4-BE49-F238E27FC236}">
                <a16:creationId xmlns:a16="http://schemas.microsoft.com/office/drawing/2014/main" id="{0D64DD67-09F3-4105-B47E-7BAB5F601B5D}"/>
              </a:ext>
            </a:extLst>
          </p:cNvPr>
          <p:cNvSpPr>
            <a:spLocks noGrp="1"/>
          </p:cNvSpPr>
          <p:nvPr/>
        </p:nvSpPr>
        <p:spPr>
          <a:xfrm>
            <a:off x="657225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Reports and maintenance</a:t>
            </a:r>
            <a:endParaRPr sz="1900" b="1">
              <a:solidFill>
                <a:srgbClr val="17263A"/>
              </a:solidFill>
              <a:latin typeface="Arial"/>
              <a:ea typeface="Arial"/>
              <a:cs typeface="Arial"/>
            </a:endParaRPr>
          </a:p>
        </p:txBody>
      </p:sp>
      <p:sp>
        <p:nvSpPr>
          <p:cNvPr id="28" name="Rectangle 27">
            <a:extLst>
              <a:ext uri="{FF2B5EF4-FFF2-40B4-BE49-F238E27FC236}">
                <a16:creationId xmlns:a16="http://schemas.microsoft.com/office/drawing/2014/main" id="{5DA165E0-2501-44D5-B6C8-F75CA439A869}"/>
              </a:ext>
            </a:extLst>
          </p:cNvPr>
          <p:cNvSpPr>
            <a:spLocks noGrp="1"/>
          </p:cNvSpPr>
          <p:nvPr/>
        </p:nvSpPr>
        <p:spPr>
          <a:xfrm>
            <a:off x="657225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Reports | Data Export | Error Log Viewer | Maintenance Mode</a:t>
            </a:r>
            <a:endParaRPr sz="1300">
              <a:solidFill>
                <a:srgbClr val="5E6C80"/>
              </a:solidFill>
              <a:latin typeface="Arial"/>
              <a:ea typeface="Arial"/>
              <a:cs typeface="Arial"/>
            </a:endParaRPr>
          </a:p>
        </p:txBody>
      </p:sp>
      <p:sp>
        <p:nvSpPr>
          <p:cNvPr id="29" name="Rectangle 28">
            <a:extLst>
              <a:ext uri="{FF2B5EF4-FFF2-40B4-BE49-F238E27FC236}">
                <a16:creationId xmlns:a16="http://schemas.microsoft.com/office/drawing/2014/main" id="{A0BCAB2C-3184-4D9E-AA95-0B10B3CB04DB}"/>
              </a:ext>
            </a:extLst>
          </p:cNvPr>
          <p:cNvSpPr>
            <a:spLocks noGrp="1"/>
          </p:cNvSpPr>
          <p:nvPr/>
        </p:nvSpPr>
        <p:spPr>
          <a:xfrm>
            <a:off x="1428750" y="6048375"/>
            <a:ext cx="9334500" cy="228600"/>
          </a:xfrm>
          <a:prstGeom prst="rect">
            <a:avLst/>
          </a:prstGeom>
          <a:noFill/>
          <a:ln w="0">
            <a:noFill/>
          </a:ln>
        </p:spPr>
        <p:txBody>
          <a:bodyPr lIns="0" tIns="0" rIns="0" bIns="0" anchor="t">
            <a:normAutofit/>
          </a:bodyPr>
          <a:lstStyle/>
          <a:p>
            <a:pPr algn="ctr">
              <a:defRPr sz="1425" b="1">
                <a:solidFill>
                  <a:srgbClr val="2F6BDE"/>
                </a:solidFill>
                <a:latin typeface="Arial"/>
                <a:ea typeface="Arial"/>
                <a:cs typeface="Arial"/>
              </a:defRPr>
            </a:pPr>
            <a:r>
              <a:rPr lang="en-US" sz="1425" b="1">
                <a:solidFill>
                  <a:srgbClr val="2F6BDE"/>
                </a:solidFill>
                <a:latin typeface="Arial"/>
                <a:ea typeface="Arial"/>
                <a:cs typeface="Arial"/>
              </a:rPr>
              <a:t>Every supporting tool serves the same four civil registry records and their audit trail.</a:t>
            </a:r>
            <a:endParaRPr sz="1425" b="1">
              <a:solidFill>
                <a:srgbClr val="2F6BDE"/>
              </a:solidFill>
              <a:latin typeface="Arial"/>
              <a:ea typeface="Arial"/>
              <a:cs typeface="Arial"/>
            </a:endParaRPr>
          </a:p>
        </p:txBody>
      </p:sp>
      <p:sp>
        <p:nvSpPr>
          <p:cNvPr id="30" name="Rectangle 29">
            <a:extLst>
              <a:ext uri="{FF2B5EF4-FFF2-40B4-BE49-F238E27FC236}">
                <a16:creationId xmlns:a16="http://schemas.microsoft.com/office/drawing/2014/main" id="{BE4D425B-892F-456C-B3E9-555FEE1B7E4D}"/>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1" name="Rectangle 30">
            <a:extLst>
              <a:ext uri="{FF2B5EF4-FFF2-40B4-BE49-F238E27FC236}">
                <a16:creationId xmlns:a16="http://schemas.microsoft.com/office/drawing/2014/main" id="{038FD97B-855A-433D-B395-03751128C33A}"/>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14 / 15</a:t>
            </a:r>
          </a:p>
        </p:txBody>
      </p:sp>
    </p:spTree>
    <p:extLst>
      <p:ext uri="{BB962C8B-B14F-4D97-AF65-F5344CB8AC3E}">
        <p14:creationId xmlns:p14="http://schemas.microsoft.com/office/powerpoint/2010/main" val="17317785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951244A-59B6-44CF-AD69-D10E9E5BC12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LIVE DEMONSTRATION</a:t>
            </a:r>
          </a:p>
        </p:txBody>
      </p:sp>
      <p:sp>
        <p:nvSpPr>
          <p:cNvPr id="2" name="Rectangle 1">
            <a:extLst>
              <a:ext uri="{FF2B5EF4-FFF2-40B4-BE49-F238E27FC236}">
                <a16:creationId xmlns:a16="http://schemas.microsoft.com/office/drawing/2014/main" id="{1BC009F0-C656-423B-83B1-5A197DDE7E1F}"/>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Show the system in the same order</a:t>
            </a:r>
          </a:p>
        </p:txBody>
      </p:sp>
      <p:sp>
        <p:nvSpPr>
          <p:cNvPr id="3" name="Rectangle 2">
            <a:extLst>
              <a:ext uri="{FF2B5EF4-FFF2-40B4-BE49-F238E27FC236}">
                <a16:creationId xmlns:a16="http://schemas.microsoft.com/office/drawing/2014/main" id="{B43A98E1-518E-4A3F-92EF-3B1303D506A4}"/>
              </a:ext>
            </a:extLst>
          </p:cNvPr>
          <p:cNvSpPr>
            <a:spLocks noGrp="1"/>
          </p:cNvSpPr>
          <p:nvPr/>
        </p:nvSpPr>
        <p:spPr>
          <a:xfrm>
            <a:off x="609600" y="1200150"/>
            <a:ext cx="685800" cy="47625"/>
          </a:xfrm>
          <a:prstGeom prst="rect">
            <a:avLst/>
          </a:prstGeom>
          <a:solidFill>
            <a:srgbClr val="4A8DFF"/>
          </a:solidFill>
          <a:ln w="0">
            <a:noFill/>
          </a:ln>
        </p:spPr>
      </p:sp>
      <p:sp>
        <p:nvSpPr>
          <p:cNvPr id="4" name="Rectangle 3">
            <a:extLst>
              <a:ext uri="{FF2B5EF4-FFF2-40B4-BE49-F238E27FC236}">
                <a16:creationId xmlns:a16="http://schemas.microsoft.com/office/drawing/2014/main" id="{AD482099-45EB-49DB-BA13-D1FF8E92F60B}"/>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clear demo follows the record instead of jumping between unrelated screens.</a:t>
            </a:r>
          </a:p>
        </p:txBody>
      </p:sp>
      <p:sp>
        <p:nvSpPr>
          <p:cNvPr id="5" name="Rectangle: Rounded Corners 4">
            <a:extLst>
              <a:ext uri="{FF2B5EF4-FFF2-40B4-BE49-F238E27FC236}">
                <a16:creationId xmlns:a16="http://schemas.microsoft.com/office/drawing/2014/main" id="{7A94DF84-1EE2-4FD6-B1A2-96F824E93551}"/>
              </a:ext>
            </a:extLst>
          </p:cNvPr>
          <p:cNvSpPr>
            <a:spLocks noGrp="1"/>
          </p:cNvSpPr>
          <p:nvPr/>
        </p:nvSpPr>
        <p:spPr>
          <a:xfrm>
            <a:off x="904875" y="2333625"/>
            <a:ext cx="400050" cy="342900"/>
          </a:xfrm>
          <a:prstGeom prst="roundRect">
            <a:avLst>
              <a:gd name="adj" fmla="val 22222"/>
            </a:avLst>
          </a:prstGeom>
          <a:solidFill>
            <a:srgbClr val="2F6BDE"/>
          </a:solidFill>
          <a:ln w="0">
            <a:noFill/>
          </a:ln>
        </p:spPr>
      </p:sp>
      <p:sp>
        <p:nvSpPr>
          <p:cNvPr id="6" name="Rectangle 5">
            <a:extLst>
              <a:ext uri="{FF2B5EF4-FFF2-40B4-BE49-F238E27FC236}">
                <a16:creationId xmlns:a16="http://schemas.microsoft.com/office/drawing/2014/main" id="{E4D2100C-1109-40E7-894E-300908B13DF9}"/>
              </a:ext>
            </a:extLst>
          </p:cNvPr>
          <p:cNvSpPr>
            <a:spLocks noGrp="1"/>
          </p:cNvSpPr>
          <p:nvPr/>
        </p:nvSpPr>
        <p:spPr>
          <a:xfrm>
            <a:off x="904875" y="23336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5D5E158-1875-4739-A0BE-9B2C51A032D0}"/>
              </a:ext>
            </a:extLst>
          </p:cNvPr>
          <p:cNvSpPr>
            <a:spLocks noGrp="1"/>
          </p:cNvSpPr>
          <p:nvPr/>
        </p:nvSpPr>
        <p:spPr>
          <a:xfrm>
            <a:off x="1524000" y="23717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Rectangle: Rounded Corners 7">
            <a:extLst>
              <a:ext uri="{FF2B5EF4-FFF2-40B4-BE49-F238E27FC236}">
                <a16:creationId xmlns:a16="http://schemas.microsoft.com/office/drawing/2014/main" id="{14E9863D-1A74-4AC4-BC71-24831D4CBF0D}"/>
              </a:ext>
            </a:extLst>
          </p:cNvPr>
          <p:cNvSpPr>
            <a:spLocks noGrp="1"/>
          </p:cNvSpPr>
          <p:nvPr/>
        </p:nvSpPr>
        <p:spPr>
          <a:xfrm>
            <a:off x="904875" y="2924175"/>
            <a:ext cx="400050" cy="342900"/>
          </a:xfrm>
          <a:prstGeom prst="roundRect">
            <a:avLst>
              <a:gd name="adj" fmla="val 22222"/>
            </a:avLst>
          </a:prstGeom>
          <a:solidFill>
            <a:srgbClr val="2F6BDE"/>
          </a:solidFill>
          <a:ln w="0">
            <a:noFill/>
          </a:ln>
        </p:spPr>
      </p:sp>
      <p:sp>
        <p:nvSpPr>
          <p:cNvPr id="9" name="Rectangle 8">
            <a:extLst>
              <a:ext uri="{FF2B5EF4-FFF2-40B4-BE49-F238E27FC236}">
                <a16:creationId xmlns:a16="http://schemas.microsoft.com/office/drawing/2014/main" id="{FF3EDC8A-CEA0-4781-9EB7-1462A8C5372A}"/>
              </a:ext>
            </a:extLst>
          </p:cNvPr>
          <p:cNvSpPr>
            <a:spLocks noGrp="1"/>
          </p:cNvSpPr>
          <p:nvPr/>
        </p:nvSpPr>
        <p:spPr>
          <a:xfrm>
            <a:off x="904875" y="29241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872B5825-19ED-43E9-B8E1-E8B18AF2A0CE}"/>
              </a:ext>
            </a:extLst>
          </p:cNvPr>
          <p:cNvSpPr>
            <a:spLocks noGrp="1"/>
          </p:cNvSpPr>
          <p:nvPr/>
        </p:nvSpPr>
        <p:spPr>
          <a:xfrm>
            <a:off x="1524000" y="29622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Rectangle: Rounded Corners 10">
            <a:extLst>
              <a:ext uri="{FF2B5EF4-FFF2-40B4-BE49-F238E27FC236}">
                <a16:creationId xmlns:a16="http://schemas.microsoft.com/office/drawing/2014/main" id="{FCFA9A08-A522-4EE4-936A-852FFF6626A4}"/>
              </a:ext>
            </a:extLst>
          </p:cNvPr>
          <p:cNvSpPr>
            <a:spLocks noGrp="1"/>
          </p:cNvSpPr>
          <p:nvPr/>
        </p:nvSpPr>
        <p:spPr>
          <a:xfrm>
            <a:off x="904875" y="3514725"/>
            <a:ext cx="400050" cy="342900"/>
          </a:xfrm>
          <a:prstGeom prst="roundRect">
            <a:avLst>
              <a:gd name="adj" fmla="val 22222"/>
            </a:avLst>
          </a:prstGeom>
          <a:solidFill>
            <a:srgbClr val="2F6BDE"/>
          </a:solidFill>
          <a:ln w="0">
            <a:noFill/>
          </a:ln>
        </p:spPr>
      </p:sp>
      <p:sp>
        <p:nvSpPr>
          <p:cNvPr id="12" name="Rectangle 11">
            <a:extLst>
              <a:ext uri="{FF2B5EF4-FFF2-40B4-BE49-F238E27FC236}">
                <a16:creationId xmlns:a16="http://schemas.microsoft.com/office/drawing/2014/main" id="{78FAE7C4-7999-43DA-A7FE-B97E6A42F5F0}"/>
              </a:ext>
            </a:extLst>
          </p:cNvPr>
          <p:cNvSpPr>
            <a:spLocks noGrp="1"/>
          </p:cNvSpPr>
          <p:nvPr/>
        </p:nvSpPr>
        <p:spPr>
          <a:xfrm>
            <a:off x="904875" y="35147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9CFB783-22FB-4378-9964-C6A86AC25B8E}"/>
              </a:ext>
            </a:extLst>
          </p:cNvPr>
          <p:cNvSpPr>
            <a:spLocks noGrp="1"/>
          </p:cNvSpPr>
          <p:nvPr/>
        </p:nvSpPr>
        <p:spPr>
          <a:xfrm>
            <a:off x="1524000" y="35528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Rectangle: Rounded Corners 13">
            <a:extLst>
              <a:ext uri="{FF2B5EF4-FFF2-40B4-BE49-F238E27FC236}">
                <a16:creationId xmlns:a16="http://schemas.microsoft.com/office/drawing/2014/main" id="{24315367-D5FB-41ED-9C27-EAEDD44C46B3}"/>
              </a:ext>
            </a:extLst>
          </p:cNvPr>
          <p:cNvSpPr>
            <a:spLocks noGrp="1"/>
          </p:cNvSpPr>
          <p:nvPr/>
        </p:nvSpPr>
        <p:spPr>
          <a:xfrm>
            <a:off x="904875" y="4105275"/>
            <a:ext cx="400050" cy="342900"/>
          </a:xfrm>
          <a:prstGeom prst="roundRect">
            <a:avLst>
              <a:gd name="adj" fmla="val 22222"/>
            </a:avLst>
          </a:prstGeom>
          <a:solidFill>
            <a:srgbClr val="2F6BDE"/>
          </a:solidFill>
          <a:ln w="0">
            <a:noFill/>
          </a:ln>
        </p:spPr>
      </p:sp>
      <p:sp>
        <p:nvSpPr>
          <p:cNvPr id="15" name="Rectangle 14">
            <a:extLst>
              <a:ext uri="{FF2B5EF4-FFF2-40B4-BE49-F238E27FC236}">
                <a16:creationId xmlns:a16="http://schemas.microsoft.com/office/drawing/2014/main" id="{F6B203E6-88A5-403E-99D1-2FAF7825B656}"/>
              </a:ext>
            </a:extLst>
          </p:cNvPr>
          <p:cNvSpPr>
            <a:spLocks noGrp="1"/>
          </p:cNvSpPr>
          <p:nvPr/>
        </p:nvSpPr>
        <p:spPr>
          <a:xfrm>
            <a:off x="904875" y="41052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5D234B17-21CF-41FB-975D-4A471B043189}"/>
              </a:ext>
            </a:extLst>
          </p:cNvPr>
          <p:cNvSpPr>
            <a:spLocks noGrp="1"/>
          </p:cNvSpPr>
          <p:nvPr/>
        </p:nvSpPr>
        <p:spPr>
          <a:xfrm>
            <a:off x="1524000" y="41433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Rectangle: Rounded Corners 16">
            <a:extLst>
              <a:ext uri="{FF2B5EF4-FFF2-40B4-BE49-F238E27FC236}">
                <a16:creationId xmlns:a16="http://schemas.microsoft.com/office/drawing/2014/main" id="{BB957397-B5A3-4807-8D37-3539646A9F0B}"/>
              </a:ext>
            </a:extLst>
          </p:cNvPr>
          <p:cNvSpPr>
            <a:spLocks noGrp="1"/>
          </p:cNvSpPr>
          <p:nvPr/>
        </p:nvSpPr>
        <p:spPr>
          <a:xfrm>
            <a:off x="904875" y="4695825"/>
            <a:ext cx="400050" cy="342900"/>
          </a:xfrm>
          <a:prstGeom prst="roundRect">
            <a:avLst>
              <a:gd name="adj" fmla="val 22222"/>
            </a:avLst>
          </a:prstGeom>
          <a:solidFill>
            <a:srgbClr val="F6B638"/>
          </a:solidFill>
          <a:ln w="0">
            <a:noFill/>
          </a:ln>
        </p:spPr>
      </p:sp>
      <p:sp>
        <p:nvSpPr>
          <p:cNvPr id="18" name="Rectangle 17">
            <a:extLst>
              <a:ext uri="{FF2B5EF4-FFF2-40B4-BE49-F238E27FC236}">
                <a16:creationId xmlns:a16="http://schemas.microsoft.com/office/drawing/2014/main" id="{20381EE7-2DFB-41B5-B22A-DC4916CD1D67}"/>
              </a:ext>
            </a:extLst>
          </p:cNvPr>
          <p:cNvSpPr>
            <a:spLocks noGrp="1"/>
          </p:cNvSpPr>
          <p:nvPr/>
        </p:nvSpPr>
        <p:spPr>
          <a:xfrm>
            <a:off x="904875" y="46958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7E9F56E0-C9CD-457C-91C5-45BA5553CC41}"/>
              </a:ext>
            </a:extLst>
          </p:cNvPr>
          <p:cNvSpPr>
            <a:spLocks noGrp="1"/>
          </p:cNvSpPr>
          <p:nvPr/>
        </p:nvSpPr>
        <p:spPr>
          <a:xfrm>
            <a:off x="1524000" y="47339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Show verification, audit log, and deletion policy</a:t>
            </a:r>
          </a:p>
        </p:txBody>
      </p:sp>
      <p:sp>
        <p:nvSpPr>
          <p:cNvPr id="20" name="Rectangle: Rounded Corners 19">
            <a:extLst>
              <a:ext uri="{FF2B5EF4-FFF2-40B4-BE49-F238E27FC236}">
                <a16:creationId xmlns:a16="http://schemas.microsoft.com/office/drawing/2014/main" id="{DC5C4EC5-FD49-42F1-8AF4-876B546ED0EF}"/>
              </a:ext>
            </a:extLst>
          </p:cNvPr>
          <p:cNvSpPr>
            <a:spLocks noGrp="1"/>
          </p:cNvSpPr>
          <p:nvPr/>
        </p:nvSpPr>
        <p:spPr>
          <a:xfrm>
            <a:off x="8858250" y="2381250"/>
            <a:ext cx="2476500" cy="2333625"/>
          </a:xfrm>
          <a:prstGeom prst="roundRect">
            <a:avLst>
              <a:gd name="adj" fmla="val 3265"/>
            </a:avLst>
          </a:prstGeom>
          <a:solidFill>
            <a:srgbClr val="17A673"/>
          </a:solidFill>
          <a:ln w="0">
            <a:noFill/>
          </a:ln>
        </p:spPr>
      </p:sp>
      <p:sp>
        <p:nvSpPr>
          <p:cNvPr id="21" name="Rectangle 20">
            <a:extLst>
              <a:ext uri="{FF2B5EF4-FFF2-40B4-BE49-F238E27FC236}">
                <a16:creationId xmlns:a16="http://schemas.microsoft.com/office/drawing/2014/main" id="{0E1448EC-72B6-491B-99CC-BFC29F363F4A}"/>
              </a:ext>
            </a:extLst>
          </p:cNvPr>
          <p:cNvSpPr>
            <a:spLocks noGrp="1"/>
          </p:cNvSpPr>
          <p:nvPr/>
        </p:nvSpPr>
        <p:spPr>
          <a:xfrm>
            <a:off x="9144000" y="2714625"/>
            <a:ext cx="1905000" cy="285750"/>
          </a:xfrm>
          <a:prstGeom prst="rect">
            <a:avLst/>
          </a:prstGeom>
          <a:noFill/>
          <a:ln w="0">
            <a:noFill/>
          </a:ln>
        </p:spPr>
        <p:txBody>
          <a:bodyPr lIns="0" tIns="0" rIns="0" bIns="0" anchor="t">
            <a:norm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Rectangle 21">
            <a:extLst>
              <a:ext uri="{FF2B5EF4-FFF2-40B4-BE49-F238E27FC236}">
                <a16:creationId xmlns:a16="http://schemas.microsoft.com/office/drawing/2014/main" id="{5D230273-E5BC-475A-883E-66209B406F9E}"/>
              </a:ext>
            </a:extLst>
          </p:cNvPr>
          <p:cNvSpPr>
            <a:spLocks noGrp="1"/>
          </p:cNvSpPr>
          <p:nvPr/>
        </p:nvSpPr>
        <p:spPr>
          <a:xfrm>
            <a:off x="9144000" y="3333750"/>
            <a:ext cx="1905000" cy="952500"/>
          </a:xfrm>
          <a:prstGeom prst="rect">
            <a:avLst/>
          </a:prstGeom>
          <a:noFill/>
          <a:ln w="0">
            <a:noFill/>
          </a:ln>
        </p:spPr>
        <p:txBody>
          <a:bodyPr lIns="0" tIns="0" rIns="0" bIns="0" anchor="t">
            <a:normAutofit fontScale="96538"/>
          </a:body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Rectangle 22">
            <a:extLst>
              <a:ext uri="{FF2B5EF4-FFF2-40B4-BE49-F238E27FC236}">
                <a16:creationId xmlns:a16="http://schemas.microsoft.com/office/drawing/2014/main" id="{906E3EB7-8742-48CB-8B17-1CBF4E1A4FD2}"/>
              </a:ext>
            </a:extLst>
          </p:cNvPr>
          <p:cNvSpPr>
            <a:spLocks noGrp="1"/>
          </p:cNvSpPr>
          <p:nvPr/>
        </p:nvSpPr>
        <p:spPr>
          <a:xfrm>
            <a:off x="904875" y="5667375"/>
            <a:ext cx="10096500" cy="2667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The flow is: understand → create → verify → protect → recover.</a:t>
            </a:r>
          </a:p>
        </p:txBody>
      </p:sp>
      <p:sp>
        <p:nvSpPr>
          <p:cNvPr id="24" name="Rectangle 23">
            <a:extLst>
              <a:ext uri="{FF2B5EF4-FFF2-40B4-BE49-F238E27FC236}">
                <a16:creationId xmlns:a16="http://schemas.microsoft.com/office/drawing/2014/main" id="{D6C0D5FC-A56A-4D79-8561-DAA66FC168B8}"/>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3D019A39-03B1-4613-A877-CB50CD3424B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sz="825">
                <a:solidFill>
                  <a:srgbClr val="B8C9DE"/>
                </a:solidFill>
                <a:latin typeface="Arial"/>
                <a:ea typeface="Arial"/>
                <a:cs typeface="Arial"/>
              </a:rPr>
              <a:t>15 / 15</a:t>
            </a:r>
          </a:p>
        </p:txBody>
      </p:sp>
    </p:spTree>
    <p:extLst>
      <p:ext uri="{BB962C8B-B14F-4D97-AF65-F5344CB8AC3E}">
        <p14:creationId xmlns:p14="http://schemas.microsoft.com/office/powerpoint/2010/main" val="10311959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1820</Words>
  <Application>Microsoft Office PowerPoint</Application>
  <DocSecurity>0</DocSecurity>
  <PresentationFormat>Widescreen</PresentationFormat>
  <Paragraphs>261</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MDRRMO</cp:lastModifiedBy>
  <cp:revision>1</cp:revision>
  <dcterms:created xsi:type="dcterms:W3CDTF">2026-09-09T00:15:58Z</dcterms:created>
  <dcterms:modified xsi:type="dcterms:W3CDTF">2026-09-09T00:35:13Z</dcterms:modified>
</cp:coreProperties>
</file>