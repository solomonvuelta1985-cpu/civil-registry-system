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75" r:id="rId26"/>
    <p:sldId id="269" r:id="rId17"/>
    <p:sldId id="273" r:id="rId24"/>
    <p:sldId id="274" r:id="rId25"/>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local office access from remote internet access. The browser, scanner, PHP application, database, and PDF archive communicate across the office LAN and NAS, so staff can continue work during an internet outage. Cloudflare or other public access is unavailable during the outage, but it returns when the internet connection is restored. In simple terms, the records stay inside the office and the internet is only needed for outside access.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Protection is layered across login, sessions, files, permissions, and logs.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5 attempts / 5-minute window</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60 minutes inactive by default</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 Encoder • Viewer</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User • action • IP • device • time</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575" b="1">
                <a:solidFill>
                  <a:srgbClr val="FFB6C7"/>
                </a:solidFill>
                <a:latin typeface="Arial"/>
                <a:ea typeface="Arial"/>
                <a:cs typeface="Arial"/>
              </a:defRPr>
            </a:pPr>
            <a:r>
              <a:rPr sz="1575" b="1">
                <a:solidFill>
                  <a:srgbClr val="FFB6C7"/>
                </a:solidFill>
                <a:latin typeface="Arial"/>
                <a:ea typeface="Arial"/>
                <a:cs typeface="Arial"/>
              </a:rPr>
              <a:t>Admin only</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Soft delete → Trash → Admin restore or permanent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description for IT and system administrators.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bcrypt | 5 attempts / 5 min | 3600-second timeout</a:t>
            </a:r>
            <a:endParaRPr lang="en-AS" sz="14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CSRF | prepared SQL | security headers | auth checks</a:t>
            </a:r>
            <a:endParaRPr lang="en-AS" sz="14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MIME/path checks | size limits | SHA-256 PDF verification</a:t>
            </a:r>
            <a:endParaRPr lang="en-AS" sz="14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Admin / Encoder / Viewer | security and audit logs</a:t>
            </a:r>
            <a:endParaRPr lang="en-AS" sz="14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2000" b="1">
                <a:solidFill>
                  <a:srgbClr val="FFB6C7"/>
                </a:solidFill>
                <a:latin typeface="Arial" panose="020B0604020202020204" pitchFamily="34" charset="0"/>
              </a:rPr>
              <a:t>Admin only</a:t>
            </a:r>
            <a:endParaRPr lang="en-AS" sz="20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Soft delete -&gt; Trash -&gt; Admin restore or permanent delete</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20</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20</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17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04467c0a-fcce-4a5a-aac0-c01b508a0bb6.png"/>
          <p:cNvPicPr>
            <a:picLocks noChangeAspect="1"/>
          </p:cNvPicPr>
          <p:nvPr/>
        </p:nvPicPr>
        <p:blipFill>
          <a:blip r:embed="rId2"/>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rIns="0" t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05655"/>
            <a:ext cx="50292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rIns="0" t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47488"/>
            <a:ext cx="4709159" cy="219456"/>
          </a:xfrm>
          <a:prstGeom prst="rect">
            <a:avLst/>
          </a:prstGeom>
          <a:noFill/>
        </p:spPr>
        <p:txBody>
          <a:bodyPr wrap="square" lIns="0" rIns="0" t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rIns="0" t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18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3dff5064-2809-4a38-82fa-bad3b9b660e3.png"/>
          <p:cNvPicPr>
            <a:picLocks noChangeAspect="1"/>
          </p:cNvPicPr>
          <p:nvPr/>
        </p:nvPicPr>
        <p:blipFill>
          <a:blip r:embed="rId2"/>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rIns="0" t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4315968"/>
            <a:ext cx="4937759" cy="219456"/>
          </a:xfrm>
          <a:prstGeom prst="rect">
            <a:avLst/>
          </a:prstGeom>
          <a:noFill/>
        </p:spPr>
        <p:txBody>
          <a:bodyPr wrap="square" lIns="0" rIns="0" t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rIns="0" t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175503"/>
            <a:ext cx="4800600" cy="219456"/>
          </a:xfrm>
          <a:prstGeom prst="rect">
            <a:avLst/>
          </a:prstGeom>
          <a:noFill/>
        </p:spPr>
        <p:txBody>
          <a:bodyPr wrap="square" lIns="0" rIns="0" t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rIns="0" t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19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20 / 20</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CONTINUITY</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Works Without Internet</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The office NAS keeps local records available during an internet outage</a:t>
            </a:r>
          </a:p>
        </p:txBody>
      </p:sp>
      <p:sp>
        <p:nvSpPr>
          <p:cNvPr id="6" name="Rounded Rectangle 5"/>
          <p:cNvSpPr/>
          <p:nvPr/>
        </p:nvSpPr>
        <p:spPr>
          <a:xfrm>
            <a:off x="612648" y="1874519"/>
            <a:ext cx="5715000" cy="321868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bc7be029-6299-4007-b00a-47bd95cd8c7b.png"/>
          <p:cNvPicPr>
            <a:picLocks noChangeAspect="1"/>
          </p:cNvPicPr>
          <p:nvPr/>
        </p:nvPicPr>
        <p:blipFill>
          <a:blip r:embed="rId2"/>
          <a:stretch>
            <a:fillRect/>
          </a:stretch>
        </p:blipFill>
        <p:spPr>
          <a:xfrm>
            <a:off x="658368" y="1920239"/>
            <a:ext cx="5623560" cy="3127248"/>
          </a:xfrm>
          <a:prstGeom prst="rect">
            <a:avLst/>
          </a:prstGeom>
        </p:spPr>
      </p:pic>
      <p:sp>
        <p:nvSpPr>
          <p:cNvPr id="8" name="TextBox 7"/>
          <p:cNvSpPr txBox="1"/>
          <p:nvPr/>
        </p:nvSpPr>
        <p:spPr>
          <a:xfrm>
            <a:off x="6656832" y="1901952"/>
            <a:ext cx="4800600" cy="237744"/>
          </a:xfrm>
          <a:prstGeom prst="rect">
            <a:avLst/>
          </a:prstGeom>
          <a:noFill/>
        </p:spPr>
        <p:txBody>
          <a:bodyPr wrap="square" lIns="0" rIns="0" tIns="0" bIns="0" anchor="t">
            <a:spAutoFit/>
          </a:bodyPr>
          <a:lstStyle/>
          <a:p>
            <a:pPr algn="l"/>
            <a:r>
              <a:rPr sz="1550" b="1">
                <a:solidFill>
                  <a:srgbClr val="17263A"/>
                </a:solidFill>
                <a:latin typeface="Arial"/>
              </a:rPr>
              <a:t>How access is separated</a:t>
            </a:r>
          </a:p>
        </p:txBody>
      </p:sp>
      <p:sp>
        <p:nvSpPr>
          <p:cNvPr id="9" name="TextBox 8"/>
          <p:cNvSpPr txBox="1"/>
          <p:nvPr/>
        </p:nvSpPr>
        <p:spPr>
          <a:xfrm>
            <a:off x="6656832" y="2221992"/>
            <a:ext cx="4663440" cy="169164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Local LAN path. </a:t>
            </a:r>
            <a:r>
              <a:rPr sz="1350" b="0">
                <a:solidFill>
                  <a:srgbClr val="5E6C80"/>
                </a:solidFill>
                <a:latin typeface="Arial"/>
              </a:rPr>
              <a:t>Workstations and the scanner connect to the NAS/Web Station over the office network.</a:t>
            </a:r>
          </a:p>
          <a:p>
            <a:pPr>
              <a:spcAft>
                <a:spcPts val="600"/>
              </a:spcAft>
            </a:pPr>
            <a:r>
              <a:rPr sz="1350" b="1">
                <a:solidFill>
                  <a:srgbClr val="17263A"/>
                </a:solidFill>
                <a:latin typeface="Arial"/>
              </a:rPr>
              <a:t>Internet path. </a:t>
            </a:r>
            <a:r>
              <a:rPr sz="1350" b="0">
                <a:solidFill>
                  <a:srgbClr val="5E6C80"/>
                </a:solidFill>
                <a:latin typeface="Arial"/>
              </a:rPr>
              <a:t>The public URL and remote access need internet connectivity.</a:t>
            </a:r>
          </a:p>
          <a:p>
            <a:pPr>
              <a:spcAft>
                <a:spcPts val="600"/>
              </a:spcAft>
            </a:pPr>
            <a:r>
              <a:rPr sz="1350" b="1">
                <a:solidFill>
                  <a:srgbClr val="17263A"/>
                </a:solidFill>
                <a:latin typeface="Arial"/>
              </a:rPr>
              <a:t>Recovery. </a:t>
            </a:r>
            <a:r>
              <a:rPr sz="1350" b="0">
                <a:solidFill>
                  <a:srgbClr val="5E6C80"/>
                </a:solidFill>
                <a:latin typeface="Arial"/>
              </a:rPr>
              <a:t>When internet returns, remote access resumes; local records remain on the NAS.</a:t>
            </a:r>
          </a:p>
        </p:txBody>
      </p:sp>
      <p:sp>
        <p:nvSpPr>
          <p:cNvPr id="10" name="Rounded Rectangle 9"/>
          <p:cNvSpPr/>
          <p:nvPr/>
        </p:nvSpPr>
        <p:spPr>
          <a:xfrm>
            <a:off x="6656832" y="4169663"/>
            <a:ext cx="47091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4297679"/>
            <a:ext cx="43434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6839712" y="4581144"/>
            <a:ext cx="4343400" cy="557784"/>
          </a:xfrm>
          <a:prstGeom prst="rect">
            <a:avLst/>
          </a:prstGeom>
          <a:noFill/>
        </p:spPr>
        <p:txBody>
          <a:bodyPr wrap="square" lIns="0" rIns="0" tIns="0" bIns="0" anchor="t">
            <a:spAutoFit/>
          </a:bodyPr>
          <a:lstStyle/>
          <a:p>
            <a:pPr algn="l"/>
            <a:r>
              <a:rPr sz="1250" b="0">
                <a:solidFill>
                  <a:srgbClr val="17263A"/>
                </a:solidFill>
                <a:latin typeface="Arial"/>
              </a:rPr>
              <a:t>If the internet goes down, staff inside the office can still encode, scan, search, and open records through the NAS. Users outside the office reconnect when the internet is restored.</a:t>
            </a:r>
          </a:p>
        </p:txBody>
      </p:sp>
      <p:sp>
        <p:nvSpPr>
          <p:cNvPr id="13" name="Rounded Rectangle 12"/>
          <p:cNvSpPr/>
          <p:nvPr/>
        </p:nvSpPr>
        <p:spPr>
          <a:xfrm>
            <a:off x="612648" y="5321808"/>
            <a:ext cx="5715000" cy="822960"/>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449824"/>
            <a:ext cx="5349240" cy="219456"/>
          </a:xfrm>
          <a:prstGeom prst="rect">
            <a:avLst/>
          </a:prstGeom>
          <a:noFill/>
        </p:spPr>
        <p:txBody>
          <a:bodyPr wrap="square" lIns="0" rIns="0" tIns="0" bIns="0" anchor="t">
            <a:spAutoFit/>
          </a:bodyPr>
          <a:lstStyle/>
          <a:p>
            <a:pPr algn="l"/>
            <a:r>
              <a:rPr sz="1400" b="1">
                <a:solidFill>
                  <a:srgbClr val="2F6BDE"/>
                </a:solidFill>
                <a:latin typeface="Arial"/>
              </a:rPr>
              <a:t>Local access</a:t>
            </a:r>
          </a:p>
        </p:txBody>
      </p:sp>
      <p:sp>
        <p:nvSpPr>
          <p:cNvPr id="15" name="TextBox 14"/>
          <p:cNvSpPr txBox="1"/>
          <p:nvPr/>
        </p:nvSpPr>
        <p:spPr>
          <a:xfrm>
            <a:off x="795528" y="5733288"/>
            <a:ext cx="5349240" cy="274320"/>
          </a:xfrm>
          <a:prstGeom prst="rect">
            <a:avLst/>
          </a:prstGeom>
          <a:noFill/>
        </p:spPr>
        <p:txBody>
          <a:bodyPr wrap="square" lIns="0" rIns="0" tIns="0" bIns="0" anchor="t">
            <a:spAutoFit/>
          </a:bodyPr>
          <a:lstStyle/>
          <a:p>
            <a:pPr algn="l"/>
            <a:r>
              <a:rPr sz="1250" b="0">
                <a:solidFill>
                  <a:srgbClr val="17263A"/>
                </a:solidFill>
                <a:latin typeface="Arial"/>
              </a:rPr>
              <a:t>Use the NAS IP address and Web Station port from an office computer.</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16 / 20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