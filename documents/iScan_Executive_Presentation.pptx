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457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iScan-CRDMS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Civil Registry Records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Municipal Civil Registrar's Office  •  Municipality of Baggao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Under the leadership of Sir Atanacio G. Tungpalan, MCR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Presenter:  ___________________     Date:  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097280"/>
            <a:ext cx="97840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A locally hosted, web-based system that digitizes and safeguards the four civil registry document types — </a:t>
            </a:r>
            <a:r>
              <a:rPr sz="1600" b="1">
                <a:solidFill>
                  <a:srgbClr val="1F2937"/>
                </a:solidFill>
                <a:latin typeface="Calibri"/>
              </a:rPr>
              <a:t>Birth, Marriage, Death, and Marriage License</a:t>
            </a:r>
            <a:r>
              <a:rPr sz="1600" b="0">
                <a:solidFill>
                  <a:srgbClr val="1F2937"/>
                </a:solidFill>
                <a:latin typeface="Calibri"/>
              </a:rPr>
              <a:t> — together with petitions filed under Republic Act No. 9048.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Built specifically for the </a:t>
            </a:r>
            <a:r>
              <a:rPr sz="1600" b="1">
                <a:solidFill>
                  <a:srgbClr val="1F2937"/>
                </a:solidFill>
                <a:latin typeface="Calibri"/>
              </a:rPr>
              <a:t>Municipal Civil Registrar's Office of Baggao</a:t>
            </a:r>
            <a:r>
              <a:rPr sz="1600" b="0">
                <a:solidFill>
                  <a:srgbClr val="1F2937"/>
                </a:solidFill>
                <a:latin typeface="Calibri"/>
              </a:rPr>
              <a:t> under the leadership of Sir Atanacio G. Tungpalan.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Operates on the municipality's own </a:t>
            </a:r>
            <a:r>
              <a:rPr sz="1600" b="1">
                <a:solidFill>
                  <a:srgbClr val="1F2937"/>
                </a:solidFill>
                <a:latin typeface="Calibri"/>
              </a:rPr>
              <a:t>Synology DS925+ NAS</a:t>
            </a:r>
            <a:r>
              <a:rPr sz="1600" b="0">
                <a:solidFill>
                  <a:srgbClr val="1F2937"/>
                </a:solidFill>
                <a:latin typeface="Calibri"/>
              </a:rPr>
              <a:t>, preserving full data sovereignty.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Accessible at </a:t>
            </a:r>
            <a:r>
              <a:rPr sz="1600" b="1">
                <a:solidFill>
                  <a:srgbClr val="1F2937"/>
                </a:solidFill>
                <a:latin typeface="Calibri"/>
              </a:rPr>
              <a:t>https://iscan.cdrms.online</a:t>
            </a:r>
            <a:r>
              <a:rPr sz="1600" b="0">
                <a:solidFill>
                  <a:srgbClr val="1F2937"/>
                </a:solidFill>
                <a:latin typeface="Calibri"/>
              </a:rPr>
              <a:t> through a secure Cloudflare Tunnel.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The municipality's records stay with the municipality — secured, searchable, and always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Operational Problem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097280"/>
            <a:ext cx="97840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Civil registry records have been kept primarily on paper for decades.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Vulnerable to </a:t>
            </a:r>
            <a:r>
              <a:rPr sz="1600" b="1">
                <a:solidFill>
                  <a:srgbClr val="1F2937"/>
                </a:solidFill>
                <a:latin typeface="Calibri"/>
              </a:rPr>
              <a:t>physical deterioration, fire, flooding, pest damage, misfiling, and irreversible loss.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Retrieval is slow; duplicates and clerical errors are difficult to detect.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Accountability is limited — paper leaves no reliable audit trail of who changed what, when.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The current process is fragile, slow, and offers no way to prove who changed what.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iScan-CRDMS Was Built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13258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" y="1490472"/>
            <a:ext cx="310896" cy="310896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1832" y="158191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097280"/>
            <a:ext cx="97840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To digitize and protect the records that determine </a:t>
            </a:r>
            <a:r>
              <a:rPr sz="1600" b="1">
                <a:solidFill>
                  <a:srgbClr val="1F2937"/>
                </a:solidFill>
                <a:latin typeface="Calibri"/>
              </a:rPr>
              <a:t>citizenship, inheritance, marital status, and legal identity</a:t>
            </a:r>
            <a:r>
              <a:rPr sz="1600" b="0">
                <a:solidFill>
                  <a:srgbClr val="1F2937"/>
                </a:solidFill>
                <a:latin typeface="Calibri"/>
              </a:rPr>
              <a:t> for every resident of Baggao.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To provide </a:t>
            </a:r>
            <a:r>
              <a:rPr sz="1600" b="1">
                <a:solidFill>
                  <a:srgbClr val="1F2937"/>
                </a:solidFill>
                <a:latin typeface="Calibri"/>
              </a:rPr>
              <a:t>instant retrieval, modern audit visibility, and disaster-resilient storage</a:t>
            </a:r>
            <a:r>
              <a:rPr sz="1600" b="0">
                <a:solidFill>
                  <a:srgbClr val="1F2937"/>
                </a:solidFill>
                <a:latin typeface="Calibri"/>
              </a:rPr>
              <a:t> — without surrendering data to an external cloud provider.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To uphold the LGU's responsibility to safeguard its citizens' most sensitive personal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The same records, in safer hands, with better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Overview — At a Glance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4088" y="1344168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1344168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088" y="1645920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645920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097280"/>
            <a:ext cx="97840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Four certificate modules: </a:t>
            </a:r>
            <a:r>
              <a:rPr sz="1600" b="1">
                <a:solidFill>
                  <a:srgbClr val="1F2937"/>
                </a:solidFill>
                <a:latin typeface="Calibri"/>
              </a:rPr>
              <a:t>Live Birth, Marriage, Death, Marriage License.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Dedicated </a:t>
            </a:r>
            <a:r>
              <a:rPr sz="1600" b="1">
                <a:solidFill>
                  <a:srgbClr val="1F2937"/>
                </a:solidFill>
                <a:latin typeface="Calibri"/>
              </a:rPr>
              <a:t>RA 9048 petition module</a:t>
            </a:r>
            <a:r>
              <a:rPr sz="1600" b="0">
                <a:solidFill>
                  <a:srgbClr val="1F2937"/>
                </a:solidFill>
                <a:latin typeface="Calibri"/>
              </a:rPr>
              <a:t> (CCE and CFN workflows).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19 user-facing pages   •   9 admin pages   •   35+ secured APIs.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Server-side OCR, integrated scanner, full workflow engine, complete audit trail.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One complete platform for everything the Civil Registrar's Office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Feature — Integrated Document Scanning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7512" y="1645920"/>
            <a:ext cx="6858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1344168"/>
            <a:ext cx="429768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417320"/>
            <a:ext cx="274320" cy="274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08760"/>
            <a:ext cx="274320" cy="274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581912"/>
            <a:ext cx="274320" cy="274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1097280"/>
            <a:ext cx="60350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Direct browser-to-scanner integration with the </a:t>
            </a:r>
            <a:r>
              <a:rPr sz="1600" b="1">
                <a:solidFill>
                  <a:srgbClr val="1F2937"/>
                </a:solidFill>
                <a:latin typeface="Calibri"/>
              </a:rPr>
              <a:t>Epson DS-530 II</a:t>
            </a:r>
            <a:r>
              <a:rPr sz="1600" b="0">
                <a:solidFill>
                  <a:srgbClr val="1F2937"/>
                </a:solidFill>
                <a:latin typeface="Calibri"/>
              </a:rPr>
              <a:t> flatbed scanner.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Dedicated Python-Flask scanner microservice running on port 18622.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Scans saved as multi-page PDFs, ready for immediate attachment to a record.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No separate scanning software — the office's existing hardware is used directly.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234440"/>
            <a:ext cx="3703320" cy="3291840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800">
                <a:solidFill>
                  <a:srgbClr val="6B7280"/>
                </a:solidFill>
              </a:rPr>
              <a:t>⧉
</a:t>
            </a:r>
            <a:r>
              <a:rPr sz="1300" b="1">
                <a:solidFill>
                  <a:srgbClr val="6B7280"/>
                </a:solidFill>
                <a:latin typeface="Calibri"/>
              </a:rPr>
              <a:t>[ Screenshot Placeholder ]
</a:t>
            </a:r>
            <a:r>
              <a:rPr sz="1100" i="1">
                <a:solidFill>
                  <a:srgbClr val="6B7280"/>
                </a:solidFill>
                <a:latin typeface="Calibri"/>
              </a:rPr>
              <a:t>Scanner panel inside the certificate 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Scan and attach in one step — without leaving the iScan screen.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Feature — OCR-Assisted Data Entry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4088" y="1325880"/>
            <a:ext cx="4572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1435608"/>
            <a:ext cx="347472" cy="3657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" y="1554480"/>
            <a:ext cx="347472" cy="3657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1673352"/>
            <a:ext cx="347472" cy="3657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792224"/>
            <a:ext cx="347472" cy="3657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600200"/>
            <a:ext cx="347472" cy="347472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0704" y="1655064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097280"/>
            <a:ext cx="60350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Tesseract-based OCR reads scanned certificates and </a:t>
            </a:r>
            <a:r>
              <a:rPr sz="1600" b="1">
                <a:solidFill>
                  <a:srgbClr val="1F2937"/>
                </a:solidFill>
                <a:latin typeface="Calibri"/>
              </a:rPr>
              <a:t>automatically fills the data entry form.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Sixteen pre-mapped extraction fields per document type, with </a:t>
            </a:r>
            <a:r>
              <a:rPr sz="1600" b="1">
                <a:solidFill>
                  <a:srgbClr val="1F2937"/>
                </a:solidFill>
                <a:latin typeface="Calibri"/>
              </a:rPr>
              <a:t>confidence scoring</a:t>
            </a:r>
            <a:r>
              <a:rPr sz="1600" b="0">
                <a:solidFill>
                  <a:srgbClr val="1F2937"/>
                </a:solidFill>
                <a:latin typeface="Calibri"/>
              </a:rPr>
              <a:t> and date normalization.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Results cached by SHA-256 hash for instant re-use on the same PDF.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Measured impact: 83% reduction in data entry time</a:t>
            </a:r>
            <a:r>
              <a:rPr sz="1600" b="0">
                <a:solidFill>
                  <a:srgbClr val="1F2937"/>
                </a:solidFill>
                <a:latin typeface="Calibri"/>
              </a:rPr>
              <a:t> (from 10–15 minutes to 2–3 minutes per record).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234440"/>
            <a:ext cx="3703320" cy="3291840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800">
                <a:solidFill>
                  <a:srgbClr val="6B7280"/>
                </a:solidFill>
              </a:rPr>
              <a:t>⧉
</a:t>
            </a:r>
            <a:r>
              <a:rPr sz="1300" b="1">
                <a:solidFill>
                  <a:srgbClr val="6B7280"/>
                </a:solidFill>
                <a:latin typeface="Calibri"/>
              </a:rPr>
              <a:t>[ Screenshot Placeholder ]
</a:t>
            </a:r>
            <a:r>
              <a:rPr sz="1100" i="1">
                <a:solidFill>
                  <a:srgbClr val="6B7280"/>
                </a:solidFill>
                <a:latin typeface="Calibri"/>
              </a:rPr>
              <a:t>OCR extracted-data panel with confidence scores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The system reads the certificate. The encoder only verifies.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Feature — Advanced Search &amp; Retrieval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088" y="1344168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417320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280" y="1737360"/>
            <a:ext cx="22860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097280"/>
            <a:ext cx="60350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Two-pass search algorithm: </a:t>
            </a:r>
            <a:r>
              <a:rPr sz="1600" b="1">
                <a:solidFill>
                  <a:srgbClr val="1F2937"/>
                </a:solidFill>
                <a:latin typeface="Calibri"/>
              </a:rPr>
              <a:t>strict multi-token match, then fuzzy fallback</a:t>
            </a:r>
            <a:r>
              <a:rPr sz="1600" b="0">
                <a:solidFill>
                  <a:srgbClr val="1F2937"/>
                </a:solidFill>
                <a:latin typeface="Calibri"/>
              </a:rPr>
              <a:t> when no exact result exists.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Search by name, registry number, date range, barangay, or parent name.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Side-by-side </a:t>
            </a:r>
            <a:r>
              <a:rPr sz="1600" b="1">
                <a:solidFill>
                  <a:srgbClr val="1F2937"/>
                </a:solidFill>
                <a:latin typeface="Calibri"/>
              </a:rPr>
              <a:t>PDF Comparison Viewer</a:t>
            </a:r>
            <a:r>
              <a:rPr sz="1600" b="0">
                <a:solidFill>
                  <a:srgbClr val="1F2937"/>
                </a:solidFill>
                <a:latin typeface="Calibri"/>
              </a:rPr>
              <a:t> for visual verification of form data against the original document.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Measured impact: 92% faster record retrieval</a:t>
            </a:r>
            <a:r>
              <a:rPr sz="1600" b="0">
                <a:solidFill>
                  <a:srgbClr val="1F2937"/>
                </a:solidFill>
                <a:latin typeface="Calibri"/>
              </a:rPr>
              <a:t> compared with manual logbook search.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234440"/>
            <a:ext cx="3703320" cy="3291840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800">
                <a:solidFill>
                  <a:srgbClr val="6B7280"/>
                </a:solidFill>
              </a:rPr>
              <a:t>⧉
</a:t>
            </a:r>
            <a:r>
              <a:rPr sz="1300" b="1">
                <a:solidFill>
                  <a:srgbClr val="6B7280"/>
                </a:solidFill>
                <a:latin typeface="Calibri"/>
              </a:rPr>
              <a:t>[ Screenshot Placeholder ]
</a:t>
            </a:r>
            <a:r>
              <a:rPr sz="1100" i="1">
                <a:solidFill>
                  <a:srgbClr val="6B7280"/>
                </a:solidFill>
                <a:latin typeface="Calibri"/>
              </a:rPr>
              <a:t>Advanced search results 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Any record, found in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Feature — Double-Registration Detection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4088" y="1344168"/>
            <a:ext cx="411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" y="1472184"/>
            <a:ext cx="41148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097280"/>
            <a:ext cx="60350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Automated detection of probable </a:t>
            </a:r>
            <a:r>
              <a:rPr sz="1600" b="1">
                <a:solidFill>
                  <a:srgbClr val="1F2937"/>
                </a:solidFill>
                <a:latin typeface="Calibri"/>
              </a:rPr>
              <a:t>duplicate registrations</a:t>
            </a:r>
            <a:r>
              <a:rPr sz="1600" b="0">
                <a:solidFill>
                  <a:srgbClr val="1F2937"/>
                </a:solidFill>
                <a:latin typeface="Calibri"/>
              </a:rPr>
              <a:t> of the same vital event.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Match scoring with field-level discrepancy highlighting (critical vs. minor).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Correction-status tracking until each case is resolved by the registrar.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Backed by the dedicated `record_links` table for full traceability.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1234440"/>
            <a:ext cx="3703320" cy="3291840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800">
                <a:solidFill>
                  <a:srgbClr val="6B7280"/>
                </a:solidFill>
              </a:rPr>
              <a:t>⧉
</a:t>
            </a:r>
            <a:r>
              <a:rPr sz="1300" b="1">
                <a:solidFill>
                  <a:srgbClr val="6B7280"/>
                </a:solidFill>
                <a:latin typeface="Calibri"/>
              </a:rPr>
              <a:t>[ Screenshot Placeholder ]
</a:t>
            </a:r>
            <a:r>
              <a:rPr sz="1100" i="1">
                <a:solidFill>
                  <a:srgbClr val="6B7280"/>
                </a:solidFill>
                <a:latin typeface="Calibri"/>
              </a:rPr>
              <a:t>Side-by-side double-registration comparison modal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Surfaces duplicate records that paper-based filing would hide for years.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Feature — Six-State Approval Workflow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160020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60020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6696" y="160020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160020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07592" y="1600200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40664" y="1655064"/>
            <a:ext cx="621792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28800" y="1097280"/>
            <a:ext cx="60350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Records advance through a structured lifecycle: </a:t>
            </a:r>
            <a:r>
              <a:rPr sz="1600" b="1">
                <a:solidFill>
                  <a:srgbClr val="1F2937"/>
                </a:solidFill>
                <a:latin typeface="Calibri"/>
              </a:rPr>
              <a:t>Draft → Pending Review → Verified → Approved → Archived.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Reject and Reopen transitions are also tracked, with notes and timestamps.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Every transition is recorded against the responsible user.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Quality scoring per record (0–100%) for review and oversight.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234440"/>
            <a:ext cx="3703320" cy="3291840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800">
                <a:solidFill>
                  <a:srgbClr val="6B7280"/>
                </a:solidFill>
              </a:rPr>
              <a:t>⧉
</a:t>
            </a:r>
            <a:r>
              <a:rPr sz="1300" b="1">
                <a:solidFill>
                  <a:srgbClr val="6B7280"/>
                </a:solidFill>
                <a:latin typeface="Calibri"/>
              </a:rPr>
              <a:t>[ Screenshot Placeholder ]
</a:t>
            </a:r>
            <a:r>
              <a:rPr sz="1100" i="1">
                <a:solidFill>
                  <a:srgbClr val="6B7280"/>
                </a:solidFill>
                <a:latin typeface="Calibri"/>
              </a:rPr>
              <a:t>Workflow dashboard with state 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No record is archived until it has been reviewed and approved — and every approval is on the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Feature — Batch Upload &amp; Historical Digitization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548640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18488"/>
            <a:ext cx="548640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99616"/>
            <a:ext cx="548640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Up Arrow 6"/>
          <p:cNvSpPr/>
          <p:nvPr/>
        </p:nvSpPr>
        <p:spPr>
          <a:xfrm>
            <a:off x="914400" y="1280160"/>
            <a:ext cx="182880" cy="182880"/>
          </a:xfrm>
          <a:prstGeom prst="up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097280"/>
            <a:ext cx="60350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Drag-and-drop </a:t>
            </a:r>
            <a:r>
              <a:rPr sz="1600" b="1">
                <a:solidFill>
                  <a:srgbClr val="1F2937"/>
                </a:solidFill>
                <a:latin typeface="Calibri"/>
              </a:rPr>
              <a:t>multi-file upload</a:t>
            </a:r>
            <a:r>
              <a:rPr sz="1600" b="0">
                <a:solidFill>
                  <a:srgbClr val="1F2937"/>
                </a:solidFill>
                <a:latin typeface="Calibri"/>
              </a:rPr>
              <a:t> with auto-OCR and auto-validate options.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Real-time progress tracking with per-file success / failure indicators.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Batch naming for accountability and later auditing.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Suited for digitizing years of backlogged paper records.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234440"/>
            <a:ext cx="3703320" cy="3291840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800">
                <a:solidFill>
                  <a:srgbClr val="6B7280"/>
                </a:solidFill>
              </a:rPr>
              <a:t>⧉
</a:t>
            </a:r>
            <a:r>
              <a:rPr sz="1300" b="1">
                <a:solidFill>
                  <a:srgbClr val="6B7280"/>
                </a:solidFill>
                <a:latin typeface="Calibri"/>
              </a:rPr>
              <a:t>[ Screenshot Placeholder ]
</a:t>
            </a:r>
            <a:r>
              <a:rPr sz="1100" i="1">
                <a:solidFill>
                  <a:srgbClr val="6B7280"/>
                </a:solidFill>
                <a:latin typeface="Calibri"/>
              </a:rPr>
              <a:t>Batch upload page mid-upload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Years of backlogged records can be digitized in days, not months.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Feature — Analytics &amp; Reporting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128016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572768"/>
            <a:ext cx="128016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463040"/>
            <a:ext cx="128016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097280"/>
            <a:ext cx="60350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Live dashboards with </a:t>
            </a:r>
            <a:r>
              <a:rPr sz="1600" b="1">
                <a:solidFill>
                  <a:srgbClr val="1F2937"/>
                </a:solidFill>
                <a:latin typeface="Calibri"/>
              </a:rPr>
              <a:t>monthly and year-over-year trend charts.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Demographics, gender distribution, late-registration flags, top locations.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Encoder leaderboard</a:t>
            </a:r>
            <a:r>
              <a:rPr sz="1600" b="0">
                <a:solidFill>
                  <a:srgbClr val="1F2937"/>
                </a:solidFill>
                <a:latin typeface="Calibri"/>
              </a:rPr>
              <a:t> ranking staff by recorded CREATE actions.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One-click export of filtered records to XLS or CSV.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234440"/>
            <a:ext cx="3703320" cy="3291840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800">
                <a:solidFill>
                  <a:srgbClr val="6B7280"/>
                </a:solidFill>
              </a:rPr>
              <a:t>⧉
</a:t>
            </a:r>
            <a:r>
              <a:rPr sz="1300" b="1">
                <a:solidFill>
                  <a:srgbClr val="6B7280"/>
                </a:solidFill>
                <a:latin typeface="Calibri"/>
              </a:rPr>
              <a:t>[ Screenshot Placeholder ]
</a:t>
            </a:r>
            <a:r>
              <a:rPr sz="1100" i="1">
                <a:solidFill>
                  <a:srgbClr val="6B7280"/>
                </a:solidFill>
                <a:latin typeface="Calibri"/>
              </a:rPr>
              <a:t>Admin dashboard with monthly trend 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The registrar sees performance and trends without producing a single tally sheet by hand.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Feature — RA 9048 Petition Module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1307592"/>
            <a:ext cx="457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868680" y="1600200"/>
            <a:ext cx="228600" cy="228600"/>
          </a:xfrm>
          <a:prstGeom prst="star5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097280"/>
            <a:ext cx="60350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Dedicated workflow for </a:t>
            </a:r>
            <a:r>
              <a:rPr sz="1600" b="1">
                <a:solidFill>
                  <a:srgbClr val="1F2937"/>
                </a:solidFill>
                <a:latin typeface="Calibri"/>
              </a:rPr>
              <a:t>CCE</a:t>
            </a:r>
            <a:r>
              <a:rPr sz="1600" b="0">
                <a:solidFill>
                  <a:srgbClr val="1F2937"/>
                </a:solidFill>
                <a:latin typeface="Calibri"/>
              </a:rPr>
              <a:t> (Clerical / Typographical Error) and </a:t>
            </a:r>
            <a:r>
              <a:rPr sz="1600" b="1">
                <a:solidFill>
                  <a:srgbClr val="1F2937"/>
                </a:solidFill>
                <a:latin typeface="Calibri"/>
              </a:rPr>
              <a:t>CFN</a:t>
            </a:r>
            <a:r>
              <a:rPr sz="1600" b="0">
                <a:solidFill>
                  <a:srgbClr val="1F2937"/>
                </a:solidFill>
                <a:latin typeface="Calibri"/>
              </a:rPr>
              <a:t> (Change of First Name) petitions.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Auto-generates the </a:t>
            </a:r>
            <a:r>
              <a:rPr sz="1600" b="1">
                <a:solidFill>
                  <a:srgbClr val="1F2937"/>
                </a:solidFill>
                <a:latin typeface="Calibri"/>
              </a:rPr>
              <a:t>petition, order for posting, certificate of posting, and proof of filing</a:t>
            </a:r>
            <a:r>
              <a:rPr sz="1600" b="0">
                <a:solidFill>
                  <a:srgbClr val="1F2937"/>
                </a:solidFill>
                <a:latin typeface="Calibri"/>
              </a:rPr>
              <a:t> from official DOCX templates.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In-browser PDF preview before printing.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Tracks supporting documents and correction status from filing to resolution.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1234440"/>
            <a:ext cx="3703320" cy="3291840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800">
                <a:solidFill>
                  <a:srgbClr val="6B7280"/>
                </a:solidFill>
              </a:rPr>
              <a:t>⧉
</a:t>
            </a:r>
            <a:r>
              <a:rPr sz="1300" b="1">
                <a:solidFill>
                  <a:srgbClr val="6B7280"/>
                </a:solidFill>
                <a:latin typeface="Calibri"/>
              </a:rPr>
              <a:t>[ Screenshot Placeholder ]
</a:t>
            </a:r>
            <a:r>
              <a:rPr sz="1100" i="1">
                <a:solidFill>
                  <a:srgbClr val="6B7280"/>
                </a:solidFill>
                <a:latin typeface="Calibri"/>
              </a:rPr>
              <a:t>RA 9048 petition preview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Petition paperwork drafted in minutes, not hours — with no clerical drift.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Security — A Layered Approach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 rot="5400000">
            <a:off x="749808" y="1325880"/>
            <a:ext cx="502920" cy="640080"/>
          </a:xfrm>
          <a:prstGeom prst="homePlat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Calibri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97280"/>
            <a:ext cx="97840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iScan-CRDMS implements </a:t>
            </a:r>
            <a:r>
              <a:rPr sz="1600" b="1">
                <a:solidFill>
                  <a:srgbClr val="1F2937"/>
                </a:solidFill>
                <a:latin typeface="Calibri"/>
              </a:rPr>
              <a:t>twelve distinct security categories</a:t>
            </a:r>
            <a:r>
              <a:rPr sz="1600" b="0">
                <a:solidFill>
                  <a:srgbClr val="1F2937"/>
                </a:solidFill>
                <a:latin typeface="Calibri"/>
              </a:rPr>
              <a:t> aligned with industry best practice.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Defense-in-depth design: even if one layer is bypassed, the next holds.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Covers authentication, authorization, transport, data integrity, audit, and infrastructure.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Configurable per environment (development vs. production) via `.env` settings.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Multiple independent locks protect the same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Security — Login &amp; Account Protection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795528" y="1325880"/>
            <a:ext cx="411480" cy="365760"/>
          </a:xfrm>
          <a:prstGeom prst="blockArc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600200"/>
            <a:ext cx="5029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9264" y="1709928"/>
            <a:ext cx="64008" cy="16459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097280"/>
            <a:ext cx="97840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Passwords stored with </a:t>
            </a:r>
            <a:r>
              <a:rPr sz="1600" b="1">
                <a:solidFill>
                  <a:srgbClr val="1F2937"/>
                </a:solidFill>
                <a:latin typeface="Calibri"/>
              </a:rPr>
              <a:t>bcrypt hashing</a:t>
            </a:r>
            <a:r>
              <a:rPr sz="1600" b="0">
                <a:solidFill>
                  <a:srgbClr val="1F2937"/>
                </a:solidFill>
                <a:latin typeface="Calibri"/>
              </a:rPr>
              <a:t> — irreversible and never stored in plain text.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Rate limiting:</a:t>
            </a:r>
            <a:r>
              <a:rPr sz="1600" b="0">
                <a:solidFill>
                  <a:srgbClr val="1F2937"/>
                </a:solidFill>
                <a:latin typeface="Calibri"/>
              </a:rPr>
              <a:t> five attempts per five minutes, followed by a fifteen-minute lockout.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Session regeneration every thirty minutes.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Automatic timeout after one hour of inactivity, with clean session termination.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Brute-force guessing is mathematically blocked; idle sessions close themselves.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Security — Device Lock (Defining Safeguard)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4088" y="1399032"/>
            <a:ext cx="59436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801368"/>
            <a:ext cx="6858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399032"/>
            <a:ext cx="59436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97280"/>
            <a:ext cx="60350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Only </a:t>
            </a:r>
            <a:r>
              <a:rPr sz="1600" b="1">
                <a:solidFill>
                  <a:srgbClr val="1F2937"/>
                </a:solidFill>
                <a:latin typeface="Calibri"/>
              </a:rPr>
              <a:t>pre-approved devices</a:t>
            </a:r>
            <a:r>
              <a:rPr sz="1600" b="0">
                <a:solidFill>
                  <a:srgbClr val="1F2937"/>
                </a:solidFill>
                <a:latin typeface="Calibri"/>
              </a:rPr>
              <a:t> can reach the login page.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Browser fingerprint derived from </a:t>
            </a:r>
            <a:r>
              <a:rPr sz="1600" b="1">
                <a:solidFill>
                  <a:srgbClr val="1F2937"/>
                </a:solidFill>
                <a:latin typeface="Calibri"/>
              </a:rPr>
              <a:t>eleven device signals</a:t>
            </a:r>
            <a:r>
              <a:rPr sz="1600" b="0">
                <a:solidFill>
                  <a:srgbClr val="1F2937"/>
                </a:solidFill>
                <a:latin typeface="Calibri"/>
              </a:rPr>
              <a:t> (user agent, platform, screen, GPU, timezone, and more), hashed with SHA-256.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Unregistered devices are blocked </a:t>
            </a:r>
            <a:r>
              <a:rPr sz="1600" b="1">
                <a:solidFill>
                  <a:srgbClr val="1F2937"/>
                </a:solidFill>
                <a:latin typeface="Calibri"/>
              </a:rPr>
              <a:t>before credentials are even checked.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Admin-managed enrollment, revocation, and full event audit.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234440"/>
            <a:ext cx="3703320" cy="3291840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800">
                <a:solidFill>
                  <a:srgbClr val="6B7280"/>
                </a:solidFill>
              </a:rPr>
              <a:t>⧉
</a:t>
            </a:r>
            <a:r>
              <a:rPr sz="1300" b="1">
                <a:solidFill>
                  <a:srgbClr val="6B7280"/>
                </a:solidFill>
                <a:latin typeface="Calibri"/>
              </a:rPr>
              <a:t>[ Screenshot Placeholder ]
</a:t>
            </a:r>
            <a:r>
              <a:rPr sz="1100" i="1">
                <a:solidFill>
                  <a:srgbClr val="6B7280"/>
                </a:solidFill>
                <a:latin typeface="Calibri"/>
              </a:rPr>
              <a:t>Admin → Devices management page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A stolen password is useless on an unknown laptop.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Security — Role-Based Access Control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088" y="1399032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7512" y="1600200"/>
            <a:ext cx="20116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" y="1362456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563624"/>
            <a:ext cx="237744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6424" y="132588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69848" y="1527048"/>
            <a:ext cx="27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097280"/>
            <a:ext cx="97840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Three roles: </a:t>
            </a:r>
            <a:r>
              <a:rPr sz="1600" b="1">
                <a:solidFill>
                  <a:srgbClr val="1F2937"/>
                </a:solidFill>
                <a:latin typeface="Calibri"/>
              </a:rPr>
              <a:t>Admin, Encoder, Viewer.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Permissions are granular and </a:t>
            </a:r>
            <a:r>
              <a:rPr sz="1600" b="1">
                <a:solidFill>
                  <a:srgbClr val="1F2937"/>
                </a:solidFill>
                <a:latin typeface="Calibri"/>
              </a:rPr>
              <a:t>configurable per certificate type</a:t>
            </a:r>
            <a:r>
              <a:rPr sz="1600" b="0">
                <a:solidFill>
                  <a:srgbClr val="1F2937"/>
                </a:solidFill>
                <a:latin typeface="Calibri"/>
              </a:rPr>
              <a:t> (view, create, edit, archive).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Delete operations restricted to the Admin role only.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Permission checks enforced on every page and API endpoint.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Every user sees only what their position requires.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Security — Complete Audit Trail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1344168"/>
            <a:ext cx="502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453896"/>
            <a:ext cx="384048" cy="3657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563624"/>
            <a:ext cx="384048" cy="3657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673352"/>
            <a:ext cx="384048" cy="3657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1783080"/>
            <a:ext cx="384048" cy="3657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6424" y="1746504"/>
            <a:ext cx="201168" cy="201168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097280"/>
            <a:ext cx="603504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Append-only `activity_logs` capturing </a:t>
            </a:r>
            <a:r>
              <a:rPr sz="1600" b="1">
                <a:solidFill>
                  <a:srgbClr val="1F2937"/>
                </a:solidFill>
                <a:latin typeface="Calibri"/>
              </a:rPr>
              <a:t>every create, update, archive, delete, login, and logout.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Separate `security_logs` with severity ratings: </a:t>
            </a:r>
            <a:r>
              <a:rPr sz="1600" b="1">
                <a:solidFill>
                  <a:srgbClr val="1F2937"/>
                </a:solidFill>
                <a:latin typeface="Calibri"/>
              </a:rPr>
              <a:t>Low / Medium / High / Critical.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Each entry records the user, action, IP address, user agent, and timestamp.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Admin-accessible viewer with filtering by user, action, date, severity, and IP.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234440"/>
            <a:ext cx="3703320" cy="3291840"/>
          </a:xfrm>
          <a:prstGeom prst="rect">
            <a:avLst/>
          </a:prstGeom>
          <a:solidFill>
            <a:srgbClr val="F3F4F6"/>
          </a:solidFill>
          <a:ln w="19050">
            <a:solidFill>
              <a:srgbClr val="9CA3A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800">
                <a:solidFill>
                  <a:srgbClr val="6B7280"/>
                </a:solidFill>
              </a:rPr>
              <a:t>⧉
</a:t>
            </a:r>
            <a:r>
              <a:rPr sz="1300" b="1">
                <a:solidFill>
                  <a:srgbClr val="6B7280"/>
                </a:solidFill>
                <a:latin typeface="Calibri"/>
              </a:rPr>
              <a:t>[ Screenshot Placeholder ]
</a:t>
            </a:r>
            <a:r>
              <a:rPr sz="1100" i="1">
                <a:solidFill>
                  <a:srgbClr val="6B7280"/>
                </a:solidFill>
                <a:latin typeface="Calibri"/>
              </a:rPr>
              <a:t>Activity Logs viewer with filters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Every action is traceable to a specific person, device, and moment.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Security — Data Integrity &amp; Backups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088" y="1417320"/>
            <a:ext cx="594360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" y="1499616"/>
            <a:ext cx="594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4088" y="1737360"/>
            <a:ext cx="594360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200" b="1">
                <a:solidFill>
                  <a:srgbClr val="0B2545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097280"/>
            <a:ext cx="97840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SHA-256 hashing</a:t>
            </a:r>
            <a:r>
              <a:rPr sz="1600" b="0">
                <a:solidFill>
                  <a:srgbClr val="1F2937"/>
                </a:solidFill>
                <a:latin typeface="Calibri"/>
              </a:rPr>
              <a:t> on every PDF — instantly detects tampering or corruption.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PDF Integrity Scanner audits the entire archive on demand (ok / corrupt / missing / no_hash).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PDF Backup Manager: automatic backups on replacement, </a:t>
            </a:r>
            <a:r>
              <a:rPr sz="1600" b="1">
                <a:solidFill>
                  <a:srgbClr val="1F2937"/>
                </a:solidFill>
                <a:latin typeface="Calibri"/>
              </a:rPr>
              <a:t>one-click restore.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Soft-delete lifecycle (Active / Archived / Deleted); permanent deletion is admin-only.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Files cannot be silently altered, and nothing is ever truly lost.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Security — Web-Layer Defenses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entagon 3"/>
          <p:cNvSpPr/>
          <p:nvPr/>
        </p:nvSpPr>
        <p:spPr>
          <a:xfrm rot="5400000">
            <a:off x="749808" y="1325880"/>
            <a:ext cx="502920" cy="640080"/>
          </a:xfrm>
          <a:prstGeom prst="homePlat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508760"/>
            <a:ext cx="393192" cy="1828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645920"/>
            <a:ext cx="393192" cy="1828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" y="1783080"/>
            <a:ext cx="393192" cy="1828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097280"/>
            <a:ext cx="97840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CSRF tokens</a:t>
            </a:r>
            <a:r>
              <a:rPr sz="1600" b="0">
                <a:solidFill>
                  <a:srgbClr val="1F2937"/>
                </a:solidFill>
                <a:latin typeface="Calibri"/>
              </a:rPr>
              <a:t> on every state-changing request (forms and AJAX).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Strict </a:t>
            </a:r>
            <a:r>
              <a:rPr sz="1600" b="1">
                <a:solidFill>
                  <a:srgbClr val="1F2937"/>
                </a:solidFill>
                <a:latin typeface="Calibri"/>
              </a:rPr>
              <a:t>Content Security Policy, HSTS, X-Frame-Options, X-Content-Type-Options.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Prepared SQL statements</a:t>
            </a:r>
            <a:r>
              <a:rPr sz="1600" b="0">
                <a:solidFill>
                  <a:srgbClr val="1F2937"/>
                </a:solidFill>
                <a:latin typeface="Calibri"/>
              </a:rPr>
              <a:t> throughout — SQL injection blocked by design.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MIME-validated file uploads (PDF only); path-traversal and null-byte protection.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The system is hardened against the standard catalogue of web attacks.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Deployment — On-Premises Sovereignty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67512" y="1307592"/>
            <a:ext cx="640080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411480" cy="3657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64792"/>
            <a:ext cx="411480" cy="3657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37944"/>
            <a:ext cx="411480" cy="3657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11096"/>
            <a:ext cx="411480" cy="36576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1097280"/>
            <a:ext cx="97840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Hosted on a </a:t>
            </a:r>
            <a:r>
              <a:rPr sz="1600" b="1">
                <a:solidFill>
                  <a:srgbClr val="1F2937"/>
                </a:solidFill>
                <a:latin typeface="Calibri"/>
              </a:rPr>
              <a:t>Synology DS925+ NAS</a:t>
            </a:r>
            <a:r>
              <a:rPr sz="1600" b="0">
                <a:solidFill>
                  <a:srgbClr val="1F2937"/>
                </a:solidFill>
                <a:latin typeface="Calibri"/>
              </a:rPr>
              <a:t> inside the municipal hall.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0">
                <a:solidFill>
                  <a:srgbClr val="1F2937"/>
                </a:solidFill>
                <a:latin typeface="Calibri"/>
              </a:rPr>
              <a:t>Public access through </a:t>
            </a:r>
            <a:r>
              <a:rPr sz="1600" b="1">
                <a:solidFill>
                  <a:srgbClr val="1F2937"/>
                </a:solidFill>
                <a:latin typeface="Calibri"/>
              </a:rPr>
              <a:t>Cloudflare Tunnel</a:t>
            </a:r>
            <a:r>
              <a:rPr sz="1600" b="0">
                <a:solidFill>
                  <a:srgbClr val="1F2937"/>
                </a:solidFill>
                <a:latin typeface="Calibri"/>
              </a:rPr>
              <a:t> (https://iscan.cdrms.online) — outbound-only, no exposed ports.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Daily automated database backup at 02:00</a:t>
            </a:r>
            <a:r>
              <a:rPr sz="1600" b="0">
                <a:solidFill>
                  <a:srgbClr val="1F2937"/>
                </a:solidFill>
                <a:latin typeface="Calibri"/>
              </a:rPr>
              <a:t>; hourly code update from the source repository.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●  </a:t>
            </a:r>
            <a:r>
              <a:rPr sz="1600" b="1">
                <a:solidFill>
                  <a:srgbClr val="1F2937"/>
                </a:solidFill>
                <a:latin typeface="Calibri"/>
              </a:rPr>
              <a:t>Offline-capable:</a:t>
            </a:r>
            <a:r>
              <a:rPr sz="1600" b="0">
                <a:solidFill>
                  <a:srgbClr val="1F2937"/>
                </a:solidFill>
                <a:latin typeface="Calibri"/>
              </a:rPr>
              <a:t> vendor assets stored locally; system functions during internet outages.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l"/>
            <a:r>
              <a:rPr sz="1400" b="1">
                <a:solidFill>
                  <a:srgbClr val="7C2D12"/>
                </a:solidFill>
                <a:latin typeface="Calibri"/>
              </a:rPr>
              <a:t>In plain terms:  </a:t>
            </a:r>
            <a:r>
              <a:rPr sz="1400">
                <a:solidFill>
                  <a:srgbClr val="1F2937"/>
                </a:solidFill>
                <a:latin typeface="Calibri"/>
              </a:rPr>
              <a:t>The data lives in this office. Authorized staff can still reach it securely from anywhere.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rIns="502920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" name="Oval 2"/>
          <p:cNvSpPr/>
          <p:nvPr/>
        </p:nvSpPr>
        <p:spPr>
          <a:xfrm>
            <a:off x="502920" y="1143000"/>
            <a:ext cx="1005840" cy="100584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097280"/>
            <a:ext cx="9784080" cy="41148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●  </a:t>
            </a:r>
            <a:r>
              <a:rPr sz="1700" b="0">
                <a:solidFill>
                  <a:srgbClr val="1F2937"/>
                </a:solidFill>
                <a:latin typeface="Calibri"/>
              </a:rPr>
              <a:t>iScan-CRDMS delivers </a:t>
            </a:r>
            <a:r>
              <a:rPr sz="1700" b="1">
                <a:solidFill>
                  <a:srgbClr val="1F2937"/>
                </a:solidFill>
                <a:latin typeface="Calibri"/>
              </a:rPr>
              <a:t>faster service, fewer errors, complete accountability, and full data sovereignty.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●  </a:t>
            </a:r>
            <a:r>
              <a:rPr sz="1700" b="0">
                <a:solidFill>
                  <a:srgbClr val="1F2937"/>
                </a:solidFill>
                <a:latin typeface="Calibri"/>
              </a:rPr>
              <a:t>Built specifically for the Municipality of Baggao through Sir Atanacio G. Tungpalan's forward-thinking initiative.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>
                <a:solidFill>
                  <a:srgbClr val="0B2545"/>
                </a:solidFill>
                <a:latin typeface="Calibri"/>
              </a:rPr>
              <a:t>●  </a:t>
            </a:r>
            <a:r>
              <a:rPr sz="1700" b="0">
                <a:solidFill>
                  <a:srgbClr val="1F2937"/>
                </a:solidFill>
                <a:latin typeface="Calibri"/>
              </a:rPr>
              <a:t>A modern foundation for civil registry services that will serve residents for decades to come.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349240"/>
            <a:ext cx="11201400" cy="100584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Thank you.  Questions are welcome.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7724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iScan-CRDMS  —  Municipal Civil Registrar's Office, Municipality of Baggao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