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17"/>
    <p:sldId id="269" r:id="rId18"/>
    <p:sldId id="273" r:id="rId19"/>
    <p:sldId id="274" r:id="rId20"/>
    <p:sldId id="276" r:id="rId21"/>
    <p:sldId id="270" r:id="rId22"/>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Reorganize Uploads is an administrator maintenance tool. It scans the four certificate modules for existing PDF references, computes the correct folder from the event date and normalized last name, and moves only files whose current path is wrong. It does not upload new files, copy the entire uploads folder, or delete certificate records. Dry Run shows proposed moves without changes. Apply creates missing folders, moves PDFs, updates pdf_filename and pdf_filepath, and requires Admin access, CSRF validation, and the exact I UNDERSTAND confirmation. Missing files, destination collisions, and errors are reported, and Apply writes a timestamped log under scripts/logs.</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5637499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lstStyle/>
          <a:p>
            <a:endParaR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lstStyle/>
          <a:p>
            <a:endParaR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lstStyle/>
          <a:p>
            <a:endParaR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lstStyle/>
          <a:p>
            <a:endParaR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lstStyle/>
          <a:p>
            <a:endParaR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lstStyle/>
          <a:p>
            <a:endParaR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03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lstStyle/>
          <a:p>
            <a:endParaR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lstStyle/>
          <a:p>
            <a:endParaR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04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lstStyle/>
          <a:p>
            <a:endParaR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lstStyle/>
          <a:p>
            <a:endParaR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lstStyle/>
          <a:p>
            <a:endParaR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lstStyle/>
          <a:p>
            <a:endParaR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lstStyle/>
          <a:p>
            <a:endParaR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06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lstStyle/>
          <a:p>
            <a:endParaR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lstStyle/>
          <a:p>
            <a:endParaR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lstStyle/>
          <a:p>
            <a:endParaR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lstStyle/>
          <a:p>
            <a:endParaR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lstStyle/>
          <a:p>
            <a:endParaR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lstStyle/>
          <a:p>
            <a:endParaR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lstStyle/>
          <a:p>
            <a:endParaR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lstStyle/>
          <a:p>
            <a:endParaR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lstStyle/>
          <a:p>
            <a:endParaR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lstStyle/>
          <a:p>
            <a:endParaR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lstStyle/>
          <a:p>
            <a:endParaR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08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lstStyle/>
          <a:p>
            <a:endParaR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lstStyle/>
          <a:p>
            <a:endParaR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lstStyle/>
          <a:p>
            <a:endParaR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lstStyle/>
          <a:p>
            <a:endParaR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09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10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lstStyle/>
          <a:p>
            <a:endParaR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lstStyle/>
          <a:p>
            <a:endParaR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lstStyle/>
          <a:p>
            <a:endParaR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lstStyle/>
          <a:p>
            <a:endParaR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lstStyle/>
          <a:p>
            <a:endParaR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lstStyle/>
          <a:p>
            <a:endParaR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lstStyle/>
          <a:p>
            <a:endParaR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lstStyle/>
          <a:p>
            <a:endParaR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lstStyle/>
          <a:p>
            <a:endParaR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lstStyle/>
          <a:p>
            <a:endParaR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lstStyle/>
          <a:p>
            <a:endParaR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350" b="1">
                <a:solidFill>
                  <a:srgbClr val="FFB6C7"/>
                </a:solidFill>
                <a:latin typeface="Arial"/>
                <a:ea typeface="Arial"/>
                <a:cs typeface="Arial"/>
              </a:defRPr>
            </a:pPr>
            <a:r>
              <a:rPr sz="1350" b="1">
                <a:solidFill>
                  <a:srgbClr val="FFB6C7"/>
                </a:solidFill>
                <a:latin typeface="Arial"/>
                <a:ea typeface="Arial"/>
                <a:cs typeface="Arial"/>
              </a:rPr>
              <a:t>Admin only for permanent delete.</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bcrypt hash + 5-try rate limit + 3600 s idle timeout.</a:t>
            </a:r>
            <a:endParaRPr lang="en-AS" sz="12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CSRF token + prepared SQL + security headers + login checks.</a:t>
            </a:r>
            <a:endParaRPr lang="en-AS" sz="12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MIME/path/size checks reject unsafe files; SHA-256 detects changes.</a:t>
            </a:r>
            <a:endParaRPr lang="en-AS" sz="12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Role checks enforce actions; logs record user, action, IP, device, time.</a:t>
            </a:r>
            <a:endParaRPr lang="en-AS" sz="12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1500" b="1">
                <a:solidFill>
                  <a:srgbClr val="FFB6C7"/>
                </a:solidFill>
                <a:latin typeface="Arial" panose="020B0604020202020204" pitchFamily="34" charset="0"/>
              </a:rPr>
              <a:t>Admin only.</a:t>
            </a:r>
            <a:endParaRPr lang="en-AS" sz="15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Trash first; Admin restores or permanently deletes.</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13 / 21</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14 / 21</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lstStyle/>
          <a:p>
            <a:endParaR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lstStyle/>
          <a:p>
            <a:endParaR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bc7be029-6299-4007-b00a-47bd95cd8c7b.png"/>
          <p:cNvPicPr>
            <a:picLocks noChangeAspect="1"/>
          </p:cNvPicPr>
          <p:nvPr/>
        </p:nvPicPr>
        <p:blipFill>
          <a:blip r:embed="rId3"/>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tIns="0" r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39712" y="4297679"/>
            <a:ext cx="43434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tIns="0" r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449824"/>
            <a:ext cx="5349240" cy="219456"/>
          </a:xfrm>
          <a:prstGeom prst="rect">
            <a:avLst/>
          </a:prstGeom>
          <a:noFill/>
        </p:spPr>
        <p:txBody>
          <a:bodyPr wrap="square" lIns="0" tIns="0" r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tIns="0" r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16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lstStyle/>
          <a:p>
            <a:endParaR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lstStyle/>
          <a:p>
            <a:endParaR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lstStyle/>
          <a:p>
            <a:endParaR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04467c0a-fcce-4a5a-aac0-c01b508a0bb6.png"/>
          <p:cNvPicPr>
            <a:picLocks noChangeAspect="1"/>
          </p:cNvPicPr>
          <p:nvPr/>
        </p:nvPicPr>
        <p:blipFill>
          <a:blip r:embed="rId3"/>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tIns="0" r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105655"/>
            <a:ext cx="50292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tIns="0" r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5047488"/>
            <a:ext cx="4709159" cy="219456"/>
          </a:xfrm>
          <a:prstGeom prst="rect">
            <a:avLst/>
          </a:prstGeom>
          <a:noFill/>
        </p:spPr>
        <p:txBody>
          <a:bodyPr wrap="square" lIns="0" tIns="0" r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tIns="0" r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18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3dff5064-2809-4a38-82fa-bad3b9b660e3.png"/>
          <p:cNvPicPr>
            <a:picLocks noChangeAspect="1"/>
          </p:cNvPicPr>
          <p:nvPr/>
        </p:nvPicPr>
        <p:blipFill>
          <a:blip r:embed="rId3"/>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tIns="0" r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7648" y="4315968"/>
            <a:ext cx="4937759" cy="219456"/>
          </a:xfrm>
          <a:prstGeom prst="rect">
            <a:avLst/>
          </a:prstGeom>
          <a:noFill/>
        </p:spPr>
        <p:txBody>
          <a:bodyPr wrap="square" lIns="0" tIns="0" r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tIns="0" r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175503"/>
            <a:ext cx="4800600" cy="219456"/>
          </a:xfrm>
          <a:prstGeom prst="rect">
            <a:avLst/>
          </a:prstGeom>
          <a:noFill/>
        </p:spPr>
        <p:txBody>
          <a:bodyPr wrap="square" lIns="0" tIns="0" r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tIns="0" r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19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5837D2-A9DC-270E-B456-BAC6B4632ABB}"/>
              </a:ext>
            </a:extLst>
          </p:cNvPr>
          <p:cNvSpPr txBox="1"/>
          <p:nvPr/>
        </p:nvSpPr>
        <p:spPr>
          <a:xfrm>
            <a:off x="612648" y="283464"/>
            <a:ext cx="6858000" cy="369332"/>
          </a:xfrm>
          <a:prstGeom prst="rect">
            <a:avLst/>
          </a:prstGeom>
          <a:noFill/>
        </p:spPr>
        <p:txBody>
          <a:bodyPr vert="horz" wrap="square" lIns="0" tIns="0" rIns="0" bIns="0" rtlCol="0">
            <a:noAutofit/>
          </a:bodyPr>
          <a:lstStyle/>
          <a:p>
            <a:r>
              <a:rPr lang="en-US" sz="975" b="1">
                <a:solidFill>
                  <a:srgbClr val="2F6BDE"/>
                </a:solidFill>
                <a:latin typeface="Arial" panose="020B0604020202020204" pitchFamily="34" charset="0"/>
              </a:rPr>
              <a:t>FILE MAINTENANCE / ADMIN TOOL</a:t>
            </a:r>
            <a:endParaRPr lang="en-AS" sz="975"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AE3EFD2-E205-5BA1-FF92-F619F20B82AA}"/>
              </a:ext>
            </a:extLst>
          </p:cNvPr>
          <p:cNvSpPr txBox="1"/>
          <p:nvPr/>
        </p:nvSpPr>
        <p:spPr>
          <a:xfrm>
            <a:off x="612648" y="530352"/>
            <a:ext cx="10972800" cy="369332"/>
          </a:xfrm>
          <a:prstGeom prst="rect">
            <a:avLst/>
          </a:prstGeom>
          <a:noFill/>
        </p:spPr>
        <p:txBody>
          <a:bodyPr vert="horz" wrap="square" lIns="0" tIns="0" rIns="0" bIns="0" rtlCol="0">
            <a:noAutofit/>
          </a:bodyPr>
          <a:lstStyle/>
          <a:p>
            <a:r>
              <a:rPr lang="en-US" sz="2550" b="1">
                <a:solidFill>
                  <a:srgbClr val="17263A"/>
                </a:solidFill>
                <a:latin typeface="Arial" panose="020B0604020202020204" pitchFamily="34" charset="0"/>
              </a:rPr>
              <a:t>Reorganize Uploads: What It Actually Does</a:t>
            </a:r>
            <a:endParaRPr lang="en-AS" sz="255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18040261-3B70-C249-49A9-AF722F4D4EF9}"/>
              </a:ext>
            </a:extLst>
          </p:cNvPr>
          <p:cNvSpPr/>
          <p:nvPr/>
        </p:nvSpPr>
        <p:spPr>
          <a:xfrm>
            <a:off x="612648" y="1197864"/>
            <a:ext cx="685800" cy="4572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A2D83619-9947-D958-F2D1-C8AC2C2CA79D}"/>
              </a:ext>
            </a:extLst>
          </p:cNvPr>
          <p:cNvSpPr txBox="1"/>
          <p:nvPr/>
        </p:nvSpPr>
        <p:spPr>
          <a:xfrm>
            <a:off x="612648" y="1426464"/>
            <a:ext cx="10972800" cy="369332"/>
          </a:xfrm>
          <a:prstGeom prst="rect">
            <a:avLst/>
          </a:prstGeom>
          <a:noFill/>
        </p:spPr>
        <p:txBody>
          <a:bodyPr vert="horz" wrap="square" lIns="0" tIns="0" rIns="0" bIns="0" rtlCol="0">
            <a:noAutofit/>
          </a:bodyPr>
          <a:lstStyle/>
          <a:p>
            <a:r>
              <a:rPr lang="en-US" sz="1600">
                <a:solidFill>
                  <a:srgbClr val="5E6C80"/>
                </a:solidFill>
                <a:latin typeface="Arial" panose="020B0604020202020204" pitchFamily="34" charset="0"/>
              </a:rPr>
              <a:t>Corrects existing PDF locations without copying the whole uploads folder.</a:t>
            </a:r>
            <a:endParaRPr lang="en-AS" sz="1600">
              <a:solidFill>
                <a:srgbClr val="5E6C80"/>
              </a:solidFill>
              <a:latin typeface="Arial" panose="020B0604020202020204" pitchFamily="34" charset="0"/>
            </a:endParaRPr>
          </a:p>
        </p:txBody>
      </p:sp>
      <p:sp>
        <p:nvSpPr>
          <p:cNvPr id="6" name="Rectangle: Rounded Corners 5">
            <a:extLst>
              <a:ext uri="{FF2B5EF4-FFF2-40B4-BE49-F238E27FC236}">
                <a16:creationId xmlns:a16="http://schemas.microsoft.com/office/drawing/2014/main" id="{CA376896-3C05-5163-D819-B15FC8E4A156}"/>
              </a:ext>
            </a:extLst>
          </p:cNvPr>
          <p:cNvSpPr/>
          <p:nvPr/>
        </p:nvSpPr>
        <p:spPr>
          <a:xfrm>
            <a:off x="612648" y="1874520"/>
            <a:ext cx="5440680" cy="2148840"/>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7" name="TextBox 6">
            <a:extLst>
              <a:ext uri="{FF2B5EF4-FFF2-40B4-BE49-F238E27FC236}">
                <a16:creationId xmlns:a16="http://schemas.microsoft.com/office/drawing/2014/main" id="{3864490D-C996-02E1-6DD6-90E784D37184}"/>
              </a:ext>
            </a:extLst>
          </p:cNvPr>
          <p:cNvSpPr txBox="1"/>
          <p:nvPr/>
        </p:nvSpPr>
        <p:spPr>
          <a:xfrm>
            <a:off x="813816" y="2020824"/>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Scope</a:t>
            </a:r>
            <a:endParaRPr lang="en-AS" sz="1550" b="1">
              <a:solidFill>
                <a:srgbClr val="17263A"/>
              </a:solidFill>
              <a:latin typeface="Arial" panose="020B0604020202020204" pitchFamily="34" charset="0"/>
            </a:endParaRPr>
          </a:p>
        </p:txBody>
      </p:sp>
      <p:sp>
        <p:nvSpPr>
          <p:cNvPr id="8" name="TextBox 7">
            <a:extLst>
              <a:ext uri="{FF2B5EF4-FFF2-40B4-BE49-F238E27FC236}">
                <a16:creationId xmlns:a16="http://schemas.microsoft.com/office/drawing/2014/main" id="{520ED080-2F50-EAFD-F4E8-0698B813E4E8}"/>
              </a:ext>
            </a:extLst>
          </p:cNvPr>
          <p:cNvSpPr txBox="1"/>
          <p:nvPr/>
        </p:nvSpPr>
        <p:spPr>
          <a:xfrm>
            <a:off x="813816" y="2359152"/>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Scans existing PDFs linked to Birth, Death, Marriage, and Marriage License records.
Moves only files whose current folder is wrong; it is not a new upload tool and does not copy the whole uploads folder.
Updates only pdf_filename and pdf_filepath; it does not delete certificate records.</a:t>
            </a:r>
            <a:endParaRPr lang="en-AS" sz="1210">
              <a:solidFill>
                <a:srgbClr val="5E6C80"/>
              </a:solidFill>
              <a:latin typeface="Arial" panose="020B0604020202020204" pitchFamily="34" charset="0"/>
            </a:endParaRPr>
          </a:p>
        </p:txBody>
      </p:sp>
      <p:sp>
        <p:nvSpPr>
          <p:cNvPr id="9" name="Rectangle: Rounded Corners 8">
            <a:extLst>
              <a:ext uri="{FF2B5EF4-FFF2-40B4-BE49-F238E27FC236}">
                <a16:creationId xmlns:a16="http://schemas.microsoft.com/office/drawing/2014/main" id="{A580D37B-F814-CBFC-EB63-392729D2A78C}"/>
              </a:ext>
            </a:extLst>
          </p:cNvPr>
          <p:cNvSpPr/>
          <p:nvPr/>
        </p:nvSpPr>
        <p:spPr>
          <a:xfrm>
            <a:off x="6172200" y="1874520"/>
            <a:ext cx="5413248" cy="2148840"/>
          </a:xfrm>
          <a:prstGeom prst="roundRect">
            <a:avLst/>
          </a:prstGeom>
          <a:solidFill>
            <a:srgbClr val="EEFBF5"/>
          </a:solidFill>
          <a:ln w="15875">
            <a:solidFill>
              <a:srgbClr val="168A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87BAC901-BB8D-14A2-4347-B2D326E0F34F}"/>
              </a:ext>
            </a:extLst>
          </p:cNvPr>
          <p:cNvSpPr txBox="1"/>
          <p:nvPr/>
        </p:nvSpPr>
        <p:spPr>
          <a:xfrm>
            <a:off x="6373368" y="2020824"/>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Folder decision</a:t>
            </a:r>
            <a:endParaRPr lang="en-AS" sz="1550"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6FC5A46F-49B8-53BD-31EC-E4F9315A45F8}"/>
              </a:ext>
            </a:extLst>
          </p:cNvPr>
          <p:cNvSpPr txBox="1"/>
          <p:nvPr/>
        </p:nvSpPr>
        <p:spPr>
          <a:xfrm>
            <a:off x="6373368" y="2359152"/>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Birth: DOB + child last name
Death: date of death + deceased last name
Marriage: date of marriage + husband last name
License: application date + groom last name
The event date supplies the year; registry number is the fallback.</a:t>
            </a:r>
            <a:endParaRPr lang="en-AS" sz="121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43A4D3FD-4362-56DE-833B-4D83481542D6}"/>
              </a:ext>
            </a:extLst>
          </p:cNvPr>
          <p:cNvSpPr/>
          <p:nvPr/>
        </p:nvSpPr>
        <p:spPr>
          <a:xfrm>
            <a:off x="6172200" y="4224528"/>
            <a:ext cx="5413248" cy="1481328"/>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TextBox 12">
            <a:extLst>
              <a:ext uri="{FF2B5EF4-FFF2-40B4-BE49-F238E27FC236}">
                <a16:creationId xmlns:a16="http://schemas.microsoft.com/office/drawing/2014/main" id="{276BC4E4-17D5-9D2B-E7E9-8E0FE8FE4D51}"/>
              </a:ext>
            </a:extLst>
          </p:cNvPr>
          <p:cNvSpPr txBox="1"/>
          <p:nvPr/>
        </p:nvSpPr>
        <p:spPr>
          <a:xfrm>
            <a:off x="6373368" y="4370832"/>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Checks and results</a:t>
            </a:r>
            <a:endParaRPr lang="en-AS" sz="1550" b="1">
              <a:solidFill>
                <a:srgbClr val="17263A"/>
              </a:solidFill>
              <a:latin typeface="Arial" panose="020B0604020202020204" pitchFamily="34" charset="0"/>
            </a:endParaRPr>
          </a:p>
        </p:txBody>
      </p:sp>
      <p:sp>
        <p:nvSpPr>
          <p:cNvPr id="14" name="TextBox 13">
            <a:extLst>
              <a:ext uri="{FF2B5EF4-FFF2-40B4-BE49-F238E27FC236}">
                <a16:creationId xmlns:a16="http://schemas.microsoft.com/office/drawing/2014/main" id="{6FFCE1BF-C3DA-1EE9-8EB8-22185F7CB619}"/>
              </a:ext>
            </a:extLst>
          </p:cNvPr>
          <p:cNvSpPr txBox="1"/>
          <p:nvPr/>
        </p:nvSpPr>
        <p:spPr>
          <a:xfrm>
            <a:off x="6373368" y="4709160"/>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Already correct = skipped
Missing source = skipped
Destination exists = collision
Errors are logged; Apply logs are saved in scripts/logs.</a:t>
            </a:r>
            <a:endParaRPr lang="en-AS" sz="1210">
              <a:solidFill>
                <a:srgbClr val="5E6C80"/>
              </a:solidFill>
              <a:latin typeface="Arial" panose="020B0604020202020204" pitchFamily="34" charset="0"/>
            </a:endParaRPr>
          </a:p>
        </p:txBody>
      </p:sp>
      <p:sp>
        <p:nvSpPr>
          <p:cNvPr id="15" name="Rectangle: Rounded Corners 14">
            <a:extLst>
              <a:ext uri="{FF2B5EF4-FFF2-40B4-BE49-F238E27FC236}">
                <a16:creationId xmlns:a16="http://schemas.microsoft.com/office/drawing/2014/main" id="{CC8F45A9-C41C-C91E-DAAB-ACFFC126B2BE}"/>
              </a:ext>
            </a:extLst>
          </p:cNvPr>
          <p:cNvSpPr/>
          <p:nvPr/>
        </p:nvSpPr>
        <p:spPr>
          <a:xfrm>
            <a:off x="612648" y="5961888"/>
            <a:ext cx="10972800" cy="429768"/>
          </a:xfrm>
          <a:prstGeom prst="roundRect">
            <a:avLst/>
          </a:prstGeom>
          <a:solidFill>
            <a:srgbClr val="FFF8EA"/>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6" name="TextBox 15">
            <a:extLst>
              <a:ext uri="{FF2B5EF4-FFF2-40B4-BE49-F238E27FC236}">
                <a16:creationId xmlns:a16="http://schemas.microsoft.com/office/drawing/2014/main" id="{83396688-09AF-39CD-50CE-2AA5AF121FFC}"/>
              </a:ext>
            </a:extLst>
          </p:cNvPr>
          <p:cNvSpPr txBox="1"/>
          <p:nvPr/>
        </p:nvSpPr>
        <p:spPr>
          <a:xfrm>
            <a:off x="804672" y="6080760"/>
            <a:ext cx="10607040" cy="369332"/>
          </a:xfrm>
          <a:prstGeom prst="rect">
            <a:avLst/>
          </a:prstGeom>
          <a:noFill/>
        </p:spPr>
        <p:txBody>
          <a:bodyPr vert="horz" wrap="square" lIns="0" tIns="0" rIns="0" bIns="0" rtlCol="0">
            <a:noAutofit/>
          </a:bodyPr>
          <a:lstStyle/>
          <a:p>
            <a:r>
              <a:rPr lang="en-US" sz="1220" b="1">
                <a:solidFill>
                  <a:srgbClr val="17263A"/>
                </a:solidFill>
                <a:latin typeface="Arial" panose="020B0604020202020204" pitchFamily="34" charset="0"/>
              </a:rPr>
              <a:t>Example: birth/2014/DELOS_SANTOS/cert_xxx.pdf  •  Use Dry Run first, review results, then Apply.</a:t>
            </a:r>
            <a:endParaRPr lang="en-AS" sz="1220" b="1">
              <a:solidFill>
                <a:srgbClr val="17263A"/>
              </a:solidFill>
              <a:latin typeface="Arial" panose="020B0604020202020204" pitchFamily="34" charset="0"/>
            </a:endParaRPr>
          </a:p>
        </p:txBody>
      </p:sp>
      <p:sp>
        <p:nvSpPr>
          <p:cNvPr id="17" name="TextBox 16">
            <a:extLst>
              <a:ext uri="{FF2B5EF4-FFF2-40B4-BE49-F238E27FC236}">
                <a16:creationId xmlns:a16="http://schemas.microsoft.com/office/drawing/2014/main" id="{16F0A43C-0C45-84A9-B521-32188967F75F}"/>
              </a:ext>
            </a:extLst>
          </p:cNvPr>
          <p:cNvSpPr txBox="1"/>
          <p:nvPr/>
        </p:nvSpPr>
        <p:spPr>
          <a:xfrm>
            <a:off x="512064" y="6547104"/>
            <a:ext cx="6675120" cy="369332"/>
          </a:xfrm>
          <a:prstGeom prst="rect">
            <a:avLst/>
          </a:prstGeom>
          <a:noFill/>
        </p:spPr>
        <p:txBody>
          <a:bodyPr vert="horz" wrap="square" lIns="0" tIns="0" rIns="0" bIns="0" rtlCol="0">
            <a:noAutofit/>
          </a:bodyPr>
          <a:lstStyle/>
          <a:p>
            <a:r>
              <a:rPr lang="en-US" sz="825">
                <a:solidFill>
                  <a:srgbClr val="B8C9DE"/>
                </a:solidFill>
                <a:latin typeface="Arial" panose="020B0604020202020204" pitchFamily="34" charset="0"/>
              </a:rPr>
              <a:t>iScan CRDMS  |  Civil Registry Records Management System</a:t>
            </a:r>
            <a:endParaRPr lang="en-AS" sz="825">
              <a:solidFill>
                <a:srgbClr val="B8C9DE"/>
              </a:solidFill>
              <a:latin typeface="Arial" panose="020B0604020202020204" pitchFamily="34" charset="0"/>
            </a:endParaRPr>
          </a:p>
        </p:txBody>
      </p:sp>
      <p:sp>
        <p:nvSpPr>
          <p:cNvPr id="18" name="TextBox 17">
            <a:extLst>
              <a:ext uri="{FF2B5EF4-FFF2-40B4-BE49-F238E27FC236}">
                <a16:creationId xmlns:a16="http://schemas.microsoft.com/office/drawing/2014/main" id="{FEC93F65-B506-8116-1FF9-65F008B66C69}"/>
              </a:ext>
            </a:extLst>
          </p:cNvPr>
          <p:cNvSpPr txBox="1"/>
          <p:nvPr/>
        </p:nvSpPr>
        <p:spPr>
          <a:xfrm>
            <a:off x="10378440" y="6547104"/>
            <a:ext cx="1298448" cy="369332"/>
          </a:xfrm>
          <a:prstGeom prst="rect">
            <a:avLst/>
          </a:prstGeom>
          <a:noFill/>
        </p:spPr>
        <p:txBody>
          <a:bodyPr vert="horz" wrap="square" lIns="0" tIns="0" rIns="0" bIns="0" rtlCol="0">
            <a:noAutofit/>
          </a:bodyPr>
          <a:lstStyle/>
          <a:p>
            <a:pPr algn="r"/>
            <a:r>
              <a:rPr lang="en-AS" sz="825" b="1">
                <a:solidFill>
                  <a:srgbClr val="B8C9DE"/>
                </a:solidFill>
                <a:latin typeface="Arial" panose="020B0604020202020204" pitchFamily="34" charset="0"/>
              </a:rPr>
              <a:t>20 / 21</a:t>
            </a:r>
          </a:p>
        </p:txBody>
      </p:sp>
    </p:spTree>
    <p:extLst>
      <p:ext uri="{BB962C8B-B14F-4D97-AF65-F5344CB8AC3E}">
        <p14:creationId xmlns:p14="http://schemas.microsoft.com/office/powerpoint/2010/main" val="1800695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lstStyle/>
          <a:p>
            <a:endParaR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lstStyle/>
          <a:p>
            <a:endParaR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lstStyle/>
          <a:p>
            <a:endParaR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lstStyle/>
          <a:p>
            <a:endParaR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21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3160</Words>
  <Application>Microsoft Office PowerPoint</Application>
  <DocSecurity>0</DocSecurity>
  <PresentationFormat>Widescreen</PresentationFormat>
  <Paragraphs>350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3</cp:revision>
  <dcterms:created xsi:type="dcterms:W3CDTF">2026-09-09T00:15:58Z</dcterms:created>
  <dcterms:modified xsi:type="dcterms:W3CDTF">2026-09-09T05:30:22Z</dcterms:modified>
</cp:coreProperties>
</file>