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75" r:id="rId26"/>
    <p:sldId id="269" r:id="rId17"/>
    <p:sldId id="273" r:id="rId24"/>
    <p:sldId id="274" r:id="rId25"/>
    <p:sldId id="270" r:id="rId18"/>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9.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view. The login flow uses bcrypt password hashes, active rate limiting, and a 3600-second session timeout. Requests use CSRF protection and prepared SQL; uploads use MIME/path and size checks; PDF hashes and backups help detect file changes; roles and audit/security logs make actions accountable. The 15-minute account-lockout constant is not presented as an active separate control.</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352810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non-IT staff: think of the system as a locked records office. The right people get the right access, too many failed keys slow further attempts, an idle desk logs out, every file is checked before filing, and the history book records important actions. Sa madaling salita, security protects the record without making the daily work confusing.</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700521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Registered Devices gives administrators a device registry. The system stores a browser or workstation fingerprint, and an administrator can register, review, revoke, or remove entries. Device Lock is optional, so the screenshot correctly shows that all devices may still log in until an administrator enables the restriction. In simple terms, the office can keep a list of approved computers and block unknown devices after the lock is turned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Reorganize Uploads helps clean up older PDFs that are in the wrong folder. Dry Run shows the proposed moves without changing files or database paths. Apply performs the move and updates the database only after the user types UNDERSTAND, which gives staff a review step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separates local office access from remote internet access. The browser, scanner, PHP application, database, and PDF archive communicate across the office LAN and NAS, so staff can continue work during an internet outage. Cloudflare or other public access is unavailable during the outage, but it returns when the internet connection is restored. In simple terms, the records stay inside the office and the internet is only needed for outside access.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142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txBody>
          <a:bodyPr/>
          <a:p/>
        </p:txBody>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txBody>
          <a:bodyPr/>
          <a:p/>
        </p:txBody>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01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txBody>
          <a:bodyPr/>
          <a:p/>
        </p:txBody>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txBody>
          <a:bodyPr/>
          <a:p/>
        </p:txBody>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txBody>
          <a:bodyPr/>
          <a:p/>
        </p:txBody>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txBody>
          <a:bodyPr/>
          <a:p/>
        </p:txBody>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txBody>
          <a:bodyPr/>
          <a:p/>
        </p:txBody>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txBody>
          <a:bodyPr/>
          <a:p/>
        </p:txBody>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txBody>
          <a:bodyPr/>
          <a:p/>
        </p:txBody>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txBody>
          <a:bodyPr/>
          <a:p/>
        </p:txBody>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02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txBody>
          <a:bodyPr/>
          <a:p/>
        </p:txBody>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txBody>
          <a:bodyPr/>
          <a:p/>
        </p:txBody>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txBody>
          <a:bodyPr/>
          <a:p/>
        </p:txBody>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03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txBody>
          <a:bodyPr/>
          <a:p/>
        </p:txBody>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txBody>
          <a:bodyPr/>
          <a:p/>
        </p:txBody>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04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txBody>
          <a:bodyPr/>
          <a:p/>
        </p:txBody>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txBody>
          <a:bodyPr/>
          <a:p/>
        </p:txBody>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txBody>
          <a:bodyPr/>
          <a:p/>
        </p:txBody>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txBody>
          <a:bodyPr/>
          <a:p/>
        </p:txBody>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txBody>
          <a:bodyPr/>
          <a:p/>
        </p:txBody>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txBody>
          <a:bodyPr/>
          <a:p/>
        </p:txBody>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txBody>
          <a:bodyPr/>
          <a:p/>
        </p:txBody>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txBody>
          <a:bodyPr/>
          <a:p/>
        </p:txBody>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05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txBody>
          <a:bodyPr/>
          <a:p/>
        </p:txBody>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txBody>
          <a:bodyPr/>
          <a:p/>
        </p:txBody>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txBody>
          <a:bodyPr/>
          <a:p/>
        </p:txBody>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txBody>
          <a:bodyPr/>
          <a:p/>
        </p:txBody>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txBody>
          <a:bodyPr/>
          <a:p/>
        </p:txBody>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06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txBody>
          <a:bodyPr/>
          <a:p/>
        </p:txBody>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txBody>
          <a:bodyPr/>
          <a:p/>
        </p:txBody>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txBody>
          <a:bodyPr/>
          <a:p/>
        </p:txBody>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txBody>
          <a:bodyPr/>
          <a:p/>
        </p:txBody>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txBody>
          <a:bodyPr/>
          <a:p/>
        </p:txBody>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txBody>
          <a:bodyPr/>
          <a:p/>
        </p:txBody>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txBody>
          <a:bodyPr/>
          <a:p/>
        </p:txBody>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txBody>
          <a:bodyPr/>
          <a:p/>
        </p:txBody>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txBody>
          <a:bodyPr/>
          <a:p/>
        </p:txBody>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txBody>
          <a:bodyPr/>
          <a:p/>
        </p:txBody>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txBody>
          <a:bodyPr/>
          <a:p/>
        </p:txBody>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07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txBody>
          <a:bodyPr/>
          <a:p/>
        </p:txBody>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txBody>
          <a:bodyPr/>
          <a:p/>
        </p:txBody>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txBody>
          <a:bodyPr/>
          <a:p/>
        </p:txBody>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txBody>
          <a:bodyPr/>
          <a:p/>
        </p:txBody>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08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txBody>
          <a:bodyPr/>
          <a:p/>
        </p:txBody>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txBody>
          <a:bodyPr/>
          <a:p/>
        </p:txBody>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txBody>
          <a:bodyPr/>
          <a:p/>
        </p:txBody>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txBody>
          <a:bodyPr/>
          <a:p/>
        </p:txBody>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09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txBody>
          <a:bodyPr/>
          <a:p/>
        </p:txBody>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10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txBody>
          <a:bodyPr/>
          <a:p/>
        </p:txBody>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txBody>
          <a:bodyPr/>
          <a:p/>
        </p:txBody>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txBody>
          <a:bodyPr/>
          <a:p/>
        </p:txBody>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txBody>
          <a:bodyPr/>
          <a:p/>
        </p:txBody>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txBody>
          <a:bodyPr/>
          <a:p/>
        </p:txBody>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txBody>
          <a:bodyPr/>
          <a:p/>
        </p:txBody>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11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Each control answers a clear question: who can enter, what can they change, and what history remains.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txBody>
          <a:bodyPr/>
          <a:p/>
        </p:txBody>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Blocks login after 5 failed tries in 5 minutes.</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txBody>
          <a:bodyPr/>
          <a:p/>
        </p:txBody>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Logs out after 60 minutes idle; the next request returns to login.</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txBody>
          <a:bodyPr/>
          <a:p/>
        </p:txBody>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manages/deletes; Encoder enters/updates; Viewer reads.</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txBody>
          <a:bodyPr/>
          <a:p/>
        </p:txBody>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Records who did what, from which IP/device, and when.</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txBody>
          <a:bodyPr/>
          <a:p/>
        </p:txBody>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575" b="1">
                <a:solidFill>
                  <a:srgbClr val="FFB6C7"/>
                </a:solidFill>
                <a:latin typeface="Arial"/>
                <a:ea typeface="Arial"/>
                <a:cs typeface="Arial"/>
              </a:defRPr>
            </a:pPr>
            <a:r>
              <a:rPr sz="1575" b="1">
                <a:solidFill>
                  <a:srgbClr val="FFB6C7"/>
                </a:solidFill>
                <a:latin typeface="Arial"/>
                <a:ea typeface="Arial"/>
                <a:cs typeface="Arial"/>
              </a:rPr>
              <a:t>Only Admin can delete permanently.</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Other roles send records to Trash; Admin can restore or permanently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12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B3D54-DFFE-F91C-CC46-4630599BADFA}"/>
              </a:ext>
            </a:extLst>
          </p:cNvPr>
          <p:cNvSpPr txBox="1"/>
          <p:nvPr/>
        </p:nvSpPr>
        <p:spPr>
          <a:xfrm>
            <a:off x="609600" y="304800"/>
            <a:ext cx="5524500" cy="292388"/>
          </a:xfrm>
          <a:prstGeom prst="rect">
            <a:avLst/>
          </a:prstGeom>
          <a:noFill/>
        </p:spPr>
        <p:txBody>
          <a:bodyPr vert="horz" wrap="square" rtlCol="0">
            <a:spAutoFit/>
          </a:bodyPr>
          <a:lstStyle/>
          <a:p>
            <a:r>
              <a:rPr lang="en-US" sz="1300" b="1">
                <a:solidFill>
                  <a:srgbClr val="8EB7FF"/>
                </a:solidFill>
                <a:latin typeface="Arial" panose="020B0604020202020204" pitchFamily="34" charset="0"/>
              </a:rPr>
              <a:t>SECURITY - TECHNICAL VIEW</a:t>
            </a:r>
            <a:endParaRPr lang="en-AS" sz="1300" b="1">
              <a:solidFill>
                <a:srgbClr val="8EB7FF"/>
              </a:solidFill>
              <a:latin typeface="Arial" panose="020B0604020202020204" pitchFamily="34" charset="0"/>
            </a:endParaRPr>
          </a:p>
        </p:txBody>
      </p:sp>
      <p:sp>
        <p:nvSpPr>
          <p:cNvPr id="3" name="TextBox 2">
            <a:extLst>
              <a:ext uri="{FF2B5EF4-FFF2-40B4-BE49-F238E27FC236}">
                <a16:creationId xmlns:a16="http://schemas.microsoft.com/office/drawing/2014/main" id="{C55073B3-B9CE-D8F1-D2FD-0A78295AD521}"/>
              </a:ext>
            </a:extLst>
          </p:cNvPr>
          <p:cNvSpPr txBox="1"/>
          <p:nvPr/>
        </p:nvSpPr>
        <p:spPr>
          <a:xfrm>
            <a:off x="609600" y="552450"/>
            <a:ext cx="7143750" cy="646331"/>
          </a:xfrm>
          <a:prstGeom prst="rect">
            <a:avLst/>
          </a:prstGeom>
          <a:noFill/>
        </p:spPr>
        <p:txBody>
          <a:bodyPr vert="horz" wrap="square" rtlCol="0">
            <a:spAutoFit/>
          </a:bodyPr>
          <a:lstStyle/>
          <a:p>
            <a:r>
              <a:rPr lang="en-US" sz="3600" b="1">
                <a:solidFill>
                  <a:srgbClr val="FFFFFF"/>
                </a:solidFill>
                <a:latin typeface="Arial" panose="020B0604020202020204" pitchFamily="34" charset="0"/>
              </a:rPr>
              <a:t>How the controls work</a:t>
            </a:r>
            <a:endParaRPr lang="en-AS" sz="3600" b="1">
              <a:solidFill>
                <a:srgbClr val="FFFFFF"/>
              </a:solidFill>
              <a:latin typeface="Arial" panose="020B0604020202020204" pitchFamily="34" charset="0"/>
            </a:endParaRPr>
          </a:p>
        </p:txBody>
      </p:sp>
      <p:sp>
        <p:nvSpPr>
          <p:cNvPr id="4" name="Rectangle 3">
            <a:extLst>
              <a:ext uri="{FF2B5EF4-FFF2-40B4-BE49-F238E27FC236}">
                <a16:creationId xmlns:a16="http://schemas.microsoft.com/office/drawing/2014/main" id="{D978678B-B99D-1423-8EBF-B42021408919}"/>
              </a:ext>
            </a:extLst>
          </p:cNvPr>
          <p:cNvSpPr/>
          <p:nvPr/>
        </p:nvSpPr>
        <p:spPr>
          <a:xfrm>
            <a:off x="609600" y="1200150"/>
            <a:ext cx="685800" cy="47625"/>
          </a:xfrm>
          <a:prstGeom prst="rect">
            <a:avLst/>
          </a:prstGeom>
          <a:solidFill>
            <a:srgbClr val="4A8D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9D8C0CFE-C375-0BA2-66F9-A80ABA5D892E}"/>
              </a:ext>
            </a:extLst>
          </p:cNvPr>
          <p:cNvSpPr txBox="1"/>
          <p:nvPr/>
        </p:nvSpPr>
        <p:spPr>
          <a:xfrm>
            <a:off x="609600" y="1466850"/>
            <a:ext cx="6858000" cy="769441"/>
          </a:xfrm>
          <a:prstGeom prst="rect">
            <a:avLst/>
          </a:prstGeom>
          <a:noFill/>
        </p:spPr>
        <p:txBody>
          <a:bodyPr vert="horz" wrap="square" rtlCol="0">
            <a:spAutoFit/>
          </a:bodyPr>
          <a:lstStyle/>
          <a:p>
            <a:r>
              <a:rPr lang="en-US" sz="2200">
                <a:solidFill>
                  <a:srgbClr val="BFD0E7"/>
                </a:solidFill>
                <a:latin typeface="Arial" panose="020B0604020202020204" pitchFamily="34" charset="0"/>
              </a:rPr>
              <a:t>Technical view: what each control checks, blocks, or records.</a:t>
            </a:r>
            <a:endParaRPr lang="en-AS" sz="2200">
              <a:solidFill>
                <a:srgbClr val="BFD0E7"/>
              </a:solidFill>
              <a:latin typeface="Arial" panose="020B0604020202020204" pitchFamily="34" charset="0"/>
            </a:endParaRPr>
          </a:p>
        </p:txBody>
      </p:sp>
      <p:pic>
        <p:nvPicPr>
          <p:cNvPr id="7" name="Picture 6">
            <a:extLst>
              <a:ext uri="{FF2B5EF4-FFF2-40B4-BE49-F238E27FC236}">
                <a16:creationId xmlns:a16="http://schemas.microsoft.com/office/drawing/2014/main" id="{E4EB0E36-2B89-07C3-344B-DCDE1A427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5750" y="2095500"/>
            <a:ext cx="3667125" cy="2333625"/>
          </a:xfrm>
          <a:prstGeom prst="rect">
            <a:avLst/>
          </a:prstGeom>
        </p:spPr>
      </p:pic>
      <p:sp>
        <p:nvSpPr>
          <p:cNvPr id="8" name="Rectangle: Rounded Corners 7">
            <a:extLst>
              <a:ext uri="{FF2B5EF4-FFF2-40B4-BE49-F238E27FC236}">
                <a16:creationId xmlns:a16="http://schemas.microsoft.com/office/drawing/2014/main" id="{93B56BE4-4E5B-1BFF-EF10-0BF5DCFBD86E}"/>
              </a:ext>
            </a:extLst>
          </p:cNvPr>
          <p:cNvSpPr/>
          <p:nvPr/>
        </p:nvSpPr>
        <p:spPr>
          <a:xfrm>
            <a:off x="666750" y="2381250"/>
            <a:ext cx="3143250" cy="857250"/>
          </a:xfrm>
          <a:prstGeom prst="roundRect">
            <a:avLst/>
          </a:prstGeom>
          <a:solidFill>
            <a:srgbClr val="183657"/>
          </a:solidFill>
          <a:ln w="16510">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TextBox 8">
            <a:extLst>
              <a:ext uri="{FF2B5EF4-FFF2-40B4-BE49-F238E27FC236}">
                <a16:creationId xmlns:a16="http://schemas.microsoft.com/office/drawing/2014/main" id="{996B570C-3ED2-0B6A-4DA6-02689BAE0A41}"/>
              </a:ext>
            </a:extLst>
          </p:cNvPr>
          <p:cNvSpPr txBox="1"/>
          <p:nvPr/>
        </p:nvSpPr>
        <p:spPr>
          <a:xfrm>
            <a:off x="838200"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Authentication</a:t>
            </a:r>
            <a:endParaRPr lang="en-AS" sz="1900" b="1">
              <a:solidFill>
                <a:srgbClr val="FFFFFF"/>
              </a:solidFill>
              <a:latin typeface="Arial" panose="020B0604020202020204" pitchFamily="34" charset="0"/>
            </a:endParaRPr>
          </a:p>
        </p:txBody>
      </p:sp>
      <p:sp>
        <p:nvSpPr>
          <p:cNvPr id="10" name="TextBox 9">
            <a:extLst>
              <a:ext uri="{FF2B5EF4-FFF2-40B4-BE49-F238E27FC236}">
                <a16:creationId xmlns:a16="http://schemas.microsoft.com/office/drawing/2014/main" id="{73D3527A-D224-FD3E-6AD5-972FB865B20F}"/>
              </a:ext>
            </a:extLst>
          </p:cNvPr>
          <p:cNvSpPr txBox="1"/>
          <p:nvPr/>
        </p:nvSpPr>
        <p:spPr>
          <a:xfrm>
            <a:off x="838200" y="2838450"/>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bcrypt password hash; rate limit after 5 failed tries; 3600-second idle timeout.</a:t>
            </a:r>
            <a:endParaRPr lang="en-AS" sz="1400">
              <a:solidFill>
                <a:srgbClr val="BFD0E7"/>
              </a:solidFill>
              <a:latin typeface="Arial" panose="020B0604020202020204" pitchFamily="34" charset="0"/>
            </a:endParaRPr>
          </a:p>
        </p:txBody>
      </p:sp>
      <p:sp>
        <p:nvSpPr>
          <p:cNvPr id="11" name="Rectangle: Rounded Corners 10">
            <a:extLst>
              <a:ext uri="{FF2B5EF4-FFF2-40B4-BE49-F238E27FC236}">
                <a16:creationId xmlns:a16="http://schemas.microsoft.com/office/drawing/2014/main" id="{1F895B84-FFCE-EC32-4810-02D4A7A7564B}"/>
              </a:ext>
            </a:extLst>
          </p:cNvPr>
          <p:cNvSpPr/>
          <p:nvPr/>
        </p:nvSpPr>
        <p:spPr>
          <a:xfrm>
            <a:off x="4238625" y="2381250"/>
            <a:ext cx="3143250" cy="857250"/>
          </a:xfrm>
          <a:prstGeom prst="roundRect">
            <a:avLst/>
          </a:prstGeom>
          <a:solidFill>
            <a:srgbClr val="183657"/>
          </a:solidFill>
          <a:ln w="16510">
            <a:solidFill>
              <a:srgbClr val="17A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2" name="TextBox 11">
            <a:extLst>
              <a:ext uri="{FF2B5EF4-FFF2-40B4-BE49-F238E27FC236}">
                <a16:creationId xmlns:a16="http://schemas.microsoft.com/office/drawing/2014/main" id="{D264AE39-5EE1-0128-5371-382047878976}"/>
              </a:ext>
            </a:extLst>
          </p:cNvPr>
          <p:cNvSpPr txBox="1"/>
          <p:nvPr/>
        </p:nvSpPr>
        <p:spPr>
          <a:xfrm>
            <a:off x="4410075"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Request protection</a:t>
            </a:r>
            <a:endParaRPr lang="en-AS" sz="1900" b="1">
              <a:solidFill>
                <a:srgbClr val="FFFFFF"/>
              </a:solidFill>
              <a:latin typeface="Arial" panose="020B0604020202020204" pitchFamily="34" charset="0"/>
            </a:endParaRPr>
          </a:p>
        </p:txBody>
      </p:sp>
      <p:sp>
        <p:nvSpPr>
          <p:cNvPr id="13" name="TextBox 12">
            <a:extLst>
              <a:ext uri="{FF2B5EF4-FFF2-40B4-BE49-F238E27FC236}">
                <a16:creationId xmlns:a16="http://schemas.microsoft.com/office/drawing/2014/main" id="{89A67C8F-6272-2164-4B6F-7840F575D6C0}"/>
              </a:ext>
            </a:extLst>
          </p:cNvPr>
          <p:cNvSpPr txBox="1"/>
          <p:nvPr/>
        </p:nvSpPr>
        <p:spPr>
          <a:xfrm>
            <a:off x="4410075" y="2838450"/>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CSRF token, prepared SQL, security headers, and login checks are enforced on requests.</a:t>
            </a:r>
            <a:endParaRPr lang="en-AS" sz="1400">
              <a:solidFill>
                <a:srgbClr val="BFD0E7"/>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8DD7AE73-90C1-5617-E6E4-A2EB502C72D9}"/>
              </a:ext>
            </a:extLst>
          </p:cNvPr>
          <p:cNvSpPr/>
          <p:nvPr/>
        </p:nvSpPr>
        <p:spPr>
          <a:xfrm>
            <a:off x="666750" y="3476625"/>
            <a:ext cx="3143250" cy="857250"/>
          </a:xfrm>
          <a:prstGeom prst="roundRect">
            <a:avLst/>
          </a:prstGeom>
          <a:solidFill>
            <a:srgbClr val="183657"/>
          </a:solidFill>
          <a:ln w="16510">
            <a:solidFill>
              <a:srgbClr val="F6B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5" name="TextBox 14">
            <a:extLst>
              <a:ext uri="{FF2B5EF4-FFF2-40B4-BE49-F238E27FC236}">
                <a16:creationId xmlns:a16="http://schemas.microsoft.com/office/drawing/2014/main" id="{BF9A39EC-70A7-5452-353F-668E3B4AC99F}"/>
              </a:ext>
            </a:extLst>
          </p:cNvPr>
          <p:cNvSpPr txBox="1"/>
          <p:nvPr/>
        </p:nvSpPr>
        <p:spPr>
          <a:xfrm>
            <a:off x="838200"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File protection</a:t>
            </a:r>
            <a:endParaRPr lang="en-AS" sz="1900" b="1">
              <a:solidFill>
                <a:srgbClr val="FFFFFF"/>
              </a:solidFill>
              <a:latin typeface="Arial" panose="020B0604020202020204" pitchFamily="34" charset="0"/>
            </a:endParaRPr>
          </a:p>
        </p:txBody>
      </p:sp>
      <p:sp>
        <p:nvSpPr>
          <p:cNvPr id="16" name="TextBox 15">
            <a:extLst>
              <a:ext uri="{FF2B5EF4-FFF2-40B4-BE49-F238E27FC236}">
                <a16:creationId xmlns:a16="http://schemas.microsoft.com/office/drawing/2014/main" id="{C5AECDAA-D5D1-8AE4-C617-694D489EC74E}"/>
              </a:ext>
            </a:extLst>
          </p:cNvPr>
          <p:cNvSpPr txBox="1"/>
          <p:nvPr/>
        </p:nvSpPr>
        <p:spPr>
          <a:xfrm>
            <a:off x="838200" y="3933825"/>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MIME, path, and size checks reject unsafe files; SHA-256 reveals changed PDFs.</a:t>
            </a:r>
            <a:endParaRPr lang="en-AS" sz="1400">
              <a:solidFill>
                <a:srgbClr val="BFD0E7"/>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A4F840B9-6F19-6237-F9F1-6723DA0723D9}"/>
              </a:ext>
            </a:extLst>
          </p:cNvPr>
          <p:cNvSpPr/>
          <p:nvPr/>
        </p:nvSpPr>
        <p:spPr>
          <a:xfrm>
            <a:off x="4238625" y="3476625"/>
            <a:ext cx="3143250" cy="857250"/>
          </a:xfrm>
          <a:prstGeom prst="roundRect">
            <a:avLst/>
          </a:prstGeom>
          <a:solidFill>
            <a:srgbClr val="183657"/>
          </a:solidFill>
          <a:ln w="16510">
            <a:solidFill>
              <a:srgbClr val="7B61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F19870FC-8132-B8A6-B2F1-401822D55AC3}"/>
              </a:ext>
            </a:extLst>
          </p:cNvPr>
          <p:cNvSpPr txBox="1"/>
          <p:nvPr/>
        </p:nvSpPr>
        <p:spPr>
          <a:xfrm>
            <a:off x="4410075"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Accountability</a:t>
            </a:r>
            <a:endParaRPr lang="en-AS" sz="1900" b="1">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A90DA8B8-754B-8FA1-A451-8C41B789ADF3}"/>
              </a:ext>
            </a:extLst>
          </p:cNvPr>
          <p:cNvSpPr txBox="1"/>
          <p:nvPr/>
        </p:nvSpPr>
        <p:spPr>
          <a:xfrm>
            <a:off x="4410075" y="3933825"/>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Role checks enforce actions; logs record user, action, IP, device, and time.</a:t>
            </a:r>
            <a:endParaRPr lang="en-AS" sz="1400">
              <a:solidFill>
                <a:srgbClr val="BFD0E7"/>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AC913810-DEC5-67E6-BDAB-973B394BDA78}"/>
              </a:ext>
            </a:extLst>
          </p:cNvPr>
          <p:cNvSpPr/>
          <p:nvPr/>
        </p:nvSpPr>
        <p:spPr>
          <a:xfrm>
            <a:off x="666750" y="4762500"/>
            <a:ext cx="6715125" cy="971550"/>
          </a:xfrm>
          <a:prstGeom prst="roundRect">
            <a:avLst/>
          </a:prstGeom>
          <a:solidFill>
            <a:srgbClr val="183657"/>
          </a:solidFill>
          <a:ln w="16510">
            <a:solidFill>
              <a:srgbClr val="DD55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TextBox 20">
            <a:extLst>
              <a:ext uri="{FF2B5EF4-FFF2-40B4-BE49-F238E27FC236}">
                <a16:creationId xmlns:a16="http://schemas.microsoft.com/office/drawing/2014/main" id="{1AFE6971-EA08-1C31-2695-43B141A3D1D5}"/>
              </a:ext>
            </a:extLst>
          </p:cNvPr>
          <p:cNvSpPr txBox="1"/>
          <p:nvPr/>
        </p:nvSpPr>
        <p:spPr>
          <a:xfrm>
            <a:off x="904875" y="4953000"/>
            <a:ext cx="2095500" cy="369332"/>
          </a:xfrm>
          <a:prstGeom prst="rect">
            <a:avLst/>
          </a:prstGeom>
          <a:noFill/>
        </p:spPr>
        <p:txBody>
          <a:bodyPr vert="horz" wrap="square" rtlCol="0">
            <a:spAutoFit/>
          </a:bodyPr>
          <a:lstStyle/>
          <a:p>
            <a:r>
              <a:rPr lang="en-US" b="1">
                <a:solidFill>
                  <a:srgbClr val="FFFFFF"/>
                </a:solidFill>
                <a:latin typeface="Arial" panose="020B0604020202020204" pitchFamily="34" charset="0"/>
              </a:rPr>
              <a:t>Permanent delete</a:t>
            </a:r>
            <a:endParaRPr lang="en-AS" b="1">
              <a:solidFill>
                <a:srgbClr val="FFFFFF"/>
              </a:solidFill>
              <a:latin typeface="Arial" panose="020B0604020202020204" pitchFamily="34" charset="0"/>
            </a:endParaRPr>
          </a:p>
        </p:txBody>
      </p:sp>
      <p:sp>
        <p:nvSpPr>
          <p:cNvPr id="22" name="TextBox 21">
            <a:extLst>
              <a:ext uri="{FF2B5EF4-FFF2-40B4-BE49-F238E27FC236}">
                <a16:creationId xmlns:a16="http://schemas.microsoft.com/office/drawing/2014/main" id="{16F6C6EF-D8FD-87C0-5E81-440BD2E74E40}"/>
              </a:ext>
            </a:extLst>
          </p:cNvPr>
          <p:cNvSpPr txBox="1"/>
          <p:nvPr/>
        </p:nvSpPr>
        <p:spPr>
          <a:xfrm>
            <a:off x="904875" y="5286375"/>
            <a:ext cx="1714500" cy="400110"/>
          </a:xfrm>
          <a:prstGeom prst="rect">
            <a:avLst/>
          </a:prstGeom>
          <a:noFill/>
        </p:spPr>
        <p:txBody>
          <a:bodyPr vert="horz" wrap="square" rtlCol="0">
            <a:spAutoFit/>
          </a:bodyPr>
          <a:lstStyle/>
          <a:p>
            <a:r>
              <a:rPr lang="en-US" sz="2000" b="1">
                <a:solidFill>
                  <a:srgbClr val="FFB6C7"/>
                </a:solidFill>
                <a:latin typeface="Arial" panose="020B0604020202020204" pitchFamily="34" charset="0"/>
              </a:rPr>
              <a:t>Only Admin can permanently delete.</a:t>
            </a:r>
            <a:endParaRPr lang="en-AS" sz="2000" b="1">
              <a:solidFill>
                <a:srgbClr val="FFB6C7"/>
              </a:solidFill>
              <a:latin typeface="Arial" panose="020B0604020202020204" pitchFamily="34" charset="0"/>
            </a:endParaRPr>
          </a:p>
        </p:txBody>
      </p:sp>
      <p:sp>
        <p:nvSpPr>
          <p:cNvPr id="23" name="TextBox 22">
            <a:extLst>
              <a:ext uri="{FF2B5EF4-FFF2-40B4-BE49-F238E27FC236}">
                <a16:creationId xmlns:a16="http://schemas.microsoft.com/office/drawing/2014/main" id="{060D7AE1-3503-D18E-E217-E425599E6584}"/>
              </a:ext>
            </a:extLst>
          </p:cNvPr>
          <p:cNvSpPr txBox="1"/>
          <p:nvPr/>
        </p:nvSpPr>
        <p:spPr>
          <a:xfrm>
            <a:off x="2857500" y="5143500"/>
            <a:ext cx="4191000" cy="646331"/>
          </a:xfrm>
          <a:prstGeom prst="rect">
            <a:avLst/>
          </a:prstGeom>
          <a:noFill/>
        </p:spPr>
        <p:txBody>
          <a:bodyPr vert="horz" wrap="square" rtlCol="0">
            <a:spAutoFit/>
          </a:bodyPr>
          <a:lstStyle/>
          <a:p>
            <a:pPr algn="ctr"/>
            <a:r>
              <a:rPr lang="en-US">
                <a:solidFill>
                  <a:srgbClr val="BFD0E7"/>
                </a:solidFill>
                <a:latin typeface="Arial" panose="020B0604020202020204" pitchFamily="34" charset="0"/>
              </a:rPr>
              <a:t>Soft delete -&gt; Trash -&gt; Admin restore or permanent delete</a:t>
            </a:r>
            <a:endParaRPr lang="en-AS">
              <a:solidFill>
                <a:srgbClr val="BFD0E7"/>
              </a:solidFill>
              <a:latin typeface="Arial" panose="020B0604020202020204" pitchFamily="34" charset="0"/>
            </a:endParaRPr>
          </a:p>
        </p:txBody>
      </p:sp>
      <p:sp>
        <p:nvSpPr>
          <p:cNvPr id="24" name="TextBox 23">
            <a:extLst>
              <a:ext uri="{FF2B5EF4-FFF2-40B4-BE49-F238E27FC236}">
                <a16:creationId xmlns:a16="http://schemas.microsoft.com/office/drawing/2014/main" id="{DC2514F2-5B59-EC20-5FEE-17392B21EA49}"/>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25" name="TextBox 24">
            <a:extLst>
              <a:ext uri="{FF2B5EF4-FFF2-40B4-BE49-F238E27FC236}">
                <a16:creationId xmlns:a16="http://schemas.microsoft.com/office/drawing/2014/main" id="{1F8A82FC-0BF1-7A8F-EFEE-4F2E7F20639B}"/>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13 / 20</a:t>
            </a:r>
          </a:p>
        </p:txBody>
      </p:sp>
    </p:spTree>
    <p:extLst>
      <p:ext uri="{BB962C8B-B14F-4D97-AF65-F5344CB8AC3E}">
        <p14:creationId xmlns:p14="http://schemas.microsoft.com/office/powerpoint/2010/main" val="23100101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99590D-F71A-3FDB-2FDB-DD294077265D}"/>
              </a:ext>
            </a:extLst>
          </p:cNvPr>
          <p:cNvSpPr txBox="1"/>
          <p:nvPr/>
        </p:nvSpPr>
        <p:spPr>
          <a:xfrm>
            <a:off x="609600" y="304800"/>
            <a:ext cx="6191250" cy="292388"/>
          </a:xfrm>
          <a:prstGeom prst="rect">
            <a:avLst/>
          </a:prstGeom>
          <a:noFill/>
        </p:spPr>
        <p:txBody>
          <a:bodyPr vert="horz" wrap="square" rtlCol="0">
            <a:spAutoFit/>
          </a:bodyPr>
          <a:lstStyle/>
          <a:p>
            <a:r>
              <a:rPr lang="en-US" sz="1300" b="1">
                <a:solidFill>
                  <a:srgbClr val="2F6BDE"/>
                </a:solidFill>
                <a:latin typeface="Arial" panose="020B0604020202020204" pitchFamily="34" charset="0"/>
              </a:rPr>
              <a:t>SECURITY - PLAIN-LANGUAGE VIEW</a:t>
            </a:r>
            <a:endParaRPr lang="en-AS" sz="1300"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E336471-49A2-CE38-DFDA-B585239C1A2A}"/>
              </a:ext>
            </a:extLst>
          </p:cNvPr>
          <p:cNvSpPr txBox="1"/>
          <p:nvPr/>
        </p:nvSpPr>
        <p:spPr>
          <a:xfrm>
            <a:off x="609600" y="552450"/>
            <a:ext cx="8096250" cy="646331"/>
          </a:xfrm>
          <a:prstGeom prst="rect">
            <a:avLst/>
          </a:prstGeom>
          <a:noFill/>
        </p:spPr>
        <p:txBody>
          <a:bodyPr vert="horz" wrap="square" rtlCol="0">
            <a:spAutoFit/>
          </a:bodyPr>
          <a:lstStyle/>
          <a:p>
            <a:r>
              <a:rPr lang="en-US" sz="3600" b="1">
                <a:solidFill>
                  <a:srgbClr val="17263A"/>
                </a:solidFill>
                <a:latin typeface="Arial" panose="020B0604020202020204" pitchFamily="34" charset="0"/>
              </a:rPr>
              <a:t>What security means to staff</a:t>
            </a:r>
            <a:endParaRPr lang="en-AS" sz="360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48C83DE7-FC43-DBDA-3C74-E9F3F5BA81A9}"/>
              </a:ext>
            </a:extLst>
          </p:cNvPr>
          <p:cNvSpPr/>
          <p:nvPr/>
        </p:nvSpPr>
        <p:spPr>
          <a:xfrm>
            <a:off x="609600" y="1200150"/>
            <a:ext cx="685800" cy="47625"/>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D61965A0-E024-AA59-9EE8-7E8DC333785B}"/>
              </a:ext>
            </a:extLst>
          </p:cNvPr>
          <p:cNvSpPr txBox="1"/>
          <p:nvPr/>
        </p:nvSpPr>
        <p:spPr>
          <a:xfrm>
            <a:off x="609600" y="1466850"/>
            <a:ext cx="10668000" cy="769441"/>
          </a:xfrm>
          <a:prstGeom prst="rect">
            <a:avLst/>
          </a:prstGeom>
          <a:noFill/>
        </p:spPr>
        <p:txBody>
          <a:bodyPr vert="horz" wrap="square" rtlCol="0">
            <a:spAutoFit/>
          </a:bodyPr>
          <a:lstStyle/>
          <a:p>
            <a:r>
              <a:rPr lang="en-US" sz="2200">
                <a:solidFill>
                  <a:srgbClr val="5E6C80"/>
                </a:solidFill>
                <a:latin typeface="Arial" panose="020B0604020202020204" pitchFamily="34" charset="0"/>
              </a:rPr>
              <a:t>Think of iScan as a locked records office with a sign-in desk, checklist, and history book.</a:t>
            </a:r>
            <a:endParaRPr lang="en-AS" sz="2200">
              <a:solidFill>
                <a:srgbClr val="5E6C80"/>
              </a:solidFill>
              <a:latin typeface="Arial" panose="020B0604020202020204" pitchFamily="34" charset="0"/>
            </a:endParaRPr>
          </a:p>
        </p:txBody>
      </p:sp>
      <p:pic>
        <p:nvPicPr>
          <p:cNvPr id="7" name="Picture 6">
            <a:extLst>
              <a:ext uri="{FF2B5EF4-FFF2-40B4-BE49-F238E27FC236}">
                <a16:creationId xmlns:a16="http://schemas.microsoft.com/office/drawing/2014/main" id="{FCDF129A-2FD1-924B-B7F0-5C400D859B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286000"/>
            <a:ext cx="4857750" cy="3048000"/>
          </a:xfrm>
          <a:prstGeom prst="rect">
            <a:avLst/>
          </a:prstGeom>
        </p:spPr>
      </p:pic>
      <p:sp>
        <p:nvSpPr>
          <p:cNvPr id="8" name="Rectangle: Rounded Corners 7">
            <a:extLst>
              <a:ext uri="{FF2B5EF4-FFF2-40B4-BE49-F238E27FC236}">
                <a16:creationId xmlns:a16="http://schemas.microsoft.com/office/drawing/2014/main" id="{B2FBE712-ADE6-0BC9-9F28-DA20E820E084}"/>
              </a:ext>
            </a:extLst>
          </p:cNvPr>
          <p:cNvSpPr/>
          <p:nvPr/>
        </p:nvSpPr>
        <p:spPr>
          <a:xfrm>
            <a:off x="666750" y="23336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Rectangle 8">
            <a:extLst>
              <a:ext uri="{FF2B5EF4-FFF2-40B4-BE49-F238E27FC236}">
                <a16:creationId xmlns:a16="http://schemas.microsoft.com/office/drawing/2014/main" id="{5B4DF821-0F0E-72AE-1C5D-6BD4379A6833}"/>
              </a:ext>
            </a:extLst>
          </p:cNvPr>
          <p:cNvSpPr/>
          <p:nvPr/>
        </p:nvSpPr>
        <p:spPr>
          <a:xfrm>
            <a:off x="666750" y="2333625"/>
            <a:ext cx="85725" cy="51435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A5E8BD62-56A7-BFA3-E88F-2EB3CFB429EF}"/>
              </a:ext>
            </a:extLst>
          </p:cNvPr>
          <p:cNvSpPr txBox="1"/>
          <p:nvPr/>
        </p:nvSpPr>
        <p:spPr>
          <a:xfrm>
            <a:off x="952500" y="24193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Right people</a:t>
            </a:r>
            <a:endParaRPr lang="en-AS"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AF1D4CA1-9A29-1B79-44B3-8C45A7F97BAA}"/>
              </a:ext>
            </a:extLst>
          </p:cNvPr>
          <p:cNvSpPr txBox="1"/>
          <p:nvPr/>
        </p:nvSpPr>
        <p:spPr>
          <a:xfrm>
            <a:off x="2619375" y="24193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Roles decide who may view, encode, approve, restore, or permanently delete a record.</a:t>
            </a:r>
            <a:endParaRPr lang="en-AS" sz="130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93EA5BFA-A87D-6C36-41BF-A9F26B0EBE5A}"/>
              </a:ext>
            </a:extLst>
          </p:cNvPr>
          <p:cNvSpPr/>
          <p:nvPr/>
        </p:nvSpPr>
        <p:spPr>
          <a:xfrm>
            <a:off x="666750" y="29813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Rectangle 12">
            <a:extLst>
              <a:ext uri="{FF2B5EF4-FFF2-40B4-BE49-F238E27FC236}">
                <a16:creationId xmlns:a16="http://schemas.microsoft.com/office/drawing/2014/main" id="{FEA58892-317E-15D2-AB75-0F549FD31880}"/>
              </a:ext>
            </a:extLst>
          </p:cNvPr>
          <p:cNvSpPr/>
          <p:nvPr/>
        </p:nvSpPr>
        <p:spPr>
          <a:xfrm>
            <a:off x="666750" y="2981325"/>
            <a:ext cx="85725" cy="514350"/>
          </a:xfrm>
          <a:prstGeom prst="rect">
            <a:avLst/>
          </a:prstGeom>
          <a:solidFill>
            <a:srgbClr val="17A67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4" name="TextBox 13">
            <a:extLst>
              <a:ext uri="{FF2B5EF4-FFF2-40B4-BE49-F238E27FC236}">
                <a16:creationId xmlns:a16="http://schemas.microsoft.com/office/drawing/2014/main" id="{3AFCCB87-FD15-0756-BF88-E3477AE81A81}"/>
              </a:ext>
            </a:extLst>
          </p:cNvPr>
          <p:cNvSpPr txBox="1"/>
          <p:nvPr/>
        </p:nvSpPr>
        <p:spPr>
          <a:xfrm>
            <a:off x="952500" y="30670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Too many tries</a:t>
            </a:r>
            <a:endParaRPr lang="en-AS" b="1">
              <a:solidFill>
                <a:srgbClr val="17263A"/>
              </a:solidFill>
              <a:latin typeface="Arial" panose="020B0604020202020204" pitchFamily="34" charset="0"/>
            </a:endParaRPr>
          </a:p>
        </p:txBody>
      </p:sp>
      <p:sp>
        <p:nvSpPr>
          <p:cNvPr id="15" name="TextBox 14">
            <a:extLst>
              <a:ext uri="{FF2B5EF4-FFF2-40B4-BE49-F238E27FC236}">
                <a16:creationId xmlns:a16="http://schemas.microsoft.com/office/drawing/2014/main" id="{5620EECE-CFD9-8CA4-4FBE-3551E1285337}"/>
              </a:ext>
            </a:extLst>
          </p:cNvPr>
          <p:cNvSpPr txBox="1"/>
          <p:nvPr/>
        </p:nvSpPr>
        <p:spPr>
          <a:xfrm>
            <a:off x="2619375" y="30670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five login attempts in five minutes, the system rate-limits more attempts.</a:t>
            </a:r>
            <a:endParaRPr lang="en-AS" sz="1300">
              <a:solidFill>
                <a:srgbClr val="5E6C80"/>
              </a:solidFill>
              <a:latin typeface="Arial" panose="020B0604020202020204" pitchFamily="34" charset="0"/>
            </a:endParaRPr>
          </a:p>
        </p:txBody>
      </p:sp>
      <p:sp>
        <p:nvSpPr>
          <p:cNvPr id="16" name="Rectangle: Rounded Corners 15">
            <a:extLst>
              <a:ext uri="{FF2B5EF4-FFF2-40B4-BE49-F238E27FC236}">
                <a16:creationId xmlns:a16="http://schemas.microsoft.com/office/drawing/2014/main" id="{5DADD159-A7C6-1F65-0AE2-ED05DAF63F66}"/>
              </a:ext>
            </a:extLst>
          </p:cNvPr>
          <p:cNvSpPr/>
          <p:nvPr/>
        </p:nvSpPr>
        <p:spPr>
          <a:xfrm>
            <a:off x="666750" y="36290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7" name="Rectangle 16">
            <a:extLst>
              <a:ext uri="{FF2B5EF4-FFF2-40B4-BE49-F238E27FC236}">
                <a16:creationId xmlns:a16="http://schemas.microsoft.com/office/drawing/2014/main" id="{8C10E226-C6B2-6EC0-5D55-104C0939BD9E}"/>
              </a:ext>
            </a:extLst>
          </p:cNvPr>
          <p:cNvSpPr/>
          <p:nvPr/>
        </p:nvSpPr>
        <p:spPr>
          <a:xfrm>
            <a:off x="666750" y="3629025"/>
            <a:ext cx="85725" cy="514350"/>
          </a:xfrm>
          <a:prstGeom prst="rect">
            <a:avLst/>
          </a:prstGeom>
          <a:solidFill>
            <a:srgbClr val="F6B6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3467F2FE-4927-D627-286F-66DED272E989}"/>
              </a:ext>
            </a:extLst>
          </p:cNvPr>
          <p:cNvSpPr txBox="1"/>
          <p:nvPr/>
        </p:nvSpPr>
        <p:spPr>
          <a:xfrm>
            <a:off x="952500" y="37147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Auto logout</a:t>
            </a:r>
            <a:endParaRPr lang="en-AS" b="1">
              <a:solidFill>
                <a:srgbClr val="17263A"/>
              </a:solidFill>
              <a:latin typeface="Arial" panose="020B0604020202020204" pitchFamily="34" charset="0"/>
            </a:endParaRPr>
          </a:p>
        </p:txBody>
      </p:sp>
      <p:sp>
        <p:nvSpPr>
          <p:cNvPr id="19" name="TextBox 18">
            <a:extLst>
              <a:ext uri="{FF2B5EF4-FFF2-40B4-BE49-F238E27FC236}">
                <a16:creationId xmlns:a16="http://schemas.microsoft.com/office/drawing/2014/main" id="{B9F5E98D-97CB-62F9-E6C4-039F61F8F278}"/>
              </a:ext>
            </a:extLst>
          </p:cNvPr>
          <p:cNvSpPr txBox="1"/>
          <p:nvPr/>
        </p:nvSpPr>
        <p:spPr>
          <a:xfrm>
            <a:off x="2619375" y="37147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60 minutes without activity, the user is returned to login on the next request.</a:t>
            </a:r>
            <a:endParaRPr lang="en-AS" sz="1300">
              <a:solidFill>
                <a:srgbClr val="5E6C80"/>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C06115BD-FCE0-74A3-5952-00D9B3A81A6A}"/>
              </a:ext>
            </a:extLst>
          </p:cNvPr>
          <p:cNvSpPr/>
          <p:nvPr/>
        </p:nvSpPr>
        <p:spPr>
          <a:xfrm>
            <a:off x="666750" y="42767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Rectangle 20">
            <a:extLst>
              <a:ext uri="{FF2B5EF4-FFF2-40B4-BE49-F238E27FC236}">
                <a16:creationId xmlns:a16="http://schemas.microsoft.com/office/drawing/2014/main" id="{717E15A1-EC72-28BC-A1A6-FB440C3FDDEB}"/>
              </a:ext>
            </a:extLst>
          </p:cNvPr>
          <p:cNvSpPr/>
          <p:nvPr/>
        </p:nvSpPr>
        <p:spPr>
          <a:xfrm>
            <a:off x="666750" y="4276725"/>
            <a:ext cx="85725" cy="514350"/>
          </a:xfrm>
          <a:prstGeom prst="rect">
            <a:avLst/>
          </a:prstGeom>
          <a:solidFill>
            <a:srgbClr val="7B61D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2" name="TextBox 21">
            <a:extLst>
              <a:ext uri="{FF2B5EF4-FFF2-40B4-BE49-F238E27FC236}">
                <a16:creationId xmlns:a16="http://schemas.microsoft.com/office/drawing/2014/main" id="{A7769973-1BBF-EAA1-7745-BFCF659F8A20}"/>
              </a:ext>
            </a:extLst>
          </p:cNvPr>
          <p:cNvSpPr txBox="1"/>
          <p:nvPr/>
        </p:nvSpPr>
        <p:spPr>
          <a:xfrm>
            <a:off x="952500" y="43624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Checked files</a:t>
            </a:r>
            <a:endParaRPr lang="en-AS" b="1">
              <a:solidFill>
                <a:srgbClr val="17263A"/>
              </a:solidFill>
              <a:latin typeface="Arial" panose="020B0604020202020204" pitchFamily="34" charset="0"/>
            </a:endParaRPr>
          </a:p>
        </p:txBody>
      </p:sp>
      <p:sp>
        <p:nvSpPr>
          <p:cNvPr id="23" name="TextBox 22">
            <a:extLst>
              <a:ext uri="{FF2B5EF4-FFF2-40B4-BE49-F238E27FC236}">
                <a16:creationId xmlns:a16="http://schemas.microsoft.com/office/drawing/2014/main" id="{BB208D64-EC50-7919-7969-98726A7C700C}"/>
              </a:ext>
            </a:extLst>
          </p:cNvPr>
          <p:cNvSpPr txBox="1"/>
          <p:nvPr/>
        </p:nvSpPr>
        <p:spPr>
          <a:xfrm>
            <a:off x="2619375" y="43624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The system checks the document type and path; PDF hashes expose changed files.</a:t>
            </a:r>
            <a:endParaRPr lang="en-AS" sz="1300">
              <a:solidFill>
                <a:srgbClr val="5E6C80"/>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8464740-094B-EE14-E008-4FE1CEB1C234}"/>
              </a:ext>
            </a:extLst>
          </p:cNvPr>
          <p:cNvSpPr/>
          <p:nvPr/>
        </p:nvSpPr>
        <p:spPr>
          <a:xfrm>
            <a:off x="666750" y="49244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5" name="Rectangle 24">
            <a:extLst>
              <a:ext uri="{FF2B5EF4-FFF2-40B4-BE49-F238E27FC236}">
                <a16:creationId xmlns:a16="http://schemas.microsoft.com/office/drawing/2014/main" id="{333845DB-26C3-462C-F608-79C4B091C102}"/>
              </a:ext>
            </a:extLst>
          </p:cNvPr>
          <p:cNvSpPr/>
          <p:nvPr/>
        </p:nvSpPr>
        <p:spPr>
          <a:xfrm>
            <a:off x="666750" y="4924425"/>
            <a:ext cx="85725" cy="514350"/>
          </a:xfrm>
          <a:prstGeom prst="rect">
            <a:avLst/>
          </a:prstGeom>
          <a:solidFill>
            <a:srgbClr val="DD557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6" name="TextBox 25">
            <a:extLst>
              <a:ext uri="{FF2B5EF4-FFF2-40B4-BE49-F238E27FC236}">
                <a16:creationId xmlns:a16="http://schemas.microsoft.com/office/drawing/2014/main" id="{30607101-83BF-AD1C-D317-51197C30B06C}"/>
              </a:ext>
            </a:extLst>
          </p:cNvPr>
          <p:cNvSpPr txBox="1"/>
          <p:nvPr/>
        </p:nvSpPr>
        <p:spPr>
          <a:xfrm>
            <a:off x="952500" y="50101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History and recovery</a:t>
            </a:r>
            <a:endParaRPr lang="en-AS" b="1">
              <a:solidFill>
                <a:srgbClr val="17263A"/>
              </a:solidFill>
              <a:latin typeface="Arial" panose="020B0604020202020204" pitchFamily="34" charset="0"/>
            </a:endParaRPr>
          </a:p>
        </p:txBody>
      </p:sp>
      <p:sp>
        <p:nvSpPr>
          <p:cNvPr id="27" name="TextBox 26">
            <a:extLst>
              <a:ext uri="{FF2B5EF4-FFF2-40B4-BE49-F238E27FC236}">
                <a16:creationId xmlns:a16="http://schemas.microsoft.com/office/drawing/2014/main" id="{DA3984D1-B5D2-3A3F-42DF-855828CE1859}"/>
              </a:ext>
            </a:extLst>
          </p:cNvPr>
          <p:cNvSpPr txBox="1"/>
          <p:nvPr/>
        </p:nvSpPr>
        <p:spPr>
          <a:xfrm>
            <a:off x="2619375" y="50101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Actions are logged; soft delete goes to Trash; Admin controls permanent deletion.</a:t>
            </a:r>
            <a:endParaRPr lang="en-AS" sz="1300">
              <a:solidFill>
                <a:srgbClr val="5E6C80"/>
              </a:solidFill>
              <a:latin typeface="Arial" panose="020B0604020202020204" pitchFamily="34" charset="0"/>
            </a:endParaRPr>
          </a:p>
        </p:txBody>
      </p:sp>
      <p:sp>
        <p:nvSpPr>
          <p:cNvPr id="28" name="TextBox 27">
            <a:extLst>
              <a:ext uri="{FF2B5EF4-FFF2-40B4-BE49-F238E27FC236}">
                <a16:creationId xmlns:a16="http://schemas.microsoft.com/office/drawing/2014/main" id="{BB56332A-94A3-7D1B-D8D0-C9F39BA97C72}"/>
              </a:ext>
            </a:extLst>
          </p:cNvPr>
          <p:cNvSpPr txBox="1"/>
          <p:nvPr/>
        </p:nvSpPr>
        <p:spPr>
          <a:xfrm>
            <a:off x="1143000" y="5715000"/>
            <a:ext cx="9906000" cy="415498"/>
          </a:xfrm>
          <a:prstGeom prst="rect">
            <a:avLst/>
          </a:prstGeom>
          <a:noFill/>
        </p:spPr>
        <p:txBody>
          <a:bodyPr vert="horz" wrap="square" rtlCol="0">
            <a:spAutoFit/>
          </a:bodyPr>
          <a:lstStyle/>
          <a:p>
            <a:pPr algn="ctr"/>
            <a:r>
              <a:rPr lang="en-US" sz="2100" b="1">
                <a:solidFill>
                  <a:srgbClr val="17A673"/>
                </a:solidFill>
                <a:latin typeface="Arial" panose="020B0604020202020204" pitchFamily="34" charset="0"/>
              </a:rPr>
              <a:t>Safe records = right access + checked files + visible history.</a:t>
            </a:r>
            <a:endParaRPr lang="en-AS" sz="2100" b="1">
              <a:solidFill>
                <a:srgbClr val="17A673"/>
              </a:solidFill>
              <a:latin typeface="Arial" panose="020B0604020202020204" pitchFamily="34" charset="0"/>
            </a:endParaRPr>
          </a:p>
        </p:txBody>
      </p:sp>
      <p:sp>
        <p:nvSpPr>
          <p:cNvPr id="29" name="TextBox 28">
            <a:extLst>
              <a:ext uri="{FF2B5EF4-FFF2-40B4-BE49-F238E27FC236}">
                <a16:creationId xmlns:a16="http://schemas.microsoft.com/office/drawing/2014/main" id="{0A59C9C2-6C52-B765-04A3-A02683021171}"/>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30" name="TextBox 29">
            <a:extLst>
              <a:ext uri="{FF2B5EF4-FFF2-40B4-BE49-F238E27FC236}">
                <a16:creationId xmlns:a16="http://schemas.microsoft.com/office/drawing/2014/main" id="{D98DE919-9C8E-950B-0D04-5CA4520E9494}"/>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14 / 20</a:t>
            </a:r>
          </a:p>
        </p:txBody>
      </p:sp>
    </p:spTree>
    <p:extLst>
      <p:ext uri="{BB962C8B-B14F-4D97-AF65-F5344CB8AC3E}">
        <p14:creationId xmlns:p14="http://schemas.microsoft.com/office/powerpoint/2010/main" val="17473332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txBody>
          <a:bodyPr/>
          <a:p/>
        </p:txBody>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txBody>
          <a:bodyPr/>
          <a:p/>
        </p:txBody>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15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txBody>
          <a:bodyPr/>
          <a:p/>
        </p:txBody>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txBody>
          <a:bodyPr/>
          <a:p/>
        </p:txBody>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txBody>
          <a:bodyPr/>
          <a:p/>
        </p:txBody>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txBody>
          <a:bodyPr/>
          <a:p/>
        </p:txBody>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txBody>
          <a:bodyPr/>
          <a:p/>
        </p:txBody>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txBody>
          <a:bodyPr/>
          <a:p/>
        </p:txBody>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txBody>
          <a:bodyPr/>
          <a:p/>
        </p:txBody>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txBody>
          <a:bodyPr/>
          <a:p/>
        </p:txBody>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txBody>
          <a:bodyPr/>
          <a:p/>
        </p:txBody>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txBody>
          <a:bodyPr/>
          <a:p/>
        </p:txBody>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txBody>
          <a:bodyPr/>
          <a:p/>
        </p:txBody>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txBody>
          <a:bodyPr/>
          <a:p/>
        </p:txBody>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17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ADMINISTRATION / ACCESS CONTROL</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Registered Devices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Manage which physical devices are allowed to access the system</a:t>
            </a:r>
          </a:p>
        </p:txBody>
      </p:sp>
      <p:sp>
        <p:nvSpPr>
          <p:cNvPr id="6" name="Rounded Rectangle 5"/>
          <p:cNvSpPr/>
          <p:nvPr/>
        </p:nvSpPr>
        <p:spPr>
          <a:xfrm>
            <a:off x="6537960" y="1874519"/>
            <a:ext cx="5074920" cy="285292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04467c0a-fcce-4a5a-aac0-c01b508a0bb6.png"/>
          <p:cNvPicPr>
            <a:picLocks noChangeAspect="1"/>
          </p:cNvPicPr>
          <p:nvPr/>
        </p:nvPicPr>
        <p:blipFill>
          <a:blip r:embed="rId2"/>
          <a:stretch>
            <a:fillRect/>
          </a:stretch>
        </p:blipFill>
        <p:spPr>
          <a:xfrm>
            <a:off x="6583680" y="1920239"/>
            <a:ext cx="4983480" cy="2761488"/>
          </a:xfrm>
          <a:prstGeom prst="rect">
            <a:avLst/>
          </a:prstGeom>
        </p:spPr>
      </p:pic>
      <p:sp>
        <p:nvSpPr>
          <p:cNvPr id="8" name="TextBox 7"/>
          <p:cNvSpPr txBox="1"/>
          <p:nvPr/>
        </p:nvSpPr>
        <p:spPr>
          <a:xfrm>
            <a:off x="676656" y="1901952"/>
            <a:ext cx="5349240" cy="237744"/>
          </a:xfrm>
          <a:prstGeom prst="rect">
            <a:avLst/>
          </a:prstGeom>
          <a:noFill/>
        </p:spPr>
        <p:txBody>
          <a:bodyPr wrap="square" lIns="0" rIns="0" tIns="0" bIns="0" anchor="t">
            <a:spAutoFit/>
          </a:bodyPr>
          <a:lstStyle/>
          <a:p>
            <a:pPr algn="l"/>
            <a:r>
              <a:rPr sz="1550" b="1">
                <a:solidFill>
                  <a:srgbClr val="17263A"/>
                </a:solidFill>
                <a:latin typeface="Arial"/>
              </a:rPr>
              <a:t>Technical description</a:t>
            </a:r>
          </a:p>
        </p:txBody>
      </p:sp>
      <p:sp>
        <p:nvSpPr>
          <p:cNvPr id="9" name="TextBox 8"/>
          <p:cNvSpPr txBox="1"/>
          <p:nvPr/>
        </p:nvSpPr>
        <p:spPr>
          <a:xfrm>
            <a:off x="676656" y="2221992"/>
            <a:ext cx="5394960" cy="150876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Device fingerprint registry. </a:t>
            </a:r>
            <a:r>
              <a:rPr sz="1350" b="0">
                <a:solidFill>
                  <a:srgbClr val="5E6C80"/>
                </a:solidFill>
                <a:latin typeface="Arial"/>
              </a:rPr>
              <a:t>The system records each registered browser or workstation.</a:t>
            </a:r>
          </a:p>
          <a:p>
            <a:pPr>
              <a:spcAft>
                <a:spcPts val="600"/>
              </a:spcAft>
            </a:pPr>
            <a:r>
              <a:rPr sz="1350" b="1">
                <a:solidFill>
                  <a:srgbClr val="17263A"/>
                </a:solidFill>
                <a:latin typeface="Arial"/>
              </a:rPr>
              <a:t>Admin actions. </a:t>
            </a:r>
            <a:r>
              <a:rPr sz="1350" b="0">
                <a:solidFill>
                  <a:srgbClr val="5E6C80"/>
                </a:solidFill>
                <a:latin typeface="Arial"/>
              </a:rPr>
              <a:t>Register, review last seen, revoke, or remove a device.</a:t>
            </a:r>
          </a:p>
          <a:p>
            <a:pPr>
              <a:spcAft>
                <a:spcPts val="600"/>
              </a:spcAft>
            </a:pPr>
            <a:r>
              <a:rPr sz="1350" b="1">
                <a:solidFill>
                  <a:srgbClr val="17263A"/>
                </a:solidFill>
                <a:latin typeface="Arial"/>
              </a:rPr>
              <a:t>Device Lock. </a:t>
            </a:r>
            <a:r>
              <a:rPr sz="1350" b="0">
                <a:solidFill>
                  <a:srgbClr val="5E6C80"/>
                </a:solidFill>
                <a:latin typeface="Arial"/>
              </a:rPr>
              <a:t>When enabled, only approved devices may log in.</a:t>
            </a:r>
          </a:p>
        </p:txBody>
      </p:sp>
      <p:sp>
        <p:nvSpPr>
          <p:cNvPr id="10" name="Rounded Rectangle 9"/>
          <p:cNvSpPr/>
          <p:nvPr/>
        </p:nvSpPr>
        <p:spPr>
          <a:xfrm>
            <a:off x="676656" y="3977639"/>
            <a:ext cx="53949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105655"/>
            <a:ext cx="50292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859536" y="4389120"/>
            <a:ext cx="5029200" cy="557784"/>
          </a:xfrm>
          <a:prstGeom prst="rect">
            <a:avLst/>
          </a:prstGeom>
          <a:noFill/>
        </p:spPr>
        <p:txBody>
          <a:bodyPr wrap="square" lIns="0" rIns="0" tIns="0" bIns="0" anchor="t">
            <a:spAutoFit/>
          </a:bodyPr>
          <a:lstStyle/>
          <a:p>
            <a:pPr algn="l"/>
            <a:r>
              <a:rPr sz="1250" b="0">
                <a:solidFill>
                  <a:srgbClr val="17263A"/>
                </a:solidFill>
                <a:latin typeface="Arial"/>
              </a:rPr>
              <a:t>The office keeps a list of allowed computers. An unregistered or revoked device can be blocked when Device Lock is enabled.</a:t>
            </a:r>
          </a:p>
        </p:txBody>
      </p:sp>
      <p:sp>
        <p:nvSpPr>
          <p:cNvPr id="13" name="Rounded Rectangle 12"/>
          <p:cNvSpPr/>
          <p:nvPr/>
        </p:nvSpPr>
        <p:spPr>
          <a:xfrm>
            <a:off x="6537960" y="4919472"/>
            <a:ext cx="5074920" cy="795528"/>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5047488"/>
            <a:ext cx="4709159" cy="219456"/>
          </a:xfrm>
          <a:prstGeom prst="rect">
            <a:avLst/>
          </a:prstGeom>
          <a:noFill/>
        </p:spPr>
        <p:txBody>
          <a:bodyPr wrap="square" lIns="0" rIns="0" tIns="0" bIns="0" anchor="t">
            <a:spAutoFit/>
          </a:bodyPr>
          <a:lstStyle/>
          <a:p>
            <a:pPr algn="l"/>
            <a:r>
              <a:rPr sz="1400" b="1">
                <a:solidFill>
                  <a:srgbClr val="B45309"/>
                </a:solidFill>
                <a:latin typeface="Arial"/>
              </a:rPr>
              <a:t>Current-state note</a:t>
            </a:r>
          </a:p>
        </p:txBody>
      </p:sp>
      <p:sp>
        <p:nvSpPr>
          <p:cNvPr id="15" name="TextBox 14"/>
          <p:cNvSpPr txBox="1"/>
          <p:nvPr/>
        </p:nvSpPr>
        <p:spPr>
          <a:xfrm>
            <a:off x="6720840" y="5330952"/>
            <a:ext cx="4709159" cy="274320"/>
          </a:xfrm>
          <a:prstGeom prst="rect">
            <a:avLst/>
          </a:prstGeom>
          <a:noFill/>
        </p:spPr>
        <p:txBody>
          <a:bodyPr wrap="square" lIns="0" rIns="0" tIns="0" bIns="0" anchor="t">
            <a:spAutoFit/>
          </a:bodyPr>
          <a:lstStyle/>
          <a:p>
            <a:pPr algn="l"/>
            <a:r>
              <a:rPr sz="1250" b="0">
                <a:solidFill>
                  <a:srgbClr val="17263A"/>
                </a:solidFill>
                <a:latin typeface="Arial"/>
              </a:rPr>
              <a:t>The screen shows Device Lock disabled. Register the current device before enabling the restriction.</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18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FILE MAINTENANCE</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Reorganize Uploads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Move existing PDFs into the correct year and last-name folder structure</a:t>
            </a:r>
          </a:p>
        </p:txBody>
      </p:sp>
      <p:sp>
        <p:nvSpPr>
          <p:cNvPr id="6" name="Rounded Rectangle 5"/>
          <p:cNvSpPr/>
          <p:nvPr/>
        </p:nvSpPr>
        <p:spPr>
          <a:xfrm>
            <a:off x="612648" y="1874519"/>
            <a:ext cx="5166360" cy="2907792"/>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3dff5064-2809-4a38-82fa-bad3b9b660e3.png"/>
          <p:cNvPicPr>
            <a:picLocks noChangeAspect="1"/>
          </p:cNvPicPr>
          <p:nvPr/>
        </p:nvPicPr>
        <p:blipFill>
          <a:blip r:embed="rId2"/>
          <a:stretch>
            <a:fillRect/>
          </a:stretch>
        </p:blipFill>
        <p:spPr>
          <a:xfrm>
            <a:off x="658368" y="1920239"/>
            <a:ext cx="5074920" cy="2816352"/>
          </a:xfrm>
          <a:prstGeom prst="rect">
            <a:avLst/>
          </a:prstGeom>
        </p:spPr>
      </p:pic>
      <p:sp>
        <p:nvSpPr>
          <p:cNvPr id="8" name="TextBox 7"/>
          <p:cNvSpPr txBox="1"/>
          <p:nvPr/>
        </p:nvSpPr>
        <p:spPr>
          <a:xfrm>
            <a:off x="6144768" y="1901952"/>
            <a:ext cx="5394960" cy="237744"/>
          </a:xfrm>
          <a:prstGeom prst="rect">
            <a:avLst/>
          </a:prstGeom>
          <a:noFill/>
        </p:spPr>
        <p:txBody>
          <a:bodyPr wrap="square" lIns="0" rIns="0" tIns="0" bIns="0" anchor="t">
            <a:spAutoFit/>
          </a:bodyPr>
          <a:lstStyle/>
          <a:p>
            <a:pPr algn="l"/>
            <a:r>
              <a:rPr sz="1550" b="1">
                <a:solidFill>
                  <a:srgbClr val="17263A"/>
                </a:solidFill>
                <a:latin typeface="Arial"/>
              </a:rPr>
              <a:t>How the tool works</a:t>
            </a:r>
          </a:p>
        </p:txBody>
      </p:sp>
      <p:sp>
        <p:nvSpPr>
          <p:cNvPr id="9" name="TextBox 8"/>
          <p:cNvSpPr txBox="1"/>
          <p:nvPr/>
        </p:nvSpPr>
        <p:spPr>
          <a:xfrm>
            <a:off x="6144768" y="2221992"/>
            <a:ext cx="5303520" cy="1664208"/>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Dry Run. </a:t>
            </a:r>
            <a:r>
              <a:rPr sz="1350" b="0">
                <a:solidFill>
                  <a:srgbClr val="5E6C80"/>
                </a:solidFill>
                <a:latin typeface="Arial"/>
              </a:rPr>
              <a:t>Scans records and previews the proposed file moves without changing anything.</a:t>
            </a:r>
          </a:p>
          <a:p>
            <a:pPr>
              <a:spcAft>
                <a:spcPts val="600"/>
              </a:spcAft>
            </a:pPr>
            <a:r>
              <a:rPr sz="1350" b="1">
                <a:solidFill>
                  <a:srgbClr val="17263A"/>
                </a:solidFill>
                <a:latin typeface="Arial"/>
              </a:rPr>
              <a:t>Apply. </a:t>
            </a:r>
            <a:r>
              <a:rPr sz="1350" b="0">
                <a:solidFill>
                  <a:srgbClr val="5E6C80"/>
                </a:solidFill>
                <a:latin typeface="Arial"/>
              </a:rPr>
              <a:t>Moves PDFs and updates database paths after an explicit UNDERSTAND confirmation.</a:t>
            </a:r>
          </a:p>
          <a:p>
            <a:pPr>
              <a:spcAft>
                <a:spcPts val="600"/>
              </a:spcAft>
            </a:pPr>
            <a:r>
              <a:rPr sz="1350" b="1">
                <a:solidFill>
                  <a:srgbClr val="17263A"/>
                </a:solidFill>
                <a:latin typeface="Arial"/>
              </a:rPr>
              <a:t>Folder scheme. </a:t>
            </a:r>
            <a:r>
              <a:rPr sz="1350" b="0">
                <a:solidFill>
                  <a:srgbClr val="5E6C80"/>
                </a:solidFill>
                <a:latin typeface="Arial"/>
              </a:rPr>
              <a:t>{type}/{year}/{LAST_NAME}/, with the event date taking priority when available.</a:t>
            </a:r>
          </a:p>
        </p:txBody>
      </p:sp>
      <p:sp>
        <p:nvSpPr>
          <p:cNvPr id="10" name="Rounded Rectangle 9"/>
          <p:cNvSpPr/>
          <p:nvPr/>
        </p:nvSpPr>
        <p:spPr>
          <a:xfrm>
            <a:off x="6144768" y="4187952"/>
            <a:ext cx="5303520" cy="1069848"/>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4315968"/>
            <a:ext cx="4937759" cy="219456"/>
          </a:xfrm>
          <a:prstGeom prst="rect">
            <a:avLst/>
          </a:prstGeom>
          <a:noFill/>
        </p:spPr>
        <p:txBody>
          <a:bodyPr wrap="square" lIns="0" rIns="0" tIns="0" bIns="0" anchor="t">
            <a:spAutoFit/>
          </a:bodyPr>
          <a:lstStyle/>
          <a:p>
            <a:pPr algn="l"/>
            <a:r>
              <a:rPr sz="1400" b="1">
                <a:solidFill>
                  <a:srgbClr val="2F6BDE"/>
                </a:solidFill>
                <a:latin typeface="Arial"/>
              </a:rPr>
              <a:t>Plain-language explanation</a:t>
            </a:r>
          </a:p>
        </p:txBody>
      </p:sp>
      <p:sp>
        <p:nvSpPr>
          <p:cNvPr id="12" name="TextBox 11"/>
          <p:cNvSpPr txBox="1"/>
          <p:nvPr/>
        </p:nvSpPr>
        <p:spPr>
          <a:xfrm>
            <a:off x="6327648" y="4599432"/>
            <a:ext cx="4937759" cy="548640"/>
          </a:xfrm>
          <a:prstGeom prst="rect">
            <a:avLst/>
          </a:prstGeom>
          <a:noFill/>
        </p:spPr>
        <p:txBody>
          <a:bodyPr wrap="square" lIns="0" rIns="0" tIns="0" bIns="0" anchor="t">
            <a:spAutoFit/>
          </a:bodyPr>
          <a:lstStyle/>
          <a:p>
            <a:pPr algn="l"/>
            <a:r>
              <a:rPr sz="1250" b="0">
                <a:solidFill>
                  <a:srgbClr val="17263A"/>
                </a:solidFill>
                <a:latin typeface="Arial"/>
              </a:rPr>
              <a:t>It works like a filing-cabinet cleanup: the system shows what it plans to move first, then applies the changes only after confirmation.</a:t>
            </a:r>
          </a:p>
        </p:txBody>
      </p:sp>
      <p:sp>
        <p:nvSpPr>
          <p:cNvPr id="13" name="Rounded Rectangle 12"/>
          <p:cNvSpPr/>
          <p:nvPr/>
        </p:nvSpPr>
        <p:spPr>
          <a:xfrm>
            <a:off x="612648" y="5047488"/>
            <a:ext cx="5166360" cy="685800"/>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175503"/>
            <a:ext cx="4800600" cy="219456"/>
          </a:xfrm>
          <a:prstGeom prst="rect">
            <a:avLst/>
          </a:prstGeom>
          <a:noFill/>
        </p:spPr>
        <p:txBody>
          <a:bodyPr wrap="square" lIns="0" rIns="0" tIns="0" bIns="0" anchor="t">
            <a:spAutoFit/>
          </a:bodyPr>
          <a:lstStyle/>
          <a:p>
            <a:pPr algn="l"/>
            <a:r>
              <a:rPr sz="1400" b="1">
                <a:solidFill>
                  <a:srgbClr val="B45309"/>
                </a:solidFill>
                <a:latin typeface="Arial"/>
              </a:rPr>
              <a:t>Example</a:t>
            </a:r>
          </a:p>
        </p:txBody>
      </p:sp>
      <p:sp>
        <p:nvSpPr>
          <p:cNvPr id="15" name="TextBox 14"/>
          <p:cNvSpPr txBox="1"/>
          <p:nvPr/>
        </p:nvSpPr>
        <p:spPr>
          <a:xfrm>
            <a:off x="795528" y="5458968"/>
            <a:ext cx="4800600" cy="164592"/>
          </a:xfrm>
          <a:prstGeom prst="rect">
            <a:avLst/>
          </a:prstGeom>
          <a:noFill/>
        </p:spPr>
        <p:txBody>
          <a:bodyPr wrap="square" lIns="0" rIns="0" tIns="0" bIns="0" anchor="t">
            <a:spAutoFit/>
          </a:bodyPr>
          <a:lstStyle/>
          <a:p>
            <a:pPr algn="l"/>
            <a:r>
              <a:rPr sz="1250" b="0">
                <a:solidFill>
                  <a:srgbClr val="17263A"/>
                </a:solidFill>
                <a:latin typeface="Arial"/>
              </a:rPr>
              <a:t>birth / 2014 / DELOS_SANTOS / certificate.pdf</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19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txBody>
          <a:bodyPr/>
          <a:p/>
        </p:txBody>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txBody>
          <a:bodyPr/>
          <a:p/>
        </p:txBody>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txBody>
          <a:bodyPr/>
          <a:p/>
        </p:txBody>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txBody>
          <a:bodyPr/>
          <a:p/>
        </p:txBody>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txBody>
          <a:bodyPr/>
          <a:p/>
        </p:txBody>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txBody>
          <a:bodyPr/>
          <a:p/>
        </p:txBody>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20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CONTINUITY</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Works Without Internet</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The office NAS keeps local records available during an internet outage</a:t>
            </a:r>
          </a:p>
        </p:txBody>
      </p:sp>
      <p:sp>
        <p:nvSpPr>
          <p:cNvPr id="6" name="Rounded Rectangle 5"/>
          <p:cNvSpPr/>
          <p:nvPr/>
        </p:nvSpPr>
        <p:spPr>
          <a:xfrm>
            <a:off x="612648" y="1874519"/>
            <a:ext cx="5715000" cy="321868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bc7be029-6299-4007-b00a-47bd95cd8c7b.png"/>
          <p:cNvPicPr>
            <a:picLocks noChangeAspect="1"/>
          </p:cNvPicPr>
          <p:nvPr/>
        </p:nvPicPr>
        <p:blipFill>
          <a:blip r:embed="rId2"/>
          <a:stretch>
            <a:fillRect/>
          </a:stretch>
        </p:blipFill>
        <p:spPr>
          <a:xfrm>
            <a:off x="658368" y="1920239"/>
            <a:ext cx="5623560" cy="3127248"/>
          </a:xfrm>
          <a:prstGeom prst="rect">
            <a:avLst/>
          </a:prstGeom>
        </p:spPr>
      </p:pic>
      <p:sp>
        <p:nvSpPr>
          <p:cNvPr id="8" name="TextBox 7"/>
          <p:cNvSpPr txBox="1"/>
          <p:nvPr/>
        </p:nvSpPr>
        <p:spPr>
          <a:xfrm>
            <a:off x="6656832" y="1901952"/>
            <a:ext cx="4800600" cy="237744"/>
          </a:xfrm>
          <a:prstGeom prst="rect">
            <a:avLst/>
          </a:prstGeom>
          <a:noFill/>
        </p:spPr>
        <p:txBody>
          <a:bodyPr wrap="square" lIns="0" rIns="0" tIns="0" bIns="0" anchor="t">
            <a:spAutoFit/>
          </a:bodyPr>
          <a:lstStyle/>
          <a:p>
            <a:pPr algn="l"/>
            <a:r>
              <a:rPr sz="1550" b="1">
                <a:solidFill>
                  <a:srgbClr val="17263A"/>
                </a:solidFill>
                <a:latin typeface="Arial"/>
              </a:rPr>
              <a:t>How access is separated</a:t>
            </a:r>
          </a:p>
        </p:txBody>
      </p:sp>
      <p:sp>
        <p:nvSpPr>
          <p:cNvPr id="9" name="TextBox 8"/>
          <p:cNvSpPr txBox="1"/>
          <p:nvPr/>
        </p:nvSpPr>
        <p:spPr>
          <a:xfrm>
            <a:off x="6656832" y="2221992"/>
            <a:ext cx="4663440" cy="169164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Local LAN path. </a:t>
            </a:r>
            <a:r>
              <a:rPr sz="1350" b="0">
                <a:solidFill>
                  <a:srgbClr val="5E6C80"/>
                </a:solidFill>
                <a:latin typeface="Arial"/>
              </a:rPr>
              <a:t>Workstations and the scanner connect to the NAS/Web Station over the office network.</a:t>
            </a:r>
          </a:p>
          <a:p>
            <a:pPr>
              <a:spcAft>
                <a:spcPts val="600"/>
              </a:spcAft>
            </a:pPr>
            <a:r>
              <a:rPr sz="1350" b="1">
                <a:solidFill>
                  <a:srgbClr val="17263A"/>
                </a:solidFill>
                <a:latin typeface="Arial"/>
              </a:rPr>
              <a:t>Internet path. </a:t>
            </a:r>
            <a:r>
              <a:rPr sz="1350" b="0">
                <a:solidFill>
                  <a:srgbClr val="5E6C80"/>
                </a:solidFill>
                <a:latin typeface="Arial"/>
              </a:rPr>
              <a:t>The public URL and remote access need internet connectivity.</a:t>
            </a:r>
          </a:p>
          <a:p>
            <a:pPr>
              <a:spcAft>
                <a:spcPts val="600"/>
              </a:spcAft>
            </a:pPr>
            <a:r>
              <a:rPr sz="1350" b="1">
                <a:solidFill>
                  <a:srgbClr val="17263A"/>
                </a:solidFill>
                <a:latin typeface="Arial"/>
              </a:rPr>
              <a:t>Recovery. </a:t>
            </a:r>
            <a:r>
              <a:rPr sz="1350" b="0">
                <a:solidFill>
                  <a:srgbClr val="5E6C80"/>
                </a:solidFill>
                <a:latin typeface="Arial"/>
              </a:rPr>
              <a:t>When internet returns, remote access resumes; local records remain on the NAS.</a:t>
            </a:r>
          </a:p>
        </p:txBody>
      </p:sp>
      <p:sp>
        <p:nvSpPr>
          <p:cNvPr id="10" name="Rounded Rectangle 9"/>
          <p:cNvSpPr/>
          <p:nvPr/>
        </p:nvSpPr>
        <p:spPr>
          <a:xfrm>
            <a:off x="6656832" y="4169663"/>
            <a:ext cx="4709160" cy="13075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9712" y="4297679"/>
            <a:ext cx="43434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6839712" y="4581144"/>
            <a:ext cx="4343400" cy="859536"/>
          </a:xfrm>
          <a:prstGeom prst="rect">
            <a:avLst/>
          </a:prstGeom>
          <a:noFill/>
        </p:spPr>
        <p:txBody>
          <a:bodyPr wrap="square" lIns="0" rIns="0" tIns="0" bIns="0" anchor="t">
            <a:spAutoFit/>
          </a:bodyPr>
          <a:lstStyle/>
          <a:p>
            <a:pPr algn="l"/>
            <a:r>
              <a:rPr sz="1250" b="0">
                <a:solidFill>
                  <a:srgbClr val="17263A"/>
                </a:solidFill>
                <a:latin typeface="Arial"/>
              </a:rPr>
              <a:t>If the internet goes down, staff inside the office can still encode, scan, search, and open records through the NAS. Users outside the office reconnect when the internet is restored.</a:t>
            </a:r>
          </a:p>
        </p:txBody>
      </p:sp>
      <p:sp>
        <p:nvSpPr>
          <p:cNvPr id="13" name="Rounded Rectangle 12"/>
          <p:cNvSpPr/>
          <p:nvPr/>
        </p:nvSpPr>
        <p:spPr>
          <a:xfrm>
            <a:off x="612648" y="5321808"/>
            <a:ext cx="5715000" cy="822960"/>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449824"/>
            <a:ext cx="5349240" cy="219456"/>
          </a:xfrm>
          <a:prstGeom prst="rect">
            <a:avLst/>
          </a:prstGeom>
          <a:noFill/>
        </p:spPr>
        <p:txBody>
          <a:bodyPr wrap="square" lIns="0" rIns="0" tIns="0" bIns="0" anchor="t">
            <a:spAutoFit/>
          </a:bodyPr>
          <a:lstStyle/>
          <a:p>
            <a:pPr algn="l"/>
            <a:r>
              <a:rPr sz="1400" b="1">
                <a:solidFill>
                  <a:srgbClr val="2F6BDE"/>
                </a:solidFill>
                <a:latin typeface="Arial"/>
              </a:rPr>
              <a:t>Local access</a:t>
            </a:r>
          </a:p>
        </p:txBody>
      </p:sp>
      <p:sp>
        <p:nvSpPr>
          <p:cNvPr id="15" name="TextBox 14"/>
          <p:cNvSpPr txBox="1"/>
          <p:nvPr/>
        </p:nvSpPr>
        <p:spPr>
          <a:xfrm>
            <a:off x="795528" y="5733288"/>
            <a:ext cx="5349240" cy="274320"/>
          </a:xfrm>
          <a:prstGeom prst="rect">
            <a:avLst/>
          </a:prstGeom>
          <a:noFill/>
        </p:spPr>
        <p:txBody>
          <a:bodyPr wrap="square" lIns="0" rIns="0" tIns="0" bIns="0" anchor="t">
            <a:spAutoFit/>
          </a:bodyPr>
          <a:lstStyle/>
          <a:p>
            <a:pPr algn="l"/>
            <a:r>
              <a:rPr sz="1250" b="0">
                <a:solidFill>
                  <a:srgbClr val="17263A"/>
                </a:solidFill>
                <a:latin typeface="Arial"/>
              </a:rPr>
              <a:t>Use the NAS IP address and Web Station port from an office computer.</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16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2189</Words>
  <Application>Microsoft Office PowerPoint</Application>
  <DocSecurity>0</DocSecurity>
  <PresentationFormat>Widescreen</PresentationFormat>
  <Paragraphs>295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2</cp:revision>
  <dcterms:created xsi:type="dcterms:W3CDTF">2026-09-09T00:15:58Z</dcterms:created>
  <dcterms:modified xsi:type="dcterms:W3CDTF">2026-09-09T00:49:40Z</dcterms:modified>
</cp:coreProperties>
</file>