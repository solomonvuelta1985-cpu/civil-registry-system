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1" r:id="rId14"/>
    <p:sldId id="272" r:id="rId15"/>
    <p:sldId id="268" r:id="rId16"/>
    <p:sldId id="275" r:id="rId26"/>
    <p:sldId id="269" r:id="rId17"/>
    <p:sldId id="273" r:id="rId24"/>
    <p:sldId id="274" r:id="rId25"/>
    <p:sldId id="270" r:id="rId18"/>
  </p:sldIdLst>
  <p:sldSz cx="12192000" cy="6858000"/>
  <p:notesSz cx="6858000" cy="9144000"/>
  <p:defaultTextStyle>
    <a:defPPr>
      <a:defRPr lang="en-A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9.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Magandang araw. This presentation introduces iScan, the four civil registry modules, and the complete path from a scanned document to a protected, searchable record.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Ito ang outline. Uunahin natin ang purpose and modules, then the system map, the record workflow, the security and recovery controls, and finally the live demonstration.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CRDMS means Civil Registry Document Management System. In simple terms, it is the office system for scanning, encoding, organizing, searching, verifying, and protecting civil registry documents. The name iScan comes from pa-scan; in Ilokano, i-scan is an action word for scanning a document for processing and registration.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Dito makikita ang reason for the system. The benefit is not only faster encoding; it is also a more reliable way to find, verify, and account for every record.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the four core modules. Kahit anong certificate type, the staff follow the same pattern for capture, encoding, review, approval, search, and protection.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system map. The browser sends requests to the PHP application on the NAS; MariaDB stores structured values and the PDF archive stores the documents. Online and local LAN access use the same application.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main flow to remember. The document is captured, encoded, checked against the PDF, routed through the approval role, and archived. Rejected or reopened records remain traceable.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Staff can scan from the Epson DS-530 II or select a PDF. The system validates the upload, then OCR can suggest values; the encoder still checks every extracted value before saving.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Auto-save is only a recovery aid. If the browser closes or the laptop restarts, the draft can be restored; the official database record exists only after Save succeeds. The default inactivity timeout is 60 minutes.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system creates the folder path from the record. Staff can browse by type, year, and last name, while the database remains the source of truth for the official record.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Search can use the name, registry number, date, folder, or location. The reviewer then compares the original PDF with the encoded fields before approving the record.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active controls include five login attempts within five minutes, a default 60-minute inactivity timeout, and role-based access. Permanent deletion is Admin-only; soft deletion goes to Trash first. The system also uses bcrypt password hashing, CSRF protection, prepared SQL, MIME/path checks, security logs, and audit logs.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technical view. The login flow uses bcrypt password hashes, active rate limiting, and a 3600-second session timeout. Requests use CSRF protection and prepared SQL; uploads use MIME/path and size checks; PDF hashes and backups help detect file changes; roles and audit/security logs make actions accountable. The 15-minute account-lockout constant is not presented as an active separate control.</a:t>
            </a:r>
            <a:endParaRPr lang="en-AS"/>
          </a:p>
        </p:txBody>
      </p:sp>
      <p:sp>
        <p:nvSpPr>
          <p:cNvPr id="4" name="Slide Number Placeholder 3"/>
          <p:cNvSpPr>
            <a:spLocks noGrp="1"/>
          </p:cNvSpPr>
          <p:nvPr>
            <p:ph type="sldNum" sz="quarter" idx="5"/>
          </p:nvPr>
        </p:nvSpPr>
        <p:spPr/>
        <p:txBody>
          <a:bodyPr/>
          <a:lstStyle/>
          <a:p>
            <a:endParaRPr lang="en-AS"/>
          </a:p>
        </p:txBody>
      </p:sp>
    </p:spTree>
    <p:extLst>
      <p:ext uri="{BB962C8B-B14F-4D97-AF65-F5344CB8AC3E}">
        <p14:creationId xmlns:p14="http://schemas.microsoft.com/office/powerpoint/2010/main" val="35281011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non-IT staff: think of the system as a locked records office. The right people get the right access, too many failed keys slow further attempts, an idle desk logs out, every file is checked before filing, and the history book records important actions. Sa madaling salita, security protects the record without making the daily work confusing.</a:t>
            </a:r>
            <a:endParaRPr lang="en-AS"/>
          </a:p>
        </p:txBody>
      </p:sp>
      <p:sp>
        <p:nvSpPr>
          <p:cNvPr id="4" name="Slide Number Placeholder 3"/>
          <p:cNvSpPr>
            <a:spLocks noGrp="1"/>
          </p:cNvSpPr>
          <p:nvPr>
            <p:ph type="sldNum" sz="quarter" idx="5"/>
          </p:nvPr>
        </p:nvSpPr>
        <p:spPr/>
        <p:txBody>
          <a:bodyPr/>
          <a:lstStyle/>
          <a:p>
            <a:endParaRPr lang="en-AS"/>
          </a:p>
        </p:txBody>
      </p:sp>
    </p:spTree>
    <p:extLst>
      <p:ext uri="{BB962C8B-B14F-4D97-AF65-F5344CB8AC3E}">
        <p14:creationId xmlns:p14="http://schemas.microsoft.com/office/powerpoint/2010/main" val="17005212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Backups create a recovery point for both database and PDFs. If internet access is unavailable, staff can continue through the NAS local address; remote access returns when connectivity is restored.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lists the supporting tools explicitly: Advanced Search, Analytics Dashboard, Records Viewer, PDF Comparison Viewer, Workflow Dashboard, Archive, Trash and Restore, Batch Upload, PDF Backup Manager, PDF Integrity Tools, Reorganize Uploads, Double Registration Linking, Family Relations, Calendar, Notes, device registration/approval/locking, User Management, System Settings, Security Logs, Reports, Data Export, Error Log Viewer, and Maintenance Mode.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the demo, follow this exact order: dashboard, record creation, auto-save, scan or upload, Folder Browser, search and verification, then security logs and deletion policy. That order makes the value easy to follow for the audience.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Registered Devices gives administrators a device registry. The system stores a browser or workstation fingerprint, and an administrator can register, review, revoke, or remove entries. Device Lock is optional, so the screenshot correctly shows that all devices may still log in until an administrator enables the restriction. In simple terms, the office can keep a list of approved computers and block unknown devices after the lock is turned 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Reorganize Uploads helps clean up older PDFs that are in the wrong folder. Dry Run shows the proposed moves without changing files or database paths. Apply performs the move and updates the database only after the user types UNDERSTAND, which gives staff a review step before the change.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separates local office access from remote internet access. The browser, scanner, PHP application, database, and PDF archive communicate across the office LAN and NAS, so staff can continue work during an internet outage. Cloudflare or other public access is unavailable during the outage, but it returns when the internet connection is restored. In simple terms, the records stay inside the office and the internet is only needed for outside access.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321426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notesSlide" Target="../notesSlides/notesSlide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notesSlide" Target="../notesSlides/notesSlide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43E"/>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BBF561E-F246-4432-BFF0-46CFC22DFF67}"/>
              </a:ext>
            </a:extLst>
          </p:cNvPr>
          <p:cNvSpPr>
            <a:spLocks noGrp="1"/>
          </p:cNvSpPr>
          <p:nvPr/>
        </p:nvSpPr>
        <p:spPr>
          <a:xfrm>
            <a:off x="0" y="0"/>
            <a:ext cx="4762500" cy="6858000"/>
          </a:xfrm>
          <a:prstGeom prst="rect">
            <a:avLst/>
          </a:prstGeom>
          <a:solidFill>
            <a:srgbClr val="2F6BDE"/>
          </a:solidFill>
          <a:ln w="0">
            <a:noFill/>
          </a:ln>
        </p:spPr>
        <p:txBody>
          <a:bodyPr/>
          <a:p/>
        </p:txBody>
      </p:sp>
      <p:pic>
        <p:nvPicPr>
          <p:cNvPr id="12" name="Picture 11"/>
          <p:cNvPicPr>
            <a:picLocks noChangeAspect="1"/>
          </p:cNvPicPr>
          <p:nvPr/>
        </p:nvPicPr>
        <p:blipFill>
          <a:blip r:embed="rId3"/>
          <a:stretch/>
        </p:blipFill>
        <p:spPr>
          <a:xfrm>
            <a:off x="990600" y="1172957"/>
            <a:ext cx="2781300" cy="2759486"/>
          </a:xfrm>
          <a:prstGeom prst="roundRect">
            <a:avLst>
              <a:gd name="adj" fmla="val 50000"/>
            </a:avLst>
          </a:prstGeom>
        </p:spPr>
      </p:pic>
      <p:sp>
        <p:nvSpPr>
          <p:cNvPr id="3" name="Rectangle 2">
            <a:extLst>
              <a:ext uri="{FF2B5EF4-FFF2-40B4-BE49-F238E27FC236}">
                <a16:creationId xmlns:a16="http://schemas.microsoft.com/office/drawing/2014/main" id="{A735E840-E995-4A33-AB35-1C3A37A59358}"/>
              </a:ext>
            </a:extLst>
          </p:cNvPr>
          <p:cNvSpPr>
            <a:spLocks noGrp="1"/>
          </p:cNvSpPr>
          <p:nvPr/>
        </p:nvSpPr>
        <p:spPr>
          <a:xfrm>
            <a:off x="5410200" y="1466850"/>
            <a:ext cx="5905500" cy="666750"/>
          </a:xfrm>
          <a:prstGeom prst="rect">
            <a:avLst/>
          </a:prstGeom>
          <a:noFill/>
          <a:ln w="0">
            <a:noFill/>
          </a:ln>
        </p:spPr>
        <p:txBody>
          <a:bodyPr lIns="0" tIns="0" rIns="0" bIns="0" anchor="t">
            <a:normAutofit/>
          </a:bodyPr>
          <a:lstStyle/>
          <a:p>
            <a:pPr algn="l">
              <a:defRPr sz="3675" b="1">
                <a:solidFill>
                  <a:srgbClr val="FFFFFF"/>
                </a:solidFill>
                <a:latin typeface="Arial"/>
                <a:ea typeface="Arial"/>
                <a:cs typeface="Arial"/>
              </a:defRPr>
            </a:pPr>
            <a:r>
              <a:rPr sz="3675" b="1">
                <a:solidFill>
                  <a:srgbClr val="FFFFFF"/>
                </a:solidFill>
                <a:latin typeface="Arial"/>
                <a:ea typeface="Arial"/>
                <a:cs typeface="Arial"/>
              </a:rPr>
              <a:t>iScan CRDMS</a:t>
            </a:r>
          </a:p>
        </p:txBody>
      </p:sp>
      <p:sp>
        <p:nvSpPr>
          <p:cNvPr id="4" name="Rectangle 3">
            <a:extLst>
              <a:ext uri="{FF2B5EF4-FFF2-40B4-BE49-F238E27FC236}">
                <a16:creationId xmlns:a16="http://schemas.microsoft.com/office/drawing/2014/main" id="{8D44E1AA-7DE0-4221-9153-726ABF8025EB}"/>
              </a:ext>
            </a:extLst>
          </p:cNvPr>
          <p:cNvSpPr>
            <a:spLocks noGrp="1"/>
          </p:cNvSpPr>
          <p:nvPr/>
        </p:nvSpPr>
        <p:spPr>
          <a:xfrm>
            <a:off x="5448300" y="2266950"/>
            <a:ext cx="5524500" cy="514350"/>
          </a:xfrm>
          <a:prstGeom prst="rect">
            <a:avLst/>
          </a:prstGeom>
          <a:noFill/>
          <a:ln w="0">
            <a:noFill/>
          </a:ln>
        </p:spPr>
        <p:txBody>
          <a:bodyPr lIns="0" tIns="0" rIns="0" bIns="0" anchor="t">
            <a:normAutofit/>
          </a:bodyPr>
          <a:lstStyle/>
          <a:p>
            <a:pPr algn="l">
              <a:defRPr sz="2025">
                <a:solidFill>
                  <a:srgbClr val="BFD0E7"/>
                </a:solidFill>
                <a:latin typeface="Arial"/>
                <a:ea typeface="Arial"/>
                <a:cs typeface="Arial"/>
              </a:defRPr>
            </a:pPr>
            <a:r>
              <a:rPr sz="2025">
                <a:solidFill>
                  <a:srgbClr val="BFD0E7"/>
                </a:solidFill>
                <a:latin typeface="Arial"/>
                <a:ea typeface="Arial"/>
                <a:cs typeface="Arial"/>
              </a:rPr>
              <a:t>Civil Registry Records Management System</a:t>
            </a:r>
          </a:p>
        </p:txBody>
      </p:sp>
      <p:sp>
        <p:nvSpPr>
          <p:cNvPr id="5" name="Rectangle 4">
            <a:extLst>
              <a:ext uri="{FF2B5EF4-FFF2-40B4-BE49-F238E27FC236}">
                <a16:creationId xmlns:a16="http://schemas.microsoft.com/office/drawing/2014/main" id="{34F2126E-3179-443F-8A7E-996751349F33}"/>
              </a:ext>
            </a:extLst>
          </p:cNvPr>
          <p:cNvSpPr>
            <a:spLocks noGrp="1"/>
          </p:cNvSpPr>
          <p:nvPr/>
        </p:nvSpPr>
        <p:spPr>
          <a:xfrm>
            <a:off x="5448300" y="3086100"/>
            <a:ext cx="5143500" cy="552450"/>
          </a:xfrm>
          <a:prstGeom prst="rect">
            <a:avLst/>
          </a:prstGeom>
          <a:noFill/>
          <a:ln w="0">
            <a:noFill/>
          </a:ln>
        </p:spPr>
        <p:txBody>
          <a:bodyPr lIns="0" tIns="0" rIns="0" bIns="0" anchor="t">
            <a:normAutofit/>
          </a:bodyPr>
          <a:lstStyle/>
          <a:p>
            <a:pPr algn="l">
              <a:defRPr sz="1650">
                <a:solidFill>
                  <a:srgbClr val="BFD0E7"/>
                </a:solidFill>
                <a:latin typeface="Arial"/>
                <a:ea typeface="Arial"/>
                <a:cs typeface="Arial"/>
              </a:defRPr>
            </a:pPr>
            <a:r>
              <a:rPr sz="1650">
                <a:solidFill>
                  <a:srgbClr val="BFD0E7"/>
                </a:solidFill>
                <a:latin typeface="Arial"/>
                <a:ea typeface="Arial"/>
                <a:cs typeface="Arial"/>
              </a:rPr>
              <a:t>A guided introduction to the records, workflow, and controls.</a:t>
            </a:r>
          </a:p>
        </p:txBody>
      </p:sp>
      <p:sp>
        <p:nvSpPr>
          <p:cNvPr id="6" name="Rectangle: Rounded Corners 5">
            <a:extLst>
              <a:ext uri="{FF2B5EF4-FFF2-40B4-BE49-F238E27FC236}">
                <a16:creationId xmlns:a16="http://schemas.microsoft.com/office/drawing/2014/main" id="{6A596E5C-DBAE-407C-8ABF-332C7DC7159C}"/>
              </a:ext>
            </a:extLst>
          </p:cNvPr>
          <p:cNvSpPr>
            <a:spLocks noGrp="1"/>
          </p:cNvSpPr>
          <p:nvPr/>
        </p:nvSpPr>
        <p:spPr>
          <a:xfrm>
            <a:off x="5448300" y="4095750"/>
            <a:ext cx="3429000" cy="361950"/>
          </a:xfrm>
          <a:prstGeom prst="roundRect">
            <a:avLst>
              <a:gd name="adj" fmla="val 21053"/>
            </a:avLst>
          </a:prstGeom>
          <a:solidFill>
            <a:srgbClr val="17A673"/>
          </a:solidFill>
          <a:ln w="0">
            <a:noFill/>
          </a:ln>
        </p:spPr>
        <p:txBody>
          <a:bodyPr/>
          <a:p/>
        </p:txBody>
      </p:sp>
      <p:sp>
        <p:nvSpPr>
          <p:cNvPr id="7" name="Rectangle 6">
            <a:extLst>
              <a:ext uri="{FF2B5EF4-FFF2-40B4-BE49-F238E27FC236}">
                <a16:creationId xmlns:a16="http://schemas.microsoft.com/office/drawing/2014/main" id="{0D717773-7C37-4AE8-A6A7-8DACB9885F0A}"/>
              </a:ext>
            </a:extLst>
          </p:cNvPr>
          <p:cNvSpPr>
            <a:spLocks noGrp="1"/>
          </p:cNvSpPr>
          <p:nvPr/>
        </p:nvSpPr>
        <p:spPr>
          <a:xfrm>
            <a:off x="5448300" y="4095750"/>
            <a:ext cx="34290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MUNICIPAL CIVIL REGISTRAR'S OFFICE</a:t>
            </a:r>
          </a:p>
        </p:txBody>
      </p:sp>
      <p:sp>
        <p:nvSpPr>
          <p:cNvPr id="8" name="Rectangle 7">
            <a:extLst>
              <a:ext uri="{FF2B5EF4-FFF2-40B4-BE49-F238E27FC236}">
                <a16:creationId xmlns:a16="http://schemas.microsoft.com/office/drawing/2014/main" id="{3840E3B5-5B5A-416F-A1A6-8E24C42F5885}"/>
              </a:ext>
            </a:extLst>
          </p:cNvPr>
          <p:cNvSpPr>
            <a:spLocks noGrp="1"/>
          </p:cNvSpPr>
          <p:nvPr/>
        </p:nvSpPr>
        <p:spPr>
          <a:xfrm>
            <a:off x="5448300" y="4714875"/>
            <a:ext cx="3810000" cy="285750"/>
          </a:xfrm>
          <a:prstGeom prst="rect">
            <a:avLst/>
          </a:prstGeom>
          <a:noFill/>
          <a:ln w="0">
            <a:noFill/>
          </a:ln>
        </p:spPr>
        <p:txBody>
          <a:bodyPr lIns="0" tIns="0" rIns="0" bIns="0" anchor="t">
            <a:normAutofit/>
          </a:bodyPr>
          <a:lstStyle/>
          <a:p>
            <a:pPr algn="l">
              <a:defRPr sz="1500">
                <a:solidFill>
                  <a:srgbClr val="FFFFFF"/>
                </a:solidFill>
                <a:latin typeface="Arial"/>
                <a:ea typeface="Arial"/>
                <a:cs typeface="Arial"/>
              </a:defRPr>
            </a:pPr>
            <a:r>
              <a:rPr sz="1500">
                <a:solidFill>
                  <a:srgbClr val="FFFFFF"/>
                </a:solidFill>
                <a:latin typeface="Arial"/>
                <a:ea typeface="Arial"/>
                <a:cs typeface="Arial"/>
              </a:rPr>
              <a:t>Municipality of Baggao</a:t>
            </a:r>
          </a:p>
        </p:txBody>
      </p:sp>
      <p:sp>
        <p:nvSpPr>
          <p:cNvPr id="9" name="Rectangle 8">
            <a:extLst>
              <a:ext uri="{FF2B5EF4-FFF2-40B4-BE49-F238E27FC236}">
                <a16:creationId xmlns:a16="http://schemas.microsoft.com/office/drawing/2014/main" id="{E1CBADC4-AFDD-477D-8646-D78CAD3E08FF}"/>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0" name="Rectangle 9">
            <a:extLst>
              <a:ext uri="{FF2B5EF4-FFF2-40B4-BE49-F238E27FC236}">
                <a16:creationId xmlns:a16="http://schemas.microsoft.com/office/drawing/2014/main" id="{33DCC7B2-11AA-4925-818A-3CB23AF81F60}"/>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01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12799083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E5913D48-5C83-4874-B35B-D31FB58157F5}"/>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ROADMAP</a:t>
            </a:r>
          </a:p>
        </p:txBody>
      </p:sp>
      <p:sp>
        <p:nvSpPr>
          <p:cNvPr id="2" name="Rectangle 1">
            <a:extLst>
              <a:ext uri="{FF2B5EF4-FFF2-40B4-BE49-F238E27FC236}">
                <a16:creationId xmlns:a16="http://schemas.microsoft.com/office/drawing/2014/main" id="{A10CFA3D-EA6A-4FE4-85B1-290825C8992E}"/>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What we will cover</a:t>
            </a:r>
          </a:p>
        </p:txBody>
      </p:sp>
      <p:sp>
        <p:nvSpPr>
          <p:cNvPr id="3" name="Rectangle 2">
            <a:extLst>
              <a:ext uri="{FF2B5EF4-FFF2-40B4-BE49-F238E27FC236}">
                <a16:creationId xmlns:a16="http://schemas.microsoft.com/office/drawing/2014/main" id="{946D4DC5-826E-4C0C-804A-EF27A1901151}"/>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1394BE8E-7552-4FC6-BCB8-38FBE2D54FB5}"/>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presentation follows the same order a staff member follows in the system.</a:t>
            </a:r>
          </a:p>
        </p:txBody>
      </p:sp>
      <p:sp>
        <p:nvSpPr>
          <p:cNvPr id="5" name="Rectangle: Rounded Corners 4">
            <a:extLst>
              <a:ext uri="{FF2B5EF4-FFF2-40B4-BE49-F238E27FC236}">
                <a16:creationId xmlns:a16="http://schemas.microsoft.com/office/drawing/2014/main" id="{1C7D2EE1-9015-4643-914E-E199FB1BABB4}"/>
              </a:ext>
            </a:extLst>
          </p:cNvPr>
          <p:cNvSpPr>
            <a:spLocks noGrp="1"/>
          </p:cNvSpPr>
          <p:nvPr/>
        </p:nvSpPr>
        <p:spPr>
          <a:xfrm>
            <a:off x="666750" y="2266950"/>
            <a:ext cx="5238750" cy="3286125"/>
          </a:xfrm>
          <a:prstGeom prst="roundRect">
            <a:avLst>
              <a:gd name="adj" fmla="val 2319"/>
            </a:avLst>
          </a:prstGeom>
          <a:solidFill>
            <a:srgbClr val="FFFFFF"/>
          </a:solidFill>
          <a:ln w="14288">
            <a:solidFill>
              <a:srgbClr val="D8E1ED"/>
            </a:solidFill>
          </a:ln>
        </p:spPr>
        <p:txBody>
          <a:bodyPr/>
          <a:p/>
        </p:txBody>
      </p:sp>
      <p:sp>
        <p:nvSpPr>
          <p:cNvPr id="6" name="Rectangle: Rounded Corners 5">
            <a:extLst>
              <a:ext uri="{FF2B5EF4-FFF2-40B4-BE49-F238E27FC236}">
                <a16:creationId xmlns:a16="http://schemas.microsoft.com/office/drawing/2014/main" id="{BBEC7F54-ABA9-4E77-8120-1D6A0AD93D3C}"/>
              </a:ext>
            </a:extLst>
          </p:cNvPr>
          <p:cNvSpPr>
            <a:spLocks noGrp="1"/>
          </p:cNvSpPr>
          <p:nvPr/>
        </p:nvSpPr>
        <p:spPr>
          <a:xfrm>
            <a:off x="6286500" y="2266950"/>
            <a:ext cx="5238750" cy="3286125"/>
          </a:xfrm>
          <a:prstGeom prst="roundRect">
            <a:avLst>
              <a:gd name="adj" fmla="val 2319"/>
            </a:avLst>
          </a:prstGeom>
          <a:solidFill>
            <a:srgbClr val="FFFFFF"/>
          </a:solidFill>
          <a:ln w="14288">
            <a:solidFill>
              <a:srgbClr val="D8E1ED"/>
            </a:solidFill>
          </a:ln>
        </p:spPr>
        <p:txBody>
          <a:bodyPr/>
          <a:p/>
        </p:txBody>
      </p:sp>
      <p:sp>
        <p:nvSpPr>
          <p:cNvPr id="7" name="Rectangle 6">
            <a:extLst>
              <a:ext uri="{FF2B5EF4-FFF2-40B4-BE49-F238E27FC236}">
                <a16:creationId xmlns:a16="http://schemas.microsoft.com/office/drawing/2014/main" id="{292C24F7-0542-4E9F-8D91-E7DB3636B2AE}"/>
              </a:ext>
            </a:extLst>
          </p:cNvPr>
          <p:cNvSpPr>
            <a:spLocks noGrp="1"/>
          </p:cNvSpPr>
          <p:nvPr/>
        </p:nvSpPr>
        <p:spPr>
          <a:xfrm>
            <a:off x="1000125" y="2571750"/>
            <a:ext cx="4286250" cy="285750"/>
          </a:xfrm>
          <a:prstGeom prst="rect">
            <a:avLst/>
          </a:prstGeom>
          <a:noFill/>
          <a:ln w="0">
            <a:noFill/>
          </a:ln>
        </p:spPr>
        <p:txBody>
          <a:bodyPr lIns="0" tIns="0" rIns="0" bIns="0" anchor="t">
            <a:normAutofit/>
          </a:bodyPr>
          <a:lstStyle/>
          <a:p>
            <a:pPr algn="l">
              <a:defRPr sz="1875" b="1">
                <a:solidFill>
                  <a:srgbClr val="2F6BDE"/>
                </a:solidFill>
                <a:latin typeface="Arial"/>
                <a:ea typeface="Arial"/>
                <a:cs typeface="Arial"/>
              </a:defRPr>
            </a:pPr>
            <a:r>
              <a:rPr sz="1875" b="1">
                <a:solidFill>
                  <a:srgbClr val="2F6BDE"/>
                </a:solidFill>
                <a:latin typeface="Arial"/>
                <a:ea typeface="Arial"/>
                <a:cs typeface="Arial"/>
              </a:rPr>
              <a:t>Understand</a:t>
            </a:r>
          </a:p>
        </p:txBody>
      </p:sp>
      <p:sp>
        <p:nvSpPr>
          <p:cNvPr id="8" name="Rectangle: Rounded Corners 7">
            <a:extLst>
              <a:ext uri="{FF2B5EF4-FFF2-40B4-BE49-F238E27FC236}">
                <a16:creationId xmlns:a16="http://schemas.microsoft.com/office/drawing/2014/main" id="{6E5600C3-639C-4269-954F-27B657781B0A}"/>
              </a:ext>
            </a:extLst>
          </p:cNvPr>
          <p:cNvSpPr>
            <a:spLocks noGrp="1"/>
          </p:cNvSpPr>
          <p:nvPr/>
        </p:nvSpPr>
        <p:spPr>
          <a:xfrm>
            <a:off x="1000125" y="3095625"/>
            <a:ext cx="457200" cy="400050"/>
          </a:xfrm>
          <a:prstGeom prst="roundRect">
            <a:avLst>
              <a:gd name="adj" fmla="val 19048"/>
            </a:avLst>
          </a:prstGeom>
          <a:solidFill>
            <a:srgbClr val="2F6BDE"/>
          </a:solidFill>
          <a:ln w="0">
            <a:noFill/>
          </a:ln>
        </p:spPr>
        <p:txBody>
          <a:bodyPr/>
          <a:p/>
        </p:txBody>
      </p:sp>
      <p:sp>
        <p:nvSpPr>
          <p:cNvPr id="9" name="Rectangle 8">
            <a:extLst>
              <a:ext uri="{FF2B5EF4-FFF2-40B4-BE49-F238E27FC236}">
                <a16:creationId xmlns:a16="http://schemas.microsoft.com/office/drawing/2014/main" id="{A19D8702-43E7-47CA-BFD9-CA6E70DE85EE}"/>
              </a:ext>
            </a:extLst>
          </p:cNvPr>
          <p:cNvSpPr>
            <a:spLocks noGrp="1"/>
          </p:cNvSpPr>
          <p:nvPr/>
        </p:nvSpPr>
        <p:spPr>
          <a:xfrm>
            <a:off x="1000125" y="30956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01</a:t>
            </a:r>
          </a:p>
        </p:txBody>
      </p:sp>
      <p:sp>
        <p:nvSpPr>
          <p:cNvPr id="10" name="Rectangle 9">
            <a:extLst>
              <a:ext uri="{FF2B5EF4-FFF2-40B4-BE49-F238E27FC236}">
                <a16:creationId xmlns:a16="http://schemas.microsoft.com/office/drawing/2014/main" id="{30E1FF28-15F1-4B97-A151-E1463EB78434}"/>
              </a:ext>
            </a:extLst>
          </p:cNvPr>
          <p:cNvSpPr>
            <a:spLocks noGrp="1"/>
          </p:cNvSpPr>
          <p:nvPr/>
        </p:nvSpPr>
        <p:spPr>
          <a:xfrm>
            <a:off x="1666875" y="31146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Purpose</a:t>
            </a:r>
          </a:p>
        </p:txBody>
      </p:sp>
      <p:sp>
        <p:nvSpPr>
          <p:cNvPr id="11" name="Rectangle 10">
            <a:extLst>
              <a:ext uri="{FF2B5EF4-FFF2-40B4-BE49-F238E27FC236}">
                <a16:creationId xmlns:a16="http://schemas.microsoft.com/office/drawing/2014/main" id="{35F31412-12B5-4CE8-88DE-8D33632E9F7B}"/>
              </a:ext>
            </a:extLst>
          </p:cNvPr>
          <p:cNvSpPr>
            <a:spLocks noGrp="1"/>
          </p:cNvSpPr>
          <p:nvPr/>
        </p:nvSpPr>
        <p:spPr>
          <a:xfrm>
            <a:off x="1666875" y="34194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What problem iScan solves</a:t>
            </a:r>
          </a:p>
        </p:txBody>
      </p:sp>
      <p:sp>
        <p:nvSpPr>
          <p:cNvPr id="12" name="Rectangle: Rounded Corners 11">
            <a:extLst>
              <a:ext uri="{FF2B5EF4-FFF2-40B4-BE49-F238E27FC236}">
                <a16:creationId xmlns:a16="http://schemas.microsoft.com/office/drawing/2014/main" id="{7A8176EE-F4E5-444F-8CCD-4AE080E5A6A1}"/>
              </a:ext>
            </a:extLst>
          </p:cNvPr>
          <p:cNvSpPr>
            <a:spLocks noGrp="1"/>
          </p:cNvSpPr>
          <p:nvPr/>
        </p:nvSpPr>
        <p:spPr>
          <a:xfrm>
            <a:off x="1000125" y="4048125"/>
            <a:ext cx="457200" cy="400050"/>
          </a:xfrm>
          <a:prstGeom prst="roundRect">
            <a:avLst>
              <a:gd name="adj" fmla="val 19048"/>
            </a:avLst>
          </a:prstGeom>
          <a:solidFill>
            <a:srgbClr val="17A673"/>
          </a:solidFill>
          <a:ln w="0">
            <a:noFill/>
          </a:ln>
        </p:spPr>
        <p:txBody>
          <a:bodyPr/>
          <a:p/>
        </p:txBody>
      </p:sp>
      <p:sp>
        <p:nvSpPr>
          <p:cNvPr id="13" name="Rectangle 12">
            <a:extLst>
              <a:ext uri="{FF2B5EF4-FFF2-40B4-BE49-F238E27FC236}">
                <a16:creationId xmlns:a16="http://schemas.microsoft.com/office/drawing/2014/main" id="{3F2AE724-776E-4214-9BCB-1DB7A21BA792}"/>
              </a:ext>
            </a:extLst>
          </p:cNvPr>
          <p:cNvSpPr>
            <a:spLocks noGrp="1"/>
          </p:cNvSpPr>
          <p:nvPr/>
        </p:nvSpPr>
        <p:spPr>
          <a:xfrm>
            <a:off x="1000125" y="40481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02</a:t>
            </a:r>
          </a:p>
        </p:txBody>
      </p:sp>
      <p:sp>
        <p:nvSpPr>
          <p:cNvPr id="14" name="Rectangle 13">
            <a:extLst>
              <a:ext uri="{FF2B5EF4-FFF2-40B4-BE49-F238E27FC236}">
                <a16:creationId xmlns:a16="http://schemas.microsoft.com/office/drawing/2014/main" id="{FF6C2DBE-CE33-4778-926F-4AF2010D42BC}"/>
              </a:ext>
            </a:extLst>
          </p:cNvPr>
          <p:cNvSpPr>
            <a:spLocks noGrp="1"/>
          </p:cNvSpPr>
          <p:nvPr/>
        </p:nvSpPr>
        <p:spPr>
          <a:xfrm>
            <a:off x="1666875" y="40671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Core modules</a:t>
            </a:r>
          </a:p>
        </p:txBody>
      </p:sp>
      <p:sp>
        <p:nvSpPr>
          <p:cNvPr id="15" name="Rectangle 14">
            <a:extLst>
              <a:ext uri="{FF2B5EF4-FFF2-40B4-BE49-F238E27FC236}">
                <a16:creationId xmlns:a16="http://schemas.microsoft.com/office/drawing/2014/main" id="{AF80E240-4275-4DB5-ACC4-7FBC5C703B82}"/>
              </a:ext>
            </a:extLst>
          </p:cNvPr>
          <p:cNvSpPr>
            <a:spLocks noGrp="1"/>
          </p:cNvSpPr>
          <p:nvPr/>
        </p:nvSpPr>
        <p:spPr>
          <a:xfrm>
            <a:off x="1666875" y="43719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The four civil registry records</a:t>
            </a:r>
          </a:p>
        </p:txBody>
      </p:sp>
      <p:sp>
        <p:nvSpPr>
          <p:cNvPr id="16" name="Rectangle: Rounded Corners 15">
            <a:extLst>
              <a:ext uri="{FF2B5EF4-FFF2-40B4-BE49-F238E27FC236}">
                <a16:creationId xmlns:a16="http://schemas.microsoft.com/office/drawing/2014/main" id="{B20169C4-A570-47C3-948B-78F730B2325F}"/>
              </a:ext>
            </a:extLst>
          </p:cNvPr>
          <p:cNvSpPr>
            <a:spLocks noGrp="1"/>
          </p:cNvSpPr>
          <p:nvPr/>
        </p:nvSpPr>
        <p:spPr>
          <a:xfrm>
            <a:off x="1000125" y="5000625"/>
            <a:ext cx="457200" cy="400050"/>
          </a:xfrm>
          <a:prstGeom prst="roundRect">
            <a:avLst>
              <a:gd name="adj" fmla="val 19048"/>
            </a:avLst>
          </a:prstGeom>
          <a:solidFill>
            <a:srgbClr val="7B61D1"/>
          </a:solidFill>
          <a:ln w="0">
            <a:noFill/>
          </a:ln>
        </p:spPr>
        <p:txBody>
          <a:bodyPr/>
          <a:p/>
        </p:txBody>
      </p:sp>
      <p:sp>
        <p:nvSpPr>
          <p:cNvPr id="17" name="Rectangle 16">
            <a:extLst>
              <a:ext uri="{FF2B5EF4-FFF2-40B4-BE49-F238E27FC236}">
                <a16:creationId xmlns:a16="http://schemas.microsoft.com/office/drawing/2014/main" id="{5A31B416-E8E5-493C-8088-F6D06F07EACE}"/>
              </a:ext>
            </a:extLst>
          </p:cNvPr>
          <p:cNvSpPr>
            <a:spLocks noGrp="1"/>
          </p:cNvSpPr>
          <p:nvPr/>
        </p:nvSpPr>
        <p:spPr>
          <a:xfrm>
            <a:off x="1000125" y="50006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03</a:t>
            </a:r>
          </a:p>
        </p:txBody>
      </p:sp>
      <p:sp>
        <p:nvSpPr>
          <p:cNvPr id="18" name="Rectangle 17">
            <a:extLst>
              <a:ext uri="{FF2B5EF4-FFF2-40B4-BE49-F238E27FC236}">
                <a16:creationId xmlns:a16="http://schemas.microsoft.com/office/drawing/2014/main" id="{89CE6553-9343-4C7A-96EE-E4E79A5B4CA6}"/>
              </a:ext>
            </a:extLst>
          </p:cNvPr>
          <p:cNvSpPr>
            <a:spLocks noGrp="1"/>
          </p:cNvSpPr>
          <p:nvPr/>
        </p:nvSpPr>
        <p:spPr>
          <a:xfrm>
            <a:off x="1666875" y="50196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System map</a:t>
            </a:r>
          </a:p>
        </p:txBody>
      </p:sp>
      <p:sp>
        <p:nvSpPr>
          <p:cNvPr id="19" name="Rectangle 18">
            <a:extLst>
              <a:ext uri="{FF2B5EF4-FFF2-40B4-BE49-F238E27FC236}">
                <a16:creationId xmlns:a16="http://schemas.microsoft.com/office/drawing/2014/main" id="{6B52D564-33F1-484F-80D5-B8FBCCDC7B48}"/>
              </a:ext>
            </a:extLst>
          </p:cNvPr>
          <p:cNvSpPr>
            <a:spLocks noGrp="1"/>
          </p:cNvSpPr>
          <p:nvPr/>
        </p:nvSpPr>
        <p:spPr>
          <a:xfrm>
            <a:off x="1666875" y="53244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Browser, NAS, database, archive</a:t>
            </a:r>
          </a:p>
        </p:txBody>
      </p:sp>
      <p:sp>
        <p:nvSpPr>
          <p:cNvPr id="20" name="Rectangle 19">
            <a:extLst>
              <a:ext uri="{FF2B5EF4-FFF2-40B4-BE49-F238E27FC236}">
                <a16:creationId xmlns:a16="http://schemas.microsoft.com/office/drawing/2014/main" id="{A8E37552-81C3-4480-AEBC-08B9AC33FE6C}"/>
              </a:ext>
            </a:extLst>
          </p:cNvPr>
          <p:cNvSpPr>
            <a:spLocks noGrp="1"/>
          </p:cNvSpPr>
          <p:nvPr/>
        </p:nvSpPr>
        <p:spPr>
          <a:xfrm>
            <a:off x="6619875" y="2571750"/>
            <a:ext cx="4286250" cy="285750"/>
          </a:xfrm>
          <a:prstGeom prst="rect">
            <a:avLst/>
          </a:prstGeom>
          <a:noFill/>
          <a:ln w="0">
            <a:noFill/>
          </a:ln>
        </p:spPr>
        <p:txBody>
          <a:bodyPr lIns="0" tIns="0" rIns="0" bIns="0" anchor="t">
            <a:normAutofit/>
          </a:bodyPr>
          <a:lstStyle/>
          <a:p>
            <a:pPr algn="l">
              <a:defRPr sz="1875" b="1">
                <a:solidFill>
                  <a:srgbClr val="17A673"/>
                </a:solidFill>
                <a:latin typeface="Arial"/>
                <a:ea typeface="Arial"/>
                <a:cs typeface="Arial"/>
              </a:defRPr>
            </a:pPr>
            <a:r>
              <a:rPr sz="1875" b="1">
                <a:solidFill>
                  <a:srgbClr val="17A673"/>
                </a:solidFill>
                <a:latin typeface="Arial"/>
                <a:ea typeface="Arial"/>
                <a:cs typeface="Arial"/>
              </a:rPr>
              <a:t>Use</a:t>
            </a:r>
          </a:p>
        </p:txBody>
      </p:sp>
      <p:sp>
        <p:nvSpPr>
          <p:cNvPr id="21" name="Rectangle: Rounded Corners 20">
            <a:extLst>
              <a:ext uri="{FF2B5EF4-FFF2-40B4-BE49-F238E27FC236}">
                <a16:creationId xmlns:a16="http://schemas.microsoft.com/office/drawing/2014/main" id="{B7E84B89-5B7E-4BE3-9B7B-491E98E885C6}"/>
              </a:ext>
            </a:extLst>
          </p:cNvPr>
          <p:cNvSpPr>
            <a:spLocks noGrp="1"/>
          </p:cNvSpPr>
          <p:nvPr/>
        </p:nvSpPr>
        <p:spPr>
          <a:xfrm>
            <a:off x="6619875" y="3095625"/>
            <a:ext cx="457200" cy="400050"/>
          </a:xfrm>
          <a:prstGeom prst="roundRect">
            <a:avLst>
              <a:gd name="adj" fmla="val 19048"/>
            </a:avLst>
          </a:prstGeom>
          <a:solidFill>
            <a:srgbClr val="F6B638"/>
          </a:solidFill>
          <a:ln w="0">
            <a:noFill/>
          </a:ln>
        </p:spPr>
        <p:txBody>
          <a:bodyPr/>
          <a:p/>
        </p:txBody>
      </p:sp>
      <p:sp>
        <p:nvSpPr>
          <p:cNvPr id="22" name="Rectangle 21">
            <a:extLst>
              <a:ext uri="{FF2B5EF4-FFF2-40B4-BE49-F238E27FC236}">
                <a16:creationId xmlns:a16="http://schemas.microsoft.com/office/drawing/2014/main" id="{DF8B625E-6397-416F-AE1D-0A2F8EDBBE33}"/>
              </a:ext>
            </a:extLst>
          </p:cNvPr>
          <p:cNvSpPr>
            <a:spLocks noGrp="1"/>
          </p:cNvSpPr>
          <p:nvPr/>
        </p:nvSpPr>
        <p:spPr>
          <a:xfrm>
            <a:off x="6619875" y="30956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04</a:t>
            </a:r>
          </a:p>
        </p:txBody>
      </p:sp>
      <p:sp>
        <p:nvSpPr>
          <p:cNvPr id="23" name="Rectangle 22">
            <a:extLst>
              <a:ext uri="{FF2B5EF4-FFF2-40B4-BE49-F238E27FC236}">
                <a16:creationId xmlns:a16="http://schemas.microsoft.com/office/drawing/2014/main" id="{A12D107D-C293-48E5-9499-E302F3A28781}"/>
              </a:ext>
            </a:extLst>
          </p:cNvPr>
          <p:cNvSpPr>
            <a:spLocks noGrp="1"/>
          </p:cNvSpPr>
          <p:nvPr/>
        </p:nvSpPr>
        <p:spPr>
          <a:xfrm>
            <a:off x="7286625" y="31146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Record workflow</a:t>
            </a:r>
          </a:p>
        </p:txBody>
      </p:sp>
      <p:sp>
        <p:nvSpPr>
          <p:cNvPr id="24" name="Rectangle 23">
            <a:extLst>
              <a:ext uri="{FF2B5EF4-FFF2-40B4-BE49-F238E27FC236}">
                <a16:creationId xmlns:a16="http://schemas.microsoft.com/office/drawing/2014/main" id="{EB4BC841-29DE-43DF-964A-DC1567C8CBBF}"/>
              </a:ext>
            </a:extLst>
          </p:cNvPr>
          <p:cNvSpPr>
            <a:spLocks noGrp="1"/>
          </p:cNvSpPr>
          <p:nvPr/>
        </p:nvSpPr>
        <p:spPr>
          <a:xfrm>
            <a:off x="7286625" y="34194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Capture to archive</a:t>
            </a:r>
          </a:p>
        </p:txBody>
      </p:sp>
      <p:sp>
        <p:nvSpPr>
          <p:cNvPr id="25" name="Rectangle: Rounded Corners 24">
            <a:extLst>
              <a:ext uri="{FF2B5EF4-FFF2-40B4-BE49-F238E27FC236}">
                <a16:creationId xmlns:a16="http://schemas.microsoft.com/office/drawing/2014/main" id="{41FD376E-AB5F-4624-9D2A-4D6358D91C39}"/>
              </a:ext>
            </a:extLst>
          </p:cNvPr>
          <p:cNvSpPr>
            <a:spLocks noGrp="1"/>
          </p:cNvSpPr>
          <p:nvPr/>
        </p:nvSpPr>
        <p:spPr>
          <a:xfrm>
            <a:off x="6619875" y="4048125"/>
            <a:ext cx="457200" cy="400050"/>
          </a:xfrm>
          <a:prstGeom prst="roundRect">
            <a:avLst>
              <a:gd name="adj" fmla="val 19048"/>
            </a:avLst>
          </a:prstGeom>
          <a:solidFill>
            <a:srgbClr val="DD5577"/>
          </a:solidFill>
          <a:ln w="0">
            <a:noFill/>
          </a:ln>
        </p:spPr>
        <p:txBody>
          <a:bodyPr/>
          <a:p/>
        </p:txBody>
      </p:sp>
      <p:sp>
        <p:nvSpPr>
          <p:cNvPr id="26" name="Rectangle 25">
            <a:extLst>
              <a:ext uri="{FF2B5EF4-FFF2-40B4-BE49-F238E27FC236}">
                <a16:creationId xmlns:a16="http://schemas.microsoft.com/office/drawing/2014/main" id="{82883CFC-D41D-4016-862D-5C4F22F3BE13}"/>
              </a:ext>
            </a:extLst>
          </p:cNvPr>
          <p:cNvSpPr>
            <a:spLocks noGrp="1"/>
          </p:cNvSpPr>
          <p:nvPr/>
        </p:nvSpPr>
        <p:spPr>
          <a:xfrm>
            <a:off x="6619875" y="40481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05</a:t>
            </a:r>
          </a:p>
        </p:txBody>
      </p:sp>
      <p:sp>
        <p:nvSpPr>
          <p:cNvPr id="27" name="Rectangle 26">
            <a:extLst>
              <a:ext uri="{FF2B5EF4-FFF2-40B4-BE49-F238E27FC236}">
                <a16:creationId xmlns:a16="http://schemas.microsoft.com/office/drawing/2014/main" id="{00C325D3-F508-484A-A83B-6987302AA528}"/>
              </a:ext>
            </a:extLst>
          </p:cNvPr>
          <p:cNvSpPr>
            <a:spLocks noGrp="1"/>
          </p:cNvSpPr>
          <p:nvPr/>
        </p:nvSpPr>
        <p:spPr>
          <a:xfrm>
            <a:off x="7286625" y="40671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Controls</a:t>
            </a:r>
          </a:p>
        </p:txBody>
      </p:sp>
      <p:sp>
        <p:nvSpPr>
          <p:cNvPr id="28" name="Rectangle 27">
            <a:extLst>
              <a:ext uri="{FF2B5EF4-FFF2-40B4-BE49-F238E27FC236}">
                <a16:creationId xmlns:a16="http://schemas.microsoft.com/office/drawing/2014/main" id="{E2476229-76C3-4C13-8353-2219D4F353F9}"/>
              </a:ext>
            </a:extLst>
          </p:cNvPr>
          <p:cNvSpPr>
            <a:spLocks noGrp="1"/>
          </p:cNvSpPr>
          <p:nvPr/>
        </p:nvSpPr>
        <p:spPr>
          <a:xfrm>
            <a:off x="7286625" y="43719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Security, backup, continuity</a:t>
            </a:r>
          </a:p>
        </p:txBody>
      </p:sp>
      <p:sp>
        <p:nvSpPr>
          <p:cNvPr id="29" name="Rectangle: Rounded Corners 28">
            <a:extLst>
              <a:ext uri="{FF2B5EF4-FFF2-40B4-BE49-F238E27FC236}">
                <a16:creationId xmlns:a16="http://schemas.microsoft.com/office/drawing/2014/main" id="{952CA90B-2184-42CA-8ED2-8C8695840D9F}"/>
              </a:ext>
            </a:extLst>
          </p:cNvPr>
          <p:cNvSpPr>
            <a:spLocks noGrp="1"/>
          </p:cNvSpPr>
          <p:nvPr/>
        </p:nvSpPr>
        <p:spPr>
          <a:xfrm>
            <a:off x="6619875" y="5000625"/>
            <a:ext cx="457200" cy="400050"/>
          </a:xfrm>
          <a:prstGeom prst="roundRect">
            <a:avLst>
              <a:gd name="adj" fmla="val 19048"/>
            </a:avLst>
          </a:prstGeom>
          <a:solidFill>
            <a:srgbClr val="2F6BDE"/>
          </a:solidFill>
          <a:ln w="0">
            <a:noFill/>
          </a:ln>
        </p:spPr>
        <p:txBody>
          <a:bodyPr/>
          <a:p/>
        </p:txBody>
      </p:sp>
      <p:sp>
        <p:nvSpPr>
          <p:cNvPr id="30" name="Rectangle 29">
            <a:extLst>
              <a:ext uri="{FF2B5EF4-FFF2-40B4-BE49-F238E27FC236}">
                <a16:creationId xmlns:a16="http://schemas.microsoft.com/office/drawing/2014/main" id="{E44A7D83-E1F1-4EFC-9AFD-64AE606B71BE}"/>
              </a:ext>
            </a:extLst>
          </p:cNvPr>
          <p:cNvSpPr>
            <a:spLocks noGrp="1"/>
          </p:cNvSpPr>
          <p:nvPr/>
        </p:nvSpPr>
        <p:spPr>
          <a:xfrm>
            <a:off x="6619875" y="50006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06</a:t>
            </a:r>
          </a:p>
        </p:txBody>
      </p:sp>
      <p:sp>
        <p:nvSpPr>
          <p:cNvPr id="31" name="Rectangle 30">
            <a:extLst>
              <a:ext uri="{FF2B5EF4-FFF2-40B4-BE49-F238E27FC236}">
                <a16:creationId xmlns:a16="http://schemas.microsoft.com/office/drawing/2014/main" id="{10EA18DF-9210-494D-B1DD-B24E29B3A69B}"/>
              </a:ext>
            </a:extLst>
          </p:cNvPr>
          <p:cNvSpPr>
            <a:spLocks noGrp="1"/>
          </p:cNvSpPr>
          <p:nvPr/>
        </p:nvSpPr>
        <p:spPr>
          <a:xfrm>
            <a:off x="7286625" y="50196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Live demo</a:t>
            </a:r>
          </a:p>
        </p:txBody>
      </p:sp>
      <p:sp>
        <p:nvSpPr>
          <p:cNvPr id="32" name="Rectangle 31">
            <a:extLst>
              <a:ext uri="{FF2B5EF4-FFF2-40B4-BE49-F238E27FC236}">
                <a16:creationId xmlns:a16="http://schemas.microsoft.com/office/drawing/2014/main" id="{56AE5604-240F-4396-B7CA-2801F6AB43BC}"/>
              </a:ext>
            </a:extLst>
          </p:cNvPr>
          <p:cNvSpPr>
            <a:spLocks noGrp="1"/>
          </p:cNvSpPr>
          <p:nvPr/>
        </p:nvSpPr>
        <p:spPr>
          <a:xfrm>
            <a:off x="7286625" y="53244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Show the real screens</a:t>
            </a:r>
          </a:p>
        </p:txBody>
      </p:sp>
      <p:sp>
        <p:nvSpPr>
          <p:cNvPr id="33" name="Rectangle 32">
            <a:extLst>
              <a:ext uri="{FF2B5EF4-FFF2-40B4-BE49-F238E27FC236}">
                <a16:creationId xmlns:a16="http://schemas.microsoft.com/office/drawing/2014/main" id="{5D6F61D9-0C44-4DC0-B436-E02618DA42EB}"/>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34" name="Rectangle 33">
            <a:extLst>
              <a:ext uri="{FF2B5EF4-FFF2-40B4-BE49-F238E27FC236}">
                <a16:creationId xmlns:a16="http://schemas.microsoft.com/office/drawing/2014/main" id="{5A95389F-E955-4651-AB0F-6E3B961EE9A4}"/>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02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3013424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75D061ED-9324-4ABD-BF05-BF1BC0A55494}"/>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INTRODUCTION</a:t>
            </a:r>
          </a:p>
        </p:txBody>
      </p:sp>
      <p:sp>
        <p:nvSpPr>
          <p:cNvPr id="2" name="Rectangle 1">
            <a:extLst>
              <a:ext uri="{FF2B5EF4-FFF2-40B4-BE49-F238E27FC236}">
                <a16:creationId xmlns:a16="http://schemas.microsoft.com/office/drawing/2014/main" id="{6124CE75-B55C-4B0B-912B-9EDBC27D5F65}"/>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lang="en-US" sz="2700" b="1">
                <a:solidFill>
                  <a:srgbClr val="17263A"/>
                </a:solidFill>
                <a:latin typeface="Arial"/>
                <a:ea typeface="Arial"/>
                <a:cs typeface="Arial"/>
              </a:rPr>
              <a:t>What is CRDMS and why iScan?</a:t>
            </a:r>
            <a:endParaRPr sz="2700" b="1">
              <a:solidFill>
                <a:srgbClr val="17263A"/>
              </a:solidFill>
              <a:latin typeface="Arial"/>
              <a:ea typeface="Arial"/>
              <a:cs typeface="Arial"/>
            </a:endParaRPr>
          </a:p>
        </p:txBody>
      </p:sp>
      <p:sp>
        <p:nvSpPr>
          <p:cNvPr id="3" name="Rectangle 2">
            <a:extLst>
              <a:ext uri="{FF2B5EF4-FFF2-40B4-BE49-F238E27FC236}">
                <a16:creationId xmlns:a16="http://schemas.microsoft.com/office/drawing/2014/main" id="{09BD379E-F778-4487-837A-7BFD3E1C0186}"/>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E2F5E42D-7606-4E31-B743-0B22DAFCA2AF}"/>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lang="en-US" sz="1650">
                <a:solidFill>
                  <a:srgbClr val="5E6C80"/>
                </a:solidFill>
                <a:latin typeface="Arial"/>
                <a:ea typeface="Arial"/>
                <a:cs typeface="Arial"/>
              </a:rPr>
              <a:t>CRDMS means Civil Registry Document Management System.</a:t>
            </a:r>
            <a:endParaRPr sz="1650">
              <a:solidFill>
                <a:srgbClr val="5E6C80"/>
              </a:solidFill>
              <a:latin typeface="Arial"/>
              <a:ea typeface="Arial"/>
              <a:cs typeface="Arial"/>
            </a:endParaRPr>
          </a:p>
        </p:txBody>
      </p:sp>
      <p:sp>
        <p:nvSpPr>
          <p:cNvPr id="5" name="Rectangle: Rounded Corners 4">
            <a:extLst>
              <a:ext uri="{FF2B5EF4-FFF2-40B4-BE49-F238E27FC236}">
                <a16:creationId xmlns:a16="http://schemas.microsoft.com/office/drawing/2014/main" id="{3E6EB51F-BB86-4C29-89D4-5AE4AF02132A}"/>
              </a:ext>
            </a:extLst>
          </p:cNvPr>
          <p:cNvSpPr>
            <a:spLocks noGrp="1"/>
          </p:cNvSpPr>
          <p:nvPr/>
        </p:nvSpPr>
        <p:spPr>
          <a:xfrm>
            <a:off x="666750" y="2333625"/>
            <a:ext cx="4857750" cy="2857500"/>
          </a:xfrm>
          <a:prstGeom prst="roundRect">
            <a:avLst>
              <a:gd name="adj" fmla="val 2667"/>
            </a:avLst>
          </a:prstGeom>
          <a:solidFill>
            <a:srgbClr val="10243E"/>
          </a:solidFill>
          <a:ln w="0">
            <a:noFill/>
          </a:ln>
        </p:spPr>
        <p:txBody>
          <a:bodyPr/>
          <a:p/>
        </p:txBody>
      </p:sp>
      <p:sp>
        <p:nvSpPr>
          <p:cNvPr id="6" name="Rectangle 5">
            <a:extLst>
              <a:ext uri="{FF2B5EF4-FFF2-40B4-BE49-F238E27FC236}">
                <a16:creationId xmlns:a16="http://schemas.microsoft.com/office/drawing/2014/main" id="{59D12C0D-64D4-4EB1-B82B-AAE757D18A46}"/>
              </a:ext>
            </a:extLst>
          </p:cNvPr>
          <p:cNvSpPr>
            <a:spLocks noGrp="1"/>
          </p:cNvSpPr>
          <p:nvPr/>
        </p:nvSpPr>
        <p:spPr>
          <a:xfrm>
            <a:off x="1000125" y="2714625"/>
            <a:ext cx="4191000" cy="333375"/>
          </a:xfrm>
          <a:prstGeom prst="rect">
            <a:avLst/>
          </a:prstGeom>
          <a:noFill/>
          <a:ln w="0">
            <a:noFill/>
          </a:ln>
        </p:spPr>
        <p:txBody>
          <a:bodyPr lIns="0" tIns="0" rIns="0" bIns="0" anchor="t">
            <a:normAutofit/>
          </a:bodyPr>
          <a:lstStyle/>
          <a:p>
            <a:pPr algn="l">
              <a:defRPr sz="2175" b="1">
                <a:solidFill>
                  <a:srgbClr val="FFFFFF"/>
                </a:solidFill>
                <a:latin typeface="Arial"/>
                <a:ea typeface="Arial"/>
                <a:cs typeface="Arial"/>
              </a:defRPr>
            </a:pPr>
            <a:r>
              <a:rPr lang="en-US" sz="2175" b="1">
                <a:solidFill>
                  <a:srgbClr val="FFFFFF"/>
                </a:solidFill>
                <a:latin typeface="Arial"/>
                <a:ea typeface="Arial"/>
                <a:cs typeface="Arial"/>
              </a:rPr>
              <a:t>What CRDMS does</a:t>
            </a:r>
            <a:endParaRPr sz="2175" b="1">
              <a:solidFill>
                <a:srgbClr val="FFFFFF"/>
              </a:solidFill>
              <a:latin typeface="Arial"/>
              <a:ea typeface="Arial"/>
              <a:cs typeface="Arial"/>
            </a:endParaRPr>
          </a:p>
        </p:txBody>
      </p:sp>
      <p:sp>
        <p:nvSpPr>
          <p:cNvPr id="7" name="Rectangle 6">
            <a:extLst>
              <a:ext uri="{FF2B5EF4-FFF2-40B4-BE49-F238E27FC236}">
                <a16:creationId xmlns:a16="http://schemas.microsoft.com/office/drawing/2014/main" id="{0E0038ED-9BB2-47CC-8BC9-2424F4946C58}"/>
              </a:ext>
            </a:extLst>
          </p:cNvPr>
          <p:cNvSpPr>
            <a:spLocks noGrp="1"/>
          </p:cNvSpPr>
          <p:nvPr/>
        </p:nvSpPr>
        <p:spPr>
          <a:xfrm>
            <a:off x="1000125" y="3381375"/>
            <a:ext cx="4095750" cy="876300"/>
          </a:xfrm>
          <a:prstGeom prst="rect">
            <a:avLst/>
          </a:prstGeom>
          <a:noFill/>
          <a:ln w="0">
            <a:noFill/>
          </a:ln>
        </p:spPr>
        <p:txBody>
          <a:bodyPr lIns="0" tIns="0" rIns="0" bIns="0" anchor="t">
            <a:normAutofit/>
          </a:bodyPr>
          <a:lstStyle/>
          <a:p>
            <a:pPr algn="l">
              <a:defRPr sz="1800">
                <a:solidFill>
                  <a:srgbClr val="BFD0E7"/>
                </a:solidFill>
                <a:latin typeface="Arial"/>
                <a:ea typeface="Arial"/>
                <a:cs typeface="Arial"/>
              </a:defRPr>
            </a:pPr>
            <a:r>
              <a:rPr lang="en-US" sz="1800">
                <a:solidFill>
                  <a:srgbClr val="BFD0E7"/>
                </a:solidFill>
                <a:latin typeface="Arial"/>
                <a:ea typeface="Arial"/>
                <a:cs typeface="Arial"/>
              </a:rPr>
              <a:t>It is a digital system that scans, encodes, organizes, searches, verifies, and protects civil registry documents.</a:t>
            </a:r>
            <a:endParaRPr sz="1800">
              <a:solidFill>
                <a:srgbClr val="BFD0E7"/>
              </a:solidFill>
              <a:latin typeface="Arial"/>
              <a:ea typeface="Arial"/>
              <a:cs typeface="Arial"/>
            </a:endParaRPr>
          </a:p>
        </p:txBody>
      </p:sp>
      <p:sp>
        <p:nvSpPr>
          <p:cNvPr id="8" name="Rectangle: Rounded Corners 7">
            <a:extLst>
              <a:ext uri="{FF2B5EF4-FFF2-40B4-BE49-F238E27FC236}">
                <a16:creationId xmlns:a16="http://schemas.microsoft.com/office/drawing/2014/main" id="{0FCE8C85-1E81-4DCA-ADD1-35782607E173}"/>
              </a:ext>
            </a:extLst>
          </p:cNvPr>
          <p:cNvSpPr>
            <a:spLocks noGrp="1"/>
          </p:cNvSpPr>
          <p:nvPr/>
        </p:nvSpPr>
        <p:spPr>
          <a:xfrm>
            <a:off x="1000125" y="4552950"/>
            <a:ext cx="1714500" cy="361950"/>
          </a:xfrm>
          <a:prstGeom prst="roundRect">
            <a:avLst>
              <a:gd name="adj" fmla="val 21053"/>
            </a:avLst>
          </a:prstGeom>
          <a:solidFill>
            <a:srgbClr val="17A673"/>
          </a:solidFill>
          <a:ln w="0">
            <a:noFill/>
          </a:ln>
        </p:spPr>
        <p:txBody>
          <a:bodyPr/>
          <a:p/>
        </p:txBody>
      </p:sp>
      <p:sp>
        <p:nvSpPr>
          <p:cNvPr id="9" name="Rectangle 8">
            <a:extLst>
              <a:ext uri="{FF2B5EF4-FFF2-40B4-BE49-F238E27FC236}">
                <a16:creationId xmlns:a16="http://schemas.microsoft.com/office/drawing/2014/main" id="{C63221F6-9A9E-4EF5-8090-40E39B8822DF}"/>
              </a:ext>
            </a:extLst>
          </p:cNvPr>
          <p:cNvSpPr>
            <a:spLocks noGrp="1"/>
          </p:cNvSpPr>
          <p:nvPr/>
        </p:nvSpPr>
        <p:spPr>
          <a:xfrm>
            <a:off x="1000125" y="4552950"/>
            <a:ext cx="17145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BROWSER + NAS</a:t>
            </a:r>
          </a:p>
        </p:txBody>
      </p:sp>
      <p:sp>
        <p:nvSpPr>
          <p:cNvPr id="10" name="Rectangle: Rounded Corners 9">
            <a:extLst>
              <a:ext uri="{FF2B5EF4-FFF2-40B4-BE49-F238E27FC236}">
                <a16:creationId xmlns:a16="http://schemas.microsoft.com/office/drawing/2014/main" id="{CA94A34F-1C48-43C5-8F25-C4539CF6D3AB}"/>
              </a:ext>
            </a:extLst>
          </p:cNvPr>
          <p:cNvSpPr>
            <a:spLocks noGrp="1"/>
          </p:cNvSpPr>
          <p:nvPr/>
        </p:nvSpPr>
        <p:spPr>
          <a:xfrm>
            <a:off x="6191250" y="2333625"/>
            <a:ext cx="5334000" cy="2857500"/>
          </a:xfrm>
          <a:prstGeom prst="roundRect">
            <a:avLst>
              <a:gd name="adj" fmla="val 2667"/>
            </a:avLst>
          </a:prstGeom>
          <a:solidFill>
            <a:srgbClr val="EAF2FF"/>
          </a:solidFill>
          <a:ln w="0">
            <a:noFill/>
          </a:ln>
        </p:spPr>
        <p:txBody>
          <a:bodyPr/>
          <a:p/>
        </p:txBody>
      </p:sp>
      <p:sp>
        <p:nvSpPr>
          <p:cNvPr id="11" name="Rectangle 10">
            <a:extLst>
              <a:ext uri="{FF2B5EF4-FFF2-40B4-BE49-F238E27FC236}">
                <a16:creationId xmlns:a16="http://schemas.microsoft.com/office/drawing/2014/main" id="{01D0F8ED-38B9-409C-AA46-AB7348A3A826}"/>
              </a:ext>
            </a:extLst>
          </p:cNvPr>
          <p:cNvSpPr>
            <a:spLocks noGrp="1"/>
          </p:cNvSpPr>
          <p:nvPr/>
        </p:nvSpPr>
        <p:spPr>
          <a:xfrm>
            <a:off x="6572250" y="2714625"/>
            <a:ext cx="4476750" cy="333375"/>
          </a:xfrm>
          <a:prstGeom prst="rect">
            <a:avLst/>
          </a:prstGeom>
          <a:noFill/>
          <a:ln w="0">
            <a:noFill/>
          </a:ln>
        </p:spPr>
        <p:txBody>
          <a:bodyPr lIns="0" tIns="0" rIns="0" bIns="0" anchor="t">
            <a:normAutofit/>
          </a:bodyPr>
          <a:lstStyle/>
          <a:p>
            <a:pPr algn="l">
              <a:defRPr sz="2175" b="1">
                <a:solidFill>
                  <a:srgbClr val="17263A"/>
                </a:solidFill>
                <a:latin typeface="Arial"/>
                <a:ea typeface="Arial"/>
                <a:cs typeface="Arial"/>
              </a:defRPr>
            </a:pPr>
            <a:r>
              <a:rPr lang="en-US" sz="2175" b="1">
                <a:solidFill>
                  <a:srgbClr val="17263A"/>
                </a:solidFill>
                <a:latin typeface="Arial"/>
                <a:ea typeface="Arial"/>
                <a:cs typeface="Arial"/>
              </a:rPr>
              <a:t>Why the name iScan?</a:t>
            </a:r>
            <a:endParaRPr sz="2175" b="1">
              <a:solidFill>
                <a:srgbClr val="17263A"/>
              </a:solidFill>
              <a:latin typeface="Arial"/>
              <a:ea typeface="Arial"/>
              <a:cs typeface="Arial"/>
            </a:endParaRPr>
          </a:p>
        </p:txBody>
      </p:sp>
      <p:sp>
        <p:nvSpPr>
          <p:cNvPr id="12" name="Rectangle 11">
            <a:extLst>
              <a:ext uri="{FF2B5EF4-FFF2-40B4-BE49-F238E27FC236}">
                <a16:creationId xmlns:a16="http://schemas.microsoft.com/office/drawing/2014/main" id="{7F1477E7-1D3E-4098-86AA-206134A9A75C}"/>
              </a:ext>
            </a:extLst>
          </p:cNvPr>
          <p:cNvSpPr>
            <a:spLocks noGrp="1"/>
          </p:cNvSpPr>
          <p:nvPr/>
        </p:nvSpPr>
        <p:spPr>
          <a:xfrm>
            <a:off x="6572250" y="3333750"/>
            <a:ext cx="43815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endParaRPr sz="1425">
              <a:solidFill>
                <a:srgbClr val="17263A"/>
              </a:solidFill>
              <a:latin typeface="Arial"/>
              <a:ea typeface="Arial"/>
              <a:cs typeface="Arial"/>
            </a:endParaRPr>
          </a:p>
        </p:txBody>
      </p:sp>
      <p:sp>
        <p:nvSpPr>
          <p:cNvPr id="13" name="Rectangle 12">
            <a:extLst>
              <a:ext uri="{FF2B5EF4-FFF2-40B4-BE49-F238E27FC236}">
                <a16:creationId xmlns:a16="http://schemas.microsoft.com/office/drawing/2014/main" id="{D12D9E86-6372-4D59-913B-23DD8EA21AA2}"/>
              </a:ext>
            </a:extLst>
          </p:cNvPr>
          <p:cNvSpPr>
            <a:spLocks noGrp="1"/>
          </p:cNvSpPr>
          <p:nvPr/>
        </p:nvSpPr>
        <p:spPr>
          <a:xfrm>
            <a:off x="6572250" y="3905250"/>
            <a:ext cx="43815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endParaRPr sz="1425">
              <a:solidFill>
                <a:srgbClr val="17263A"/>
              </a:solidFill>
              <a:latin typeface="Arial"/>
              <a:ea typeface="Arial"/>
              <a:cs typeface="Arial"/>
            </a:endParaRPr>
          </a:p>
        </p:txBody>
      </p:sp>
      <p:sp>
        <p:nvSpPr>
          <p:cNvPr id="14" name="Rectangle 13">
            <a:extLst>
              <a:ext uri="{FF2B5EF4-FFF2-40B4-BE49-F238E27FC236}">
                <a16:creationId xmlns:a16="http://schemas.microsoft.com/office/drawing/2014/main" id="{28E23FB7-9BDC-4AE8-8F06-B1B03558BCF5}"/>
              </a:ext>
            </a:extLst>
          </p:cNvPr>
          <p:cNvSpPr>
            <a:spLocks noGrp="1"/>
          </p:cNvSpPr>
          <p:nvPr/>
        </p:nvSpPr>
        <p:spPr>
          <a:xfrm>
            <a:off x="6572250" y="4476750"/>
            <a:ext cx="4572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lang="en-US" sz="1425">
                <a:solidFill>
                  <a:srgbClr val="17263A"/>
                </a:solidFill>
                <a:latin typeface="Arial"/>
                <a:ea typeface="Arial"/>
                <a:cs typeface="Arial"/>
              </a:rPr>
              <a:t>iScan comes from pa-scan. In Ilokano, i-scan is an action word: scan this document for processing and registration.</a:t>
            </a:r>
            <a:endParaRPr sz="1425">
              <a:solidFill>
                <a:srgbClr val="17263A"/>
              </a:solidFill>
              <a:latin typeface="Arial"/>
              <a:ea typeface="Arial"/>
              <a:cs typeface="Arial"/>
            </a:endParaRPr>
          </a:p>
        </p:txBody>
      </p:sp>
      <p:sp>
        <p:nvSpPr>
          <p:cNvPr id="15" name="Rectangle 14">
            <a:extLst>
              <a:ext uri="{FF2B5EF4-FFF2-40B4-BE49-F238E27FC236}">
                <a16:creationId xmlns:a16="http://schemas.microsoft.com/office/drawing/2014/main" id="{8529C63B-369A-4AF6-992E-876DD7BA870E}"/>
              </a:ext>
            </a:extLst>
          </p:cNvPr>
          <p:cNvSpPr>
            <a:spLocks noGrp="1"/>
          </p:cNvSpPr>
          <p:nvPr/>
        </p:nvSpPr>
        <p:spPr>
          <a:xfrm>
            <a:off x="1143000" y="5619750"/>
            <a:ext cx="9906000" cy="285750"/>
          </a:xfrm>
          <a:prstGeom prst="rect">
            <a:avLst/>
          </a:prstGeom>
          <a:noFill/>
          <a:ln w="0">
            <a:noFill/>
          </a:ln>
        </p:spPr>
        <p:txBody>
          <a:bodyPr lIns="0" tIns="0" rIns="0" bIns="0" anchor="t">
            <a:normAutofit/>
          </a:bodyPr>
          <a:lstStyle/>
          <a:p>
            <a:pPr algn="ctr">
              <a:defRPr sz="1575" b="1">
                <a:solidFill>
                  <a:srgbClr val="2F6BDE"/>
                </a:solidFill>
                <a:latin typeface="Arial"/>
                <a:ea typeface="Arial"/>
                <a:cs typeface="Arial"/>
              </a:defRPr>
            </a:pPr>
            <a:r>
              <a:rPr lang="en-US" sz="1575" b="1">
                <a:solidFill>
                  <a:srgbClr val="2F6BDE"/>
                </a:solidFill>
                <a:latin typeface="Arial"/>
                <a:ea typeface="Arial"/>
                <a:cs typeface="Arial"/>
              </a:rPr>
              <a:t>Scan -&gt; organize -&gt; verify -&gt; protect.</a:t>
            </a:r>
            <a:endParaRPr sz="1575" b="1">
              <a:solidFill>
                <a:srgbClr val="2F6BDE"/>
              </a:solidFill>
              <a:latin typeface="Arial"/>
              <a:ea typeface="Arial"/>
              <a:cs typeface="Arial"/>
            </a:endParaRPr>
          </a:p>
        </p:txBody>
      </p:sp>
      <p:sp>
        <p:nvSpPr>
          <p:cNvPr id="16" name="Rectangle 15">
            <a:extLst>
              <a:ext uri="{FF2B5EF4-FFF2-40B4-BE49-F238E27FC236}">
                <a16:creationId xmlns:a16="http://schemas.microsoft.com/office/drawing/2014/main" id="{47352885-FF5B-4958-8884-C3972CA52469}"/>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7" name="Rectangle 16">
            <a:extLst>
              <a:ext uri="{FF2B5EF4-FFF2-40B4-BE49-F238E27FC236}">
                <a16:creationId xmlns:a16="http://schemas.microsoft.com/office/drawing/2014/main" id="{C547C8FF-F4D2-4101-9D75-F671DE040F37}"/>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03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45734367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813FB441-A98A-4403-8616-E535A6E13638}"/>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WHY IT MATTERS</a:t>
            </a:r>
          </a:p>
        </p:txBody>
      </p:sp>
      <p:sp>
        <p:nvSpPr>
          <p:cNvPr id="2" name="Rectangle 1">
            <a:extLst>
              <a:ext uri="{FF2B5EF4-FFF2-40B4-BE49-F238E27FC236}">
                <a16:creationId xmlns:a16="http://schemas.microsoft.com/office/drawing/2014/main" id="{F191CB55-DBD9-44BC-A062-18631318D42D}"/>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From scattered files to an accountable record</a:t>
            </a:r>
          </a:p>
        </p:txBody>
      </p:sp>
      <p:sp>
        <p:nvSpPr>
          <p:cNvPr id="3" name="Rectangle 2">
            <a:extLst>
              <a:ext uri="{FF2B5EF4-FFF2-40B4-BE49-F238E27FC236}">
                <a16:creationId xmlns:a16="http://schemas.microsoft.com/office/drawing/2014/main" id="{3EE467C7-D2C4-49BC-907C-AFB58BCE32E4}"/>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4387CA29-D074-405F-BE8A-BF20B032A602}"/>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system solves a records-handling problem before it becomes a retrieval problem.</a:t>
            </a:r>
          </a:p>
        </p:txBody>
      </p:sp>
      <p:sp>
        <p:nvSpPr>
          <p:cNvPr id="5" name="Rectangle: Rounded Corners 4">
            <a:extLst>
              <a:ext uri="{FF2B5EF4-FFF2-40B4-BE49-F238E27FC236}">
                <a16:creationId xmlns:a16="http://schemas.microsoft.com/office/drawing/2014/main" id="{6E517816-C424-4355-B0B4-41275C851FAD}"/>
              </a:ext>
            </a:extLst>
          </p:cNvPr>
          <p:cNvSpPr>
            <a:spLocks noGrp="1"/>
          </p:cNvSpPr>
          <p:nvPr/>
        </p:nvSpPr>
        <p:spPr>
          <a:xfrm>
            <a:off x="666750" y="2333625"/>
            <a:ext cx="4762500" cy="2857500"/>
          </a:xfrm>
          <a:prstGeom prst="roundRect">
            <a:avLst>
              <a:gd name="adj" fmla="val 2667"/>
            </a:avLst>
          </a:prstGeom>
          <a:solidFill>
            <a:srgbClr val="FFF4F0"/>
          </a:solidFill>
          <a:ln w="19050">
            <a:solidFill>
              <a:srgbClr val="F3A28D"/>
            </a:solidFill>
          </a:ln>
        </p:spPr>
        <p:txBody>
          <a:bodyPr/>
          <a:p/>
        </p:txBody>
      </p:sp>
      <p:sp>
        <p:nvSpPr>
          <p:cNvPr id="6" name="Rectangle 5">
            <a:extLst>
              <a:ext uri="{FF2B5EF4-FFF2-40B4-BE49-F238E27FC236}">
                <a16:creationId xmlns:a16="http://schemas.microsoft.com/office/drawing/2014/main" id="{16F95187-68A2-478C-B284-33913975DE39}"/>
              </a:ext>
            </a:extLst>
          </p:cNvPr>
          <p:cNvSpPr>
            <a:spLocks noGrp="1"/>
          </p:cNvSpPr>
          <p:nvPr/>
        </p:nvSpPr>
        <p:spPr>
          <a:xfrm>
            <a:off x="1000125" y="2647950"/>
            <a:ext cx="4000500" cy="304800"/>
          </a:xfrm>
          <a:prstGeom prst="rect">
            <a:avLst/>
          </a:prstGeom>
          <a:noFill/>
          <a:ln w="0">
            <a:noFill/>
          </a:ln>
        </p:spPr>
        <p:txBody>
          <a:bodyPr lIns="0" tIns="0" rIns="0" bIns="0" anchor="t">
            <a:normAutofit fontScale="98765"/>
          </a:bodyPr>
          <a:lstStyle/>
          <a:p>
            <a:pPr algn="l">
              <a:defRPr sz="2025" b="1">
                <a:solidFill>
                  <a:srgbClr val="A63C2B"/>
                </a:solidFill>
                <a:latin typeface="Arial"/>
                <a:ea typeface="Arial"/>
                <a:cs typeface="Arial"/>
              </a:defRPr>
            </a:pPr>
            <a:r>
              <a:rPr sz="2025" b="1">
                <a:solidFill>
                  <a:srgbClr val="A63C2B"/>
                </a:solidFill>
                <a:latin typeface="Arial"/>
                <a:ea typeface="Arial"/>
                <a:cs typeface="Arial"/>
              </a:rPr>
              <a:t>Before iScan</a:t>
            </a:r>
          </a:p>
        </p:txBody>
      </p:sp>
      <p:sp>
        <p:nvSpPr>
          <p:cNvPr id="7" name="Rectangle 6">
            <a:extLst>
              <a:ext uri="{FF2B5EF4-FFF2-40B4-BE49-F238E27FC236}">
                <a16:creationId xmlns:a16="http://schemas.microsoft.com/office/drawing/2014/main" id="{C30D2CAA-55C1-4257-9BD8-C2AB13C40178}"/>
              </a:ext>
            </a:extLst>
          </p:cNvPr>
          <p:cNvSpPr>
            <a:spLocks noGrp="1"/>
          </p:cNvSpPr>
          <p:nvPr/>
        </p:nvSpPr>
        <p:spPr>
          <a:xfrm>
            <a:off x="1000125" y="3219450"/>
            <a:ext cx="4000500" cy="323850"/>
          </a:xfrm>
          <a:prstGeom prst="rect">
            <a:avLst/>
          </a:prstGeom>
          <a:noFill/>
          <a:ln w="0">
            <a:noFill/>
          </a:ln>
        </p:spPr>
        <p:txBody>
          <a:bodyPr lIns="0" tIns="0" rIns="0" bIns="0" anchor="t">
            <a:normAutofit/>
          </a:bodyPr>
          <a:lstStyle/>
          <a:p>
            <a:pPr algn="l">
              <a:defRPr sz="1425">
                <a:solidFill>
                  <a:srgbClr val="67332C"/>
                </a:solidFill>
                <a:latin typeface="Arial"/>
                <a:ea typeface="Arial"/>
                <a:cs typeface="Arial"/>
              </a:defRPr>
            </a:pPr>
            <a:r>
              <a:rPr sz="1425">
                <a:solidFill>
                  <a:srgbClr val="67332C"/>
                </a:solidFill>
                <a:latin typeface="Arial"/>
                <a:ea typeface="Arial"/>
                <a:cs typeface="Arial"/>
              </a:rPr>
              <a:t>• Paper and PDFs are stored in different places.</a:t>
            </a:r>
          </a:p>
        </p:txBody>
      </p:sp>
      <p:sp>
        <p:nvSpPr>
          <p:cNvPr id="8" name="Rectangle 7">
            <a:extLst>
              <a:ext uri="{FF2B5EF4-FFF2-40B4-BE49-F238E27FC236}">
                <a16:creationId xmlns:a16="http://schemas.microsoft.com/office/drawing/2014/main" id="{1919C582-8780-49C5-A054-86996ABFCC86}"/>
              </a:ext>
            </a:extLst>
          </p:cNvPr>
          <p:cNvSpPr>
            <a:spLocks noGrp="1"/>
          </p:cNvSpPr>
          <p:nvPr/>
        </p:nvSpPr>
        <p:spPr>
          <a:xfrm>
            <a:off x="1000125" y="3762375"/>
            <a:ext cx="4095750" cy="323850"/>
          </a:xfrm>
          <a:prstGeom prst="rect">
            <a:avLst/>
          </a:prstGeom>
          <a:noFill/>
          <a:ln w="0">
            <a:noFill/>
          </a:ln>
        </p:spPr>
        <p:txBody>
          <a:bodyPr lIns="0" tIns="0" rIns="0" bIns="0" anchor="t">
            <a:normAutofit fontScale="82782"/>
          </a:bodyPr>
          <a:lstStyle/>
          <a:p>
            <a:pPr algn="l">
              <a:defRPr sz="1425">
                <a:solidFill>
                  <a:srgbClr val="67332C"/>
                </a:solidFill>
                <a:latin typeface="Arial"/>
                <a:ea typeface="Arial"/>
                <a:cs typeface="Arial"/>
              </a:defRPr>
            </a:pPr>
            <a:r>
              <a:rPr sz="1425">
                <a:solidFill>
                  <a:srgbClr val="67332C"/>
                </a:solidFill>
                <a:latin typeface="Arial"/>
                <a:ea typeface="Arial"/>
                <a:cs typeface="Arial"/>
              </a:rPr>
              <a:t>• Finding a record depends on memory and manual checking.</a:t>
            </a:r>
          </a:p>
        </p:txBody>
      </p:sp>
      <p:sp>
        <p:nvSpPr>
          <p:cNvPr id="9" name="Rectangle 8">
            <a:extLst>
              <a:ext uri="{FF2B5EF4-FFF2-40B4-BE49-F238E27FC236}">
                <a16:creationId xmlns:a16="http://schemas.microsoft.com/office/drawing/2014/main" id="{6BEF0D4C-E16C-4601-A176-02F6234F88B8}"/>
              </a:ext>
            </a:extLst>
          </p:cNvPr>
          <p:cNvSpPr>
            <a:spLocks noGrp="1"/>
          </p:cNvSpPr>
          <p:nvPr/>
        </p:nvSpPr>
        <p:spPr>
          <a:xfrm>
            <a:off x="1000125" y="4305300"/>
            <a:ext cx="4095750" cy="323850"/>
          </a:xfrm>
          <a:prstGeom prst="rect">
            <a:avLst/>
          </a:prstGeom>
          <a:noFill/>
          <a:ln w="0">
            <a:noFill/>
          </a:ln>
        </p:spPr>
        <p:txBody>
          <a:bodyPr lIns="0" tIns="0" rIns="0" bIns="0" anchor="t">
            <a:normAutofit fontScale="89839"/>
          </a:bodyPr>
          <a:lstStyle/>
          <a:p>
            <a:pPr algn="l">
              <a:defRPr sz="1425">
                <a:solidFill>
                  <a:srgbClr val="67332C"/>
                </a:solidFill>
                <a:latin typeface="Arial"/>
                <a:ea typeface="Arial"/>
                <a:cs typeface="Arial"/>
              </a:defRPr>
            </a:pPr>
            <a:r>
              <a:rPr sz="1425">
                <a:solidFill>
                  <a:srgbClr val="67332C"/>
                </a:solidFill>
                <a:latin typeface="Arial"/>
                <a:ea typeface="Arial"/>
                <a:cs typeface="Arial"/>
              </a:rPr>
              <a:t>• It is difficult to prove who changed or removed a record.</a:t>
            </a:r>
          </a:p>
        </p:txBody>
      </p:sp>
      <p:sp>
        <p:nvSpPr>
          <p:cNvPr id="10" name="Rectangle 9">
            <a:extLst>
              <a:ext uri="{FF2B5EF4-FFF2-40B4-BE49-F238E27FC236}">
                <a16:creationId xmlns:a16="http://schemas.microsoft.com/office/drawing/2014/main" id="{35C57422-1B49-4B26-A94D-DF46088F43FE}"/>
              </a:ext>
            </a:extLst>
          </p:cNvPr>
          <p:cNvSpPr>
            <a:spLocks noGrp="1"/>
          </p:cNvSpPr>
          <p:nvPr/>
        </p:nvSpPr>
        <p:spPr>
          <a:xfrm>
            <a:off x="5715000" y="3524250"/>
            <a:ext cx="514350" cy="400050"/>
          </a:xfrm>
          <a:prstGeom prst="rect">
            <a:avLst/>
          </a:prstGeom>
          <a:noFill/>
          <a:ln w="0">
            <a:noFill/>
          </a:ln>
        </p:spPr>
        <p:txBody>
          <a:bodyPr lIns="0" tIns="0" rIns="0" bIns="0" anchor="t">
            <a:normAutofit fontScale="92105"/>
          </a:bodyPr>
          <a:lstStyle/>
          <a:p>
            <a:pPr algn="ctr">
              <a:defRPr sz="2850" b="1">
                <a:solidFill>
                  <a:srgbClr val="17A673"/>
                </a:solidFill>
                <a:latin typeface="Arial"/>
                <a:ea typeface="Arial"/>
                <a:cs typeface="Arial"/>
              </a:defRPr>
            </a:pPr>
            <a:r>
              <a:rPr sz="2850" b="1">
                <a:solidFill>
                  <a:srgbClr val="17A673"/>
                </a:solidFill>
                <a:latin typeface="Arial"/>
                <a:ea typeface="Arial"/>
                <a:cs typeface="Arial"/>
              </a:rPr>
              <a:t>→</a:t>
            </a:r>
          </a:p>
        </p:txBody>
      </p:sp>
      <p:sp>
        <p:nvSpPr>
          <p:cNvPr id="11" name="Rectangle: Rounded Corners 10">
            <a:extLst>
              <a:ext uri="{FF2B5EF4-FFF2-40B4-BE49-F238E27FC236}">
                <a16:creationId xmlns:a16="http://schemas.microsoft.com/office/drawing/2014/main" id="{32CD8D86-6F0C-4CEC-80E2-932E11A12885}"/>
              </a:ext>
            </a:extLst>
          </p:cNvPr>
          <p:cNvSpPr>
            <a:spLocks noGrp="1"/>
          </p:cNvSpPr>
          <p:nvPr/>
        </p:nvSpPr>
        <p:spPr>
          <a:xfrm>
            <a:off x="6762750" y="2333625"/>
            <a:ext cx="4762500" cy="2857500"/>
          </a:xfrm>
          <a:prstGeom prst="roundRect">
            <a:avLst>
              <a:gd name="adj" fmla="val 2667"/>
            </a:avLst>
          </a:prstGeom>
          <a:solidFill>
            <a:srgbClr val="E9F8F1"/>
          </a:solidFill>
          <a:ln w="19050">
            <a:solidFill>
              <a:srgbClr val="17A673"/>
            </a:solidFill>
          </a:ln>
        </p:spPr>
        <p:txBody>
          <a:bodyPr/>
          <a:p/>
        </p:txBody>
      </p:sp>
      <p:sp>
        <p:nvSpPr>
          <p:cNvPr id="12" name="Rectangle 11">
            <a:extLst>
              <a:ext uri="{FF2B5EF4-FFF2-40B4-BE49-F238E27FC236}">
                <a16:creationId xmlns:a16="http://schemas.microsoft.com/office/drawing/2014/main" id="{7ED1E4CD-004C-4958-B876-199784CE4D80}"/>
              </a:ext>
            </a:extLst>
          </p:cNvPr>
          <p:cNvSpPr>
            <a:spLocks noGrp="1"/>
          </p:cNvSpPr>
          <p:nvPr/>
        </p:nvSpPr>
        <p:spPr>
          <a:xfrm>
            <a:off x="7096125" y="2647950"/>
            <a:ext cx="4000500" cy="304800"/>
          </a:xfrm>
          <a:prstGeom prst="rect">
            <a:avLst/>
          </a:prstGeom>
          <a:noFill/>
          <a:ln w="0">
            <a:noFill/>
          </a:ln>
        </p:spPr>
        <p:txBody>
          <a:bodyPr lIns="0" tIns="0" rIns="0" bIns="0" anchor="t">
            <a:normAutofit fontScale="98765"/>
          </a:bodyPr>
          <a:lstStyle/>
          <a:p>
            <a:pPr algn="l">
              <a:defRPr sz="2025" b="1">
                <a:solidFill>
                  <a:srgbClr val="087B55"/>
                </a:solidFill>
                <a:latin typeface="Arial"/>
                <a:ea typeface="Arial"/>
                <a:cs typeface="Arial"/>
              </a:defRPr>
            </a:pPr>
            <a:r>
              <a:rPr sz="2025" b="1">
                <a:solidFill>
                  <a:srgbClr val="087B55"/>
                </a:solidFill>
                <a:latin typeface="Arial"/>
                <a:ea typeface="Arial"/>
                <a:cs typeface="Arial"/>
              </a:rPr>
              <a:t>With iScan</a:t>
            </a:r>
          </a:p>
        </p:txBody>
      </p:sp>
      <p:sp>
        <p:nvSpPr>
          <p:cNvPr id="13" name="Rectangle 12">
            <a:extLst>
              <a:ext uri="{FF2B5EF4-FFF2-40B4-BE49-F238E27FC236}">
                <a16:creationId xmlns:a16="http://schemas.microsoft.com/office/drawing/2014/main" id="{F7CFC17E-2EF3-428F-997E-20F892EEB7D9}"/>
              </a:ext>
            </a:extLst>
          </p:cNvPr>
          <p:cNvSpPr>
            <a:spLocks noGrp="1"/>
          </p:cNvSpPr>
          <p:nvPr/>
        </p:nvSpPr>
        <p:spPr>
          <a:xfrm>
            <a:off x="7096125" y="3219450"/>
            <a:ext cx="4000500" cy="323850"/>
          </a:xfrm>
          <a:prstGeom prst="rect">
            <a:avLst/>
          </a:prstGeom>
          <a:noFill/>
          <a:ln w="0">
            <a:noFill/>
          </a:ln>
        </p:spPr>
        <p:txBody>
          <a:bodyPr lIns="0" tIns="0" rIns="0" bIns="0" anchor="t">
            <a:normAutofit/>
          </a:bodyPr>
          <a:lstStyle/>
          <a:p>
            <a:pPr algn="l">
              <a:defRPr sz="1425">
                <a:solidFill>
                  <a:srgbClr val="155C47"/>
                </a:solidFill>
                <a:latin typeface="Arial"/>
                <a:ea typeface="Arial"/>
                <a:cs typeface="Arial"/>
              </a:defRPr>
            </a:pPr>
            <a:r>
              <a:rPr sz="1425">
                <a:solidFill>
                  <a:srgbClr val="155C47"/>
                </a:solidFill>
                <a:latin typeface="Arial"/>
                <a:ea typeface="Arial"/>
                <a:cs typeface="Arial"/>
              </a:rPr>
              <a:t>• The record and PDF stay linked.</a:t>
            </a:r>
          </a:p>
        </p:txBody>
      </p:sp>
      <p:sp>
        <p:nvSpPr>
          <p:cNvPr id="14" name="Rectangle 13">
            <a:extLst>
              <a:ext uri="{FF2B5EF4-FFF2-40B4-BE49-F238E27FC236}">
                <a16:creationId xmlns:a16="http://schemas.microsoft.com/office/drawing/2014/main" id="{B16BAAF6-6185-40F8-B24F-FEA038BB9803}"/>
              </a:ext>
            </a:extLst>
          </p:cNvPr>
          <p:cNvSpPr>
            <a:spLocks noGrp="1"/>
          </p:cNvSpPr>
          <p:nvPr/>
        </p:nvSpPr>
        <p:spPr>
          <a:xfrm>
            <a:off x="7096125" y="3762375"/>
            <a:ext cx="4095750" cy="323850"/>
          </a:xfrm>
          <a:prstGeom prst="rect">
            <a:avLst/>
          </a:prstGeom>
          <a:noFill/>
          <a:ln w="0">
            <a:noFill/>
          </a:ln>
        </p:spPr>
        <p:txBody>
          <a:bodyPr lIns="0" tIns="0" rIns="0" bIns="0" anchor="t">
            <a:normAutofit fontScale="93108"/>
          </a:bodyPr>
          <a:lstStyle/>
          <a:p>
            <a:pPr algn="l">
              <a:defRPr sz="1425">
                <a:solidFill>
                  <a:srgbClr val="155C47"/>
                </a:solidFill>
                <a:latin typeface="Arial"/>
                <a:ea typeface="Arial"/>
                <a:cs typeface="Arial"/>
              </a:defRPr>
            </a:pPr>
            <a:r>
              <a:rPr sz="1425">
                <a:solidFill>
                  <a:srgbClr val="155C47"/>
                </a:solidFill>
                <a:latin typeface="Arial"/>
                <a:ea typeface="Arial"/>
                <a:cs typeface="Arial"/>
              </a:rPr>
              <a:t>• Search, folders, and verification use the same record.</a:t>
            </a:r>
          </a:p>
        </p:txBody>
      </p:sp>
      <p:sp>
        <p:nvSpPr>
          <p:cNvPr id="15" name="Rectangle 14">
            <a:extLst>
              <a:ext uri="{FF2B5EF4-FFF2-40B4-BE49-F238E27FC236}">
                <a16:creationId xmlns:a16="http://schemas.microsoft.com/office/drawing/2014/main" id="{D474818E-5EE1-4A7A-B119-01B5C88A88BC}"/>
              </a:ext>
            </a:extLst>
          </p:cNvPr>
          <p:cNvSpPr>
            <a:spLocks noGrp="1"/>
          </p:cNvSpPr>
          <p:nvPr/>
        </p:nvSpPr>
        <p:spPr>
          <a:xfrm>
            <a:off x="7096125" y="4305300"/>
            <a:ext cx="4095750" cy="323850"/>
          </a:xfrm>
          <a:prstGeom prst="rect">
            <a:avLst/>
          </a:prstGeom>
          <a:noFill/>
          <a:ln w="0">
            <a:noFill/>
          </a:ln>
        </p:spPr>
        <p:txBody>
          <a:bodyPr lIns="0" tIns="0" rIns="0" bIns="0" anchor="t">
            <a:normAutofit fontScale="92203"/>
          </a:bodyPr>
          <a:lstStyle/>
          <a:p>
            <a:pPr algn="l">
              <a:defRPr sz="1425">
                <a:solidFill>
                  <a:srgbClr val="155C47"/>
                </a:solidFill>
                <a:latin typeface="Arial"/>
                <a:ea typeface="Arial"/>
                <a:cs typeface="Arial"/>
              </a:defRPr>
            </a:pPr>
            <a:r>
              <a:rPr sz="1425">
                <a:solidFill>
                  <a:srgbClr val="155C47"/>
                </a:solidFill>
                <a:latin typeface="Arial"/>
                <a:ea typeface="Arial"/>
                <a:cs typeface="Arial"/>
              </a:rPr>
              <a:t>• Roles, logs, and approvals make actions accountable.</a:t>
            </a:r>
          </a:p>
        </p:txBody>
      </p:sp>
      <p:sp>
        <p:nvSpPr>
          <p:cNvPr id="16" name="Rectangle 15">
            <a:extLst>
              <a:ext uri="{FF2B5EF4-FFF2-40B4-BE49-F238E27FC236}">
                <a16:creationId xmlns:a16="http://schemas.microsoft.com/office/drawing/2014/main" id="{DC5CD382-5331-4B58-A42F-568F27FF6B54}"/>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7" name="Rectangle 16">
            <a:extLst>
              <a:ext uri="{FF2B5EF4-FFF2-40B4-BE49-F238E27FC236}">
                <a16:creationId xmlns:a16="http://schemas.microsoft.com/office/drawing/2014/main" id="{29CD6D63-F08F-43C9-9F12-F0CA089E409E}"/>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04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93651439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B13FE4C0-E249-41DC-B658-0B1A03B4F4C8}"/>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CORE MODULES</a:t>
            </a:r>
          </a:p>
        </p:txBody>
      </p:sp>
      <p:sp>
        <p:nvSpPr>
          <p:cNvPr id="2" name="Rectangle 1">
            <a:extLst>
              <a:ext uri="{FF2B5EF4-FFF2-40B4-BE49-F238E27FC236}">
                <a16:creationId xmlns:a16="http://schemas.microsoft.com/office/drawing/2014/main" id="{4F15E7AE-CA0F-4EB0-89B0-3B1C183688DC}"/>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Four civil registry modules</a:t>
            </a:r>
          </a:p>
        </p:txBody>
      </p:sp>
      <p:sp>
        <p:nvSpPr>
          <p:cNvPr id="3" name="Rectangle 2">
            <a:extLst>
              <a:ext uri="{FF2B5EF4-FFF2-40B4-BE49-F238E27FC236}">
                <a16:creationId xmlns:a16="http://schemas.microsoft.com/office/drawing/2014/main" id="{53AE5365-6BB2-42C4-B83A-8E5E9FCF3B85}"/>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10C4CAC8-6049-435A-8376-9211F35D3C86}"/>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same controlled workflow supports each record type.</a:t>
            </a:r>
          </a:p>
        </p:txBody>
      </p:sp>
      <p:sp>
        <p:nvSpPr>
          <p:cNvPr id="5" name="Rectangle: Rounded Corners 4">
            <a:extLst>
              <a:ext uri="{FF2B5EF4-FFF2-40B4-BE49-F238E27FC236}">
                <a16:creationId xmlns:a16="http://schemas.microsoft.com/office/drawing/2014/main" id="{D1B65F50-C372-4C97-B1CF-603FC49CC7B3}"/>
              </a:ext>
            </a:extLst>
          </p:cNvPr>
          <p:cNvSpPr>
            <a:spLocks noGrp="1"/>
          </p:cNvSpPr>
          <p:nvPr/>
        </p:nvSpPr>
        <p:spPr>
          <a:xfrm>
            <a:off x="666750" y="2286000"/>
            <a:ext cx="5143500" cy="1333500"/>
          </a:xfrm>
          <a:prstGeom prst="roundRect">
            <a:avLst>
              <a:gd name="adj" fmla="val 5714"/>
            </a:avLst>
          </a:prstGeom>
          <a:solidFill>
            <a:srgbClr val="F5F7FB"/>
          </a:solidFill>
          <a:ln w="14288">
            <a:solidFill>
              <a:srgbClr val="D8E1ED"/>
            </a:solidFill>
          </a:ln>
        </p:spPr>
        <p:txBody>
          <a:bodyPr/>
          <a:p/>
        </p:txBody>
      </p:sp>
      <p:sp>
        <p:nvSpPr>
          <p:cNvPr id="6" name="Rectangle: Rounded Corners 5">
            <a:extLst>
              <a:ext uri="{FF2B5EF4-FFF2-40B4-BE49-F238E27FC236}">
                <a16:creationId xmlns:a16="http://schemas.microsoft.com/office/drawing/2014/main" id="{B4261153-947F-4E7F-9876-D1DCA149E229}"/>
              </a:ext>
            </a:extLst>
          </p:cNvPr>
          <p:cNvSpPr>
            <a:spLocks noGrp="1"/>
          </p:cNvSpPr>
          <p:nvPr/>
        </p:nvSpPr>
        <p:spPr>
          <a:xfrm>
            <a:off x="895350" y="2552700"/>
            <a:ext cx="571500" cy="571500"/>
          </a:xfrm>
          <a:prstGeom prst="roundRect">
            <a:avLst>
              <a:gd name="adj" fmla="val 13333"/>
            </a:avLst>
          </a:prstGeom>
          <a:solidFill>
            <a:srgbClr val="2F6BDE"/>
          </a:solidFill>
          <a:ln w="0">
            <a:noFill/>
          </a:ln>
        </p:spPr>
        <p:txBody>
          <a:bodyPr/>
          <a:p/>
        </p:txBody>
      </p:sp>
      <p:sp>
        <p:nvSpPr>
          <p:cNvPr id="7" name="Rectangle 6">
            <a:extLst>
              <a:ext uri="{FF2B5EF4-FFF2-40B4-BE49-F238E27FC236}">
                <a16:creationId xmlns:a16="http://schemas.microsoft.com/office/drawing/2014/main" id="{357A22B5-F67C-43B5-B23E-28A18930C4CC}"/>
              </a:ext>
            </a:extLst>
          </p:cNvPr>
          <p:cNvSpPr>
            <a:spLocks noGrp="1"/>
          </p:cNvSpPr>
          <p:nvPr/>
        </p:nvSpPr>
        <p:spPr>
          <a:xfrm>
            <a:off x="895350" y="2552700"/>
            <a:ext cx="571500" cy="5715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01</a:t>
            </a:r>
          </a:p>
        </p:txBody>
      </p:sp>
      <p:sp>
        <p:nvSpPr>
          <p:cNvPr id="8" name="Rectangle 7">
            <a:extLst>
              <a:ext uri="{FF2B5EF4-FFF2-40B4-BE49-F238E27FC236}">
                <a16:creationId xmlns:a16="http://schemas.microsoft.com/office/drawing/2014/main" id="{9DE8E8AC-69E4-457E-AE82-DE2B99FD30D1}"/>
              </a:ext>
            </a:extLst>
          </p:cNvPr>
          <p:cNvSpPr>
            <a:spLocks noGrp="1"/>
          </p:cNvSpPr>
          <p:nvPr/>
        </p:nvSpPr>
        <p:spPr>
          <a:xfrm>
            <a:off x="1733550" y="2552700"/>
            <a:ext cx="361950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Birth Certificate</a:t>
            </a:r>
          </a:p>
        </p:txBody>
      </p:sp>
      <p:sp>
        <p:nvSpPr>
          <p:cNvPr id="9" name="Rectangle 8">
            <a:extLst>
              <a:ext uri="{FF2B5EF4-FFF2-40B4-BE49-F238E27FC236}">
                <a16:creationId xmlns:a16="http://schemas.microsoft.com/office/drawing/2014/main" id="{D5361242-401C-4DCD-8F60-AB6884FC1097}"/>
              </a:ext>
            </a:extLst>
          </p:cNvPr>
          <p:cNvSpPr>
            <a:spLocks noGrp="1"/>
          </p:cNvSpPr>
          <p:nvPr/>
        </p:nvSpPr>
        <p:spPr>
          <a:xfrm>
            <a:off x="1733550" y="2952750"/>
            <a:ext cx="3619500" cy="400050"/>
          </a:xfrm>
          <a:prstGeom prst="rect">
            <a:avLst/>
          </a:prstGeom>
          <a:noFill/>
          <a:ln w="0">
            <a:noFill/>
          </a:ln>
        </p:spPr>
        <p:txBody>
          <a:bodyPr lIns="0" tIns="0" rIns="0" bIns="0" anchor="t">
            <a:normAutofit/>
          </a:bodyPr>
          <a:lstStyle/>
          <a:p>
            <a:pPr algn="l">
              <a:defRPr sz="1275">
                <a:solidFill>
                  <a:srgbClr val="5E6C80"/>
                </a:solidFill>
                <a:latin typeface="Arial"/>
                <a:ea typeface="Arial"/>
                <a:cs typeface="Arial"/>
              </a:defRPr>
            </a:pPr>
            <a:r>
              <a:rPr sz="1275">
                <a:solidFill>
                  <a:srgbClr val="5E6C80"/>
                </a:solidFill>
                <a:latin typeface="Arial"/>
                <a:ea typeface="Arial"/>
                <a:cs typeface="Arial"/>
              </a:rPr>
              <a:t>Birth records and scanned certificates</a:t>
            </a:r>
          </a:p>
        </p:txBody>
      </p:sp>
      <p:sp>
        <p:nvSpPr>
          <p:cNvPr id="10" name="Rectangle: Rounded Corners 9">
            <a:extLst>
              <a:ext uri="{FF2B5EF4-FFF2-40B4-BE49-F238E27FC236}">
                <a16:creationId xmlns:a16="http://schemas.microsoft.com/office/drawing/2014/main" id="{32F66440-D28E-4AAD-BB1B-EE0DF5B8A3AA}"/>
              </a:ext>
            </a:extLst>
          </p:cNvPr>
          <p:cNvSpPr>
            <a:spLocks noGrp="1"/>
          </p:cNvSpPr>
          <p:nvPr/>
        </p:nvSpPr>
        <p:spPr>
          <a:xfrm>
            <a:off x="6286500" y="2286000"/>
            <a:ext cx="5143500" cy="1333500"/>
          </a:xfrm>
          <a:prstGeom prst="roundRect">
            <a:avLst>
              <a:gd name="adj" fmla="val 5714"/>
            </a:avLst>
          </a:prstGeom>
          <a:solidFill>
            <a:srgbClr val="F5F7FB"/>
          </a:solidFill>
          <a:ln w="14288">
            <a:solidFill>
              <a:srgbClr val="D8E1ED"/>
            </a:solidFill>
          </a:ln>
        </p:spPr>
        <p:txBody>
          <a:bodyPr/>
          <a:p/>
        </p:txBody>
      </p:sp>
      <p:sp>
        <p:nvSpPr>
          <p:cNvPr id="11" name="Rectangle: Rounded Corners 10">
            <a:extLst>
              <a:ext uri="{FF2B5EF4-FFF2-40B4-BE49-F238E27FC236}">
                <a16:creationId xmlns:a16="http://schemas.microsoft.com/office/drawing/2014/main" id="{3BCAEE7A-886A-47C0-8F60-AD9D5BE31090}"/>
              </a:ext>
            </a:extLst>
          </p:cNvPr>
          <p:cNvSpPr>
            <a:spLocks noGrp="1"/>
          </p:cNvSpPr>
          <p:nvPr/>
        </p:nvSpPr>
        <p:spPr>
          <a:xfrm>
            <a:off x="6515100" y="2552700"/>
            <a:ext cx="571500" cy="571500"/>
          </a:xfrm>
          <a:prstGeom prst="roundRect">
            <a:avLst>
              <a:gd name="adj" fmla="val 13333"/>
            </a:avLst>
          </a:prstGeom>
          <a:solidFill>
            <a:srgbClr val="17A673"/>
          </a:solidFill>
          <a:ln w="0">
            <a:noFill/>
          </a:ln>
        </p:spPr>
        <p:txBody>
          <a:bodyPr/>
          <a:p/>
        </p:txBody>
      </p:sp>
      <p:sp>
        <p:nvSpPr>
          <p:cNvPr id="12" name="Rectangle 11">
            <a:extLst>
              <a:ext uri="{FF2B5EF4-FFF2-40B4-BE49-F238E27FC236}">
                <a16:creationId xmlns:a16="http://schemas.microsoft.com/office/drawing/2014/main" id="{3C4DC3A1-0CFE-4A30-8FFB-39B58D957B92}"/>
              </a:ext>
            </a:extLst>
          </p:cNvPr>
          <p:cNvSpPr>
            <a:spLocks noGrp="1"/>
          </p:cNvSpPr>
          <p:nvPr/>
        </p:nvSpPr>
        <p:spPr>
          <a:xfrm>
            <a:off x="6515100" y="2552700"/>
            <a:ext cx="571500" cy="5715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02</a:t>
            </a:r>
          </a:p>
        </p:txBody>
      </p:sp>
      <p:sp>
        <p:nvSpPr>
          <p:cNvPr id="13" name="Rectangle 12">
            <a:extLst>
              <a:ext uri="{FF2B5EF4-FFF2-40B4-BE49-F238E27FC236}">
                <a16:creationId xmlns:a16="http://schemas.microsoft.com/office/drawing/2014/main" id="{3CAF7D29-A56F-443D-A168-F1D02E6C3DF7}"/>
              </a:ext>
            </a:extLst>
          </p:cNvPr>
          <p:cNvSpPr>
            <a:spLocks noGrp="1"/>
          </p:cNvSpPr>
          <p:nvPr/>
        </p:nvSpPr>
        <p:spPr>
          <a:xfrm>
            <a:off x="7353300" y="2552700"/>
            <a:ext cx="361950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Death Certificate</a:t>
            </a:r>
          </a:p>
        </p:txBody>
      </p:sp>
      <p:sp>
        <p:nvSpPr>
          <p:cNvPr id="14" name="Rectangle 13">
            <a:extLst>
              <a:ext uri="{FF2B5EF4-FFF2-40B4-BE49-F238E27FC236}">
                <a16:creationId xmlns:a16="http://schemas.microsoft.com/office/drawing/2014/main" id="{ABC67F31-A4AD-4ED5-894B-E2138F021ED7}"/>
              </a:ext>
            </a:extLst>
          </p:cNvPr>
          <p:cNvSpPr>
            <a:spLocks noGrp="1"/>
          </p:cNvSpPr>
          <p:nvPr/>
        </p:nvSpPr>
        <p:spPr>
          <a:xfrm>
            <a:off x="7353300" y="2952750"/>
            <a:ext cx="3619500" cy="400050"/>
          </a:xfrm>
          <a:prstGeom prst="rect">
            <a:avLst/>
          </a:prstGeom>
          <a:noFill/>
          <a:ln w="0">
            <a:noFill/>
          </a:ln>
        </p:spPr>
        <p:txBody>
          <a:bodyPr lIns="0" tIns="0" rIns="0" bIns="0" anchor="t">
            <a:normAutofit/>
          </a:bodyPr>
          <a:lstStyle/>
          <a:p>
            <a:pPr algn="l">
              <a:defRPr sz="1275">
                <a:solidFill>
                  <a:srgbClr val="5E6C80"/>
                </a:solidFill>
                <a:latin typeface="Arial"/>
                <a:ea typeface="Arial"/>
                <a:cs typeface="Arial"/>
              </a:defRPr>
            </a:pPr>
            <a:r>
              <a:rPr sz="1275">
                <a:solidFill>
                  <a:srgbClr val="5E6C80"/>
                </a:solidFill>
                <a:latin typeface="Arial"/>
                <a:ea typeface="Arial"/>
                <a:cs typeface="Arial"/>
              </a:rPr>
              <a:t>Death records and supporting documents</a:t>
            </a:r>
          </a:p>
        </p:txBody>
      </p:sp>
      <p:sp>
        <p:nvSpPr>
          <p:cNvPr id="15" name="Rectangle: Rounded Corners 14">
            <a:extLst>
              <a:ext uri="{FF2B5EF4-FFF2-40B4-BE49-F238E27FC236}">
                <a16:creationId xmlns:a16="http://schemas.microsoft.com/office/drawing/2014/main" id="{74D46F0C-DE09-4BE4-8BA0-F9E587B1999C}"/>
              </a:ext>
            </a:extLst>
          </p:cNvPr>
          <p:cNvSpPr>
            <a:spLocks noGrp="1"/>
          </p:cNvSpPr>
          <p:nvPr/>
        </p:nvSpPr>
        <p:spPr>
          <a:xfrm>
            <a:off x="666750" y="3952875"/>
            <a:ext cx="5143500" cy="1333500"/>
          </a:xfrm>
          <a:prstGeom prst="roundRect">
            <a:avLst>
              <a:gd name="adj" fmla="val 5714"/>
            </a:avLst>
          </a:prstGeom>
          <a:solidFill>
            <a:srgbClr val="F5F7FB"/>
          </a:solidFill>
          <a:ln w="14288">
            <a:solidFill>
              <a:srgbClr val="D8E1ED"/>
            </a:solidFill>
          </a:ln>
        </p:spPr>
        <p:txBody>
          <a:bodyPr/>
          <a:p/>
        </p:txBody>
      </p:sp>
      <p:sp>
        <p:nvSpPr>
          <p:cNvPr id="16" name="Rectangle: Rounded Corners 15">
            <a:extLst>
              <a:ext uri="{FF2B5EF4-FFF2-40B4-BE49-F238E27FC236}">
                <a16:creationId xmlns:a16="http://schemas.microsoft.com/office/drawing/2014/main" id="{B0A4A4AA-0C33-4A76-9578-84324178F2A6}"/>
              </a:ext>
            </a:extLst>
          </p:cNvPr>
          <p:cNvSpPr>
            <a:spLocks noGrp="1"/>
          </p:cNvSpPr>
          <p:nvPr/>
        </p:nvSpPr>
        <p:spPr>
          <a:xfrm>
            <a:off x="895350" y="4219575"/>
            <a:ext cx="571500" cy="571500"/>
          </a:xfrm>
          <a:prstGeom prst="roundRect">
            <a:avLst>
              <a:gd name="adj" fmla="val 13333"/>
            </a:avLst>
          </a:prstGeom>
          <a:solidFill>
            <a:srgbClr val="7B61D1"/>
          </a:solidFill>
          <a:ln w="0">
            <a:noFill/>
          </a:ln>
        </p:spPr>
        <p:txBody>
          <a:bodyPr/>
          <a:p/>
        </p:txBody>
      </p:sp>
      <p:sp>
        <p:nvSpPr>
          <p:cNvPr id="17" name="Rectangle 16">
            <a:extLst>
              <a:ext uri="{FF2B5EF4-FFF2-40B4-BE49-F238E27FC236}">
                <a16:creationId xmlns:a16="http://schemas.microsoft.com/office/drawing/2014/main" id="{FFF46D75-E81F-434D-84F3-9FA62965834C}"/>
              </a:ext>
            </a:extLst>
          </p:cNvPr>
          <p:cNvSpPr>
            <a:spLocks noGrp="1"/>
          </p:cNvSpPr>
          <p:nvPr/>
        </p:nvSpPr>
        <p:spPr>
          <a:xfrm>
            <a:off x="895350" y="4219575"/>
            <a:ext cx="571500" cy="5715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03</a:t>
            </a:r>
          </a:p>
        </p:txBody>
      </p:sp>
      <p:sp>
        <p:nvSpPr>
          <p:cNvPr id="18" name="Rectangle 17">
            <a:extLst>
              <a:ext uri="{FF2B5EF4-FFF2-40B4-BE49-F238E27FC236}">
                <a16:creationId xmlns:a16="http://schemas.microsoft.com/office/drawing/2014/main" id="{72A61F5B-68A8-4194-938D-6170F49A3662}"/>
              </a:ext>
            </a:extLst>
          </p:cNvPr>
          <p:cNvSpPr>
            <a:spLocks noGrp="1"/>
          </p:cNvSpPr>
          <p:nvPr/>
        </p:nvSpPr>
        <p:spPr>
          <a:xfrm>
            <a:off x="1733550" y="4219575"/>
            <a:ext cx="361950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Marriage Certificate</a:t>
            </a:r>
          </a:p>
        </p:txBody>
      </p:sp>
      <p:sp>
        <p:nvSpPr>
          <p:cNvPr id="19" name="Rectangle 18">
            <a:extLst>
              <a:ext uri="{FF2B5EF4-FFF2-40B4-BE49-F238E27FC236}">
                <a16:creationId xmlns:a16="http://schemas.microsoft.com/office/drawing/2014/main" id="{15C2C992-2BFE-4172-93E3-CC4D06C2CC2B}"/>
              </a:ext>
            </a:extLst>
          </p:cNvPr>
          <p:cNvSpPr>
            <a:spLocks noGrp="1"/>
          </p:cNvSpPr>
          <p:nvPr/>
        </p:nvSpPr>
        <p:spPr>
          <a:xfrm>
            <a:off x="1733550" y="4619625"/>
            <a:ext cx="3619500" cy="400050"/>
          </a:xfrm>
          <a:prstGeom prst="rect">
            <a:avLst/>
          </a:prstGeom>
          <a:noFill/>
          <a:ln w="0">
            <a:noFill/>
          </a:ln>
        </p:spPr>
        <p:txBody>
          <a:bodyPr lIns="0" tIns="0" rIns="0" bIns="0" anchor="t">
            <a:normAutofit/>
          </a:bodyPr>
          <a:lstStyle/>
          <a:p>
            <a:pPr algn="l">
              <a:defRPr sz="1275">
                <a:solidFill>
                  <a:srgbClr val="5E6C80"/>
                </a:solidFill>
                <a:latin typeface="Arial"/>
                <a:ea typeface="Arial"/>
                <a:cs typeface="Arial"/>
              </a:defRPr>
            </a:pPr>
            <a:r>
              <a:rPr sz="1275">
                <a:solidFill>
                  <a:srgbClr val="5E6C80"/>
                </a:solidFill>
                <a:latin typeface="Arial"/>
                <a:ea typeface="Arial"/>
                <a:cs typeface="Arial"/>
              </a:rPr>
              <a:t>Marriage records and verification</a:t>
            </a:r>
          </a:p>
        </p:txBody>
      </p:sp>
      <p:sp>
        <p:nvSpPr>
          <p:cNvPr id="20" name="Rectangle: Rounded Corners 19">
            <a:extLst>
              <a:ext uri="{FF2B5EF4-FFF2-40B4-BE49-F238E27FC236}">
                <a16:creationId xmlns:a16="http://schemas.microsoft.com/office/drawing/2014/main" id="{2E1CA950-48F9-402D-8E97-CF11EEB208C3}"/>
              </a:ext>
            </a:extLst>
          </p:cNvPr>
          <p:cNvSpPr>
            <a:spLocks noGrp="1"/>
          </p:cNvSpPr>
          <p:nvPr/>
        </p:nvSpPr>
        <p:spPr>
          <a:xfrm>
            <a:off x="6286500" y="3952875"/>
            <a:ext cx="5143500" cy="1333500"/>
          </a:xfrm>
          <a:prstGeom prst="roundRect">
            <a:avLst>
              <a:gd name="adj" fmla="val 5714"/>
            </a:avLst>
          </a:prstGeom>
          <a:solidFill>
            <a:srgbClr val="F5F7FB"/>
          </a:solidFill>
          <a:ln w="14288">
            <a:solidFill>
              <a:srgbClr val="D8E1ED"/>
            </a:solidFill>
          </a:ln>
        </p:spPr>
        <p:txBody>
          <a:bodyPr/>
          <a:p/>
        </p:txBody>
      </p:sp>
      <p:sp>
        <p:nvSpPr>
          <p:cNvPr id="21" name="Rectangle: Rounded Corners 20">
            <a:extLst>
              <a:ext uri="{FF2B5EF4-FFF2-40B4-BE49-F238E27FC236}">
                <a16:creationId xmlns:a16="http://schemas.microsoft.com/office/drawing/2014/main" id="{31D38816-8DC9-41A7-ADE0-00C5FA1BC5CD}"/>
              </a:ext>
            </a:extLst>
          </p:cNvPr>
          <p:cNvSpPr>
            <a:spLocks noGrp="1"/>
          </p:cNvSpPr>
          <p:nvPr/>
        </p:nvSpPr>
        <p:spPr>
          <a:xfrm>
            <a:off x="6515100" y="4219575"/>
            <a:ext cx="571500" cy="571500"/>
          </a:xfrm>
          <a:prstGeom prst="roundRect">
            <a:avLst>
              <a:gd name="adj" fmla="val 13333"/>
            </a:avLst>
          </a:prstGeom>
          <a:solidFill>
            <a:srgbClr val="F6B638"/>
          </a:solidFill>
          <a:ln w="0">
            <a:noFill/>
          </a:ln>
        </p:spPr>
        <p:txBody>
          <a:bodyPr/>
          <a:p/>
        </p:txBody>
      </p:sp>
      <p:sp>
        <p:nvSpPr>
          <p:cNvPr id="22" name="Rectangle 21">
            <a:extLst>
              <a:ext uri="{FF2B5EF4-FFF2-40B4-BE49-F238E27FC236}">
                <a16:creationId xmlns:a16="http://schemas.microsoft.com/office/drawing/2014/main" id="{C7725363-DA69-4642-82B1-A7D6098E3810}"/>
              </a:ext>
            </a:extLst>
          </p:cNvPr>
          <p:cNvSpPr>
            <a:spLocks noGrp="1"/>
          </p:cNvSpPr>
          <p:nvPr/>
        </p:nvSpPr>
        <p:spPr>
          <a:xfrm>
            <a:off x="6515100" y="4219575"/>
            <a:ext cx="571500" cy="5715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04</a:t>
            </a:r>
          </a:p>
        </p:txBody>
      </p:sp>
      <p:sp>
        <p:nvSpPr>
          <p:cNvPr id="23" name="Rectangle 22">
            <a:extLst>
              <a:ext uri="{FF2B5EF4-FFF2-40B4-BE49-F238E27FC236}">
                <a16:creationId xmlns:a16="http://schemas.microsoft.com/office/drawing/2014/main" id="{11A109B5-FE71-4035-9039-0A75247623A7}"/>
              </a:ext>
            </a:extLst>
          </p:cNvPr>
          <p:cNvSpPr>
            <a:spLocks noGrp="1"/>
          </p:cNvSpPr>
          <p:nvPr/>
        </p:nvSpPr>
        <p:spPr>
          <a:xfrm>
            <a:off x="7353300" y="4219575"/>
            <a:ext cx="361950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Marriage License</a:t>
            </a:r>
          </a:p>
        </p:txBody>
      </p:sp>
      <p:sp>
        <p:nvSpPr>
          <p:cNvPr id="24" name="Rectangle 23">
            <a:extLst>
              <a:ext uri="{FF2B5EF4-FFF2-40B4-BE49-F238E27FC236}">
                <a16:creationId xmlns:a16="http://schemas.microsoft.com/office/drawing/2014/main" id="{E14431BC-3F62-464B-9A1E-A21785B72EBB}"/>
              </a:ext>
            </a:extLst>
          </p:cNvPr>
          <p:cNvSpPr>
            <a:spLocks noGrp="1"/>
          </p:cNvSpPr>
          <p:nvPr/>
        </p:nvSpPr>
        <p:spPr>
          <a:xfrm>
            <a:off x="7353300" y="4619625"/>
            <a:ext cx="3619500" cy="400050"/>
          </a:xfrm>
          <a:prstGeom prst="rect">
            <a:avLst/>
          </a:prstGeom>
          <a:noFill/>
          <a:ln w="0">
            <a:noFill/>
          </a:ln>
        </p:spPr>
        <p:txBody>
          <a:bodyPr lIns="0" tIns="0" rIns="0" bIns="0" anchor="t">
            <a:normAutofit/>
          </a:bodyPr>
          <a:lstStyle/>
          <a:p>
            <a:pPr algn="l">
              <a:defRPr sz="1275">
                <a:solidFill>
                  <a:srgbClr val="5E6C80"/>
                </a:solidFill>
                <a:latin typeface="Arial"/>
                <a:ea typeface="Arial"/>
                <a:cs typeface="Arial"/>
              </a:defRPr>
            </a:pPr>
            <a:r>
              <a:rPr sz="1275">
                <a:solidFill>
                  <a:srgbClr val="5E6C80"/>
                </a:solidFill>
                <a:latin typeface="Arial"/>
                <a:ea typeface="Arial"/>
                <a:cs typeface="Arial"/>
              </a:rPr>
              <a:t>Marriage license applications</a:t>
            </a:r>
          </a:p>
        </p:txBody>
      </p:sp>
      <p:sp>
        <p:nvSpPr>
          <p:cNvPr id="25" name="Rectangle 24">
            <a:extLst>
              <a:ext uri="{FF2B5EF4-FFF2-40B4-BE49-F238E27FC236}">
                <a16:creationId xmlns:a16="http://schemas.microsoft.com/office/drawing/2014/main" id="{CB109085-6E56-44C2-AE96-FCA6C5144590}"/>
              </a:ext>
            </a:extLst>
          </p:cNvPr>
          <p:cNvSpPr>
            <a:spLocks noGrp="1"/>
          </p:cNvSpPr>
          <p:nvPr/>
        </p:nvSpPr>
        <p:spPr>
          <a:xfrm>
            <a:off x="1619250" y="5619750"/>
            <a:ext cx="8953500" cy="285750"/>
          </a:xfrm>
          <a:prstGeom prst="rect">
            <a:avLst/>
          </a:prstGeom>
          <a:noFill/>
          <a:ln w="0">
            <a:noFill/>
          </a:ln>
        </p:spPr>
        <p:txBody>
          <a:bodyPr lIns="0" tIns="0" rIns="0" bIns="0" anchor="t">
            <a:normAutofit/>
          </a:bodyPr>
          <a:lstStyle/>
          <a:p>
            <a:pPr algn="ctr">
              <a:defRPr sz="1575" b="1">
                <a:solidFill>
                  <a:srgbClr val="17A673"/>
                </a:solidFill>
                <a:latin typeface="Arial"/>
                <a:ea typeface="Arial"/>
                <a:cs typeface="Arial"/>
              </a:defRPr>
            </a:pPr>
            <a:r>
              <a:rPr sz="1575" b="1">
                <a:solidFill>
                  <a:srgbClr val="17A673"/>
                </a:solidFill>
                <a:latin typeface="Arial"/>
                <a:ea typeface="Arial"/>
                <a:cs typeface="Arial"/>
              </a:rPr>
              <a:t>One record standard: data + PDF + workflow + audit trail.</a:t>
            </a:r>
          </a:p>
        </p:txBody>
      </p:sp>
      <p:sp>
        <p:nvSpPr>
          <p:cNvPr id="26" name="Rectangle 25">
            <a:extLst>
              <a:ext uri="{FF2B5EF4-FFF2-40B4-BE49-F238E27FC236}">
                <a16:creationId xmlns:a16="http://schemas.microsoft.com/office/drawing/2014/main" id="{09B2F5AC-4359-4478-B2D9-2B432E408974}"/>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7" name="Rectangle 26">
            <a:extLst>
              <a:ext uri="{FF2B5EF4-FFF2-40B4-BE49-F238E27FC236}">
                <a16:creationId xmlns:a16="http://schemas.microsoft.com/office/drawing/2014/main" id="{17843A32-4890-4047-9090-79F2625633FC}"/>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05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84151846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0243E"/>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D91614F7-182D-41CE-928B-5734FD67BF0F}"/>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8EB7FF"/>
                </a:solidFill>
                <a:latin typeface="Arial"/>
                <a:ea typeface="Arial"/>
                <a:cs typeface="Arial"/>
              </a:defRPr>
            </a:pPr>
            <a:r>
              <a:rPr sz="975" b="1">
                <a:solidFill>
                  <a:srgbClr val="8EB7FF"/>
                </a:solidFill>
                <a:latin typeface="Arial"/>
                <a:ea typeface="Arial"/>
                <a:cs typeface="Arial"/>
              </a:rPr>
              <a:t>SYSTEM MAP</a:t>
            </a:r>
          </a:p>
        </p:txBody>
      </p:sp>
      <p:sp>
        <p:nvSpPr>
          <p:cNvPr id="2" name="Rectangle 1">
            <a:extLst>
              <a:ext uri="{FF2B5EF4-FFF2-40B4-BE49-F238E27FC236}">
                <a16:creationId xmlns:a16="http://schemas.microsoft.com/office/drawing/2014/main" id="{F365F6FF-0A16-40B7-9325-F56EC7C51CFE}"/>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How the parts work together</a:t>
            </a:r>
          </a:p>
        </p:txBody>
      </p:sp>
      <p:sp>
        <p:nvSpPr>
          <p:cNvPr id="3" name="Rectangle 2">
            <a:extLst>
              <a:ext uri="{FF2B5EF4-FFF2-40B4-BE49-F238E27FC236}">
                <a16:creationId xmlns:a16="http://schemas.microsoft.com/office/drawing/2014/main" id="{CCB011A5-50D0-4888-BEEE-71389752C81E}"/>
              </a:ext>
            </a:extLst>
          </p:cNvPr>
          <p:cNvSpPr>
            <a:spLocks noGrp="1"/>
          </p:cNvSpPr>
          <p:nvPr/>
        </p:nvSpPr>
        <p:spPr>
          <a:xfrm>
            <a:off x="609600" y="1200150"/>
            <a:ext cx="685800" cy="47625"/>
          </a:xfrm>
          <a:prstGeom prst="rect">
            <a:avLst/>
          </a:prstGeom>
          <a:solidFill>
            <a:srgbClr val="4A8DFF"/>
          </a:solidFill>
          <a:ln w="0">
            <a:noFill/>
          </a:ln>
        </p:spPr>
        <p:txBody>
          <a:bodyPr/>
          <a:p/>
        </p:txBody>
      </p:sp>
      <p:sp>
        <p:nvSpPr>
          <p:cNvPr id="4" name="Rectangle 3">
            <a:extLst>
              <a:ext uri="{FF2B5EF4-FFF2-40B4-BE49-F238E27FC236}">
                <a16:creationId xmlns:a16="http://schemas.microsoft.com/office/drawing/2014/main" id="{0E927D0F-FEA2-44D9-918C-A23D096F39FE}"/>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BFD0E7"/>
                </a:solidFill>
                <a:latin typeface="Arial"/>
                <a:ea typeface="Arial"/>
                <a:cs typeface="Arial"/>
              </a:defRPr>
            </a:pPr>
            <a:r>
              <a:rPr sz="1650">
                <a:solidFill>
                  <a:srgbClr val="BFD0E7"/>
                </a:solidFill>
                <a:latin typeface="Arial"/>
                <a:ea typeface="Arial"/>
                <a:cs typeface="Arial"/>
              </a:rPr>
              <a:t>The browser is the work surface; the NAS is the office system of record.</a:t>
            </a:r>
          </a:p>
        </p:txBody>
      </p:sp>
      <p:sp>
        <p:nvSpPr>
          <p:cNvPr id="5" name="Rectangle: Rounded Corners 4">
            <a:extLst>
              <a:ext uri="{FF2B5EF4-FFF2-40B4-BE49-F238E27FC236}">
                <a16:creationId xmlns:a16="http://schemas.microsoft.com/office/drawing/2014/main" id="{E23033DB-9240-4E4D-B0DA-7548ECB3305B}"/>
              </a:ext>
            </a:extLst>
          </p:cNvPr>
          <p:cNvSpPr>
            <a:spLocks noGrp="1"/>
          </p:cNvSpPr>
          <p:nvPr/>
        </p:nvSpPr>
        <p:spPr>
          <a:xfrm>
            <a:off x="666750" y="2571750"/>
            <a:ext cx="2190750" cy="1428750"/>
          </a:xfrm>
          <a:prstGeom prst="roundRect">
            <a:avLst>
              <a:gd name="adj" fmla="val 5333"/>
            </a:avLst>
          </a:prstGeom>
          <a:solidFill>
            <a:srgbClr val="2F6BDE"/>
          </a:solidFill>
          <a:ln w="0">
            <a:noFill/>
          </a:ln>
        </p:spPr>
        <p:txBody>
          <a:bodyPr/>
          <a:p/>
        </p:txBody>
      </p:sp>
      <p:sp>
        <p:nvSpPr>
          <p:cNvPr id="6" name="Rectangle 5">
            <a:extLst>
              <a:ext uri="{FF2B5EF4-FFF2-40B4-BE49-F238E27FC236}">
                <a16:creationId xmlns:a16="http://schemas.microsoft.com/office/drawing/2014/main" id="{E59FE730-8A66-4DFF-98D6-7D4BE3FD9961}"/>
              </a:ext>
            </a:extLst>
          </p:cNvPr>
          <p:cNvSpPr>
            <a:spLocks noGrp="1"/>
          </p:cNvSpPr>
          <p:nvPr/>
        </p:nvSpPr>
        <p:spPr>
          <a:xfrm>
            <a:off x="838200" y="2895600"/>
            <a:ext cx="1847850" cy="285750"/>
          </a:xfrm>
          <a:prstGeom prst="rect">
            <a:avLst/>
          </a:prstGeom>
          <a:noFill/>
          <a:ln w="0">
            <a:noFill/>
          </a:ln>
        </p:spPr>
        <p:txBody>
          <a:bodyPr lIns="0" tIns="0" rIns="0" bIns="0" anchor="t">
            <a:normAutofit/>
          </a:body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Staff browser</a:t>
            </a:r>
          </a:p>
        </p:txBody>
      </p:sp>
      <p:sp>
        <p:nvSpPr>
          <p:cNvPr id="7" name="Rectangle 6">
            <a:extLst>
              <a:ext uri="{FF2B5EF4-FFF2-40B4-BE49-F238E27FC236}">
                <a16:creationId xmlns:a16="http://schemas.microsoft.com/office/drawing/2014/main" id="{94272462-742D-4905-9F82-475E3DB10C02}"/>
              </a:ext>
            </a:extLst>
          </p:cNvPr>
          <p:cNvSpPr>
            <a:spLocks noGrp="1"/>
          </p:cNvSpPr>
          <p:nvPr/>
        </p:nvSpPr>
        <p:spPr>
          <a:xfrm>
            <a:off x="838200" y="3371850"/>
            <a:ext cx="1847850" cy="266700"/>
          </a:xfrm>
          <a:prstGeom prst="rect">
            <a:avLst/>
          </a:prstGeom>
          <a:noFill/>
          <a:ln w="0">
            <a:noFill/>
          </a:ln>
        </p:spPr>
        <p:txBody>
          <a:bodyPr lIns="0" tIns="0" rIns="0" bIns="0" anchor="t">
            <a:normAutofit/>
          </a:bodyPr>
          <a:lstStyle/>
          <a:p>
            <a:pPr algn="ctr">
              <a:defRPr sz="1200">
                <a:solidFill>
                  <a:srgbClr val="FFFFFF"/>
                </a:solidFill>
                <a:latin typeface="Arial"/>
                <a:ea typeface="Arial"/>
                <a:cs typeface="Arial"/>
              </a:defRPr>
            </a:pPr>
            <a:r>
              <a:rPr sz="1200">
                <a:solidFill>
                  <a:srgbClr val="FFFFFF"/>
                </a:solidFill>
                <a:latin typeface="Arial"/>
                <a:ea typeface="Arial"/>
                <a:cs typeface="Arial"/>
              </a:rPr>
              <a:t>forms • search • viewer</a:t>
            </a:r>
          </a:p>
        </p:txBody>
      </p:sp>
      <p:sp>
        <p:nvSpPr>
          <p:cNvPr id="8" name="Rectangle 7">
            <a:extLst>
              <a:ext uri="{FF2B5EF4-FFF2-40B4-BE49-F238E27FC236}">
                <a16:creationId xmlns:a16="http://schemas.microsoft.com/office/drawing/2014/main" id="{F0DF5149-90AA-4133-9237-0D414E7C8542}"/>
              </a:ext>
            </a:extLst>
          </p:cNvPr>
          <p:cNvSpPr>
            <a:spLocks noGrp="1"/>
          </p:cNvSpPr>
          <p:nvPr/>
        </p:nvSpPr>
        <p:spPr>
          <a:xfrm>
            <a:off x="3000375" y="3048000"/>
            <a:ext cx="514350" cy="400050"/>
          </a:xfrm>
          <a:prstGeom prst="rect">
            <a:avLst/>
          </a:prstGeom>
          <a:noFill/>
          <a:ln w="0">
            <a:noFill/>
          </a:ln>
        </p:spPr>
        <p:txBody>
          <a:bodyPr lIns="0" tIns="0" rIns="0" bIns="0" anchor="t">
            <a:normAutofit fontScale="92105"/>
          </a:bodyPr>
          <a:lstStyle/>
          <a:p>
            <a:pPr algn="ctr">
              <a:defRPr sz="2850" b="1">
                <a:solidFill>
                  <a:srgbClr val="BFD0E7"/>
                </a:solidFill>
                <a:latin typeface="Arial"/>
                <a:ea typeface="Arial"/>
                <a:cs typeface="Arial"/>
              </a:defRPr>
            </a:pPr>
            <a:r>
              <a:rPr sz="2850" b="1">
                <a:solidFill>
                  <a:srgbClr val="BFD0E7"/>
                </a:solidFill>
                <a:latin typeface="Arial"/>
                <a:ea typeface="Arial"/>
                <a:cs typeface="Arial"/>
              </a:rPr>
              <a:t>→</a:t>
            </a:r>
          </a:p>
        </p:txBody>
      </p:sp>
      <p:sp>
        <p:nvSpPr>
          <p:cNvPr id="9" name="Rectangle: Rounded Corners 8">
            <a:extLst>
              <a:ext uri="{FF2B5EF4-FFF2-40B4-BE49-F238E27FC236}">
                <a16:creationId xmlns:a16="http://schemas.microsoft.com/office/drawing/2014/main" id="{9371D6A5-B07B-4FD3-A208-30F6F9CCD2EF}"/>
              </a:ext>
            </a:extLst>
          </p:cNvPr>
          <p:cNvSpPr>
            <a:spLocks noGrp="1"/>
          </p:cNvSpPr>
          <p:nvPr/>
        </p:nvSpPr>
        <p:spPr>
          <a:xfrm>
            <a:off x="3714750" y="2266950"/>
            <a:ext cx="2857500" cy="2047875"/>
          </a:xfrm>
          <a:prstGeom prst="roundRect">
            <a:avLst>
              <a:gd name="adj" fmla="val 3721"/>
            </a:avLst>
          </a:prstGeom>
          <a:solidFill>
            <a:srgbClr val="183657"/>
          </a:solidFill>
          <a:ln w="19050">
            <a:solidFill>
              <a:srgbClr val="2F6BDE"/>
            </a:solidFill>
          </a:ln>
        </p:spPr>
        <p:txBody>
          <a:bodyPr/>
          <a:p/>
        </p:txBody>
      </p:sp>
      <p:sp>
        <p:nvSpPr>
          <p:cNvPr id="10" name="Rectangle 9">
            <a:extLst>
              <a:ext uri="{FF2B5EF4-FFF2-40B4-BE49-F238E27FC236}">
                <a16:creationId xmlns:a16="http://schemas.microsoft.com/office/drawing/2014/main" id="{AD631699-8B5F-4462-A405-7093E9476760}"/>
              </a:ext>
            </a:extLst>
          </p:cNvPr>
          <p:cNvSpPr>
            <a:spLocks noGrp="1"/>
          </p:cNvSpPr>
          <p:nvPr/>
        </p:nvSpPr>
        <p:spPr>
          <a:xfrm>
            <a:off x="4000500" y="2609850"/>
            <a:ext cx="2286000" cy="323850"/>
          </a:xfrm>
          <a:prstGeom prst="rect">
            <a:avLst/>
          </a:prstGeom>
          <a:noFill/>
          <a:ln w="0">
            <a:noFill/>
          </a:ln>
        </p:spPr>
        <p:txBody>
          <a:bodyPr lIns="0" tIns="0" rIns="0" bIns="0" anchor="t">
            <a:normAutofit/>
          </a:bodyPr>
          <a:lstStyle/>
          <a:p>
            <a:pPr algn="ctr">
              <a:defRPr sz="2025" b="1">
                <a:solidFill>
                  <a:srgbClr val="FFFFFF"/>
                </a:solidFill>
                <a:latin typeface="Arial"/>
                <a:ea typeface="Arial"/>
                <a:cs typeface="Arial"/>
              </a:defRPr>
            </a:pPr>
            <a:r>
              <a:rPr sz="2025" b="1">
                <a:solidFill>
                  <a:srgbClr val="FFFFFF"/>
                </a:solidFill>
                <a:latin typeface="Arial"/>
                <a:ea typeface="Arial"/>
                <a:cs typeface="Arial"/>
              </a:rPr>
              <a:t>Synology NAS</a:t>
            </a:r>
          </a:p>
        </p:txBody>
      </p:sp>
      <p:sp>
        <p:nvSpPr>
          <p:cNvPr id="11" name="Rectangle 10">
            <a:extLst>
              <a:ext uri="{FF2B5EF4-FFF2-40B4-BE49-F238E27FC236}">
                <a16:creationId xmlns:a16="http://schemas.microsoft.com/office/drawing/2014/main" id="{28FE95C1-B716-47F4-96F4-BB4227036152}"/>
              </a:ext>
            </a:extLst>
          </p:cNvPr>
          <p:cNvSpPr>
            <a:spLocks noGrp="1"/>
          </p:cNvSpPr>
          <p:nvPr/>
        </p:nvSpPr>
        <p:spPr>
          <a:xfrm>
            <a:off x="4000500" y="3219450"/>
            <a:ext cx="2286000" cy="590550"/>
          </a:xfrm>
          <a:prstGeom prst="rect">
            <a:avLst/>
          </a:prstGeom>
          <a:noFill/>
          <a:ln w="0">
            <a:noFill/>
          </a:ln>
        </p:spPr>
        <p:txBody>
          <a:bodyPr lIns="0" tIns="0" rIns="0" bIns="0" anchor="t">
            <a:normAutofit/>
          </a:bodyPr>
          <a:lstStyle/>
          <a:p>
            <a:pPr algn="ctr">
              <a:defRPr sz="1500">
                <a:solidFill>
                  <a:srgbClr val="BFD0E7"/>
                </a:solidFill>
                <a:latin typeface="Arial"/>
                <a:ea typeface="Arial"/>
                <a:cs typeface="Arial"/>
              </a:defRPr>
            </a:pPr>
            <a:r>
              <a:rPr sz="1500">
                <a:solidFill>
                  <a:srgbClr val="BFD0E7"/>
                </a:solidFill>
                <a:latin typeface="Arial"/>
                <a:ea typeface="Arial"/>
                <a:cs typeface="Arial"/>
              </a:rPr>
              <a:t>Web Station + PHP</a:t>
            </a:r>
          </a:p>
          <a:p>
            <a:pPr algn="ctr">
              <a:defRPr sz="1500">
                <a:solidFill>
                  <a:srgbClr val="BFD0E7"/>
                </a:solidFill>
                <a:latin typeface="Arial"/>
                <a:ea typeface="Arial"/>
                <a:cs typeface="Arial"/>
              </a:defRPr>
            </a:pPr>
            <a:r>
              <a:rPr sz="1500">
                <a:solidFill>
                  <a:srgbClr val="BFD0E7"/>
                </a:solidFill>
                <a:latin typeface="Arial"/>
                <a:ea typeface="Arial"/>
                <a:cs typeface="Arial"/>
              </a:rPr>
              <a:t>scanner service</a:t>
            </a:r>
          </a:p>
        </p:txBody>
      </p:sp>
      <p:sp>
        <p:nvSpPr>
          <p:cNvPr id="12" name="Rectangle 11">
            <a:extLst>
              <a:ext uri="{FF2B5EF4-FFF2-40B4-BE49-F238E27FC236}">
                <a16:creationId xmlns:a16="http://schemas.microsoft.com/office/drawing/2014/main" id="{3D2A19F7-CE71-4D84-9C40-A8C4AE926D01}"/>
              </a:ext>
            </a:extLst>
          </p:cNvPr>
          <p:cNvSpPr>
            <a:spLocks noGrp="1"/>
          </p:cNvSpPr>
          <p:nvPr/>
        </p:nvSpPr>
        <p:spPr>
          <a:xfrm>
            <a:off x="6762750" y="3048000"/>
            <a:ext cx="514350" cy="400050"/>
          </a:xfrm>
          <a:prstGeom prst="rect">
            <a:avLst/>
          </a:prstGeom>
          <a:noFill/>
          <a:ln w="0">
            <a:noFill/>
          </a:ln>
        </p:spPr>
        <p:txBody>
          <a:bodyPr lIns="0" tIns="0" rIns="0" bIns="0" anchor="t">
            <a:normAutofit fontScale="92105"/>
          </a:bodyPr>
          <a:lstStyle/>
          <a:p>
            <a:pPr algn="ctr">
              <a:defRPr sz="2850" b="1">
                <a:solidFill>
                  <a:srgbClr val="17A673"/>
                </a:solidFill>
                <a:latin typeface="Arial"/>
                <a:ea typeface="Arial"/>
                <a:cs typeface="Arial"/>
              </a:defRPr>
            </a:pPr>
            <a:r>
              <a:rPr sz="2850" b="1">
                <a:solidFill>
                  <a:srgbClr val="17A673"/>
                </a:solidFill>
                <a:latin typeface="Arial"/>
                <a:ea typeface="Arial"/>
                <a:cs typeface="Arial"/>
              </a:rPr>
              <a:t>→</a:t>
            </a:r>
          </a:p>
        </p:txBody>
      </p:sp>
      <p:sp>
        <p:nvSpPr>
          <p:cNvPr id="13" name="Rectangle: Rounded Corners 12">
            <a:extLst>
              <a:ext uri="{FF2B5EF4-FFF2-40B4-BE49-F238E27FC236}">
                <a16:creationId xmlns:a16="http://schemas.microsoft.com/office/drawing/2014/main" id="{7EA0CFC2-C33E-48CF-8C7E-9C2155B39C66}"/>
              </a:ext>
            </a:extLst>
          </p:cNvPr>
          <p:cNvSpPr>
            <a:spLocks noGrp="1"/>
          </p:cNvSpPr>
          <p:nvPr/>
        </p:nvSpPr>
        <p:spPr>
          <a:xfrm>
            <a:off x="7524750" y="2571750"/>
            <a:ext cx="1809750" cy="1428750"/>
          </a:xfrm>
          <a:prstGeom prst="roundRect">
            <a:avLst>
              <a:gd name="adj" fmla="val 5333"/>
            </a:avLst>
          </a:prstGeom>
          <a:solidFill>
            <a:srgbClr val="17A673"/>
          </a:solidFill>
          <a:ln w="0">
            <a:noFill/>
          </a:ln>
        </p:spPr>
        <p:txBody>
          <a:bodyPr/>
          <a:p/>
        </p:txBody>
      </p:sp>
      <p:sp>
        <p:nvSpPr>
          <p:cNvPr id="14" name="Rectangle 13">
            <a:extLst>
              <a:ext uri="{FF2B5EF4-FFF2-40B4-BE49-F238E27FC236}">
                <a16:creationId xmlns:a16="http://schemas.microsoft.com/office/drawing/2014/main" id="{09A9A764-5D69-42B0-AB7D-CA493B72F5BB}"/>
              </a:ext>
            </a:extLst>
          </p:cNvPr>
          <p:cNvSpPr>
            <a:spLocks noGrp="1"/>
          </p:cNvSpPr>
          <p:nvPr/>
        </p:nvSpPr>
        <p:spPr>
          <a:xfrm>
            <a:off x="7715250" y="2895600"/>
            <a:ext cx="1428750" cy="285750"/>
          </a:xfrm>
          <a:prstGeom prst="rect">
            <a:avLst/>
          </a:prstGeom>
          <a:noFill/>
          <a:ln w="0">
            <a:noFill/>
          </a:ln>
        </p:spPr>
        <p:txBody>
          <a:bodyPr lIns="0" tIns="0" rIns="0" bIns="0" anchor="t">
            <a:normAutofit/>
          </a:body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MariaDB</a:t>
            </a:r>
          </a:p>
        </p:txBody>
      </p:sp>
      <p:sp>
        <p:nvSpPr>
          <p:cNvPr id="15" name="Rectangle 14">
            <a:extLst>
              <a:ext uri="{FF2B5EF4-FFF2-40B4-BE49-F238E27FC236}">
                <a16:creationId xmlns:a16="http://schemas.microsoft.com/office/drawing/2014/main" id="{2FDCBA23-A620-4CA2-BB28-ACFCE381782C}"/>
              </a:ext>
            </a:extLst>
          </p:cNvPr>
          <p:cNvSpPr>
            <a:spLocks noGrp="1"/>
          </p:cNvSpPr>
          <p:nvPr/>
        </p:nvSpPr>
        <p:spPr>
          <a:xfrm>
            <a:off x="7715250" y="3371850"/>
            <a:ext cx="1428750" cy="266700"/>
          </a:xfrm>
          <a:prstGeom prst="rect">
            <a:avLst/>
          </a:prstGeom>
          <a:noFill/>
          <a:ln w="0">
            <a:noFill/>
          </a:ln>
        </p:spPr>
        <p:txBody>
          <a:bodyPr lIns="0" tIns="0" rIns="0" bIns="0" anchor="t">
            <a:normAutofit/>
          </a:bodyPr>
          <a:lstStyle/>
          <a:p>
            <a:pPr algn="ctr">
              <a:defRPr sz="1275">
                <a:solidFill>
                  <a:srgbClr val="FFFFFF"/>
                </a:solidFill>
                <a:latin typeface="Arial"/>
                <a:ea typeface="Arial"/>
                <a:cs typeface="Arial"/>
              </a:defRPr>
            </a:pPr>
            <a:r>
              <a:rPr sz="1275">
                <a:solidFill>
                  <a:srgbClr val="FFFFFF"/>
                </a:solidFill>
                <a:latin typeface="Arial"/>
                <a:ea typeface="Arial"/>
                <a:cs typeface="Arial"/>
              </a:rPr>
              <a:t>record data</a:t>
            </a:r>
          </a:p>
        </p:txBody>
      </p:sp>
      <p:sp>
        <p:nvSpPr>
          <p:cNvPr id="16" name="Rectangle: Rounded Corners 15">
            <a:extLst>
              <a:ext uri="{FF2B5EF4-FFF2-40B4-BE49-F238E27FC236}">
                <a16:creationId xmlns:a16="http://schemas.microsoft.com/office/drawing/2014/main" id="{6BC78357-D94A-42A1-B9F3-2F7D6570704F}"/>
              </a:ext>
            </a:extLst>
          </p:cNvPr>
          <p:cNvSpPr>
            <a:spLocks noGrp="1"/>
          </p:cNvSpPr>
          <p:nvPr/>
        </p:nvSpPr>
        <p:spPr>
          <a:xfrm>
            <a:off x="9620250" y="2571750"/>
            <a:ext cx="1809750" cy="1428750"/>
          </a:xfrm>
          <a:prstGeom prst="roundRect">
            <a:avLst>
              <a:gd name="adj" fmla="val 5333"/>
            </a:avLst>
          </a:prstGeom>
          <a:solidFill>
            <a:srgbClr val="F6B638"/>
          </a:solidFill>
          <a:ln w="0">
            <a:noFill/>
          </a:ln>
        </p:spPr>
        <p:txBody>
          <a:bodyPr/>
          <a:p/>
        </p:txBody>
      </p:sp>
      <p:sp>
        <p:nvSpPr>
          <p:cNvPr id="17" name="Rectangle 16">
            <a:extLst>
              <a:ext uri="{FF2B5EF4-FFF2-40B4-BE49-F238E27FC236}">
                <a16:creationId xmlns:a16="http://schemas.microsoft.com/office/drawing/2014/main" id="{A331644B-3BB1-4D8F-AA38-C7AB790F3F6C}"/>
              </a:ext>
            </a:extLst>
          </p:cNvPr>
          <p:cNvSpPr>
            <a:spLocks noGrp="1"/>
          </p:cNvSpPr>
          <p:nvPr/>
        </p:nvSpPr>
        <p:spPr>
          <a:xfrm>
            <a:off x="9810750" y="2895600"/>
            <a:ext cx="1428750" cy="285750"/>
          </a:xfrm>
          <a:prstGeom prst="rect">
            <a:avLst/>
          </a:prstGeom>
          <a:noFill/>
          <a:ln w="0">
            <a:noFill/>
          </a:ln>
        </p:spPr>
        <p:txBody>
          <a:bodyPr lIns="0" tIns="0" rIns="0" bIns="0" anchor="t">
            <a:normAutofit/>
          </a:bodyPr>
          <a:lstStyle/>
          <a:p>
            <a:pPr algn="ctr">
              <a:defRPr sz="1800" b="1">
                <a:solidFill>
                  <a:srgbClr val="17263A"/>
                </a:solidFill>
                <a:latin typeface="Arial"/>
                <a:ea typeface="Arial"/>
                <a:cs typeface="Arial"/>
              </a:defRPr>
            </a:pPr>
            <a:r>
              <a:rPr sz="1800" b="1">
                <a:solidFill>
                  <a:srgbClr val="17263A"/>
                </a:solidFill>
                <a:latin typeface="Arial"/>
                <a:ea typeface="Arial"/>
                <a:cs typeface="Arial"/>
              </a:rPr>
              <a:t>PDF archive</a:t>
            </a:r>
          </a:p>
        </p:txBody>
      </p:sp>
      <p:sp>
        <p:nvSpPr>
          <p:cNvPr id="18" name="Rectangle 17">
            <a:extLst>
              <a:ext uri="{FF2B5EF4-FFF2-40B4-BE49-F238E27FC236}">
                <a16:creationId xmlns:a16="http://schemas.microsoft.com/office/drawing/2014/main" id="{9AF27F8B-71E8-46E7-A972-755DB4EC3155}"/>
              </a:ext>
            </a:extLst>
          </p:cNvPr>
          <p:cNvSpPr>
            <a:spLocks noGrp="1"/>
          </p:cNvSpPr>
          <p:nvPr/>
        </p:nvSpPr>
        <p:spPr>
          <a:xfrm>
            <a:off x="9810750" y="3371850"/>
            <a:ext cx="1428750" cy="266700"/>
          </a:xfrm>
          <a:prstGeom prst="rect">
            <a:avLst/>
          </a:prstGeom>
          <a:noFill/>
          <a:ln w="0">
            <a:noFill/>
          </a:ln>
        </p:spPr>
        <p:txBody>
          <a:bodyPr lIns="0" tIns="0" rIns="0" bIns="0" anchor="t">
            <a:normAutofit/>
          </a:bodyPr>
          <a:lstStyle/>
          <a:p>
            <a:pPr algn="ctr">
              <a:defRPr sz="1275">
                <a:solidFill>
                  <a:srgbClr val="17263A"/>
                </a:solidFill>
                <a:latin typeface="Arial"/>
                <a:ea typeface="Arial"/>
                <a:cs typeface="Arial"/>
              </a:defRPr>
            </a:pPr>
            <a:r>
              <a:rPr sz="1275">
                <a:solidFill>
                  <a:srgbClr val="17263A"/>
                </a:solidFill>
                <a:latin typeface="Arial"/>
                <a:ea typeface="Arial"/>
                <a:cs typeface="Arial"/>
              </a:rPr>
              <a:t>uploads + backups</a:t>
            </a:r>
          </a:p>
        </p:txBody>
      </p:sp>
      <p:sp>
        <p:nvSpPr>
          <p:cNvPr id="19" name="Rectangle: Rounded Corners 18">
            <a:extLst>
              <a:ext uri="{FF2B5EF4-FFF2-40B4-BE49-F238E27FC236}">
                <a16:creationId xmlns:a16="http://schemas.microsoft.com/office/drawing/2014/main" id="{C3CF9789-2D09-41C6-861E-183BC4A245D0}"/>
              </a:ext>
            </a:extLst>
          </p:cNvPr>
          <p:cNvSpPr>
            <a:spLocks noGrp="1"/>
          </p:cNvSpPr>
          <p:nvPr/>
        </p:nvSpPr>
        <p:spPr>
          <a:xfrm>
            <a:off x="1809750" y="5000625"/>
            <a:ext cx="8572500" cy="704850"/>
          </a:xfrm>
          <a:prstGeom prst="roundRect">
            <a:avLst>
              <a:gd name="adj" fmla="val 10811"/>
            </a:avLst>
          </a:prstGeom>
          <a:solidFill>
            <a:srgbClr val="183657"/>
          </a:solidFill>
          <a:ln w="9525">
            <a:solidFill>
              <a:srgbClr val="BFD0E7"/>
            </a:solidFill>
          </a:ln>
        </p:spPr>
        <p:txBody>
          <a:bodyPr/>
          <a:p/>
        </p:txBody>
      </p:sp>
      <p:sp>
        <p:nvSpPr>
          <p:cNvPr id="20" name="Rectangle 19">
            <a:extLst>
              <a:ext uri="{FF2B5EF4-FFF2-40B4-BE49-F238E27FC236}">
                <a16:creationId xmlns:a16="http://schemas.microsoft.com/office/drawing/2014/main" id="{A911A616-15F2-40CB-A0A2-37C9F2FF19C5}"/>
              </a:ext>
            </a:extLst>
          </p:cNvPr>
          <p:cNvSpPr>
            <a:spLocks noGrp="1"/>
          </p:cNvSpPr>
          <p:nvPr/>
        </p:nvSpPr>
        <p:spPr>
          <a:xfrm>
            <a:off x="2095500" y="5191125"/>
            <a:ext cx="1047750" cy="238125"/>
          </a:xfrm>
          <a:prstGeom prst="rect">
            <a:avLst/>
          </a:prstGeom>
          <a:noFill/>
          <a:ln w="0">
            <a:noFill/>
          </a:ln>
        </p:spPr>
        <p:txBody>
          <a:bodyPr lIns="0" tIns="0" rIns="0" bIns="0" anchor="t">
            <a:normAutofit/>
          </a:bodyPr>
          <a:lstStyle/>
          <a:p>
            <a:pPr algn="l">
              <a:defRPr sz="1350" b="1">
                <a:solidFill>
                  <a:srgbClr val="8EB7FF"/>
                </a:solidFill>
                <a:latin typeface="Arial"/>
                <a:ea typeface="Arial"/>
                <a:cs typeface="Arial"/>
              </a:defRPr>
            </a:pPr>
            <a:r>
              <a:rPr sz="1350" b="1">
                <a:solidFill>
                  <a:srgbClr val="8EB7FF"/>
                </a:solidFill>
                <a:latin typeface="Arial"/>
                <a:ea typeface="Arial"/>
                <a:cs typeface="Arial"/>
              </a:rPr>
              <a:t>Online</a:t>
            </a:r>
          </a:p>
        </p:txBody>
      </p:sp>
      <p:sp>
        <p:nvSpPr>
          <p:cNvPr id="21" name="Rectangle 20">
            <a:extLst>
              <a:ext uri="{FF2B5EF4-FFF2-40B4-BE49-F238E27FC236}">
                <a16:creationId xmlns:a16="http://schemas.microsoft.com/office/drawing/2014/main" id="{596BC9C5-BA45-46FC-B734-BDEFE3659C39}"/>
              </a:ext>
            </a:extLst>
          </p:cNvPr>
          <p:cNvSpPr>
            <a:spLocks noGrp="1"/>
          </p:cNvSpPr>
          <p:nvPr/>
        </p:nvSpPr>
        <p:spPr>
          <a:xfrm>
            <a:off x="3333750" y="5191125"/>
            <a:ext cx="3143250" cy="238125"/>
          </a:xfrm>
          <a:prstGeom prst="rect">
            <a:avLst/>
          </a:prstGeom>
          <a:noFill/>
          <a:ln w="0">
            <a:noFill/>
          </a:ln>
        </p:spPr>
        <p:txBody>
          <a:bodyPr lIns="0" tIns="0" rIns="0" bIns="0" anchor="t">
            <a:normAutofit/>
          </a:bodyPr>
          <a:lstStyle/>
          <a:p>
            <a:pPr algn="l">
              <a:defRPr sz="1350">
                <a:solidFill>
                  <a:srgbClr val="FFFFFF"/>
                </a:solidFill>
                <a:latin typeface="Arial"/>
                <a:ea typeface="Arial"/>
                <a:cs typeface="Arial"/>
              </a:defRPr>
            </a:pPr>
            <a:r>
              <a:rPr sz="1350">
                <a:solidFill>
                  <a:srgbClr val="FFFFFF"/>
                </a:solidFill>
                <a:latin typeface="Arial"/>
                <a:ea typeface="Arial"/>
                <a:cs typeface="Arial"/>
              </a:rPr>
              <a:t>iscan.cdrms.online</a:t>
            </a:r>
          </a:p>
        </p:txBody>
      </p:sp>
      <p:sp>
        <p:nvSpPr>
          <p:cNvPr id="22" name="Rectangle 21">
            <a:extLst>
              <a:ext uri="{FF2B5EF4-FFF2-40B4-BE49-F238E27FC236}">
                <a16:creationId xmlns:a16="http://schemas.microsoft.com/office/drawing/2014/main" id="{5AD0E351-717C-48D7-94F2-72B94455D2FD}"/>
              </a:ext>
            </a:extLst>
          </p:cNvPr>
          <p:cNvSpPr>
            <a:spLocks noGrp="1"/>
          </p:cNvSpPr>
          <p:nvPr/>
        </p:nvSpPr>
        <p:spPr>
          <a:xfrm>
            <a:off x="6762750" y="5191125"/>
            <a:ext cx="1143000" cy="238125"/>
          </a:xfrm>
          <a:prstGeom prst="rect">
            <a:avLst/>
          </a:prstGeom>
          <a:noFill/>
          <a:ln w="0">
            <a:noFill/>
          </a:ln>
        </p:spPr>
        <p:txBody>
          <a:bodyPr lIns="0" tIns="0" rIns="0" bIns="0" anchor="t">
            <a:normAutofit/>
          </a:bodyPr>
          <a:lstStyle/>
          <a:p>
            <a:pPr algn="l">
              <a:defRPr sz="1350" b="1">
                <a:solidFill>
                  <a:srgbClr val="6DE0B0"/>
                </a:solidFill>
                <a:latin typeface="Arial"/>
                <a:ea typeface="Arial"/>
                <a:cs typeface="Arial"/>
              </a:defRPr>
            </a:pPr>
            <a:r>
              <a:rPr sz="1350" b="1">
                <a:solidFill>
                  <a:srgbClr val="6DE0B0"/>
                </a:solidFill>
                <a:latin typeface="Arial"/>
                <a:ea typeface="Arial"/>
                <a:cs typeface="Arial"/>
              </a:rPr>
              <a:t>Local LAN</a:t>
            </a:r>
          </a:p>
        </p:txBody>
      </p:sp>
      <p:sp>
        <p:nvSpPr>
          <p:cNvPr id="23" name="Rectangle 22">
            <a:extLst>
              <a:ext uri="{FF2B5EF4-FFF2-40B4-BE49-F238E27FC236}">
                <a16:creationId xmlns:a16="http://schemas.microsoft.com/office/drawing/2014/main" id="{37927DCB-00C3-431E-9BD9-9317D43ADADA}"/>
              </a:ext>
            </a:extLst>
          </p:cNvPr>
          <p:cNvSpPr>
            <a:spLocks noGrp="1"/>
          </p:cNvSpPr>
          <p:nvPr/>
        </p:nvSpPr>
        <p:spPr>
          <a:xfrm>
            <a:off x="8096250" y="5191125"/>
            <a:ext cx="2000250" cy="238125"/>
          </a:xfrm>
          <a:prstGeom prst="rect">
            <a:avLst/>
          </a:prstGeom>
          <a:noFill/>
          <a:ln w="0">
            <a:noFill/>
          </a:ln>
        </p:spPr>
        <p:txBody>
          <a:bodyPr lIns="0" tIns="0" rIns="0" bIns="0" anchor="t">
            <a:normAutofit fontScale="98281"/>
          </a:bodyPr>
          <a:lstStyle/>
          <a:p>
            <a:pPr algn="l">
              <a:defRPr sz="1350">
                <a:solidFill>
                  <a:srgbClr val="FFFFFF"/>
                </a:solidFill>
                <a:latin typeface="Arial"/>
                <a:ea typeface="Arial"/>
                <a:cs typeface="Arial"/>
              </a:defRPr>
            </a:pPr>
            <a:r>
              <a:rPr sz="1350">
                <a:solidFill>
                  <a:srgbClr val="FFFFFF"/>
                </a:solidFill>
                <a:latin typeface="Arial"/>
                <a:ea typeface="Arial"/>
                <a:cs typeface="Arial"/>
              </a:rPr>
              <a:t>NAS IP + Web Station port</a:t>
            </a:r>
          </a:p>
        </p:txBody>
      </p:sp>
      <p:sp>
        <p:nvSpPr>
          <p:cNvPr id="24" name="Rectangle 23">
            <a:extLst>
              <a:ext uri="{FF2B5EF4-FFF2-40B4-BE49-F238E27FC236}">
                <a16:creationId xmlns:a16="http://schemas.microsoft.com/office/drawing/2014/main" id="{78BF203B-4C53-48C7-A927-343C4B91AF8B}"/>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5" name="Rectangle 24">
            <a:extLst>
              <a:ext uri="{FF2B5EF4-FFF2-40B4-BE49-F238E27FC236}">
                <a16:creationId xmlns:a16="http://schemas.microsoft.com/office/drawing/2014/main" id="{8B1396E1-A198-467E-95EF-7FC556044589}"/>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06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8839491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533563AE-720F-4B75-8903-3499DE5C09D4}"/>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RECORD LIFECYCLE</a:t>
            </a:r>
          </a:p>
        </p:txBody>
      </p:sp>
      <p:sp>
        <p:nvSpPr>
          <p:cNvPr id="2" name="Rectangle 1">
            <a:extLst>
              <a:ext uri="{FF2B5EF4-FFF2-40B4-BE49-F238E27FC236}">
                <a16:creationId xmlns:a16="http://schemas.microsoft.com/office/drawing/2014/main" id="{6338D70A-E92F-46D6-8690-5A4559ADD569}"/>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The end-to-end record flow</a:t>
            </a:r>
          </a:p>
        </p:txBody>
      </p:sp>
      <p:sp>
        <p:nvSpPr>
          <p:cNvPr id="3" name="Rectangle 2">
            <a:extLst>
              <a:ext uri="{FF2B5EF4-FFF2-40B4-BE49-F238E27FC236}">
                <a16:creationId xmlns:a16="http://schemas.microsoft.com/office/drawing/2014/main" id="{97EFC672-00E0-4444-BFCC-06F198862567}"/>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B20E93A1-19D5-441F-8560-A574CE60539E}"/>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record becomes official only after the correct review and save steps.</a:t>
            </a:r>
          </a:p>
        </p:txBody>
      </p:sp>
      <p:sp>
        <p:nvSpPr>
          <p:cNvPr id="5" name="Rectangle: Rounded Corners 4">
            <a:extLst>
              <a:ext uri="{FF2B5EF4-FFF2-40B4-BE49-F238E27FC236}">
                <a16:creationId xmlns:a16="http://schemas.microsoft.com/office/drawing/2014/main" id="{31969B3C-B525-41F6-A657-448E7DBD44A3}"/>
              </a:ext>
            </a:extLst>
          </p:cNvPr>
          <p:cNvSpPr>
            <a:spLocks noGrp="1"/>
          </p:cNvSpPr>
          <p:nvPr/>
        </p:nvSpPr>
        <p:spPr>
          <a:xfrm>
            <a:off x="523875" y="2476500"/>
            <a:ext cx="1952625" cy="1524000"/>
          </a:xfrm>
          <a:prstGeom prst="roundRect">
            <a:avLst>
              <a:gd name="adj" fmla="val 5000"/>
            </a:avLst>
          </a:prstGeom>
          <a:solidFill>
            <a:srgbClr val="F5F7FB"/>
          </a:solidFill>
          <a:ln w="19050">
            <a:solidFill>
              <a:srgbClr val="2F6BDE"/>
            </a:solidFill>
          </a:ln>
        </p:spPr>
        <p:txBody>
          <a:bodyPr/>
          <a:p/>
        </p:txBody>
      </p:sp>
      <p:sp>
        <p:nvSpPr>
          <p:cNvPr id="6" name="Rectangle: Rounded Corners 5">
            <a:extLst>
              <a:ext uri="{FF2B5EF4-FFF2-40B4-BE49-F238E27FC236}">
                <a16:creationId xmlns:a16="http://schemas.microsoft.com/office/drawing/2014/main" id="{B07A1111-A8FA-4E54-90BB-F66A02582017}"/>
              </a:ext>
            </a:extLst>
          </p:cNvPr>
          <p:cNvSpPr>
            <a:spLocks noGrp="1"/>
          </p:cNvSpPr>
          <p:nvPr/>
        </p:nvSpPr>
        <p:spPr>
          <a:xfrm>
            <a:off x="1209675" y="2667000"/>
            <a:ext cx="571500" cy="438150"/>
          </a:xfrm>
          <a:prstGeom prst="roundRect">
            <a:avLst>
              <a:gd name="adj" fmla="val 17391"/>
            </a:avLst>
          </a:prstGeom>
          <a:solidFill>
            <a:srgbClr val="2F6BDE"/>
          </a:solidFill>
          <a:ln w="0">
            <a:noFill/>
          </a:ln>
        </p:spPr>
        <p:txBody>
          <a:bodyPr/>
          <a:p/>
        </p:txBody>
      </p:sp>
      <p:sp>
        <p:nvSpPr>
          <p:cNvPr id="7" name="Rectangle 6">
            <a:extLst>
              <a:ext uri="{FF2B5EF4-FFF2-40B4-BE49-F238E27FC236}">
                <a16:creationId xmlns:a16="http://schemas.microsoft.com/office/drawing/2014/main" id="{53025BFC-874A-4878-9C45-F9AAE9C91466}"/>
              </a:ext>
            </a:extLst>
          </p:cNvPr>
          <p:cNvSpPr>
            <a:spLocks noGrp="1"/>
          </p:cNvSpPr>
          <p:nvPr/>
        </p:nvSpPr>
        <p:spPr>
          <a:xfrm>
            <a:off x="1209675" y="2667000"/>
            <a:ext cx="571500" cy="4381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1</a:t>
            </a:r>
          </a:p>
        </p:txBody>
      </p:sp>
      <p:sp>
        <p:nvSpPr>
          <p:cNvPr id="8" name="Rectangle 7">
            <a:extLst>
              <a:ext uri="{FF2B5EF4-FFF2-40B4-BE49-F238E27FC236}">
                <a16:creationId xmlns:a16="http://schemas.microsoft.com/office/drawing/2014/main" id="{3E622384-C4E7-4CE1-A462-620E223669AC}"/>
              </a:ext>
            </a:extLst>
          </p:cNvPr>
          <p:cNvSpPr>
            <a:spLocks noGrp="1"/>
          </p:cNvSpPr>
          <p:nvPr/>
        </p:nvSpPr>
        <p:spPr>
          <a:xfrm>
            <a:off x="695325" y="3333750"/>
            <a:ext cx="1619250" cy="26670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Capture</a:t>
            </a:r>
          </a:p>
        </p:txBody>
      </p:sp>
      <p:sp>
        <p:nvSpPr>
          <p:cNvPr id="9" name="Rectangle 8">
            <a:extLst>
              <a:ext uri="{FF2B5EF4-FFF2-40B4-BE49-F238E27FC236}">
                <a16:creationId xmlns:a16="http://schemas.microsoft.com/office/drawing/2014/main" id="{9A4C424D-2846-4560-BCE7-638EA5F93278}"/>
              </a:ext>
            </a:extLst>
          </p:cNvPr>
          <p:cNvSpPr>
            <a:spLocks noGrp="1"/>
          </p:cNvSpPr>
          <p:nvPr/>
        </p:nvSpPr>
        <p:spPr>
          <a:xfrm>
            <a:off x="695325" y="3695700"/>
            <a:ext cx="1619250" cy="238125"/>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Scan or upload</a:t>
            </a:r>
          </a:p>
        </p:txBody>
      </p:sp>
      <p:sp>
        <p:nvSpPr>
          <p:cNvPr id="10" name="Rectangle 9">
            <a:extLst>
              <a:ext uri="{FF2B5EF4-FFF2-40B4-BE49-F238E27FC236}">
                <a16:creationId xmlns:a16="http://schemas.microsoft.com/office/drawing/2014/main" id="{D03E15BA-AA6A-4607-A049-1CBED93146B3}"/>
              </a:ext>
            </a:extLst>
          </p:cNvPr>
          <p:cNvSpPr>
            <a:spLocks noGrp="1"/>
          </p:cNvSpPr>
          <p:nvPr/>
        </p:nvSpPr>
        <p:spPr>
          <a:xfrm>
            <a:off x="2514600" y="3048000"/>
            <a:ext cx="514350" cy="400050"/>
          </a:xfrm>
          <a:prstGeom prst="rect">
            <a:avLst/>
          </a:prstGeom>
          <a:noFill/>
          <a:ln w="0">
            <a:noFill/>
          </a:ln>
        </p:spPr>
        <p:txBody>
          <a:bodyPr lIns="0" tIns="0" rIns="0" bIns="0" anchor="t">
            <a:normAutofit fontScale="92105"/>
          </a:bodyPr>
          <a:lstStyle/>
          <a:p>
            <a:pPr algn="ctr">
              <a:defRPr sz="2850" b="1">
                <a:solidFill>
                  <a:srgbClr val="2F6BDE"/>
                </a:solidFill>
                <a:latin typeface="Arial"/>
                <a:ea typeface="Arial"/>
                <a:cs typeface="Arial"/>
              </a:defRPr>
            </a:pPr>
            <a:r>
              <a:rPr sz="2850" b="1">
                <a:solidFill>
                  <a:srgbClr val="2F6BDE"/>
                </a:solidFill>
                <a:latin typeface="Arial"/>
                <a:ea typeface="Arial"/>
                <a:cs typeface="Arial"/>
              </a:rPr>
              <a:t>→</a:t>
            </a:r>
          </a:p>
        </p:txBody>
      </p:sp>
      <p:sp>
        <p:nvSpPr>
          <p:cNvPr id="11" name="Rectangle: Rounded Corners 10">
            <a:extLst>
              <a:ext uri="{FF2B5EF4-FFF2-40B4-BE49-F238E27FC236}">
                <a16:creationId xmlns:a16="http://schemas.microsoft.com/office/drawing/2014/main" id="{235BB278-5771-4E14-98AC-9DEECB0B6FF8}"/>
              </a:ext>
            </a:extLst>
          </p:cNvPr>
          <p:cNvSpPr>
            <a:spLocks noGrp="1"/>
          </p:cNvSpPr>
          <p:nvPr/>
        </p:nvSpPr>
        <p:spPr>
          <a:xfrm>
            <a:off x="2828925" y="2476500"/>
            <a:ext cx="1952625" cy="1524000"/>
          </a:xfrm>
          <a:prstGeom prst="roundRect">
            <a:avLst>
              <a:gd name="adj" fmla="val 5000"/>
            </a:avLst>
          </a:prstGeom>
          <a:solidFill>
            <a:srgbClr val="F5F7FB"/>
          </a:solidFill>
          <a:ln w="19050">
            <a:solidFill>
              <a:srgbClr val="17A673"/>
            </a:solidFill>
          </a:ln>
        </p:spPr>
        <p:txBody>
          <a:bodyPr/>
          <a:p/>
        </p:txBody>
      </p:sp>
      <p:sp>
        <p:nvSpPr>
          <p:cNvPr id="12" name="Rectangle: Rounded Corners 11">
            <a:extLst>
              <a:ext uri="{FF2B5EF4-FFF2-40B4-BE49-F238E27FC236}">
                <a16:creationId xmlns:a16="http://schemas.microsoft.com/office/drawing/2014/main" id="{963392F1-29FA-45A4-A544-8890E35A70AD}"/>
              </a:ext>
            </a:extLst>
          </p:cNvPr>
          <p:cNvSpPr>
            <a:spLocks noGrp="1"/>
          </p:cNvSpPr>
          <p:nvPr/>
        </p:nvSpPr>
        <p:spPr>
          <a:xfrm>
            <a:off x="3514725" y="2667000"/>
            <a:ext cx="571500" cy="438150"/>
          </a:xfrm>
          <a:prstGeom prst="roundRect">
            <a:avLst>
              <a:gd name="adj" fmla="val 17391"/>
            </a:avLst>
          </a:prstGeom>
          <a:solidFill>
            <a:srgbClr val="17A673"/>
          </a:solidFill>
          <a:ln w="0">
            <a:noFill/>
          </a:ln>
        </p:spPr>
        <p:txBody>
          <a:bodyPr/>
          <a:p/>
        </p:txBody>
      </p:sp>
      <p:sp>
        <p:nvSpPr>
          <p:cNvPr id="13" name="Rectangle 12">
            <a:extLst>
              <a:ext uri="{FF2B5EF4-FFF2-40B4-BE49-F238E27FC236}">
                <a16:creationId xmlns:a16="http://schemas.microsoft.com/office/drawing/2014/main" id="{66566616-0810-4474-9F3C-A6F1E9AA2399}"/>
              </a:ext>
            </a:extLst>
          </p:cNvPr>
          <p:cNvSpPr>
            <a:spLocks noGrp="1"/>
          </p:cNvSpPr>
          <p:nvPr/>
        </p:nvSpPr>
        <p:spPr>
          <a:xfrm>
            <a:off x="3514725" y="2667000"/>
            <a:ext cx="571500" cy="4381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2</a:t>
            </a:r>
          </a:p>
        </p:txBody>
      </p:sp>
      <p:sp>
        <p:nvSpPr>
          <p:cNvPr id="14" name="Rectangle 13">
            <a:extLst>
              <a:ext uri="{FF2B5EF4-FFF2-40B4-BE49-F238E27FC236}">
                <a16:creationId xmlns:a16="http://schemas.microsoft.com/office/drawing/2014/main" id="{A087962C-0B3D-40E9-837F-E69A6DC0BB73}"/>
              </a:ext>
            </a:extLst>
          </p:cNvPr>
          <p:cNvSpPr>
            <a:spLocks noGrp="1"/>
          </p:cNvSpPr>
          <p:nvPr/>
        </p:nvSpPr>
        <p:spPr>
          <a:xfrm>
            <a:off x="3000375" y="3333750"/>
            <a:ext cx="1619250" cy="26670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Encode</a:t>
            </a:r>
          </a:p>
        </p:txBody>
      </p:sp>
      <p:sp>
        <p:nvSpPr>
          <p:cNvPr id="15" name="Rectangle 14">
            <a:extLst>
              <a:ext uri="{FF2B5EF4-FFF2-40B4-BE49-F238E27FC236}">
                <a16:creationId xmlns:a16="http://schemas.microsoft.com/office/drawing/2014/main" id="{3CC242A7-3329-4CDD-A038-269CF4BF5D2C}"/>
              </a:ext>
            </a:extLst>
          </p:cNvPr>
          <p:cNvSpPr>
            <a:spLocks noGrp="1"/>
          </p:cNvSpPr>
          <p:nvPr/>
        </p:nvSpPr>
        <p:spPr>
          <a:xfrm>
            <a:off x="3000375" y="3695700"/>
            <a:ext cx="1619250" cy="238125"/>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Enter record data</a:t>
            </a:r>
          </a:p>
        </p:txBody>
      </p:sp>
      <p:sp>
        <p:nvSpPr>
          <p:cNvPr id="16" name="Rectangle 15">
            <a:extLst>
              <a:ext uri="{FF2B5EF4-FFF2-40B4-BE49-F238E27FC236}">
                <a16:creationId xmlns:a16="http://schemas.microsoft.com/office/drawing/2014/main" id="{001E3875-A2E0-43B6-9A38-AD7EACF5F5C5}"/>
              </a:ext>
            </a:extLst>
          </p:cNvPr>
          <p:cNvSpPr>
            <a:spLocks noGrp="1"/>
          </p:cNvSpPr>
          <p:nvPr/>
        </p:nvSpPr>
        <p:spPr>
          <a:xfrm>
            <a:off x="4819650" y="3048000"/>
            <a:ext cx="514350" cy="400050"/>
          </a:xfrm>
          <a:prstGeom prst="rect">
            <a:avLst/>
          </a:prstGeom>
          <a:noFill/>
          <a:ln w="0">
            <a:noFill/>
          </a:ln>
        </p:spPr>
        <p:txBody>
          <a:bodyPr lIns="0" tIns="0" rIns="0" bIns="0" anchor="t">
            <a:normAutofit fontScale="92105"/>
          </a:bodyPr>
          <a:lstStyle/>
          <a:p>
            <a:pPr algn="ctr">
              <a:defRPr sz="2850" b="1">
                <a:solidFill>
                  <a:srgbClr val="17A673"/>
                </a:solidFill>
                <a:latin typeface="Arial"/>
                <a:ea typeface="Arial"/>
                <a:cs typeface="Arial"/>
              </a:defRPr>
            </a:pPr>
            <a:r>
              <a:rPr sz="2850" b="1">
                <a:solidFill>
                  <a:srgbClr val="17A673"/>
                </a:solidFill>
                <a:latin typeface="Arial"/>
                <a:ea typeface="Arial"/>
                <a:cs typeface="Arial"/>
              </a:rPr>
              <a:t>→</a:t>
            </a:r>
          </a:p>
        </p:txBody>
      </p:sp>
      <p:sp>
        <p:nvSpPr>
          <p:cNvPr id="17" name="Rectangle: Rounded Corners 16">
            <a:extLst>
              <a:ext uri="{FF2B5EF4-FFF2-40B4-BE49-F238E27FC236}">
                <a16:creationId xmlns:a16="http://schemas.microsoft.com/office/drawing/2014/main" id="{794507E3-75A8-4E88-9FCD-A632AF2973A0}"/>
              </a:ext>
            </a:extLst>
          </p:cNvPr>
          <p:cNvSpPr>
            <a:spLocks noGrp="1"/>
          </p:cNvSpPr>
          <p:nvPr/>
        </p:nvSpPr>
        <p:spPr>
          <a:xfrm>
            <a:off x="5133975" y="2476500"/>
            <a:ext cx="1952625" cy="1524000"/>
          </a:xfrm>
          <a:prstGeom prst="roundRect">
            <a:avLst>
              <a:gd name="adj" fmla="val 5000"/>
            </a:avLst>
          </a:prstGeom>
          <a:solidFill>
            <a:srgbClr val="F5F7FB"/>
          </a:solidFill>
          <a:ln w="19050">
            <a:solidFill>
              <a:srgbClr val="F6B638"/>
            </a:solidFill>
          </a:ln>
        </p:spPr>
        <p:txBody>
          <a:bodyPr/>
          <a:p/>
        </p:txBody>
      </p:sp>
      <p:sp>
        <p:nvSpPr>
          <p:cNvPr id="18" name="Rectangle: Rounded Corners 17">
            <a:extLst>
              <a:ext uri="{FF2B5EF4-FFF2-40B4-BE49-F238E27FC236}">
                <a16:creationId xmlns:a16="http://schemas.microsoft.com/office/drawing/2014/main" id="{EBAE537C-65FE-4328-A34D-523947D54320}"/>
              </a:ext>
            </a:extLst>
          </p:cNvPr>
          <p:cNvSpPr>
            <a:spLocks noGrp="1"/>
          </p:cNvSpPr>
          <p:nvPr/>
        </p:nvSpPr>
        <p:spPr>
          <a:xfrm>
            <a:off x="5819775" y="2667000"/>
            <a:ext cx="571500" cy="438150"/>
          </a:xfrm>
          <a:prstGeom prst="roundRect">
            <a:avLst>
              <a:gd name="adj" fmla="val 17391"/>
            </a:avLst>
          </a:prstGeom>
          <a:solidFill>
            <a:srgbClr val="F6B638"/>
          </a:solidFill>
          <a:ln w="0">
            <a:noFill/>
          </a:ln>
        </p:spPr>
        <p:txBody>
          <a:bodyPr/>
          <a:p/>
        </p:txBody>
      </p:sp>
      <p:sp>
        <p:nvSpPr>
          <p:cNvPr id="19" name="Rectangle 18">
            <a:extLst>
              <a:ext uri="{FF2B5EF4-FFF2-40B4-BE49-F238E27FC236}">
                <a16:creationId xmlns:a16="http://schemas.microsoft.com/office/drawing/2014/main" id="{893A800A-F7A3-47DA-B6FA-F3567F0E6B3E}"/>
              </a:ext>
            </a:extLst>
          </p:cNvPr>
          <p:cNvSpPr>
            <a:spLocks noGrp="1"/>
          </p:cNvSpPr>
          <p:nvPr/>
        </p:nvSpPr>
        <p:spPr>
          <a:xfrm>
            <a:off x="5819775" y="2667000"/>
            <a:ext cx="571500" cy="4381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3</a:t>
            </a:r>
          </a:p>
        </p:txBody>
      </p:sp>
      <p:sp>
        <p:nvSpPr>
          <p:cNvPr id="20" name="Rectangle 19">
            <a:extLst>
              <a:ext uri="{FF2B5EF4-FFF2-40B4-BE49-F238E27FC236}">
                <a16:creationId xmlns:a16="http://schemas.microsoft.com/office/drawing/2014/main" id="{571E4676-13E7-4F1C-B5ED-E2D4A199AC1E}"/>
              </a:ext>
            </a:extLst>
          </p:cNvPr>
          <p:cNvSpPr>
            <a:spLocks noGrp="1"/>
          </p:cNvSpPr>
          <p:nvPr/>
        </p:nvSpPr>
        <p:spPr>
          <a:xfrm>
            <a:off x="5305425" y="3333750"/>
            <a:ext cx="1619250" cy="26670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Review</a:t>
            </a:r>
          </a:p>
        </p:txBody>
      </p:sp>
      <p:sp>
        <p:nvSpPr>
          <p:cNvPr id="21" name="Rectangle 20">
            <a:extLst>
              <a:ext uri="{FF2B5EF4-FFF2-40B4-BE49-F238E27FC236}">
                <a16:creationId xmlns:a16="http://schemas.microsoft.com/office/drawing/2014/main" id="{0DC0CBF9-5D23-49F7-98FB-D34373F1054F}"/>
              </a:ext>
            </a:extLst>
          </p:cNvPr>
          <p:cNvSpPr>
            <a:spLocks noGrp="1"/>
          </p:cNvSpPr>
          <p:nvPr/>
        </p:nvSpPr>
        <p:spPr>
          <a:xfrm>
            <a:off x="5305425" y="3695700"/>
            <a:ext cx="1619250" cy="238125"/>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Compare PDF and fields</a:t>
            </a:r>
          </a:p>
        </p:txBody>
      </p:sp>
      <p:sp>
        <p:nvSpPr>
          <p:cNvPr id="22" name="Rectangle 21">
            <a:extLst>
              <a:ext uri="{FF2B5EF4-FFF2-40B4-BE49-F238E27FC236}">
                <a16:creationId xmlns:a16="http://schemas.microsoft.com/office/drawing/2014/main" id="{5C2320A2-9C15-4E5E-95C8-5647A77E9531}"/>
              </a:ext>
            </a:extLst>
          </p:cNvPr>
          <p:cNvSpPr>
            <a:spLocks noGrp="1"/>
          </p:cNvSpPr>
          <p:nvPr/>
        </p:nvSpPr>
        <p:spPr>
          <a:xfrm>
            <a:off x="7124700" y="3048000"/>
            <a:ext cx="514350" cy="400050"/>
          </a:xfrm>
          <a:prstGeom prst="rect">
            <a:avLst/>
          </a:prstGeom>
          <a:noFill/>
          <a:ln w="0">
            <a:noFill/>
          </a:ln>
        </p:spPr>
        <p:txBody>
          <a:bodyPr lIns="0" tIns="0" rIns="0" bIns="0" anchor="t">
            <a:normAutofit fontScale="92105"/>
          </a:bodyPr>
          <a:lstStyle/>
          <a:p>
            <a:pPr algn="ctr">
              <a:defRPr sz="2850" b="1">
                <a:solidFill>
                  <a:srgbClr val="F6B638"/>
                </a:solidFill>
                <a:latin typeface="Arial"/>
                <a:ea typeface="Arial"/>
                <a:cs typeface="Arial"/>
              </a:defRPr>
            </a:pPr>
            <a:r>
              <a:rPr sz="2850" b="1">
                <a:solidFill>
                  <a:srgbClr val="F6B638"/>
                </a:solidFill>
                <a:latin typeface="Arial"/>
                <a:ea typeface="Arial"/>
                <a:cs typeface="Arial"/>
              </a:rPr>
              <a:t>→</a:t>
            </a:r>
          </a:p>
        </p:txBody>
      </p:sp>
      <p:sp>
        <p:nvSpPr>
          <p:cNvPr id="23" name="Rectangle: Rounded Corners 22">
            <a:extLst>
              <a:ext uri="{FF2B5EF4-FFF2-40B4-BE49-F238E27FC236}">
                <a16:creationId xmlns:a16="http://schemas.microsoft.com/office/drawing/2014/main" id="{663CD7C3-F839-46B0-A567-1EFC02484BB0}"/>
              </a:ext>
            </a:extLst>
          </p:cNvPr>
          <p:cNvSpPr>
            <a:spLocks noGrp="1"/>
          </p:cNvSpPr>
          <p:nvPr/>
        </p:nvSpPr>
        <p:spPr>
          <a:xfrm>
            <a:off x="7439025" y="2476500"/>
            <a:ext cx="1952625" cy="1524000"/>
          </a:xfrm>
          <a:prstGeom prst="roundRect">
            <a:avLst>
              <a:gd name="adj" fmla="val 5000"/>
            </a:avLst>
          </a:prstGeom>
          <a:solidFill>
            <a:srgbClr val="F5F7FB"/>
          </a:solidFill>
          <a:ln w="19050">
            <a:solidFill>
              <a:srgbClr val="7B61D1"/>
            </a:solidFill>
          </a:ln>
        </p:spPr>
        <p:txBody>
          <a:bodyPr/>
          <a:p/>
        </p:txBody>
      </p:sp>
      <p:sp>
        <p:nvSpPr>
          <p:cNvPr id="24" name="Rectangle: Rounded Corners 23">
            <a:extLst>
              <a:ext uri="{FF2B5EF4-FFF2-40B4-BE49-F238E27FC236}">
                <a16:creationId xmlns:a16="http://schemas.microsoft.com/office/drawing/2014/main" id="{BB7DB321-E3E0-4728-8297-FF722A2CDE11}"/>
              </a:ext>
            </a:extLst>
          </p:cNvPr>
          <p:cNvSpPr>
            <a:spLocks noGrp="1"/>
          </p:cNvSpPr>
          <p:nvPr/>
        </p:nvSpPr>
        <p:spPr>
          <a:xfrm>
            <a:off x="8124825" y="2667000"/>
            <a:ext cx="571500" cy="438150"/>
          </a:xfrm>
          <a:prstGeom prst="roundRect">
            <a:avLst>
              <a:gd name="adj" fmla="val 17391"/>
            </a:avLst>
          </a:prstGeom>
          <a:solidFill>
            <a:srgbClr val="7B61D1"/>
          </a:solidFill>
          <a:ln w="0">
            <a:noFill/>
          </a:ln>
        </p:spPr>
        <p:txBody>
          <a:bodyPr/>
          <a:p/>
        </p:txBody>
      </p:sp>
      <p:sp>
        <p:nvSpPr>
          <p:cNvPr id="25" name="Rectangle 24">
            <a:extLst>
              <a:ext uri="{FF2B5EF4-FFF2-40B4-BE49-F238E27FC236}">
                <a16:creationId xmlns:a16="http://schemas.microsoft.com/office/drawing/2014/main" id="{7D9D7523-5325-4C8B-9D45-FECB3600ABE9}"/>
              </a:ext>
            </a:extLst>
          </p:cNvPr>
          <p:cNvSpPr>
            <a:spLocks noGrp="1"/>
          </p:cNvSpPr>
          <p:nvPr/>
        </p:nvSpPr>
        <p:spPr>
          <a:xfrm>
            <a:off x="8124825" y="2667000"/>
            <a:ext cx="571500" cy="4381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4</a:t>
            </a:r>
          </a:p>
        </p:txBody>
      </p:sp>
      <p:sp>
        <p:nvSpPr>
          <p:cNvPr id="26" name="Rectangle 25">
            <a:extLst>
              <a:ext uri="{FF2B5EF4-FFF2-40B4-BE49-F238E27FC236}">
                <a16:creationId xmlns:a16="http://schemas.microsoft.com/office/drawing/2014/main" id="{FDC1D221-2880-4567-8D2E-C6EFDBB2ADF1}"/>
              </a:ext>
            </a:extLst>
          </p:cNvPr>
          <p:cNvSpPr>
            <a:spLocks noGrp="1"/>
          </p:cNvSpPr>
          <p:nvPr/>
        </p:nvSpPr>
        <p:spPr>
          <a:xfrm>
            <a:off x="7610475" y="3333750"/>
            <a:ext cx="1619250" cy="26670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Approve</a:t>
            </a:r>
          </a:p>
        </p:txBody>
      </p:sp>
      <p:sp>
        <p:nvSpPr>
          <p:cNvPr id="27" name="Rectangle 26">
            <a:extLst>
              <a:ext uri="{FF2B5EF4-FFF2-40B4-BE49-F238E27FC236}">
                <a16:creationId xmlns:a16="http://schemas.microsoft.com/office/drawing/2014/main" id="{F85D78BE-A58B-4241-8ADB-CA55017B2A64}"/>
              </a:ext>
            </a:extLst>
          </p:cNvPr>
          <p:cNvSpPr>
            <a:spLocks noGrp="1"/>
          </p:cNvSpPr>
          <p:nvPr/>
        </p:nvSpPr>
        <p:spPr>
          <a:xfrm>
            <a:off x="7610475" y="3695700"/>
            <a:ext cx="1619250" cy="238125"/>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Role-based transition</a:t>
            </a:r>
          </a:p>
        </p:txBody>
      </p:sp>
      <p:sp>
        <p:nvSpPr>
          <p:cNvPr id="28" name="Rectangle 27">
            <a:extLst>
              <a:ext uri="{FF2B5EF4-FFF2-40B4-BE49-F238E27FC236}">
                <a16:creationId xmlns:a16="http://schemas.microsoft.com/office/drawing/2014/main" id="{D1AF3E65-E319-45D5-89D3-3ECAFDAE93F0}"/>
              </a:ext>
            </a:extLst>
          </p:cNvPr>
          <p:cNvSpPr>
            <a:spLocks noGrp="1"/>
          </p:cNvSpPr>
          <p:nvPr/>
        </p:nvSpPr>
        <p:spPr>
          <a:xfrm>
            <a:off x="9429750" y="3048000"/>
            <a:ext cx="514350" cy="400050"/>
          </a:xfrm>
          <a:prstGeom prst="rect">
            <a:avLst/>
          </a:prstGeom>
          <a:noFill/>
          <a:ln w="0">
            <a:noFill/>
          </a:ln>
        </p:spPr>
        <p:txBody>
          <a:bodyPr lIns="0" tIns="0" rIns="0" bIns="0" anchor="t">
            <a:normAutofit fontScale="92105"/>
          </a:bodyPr>
          <a:lstStyle/>
          <a:p>
            <a:pPr algn="ctr">
              <a:defRPr sz="2850" b="1">
                <a:solidFill>
                  <a:srgbClr val="7B61D1"/>
                </a:solidFill>
                <a:latin typeface="Arial"/>
                <a:ea typeface="Arial"/>
                <a:cs typeface="Arial"/>
              </a:defRPr>
            </a:pPr>
            <a:r>
              <a:rPr sz="2850" b="1">
                <a:solidFill>
                  <a:srgbClr val="7B61D1"/>
                </a:solidFill>
                <a:latin typeface="Arial"/>
                <a:ea typeface="Arial"/>
                <a:cs typeface="Arial"/>
              </a:rPr>
              <a:t>→</a:t>
            </a:r>
          </a:p>
        </p:txBody>
      </p:sp>
      <p:sp>
        <p:nvSpPr>
          <p:cNvPr id="29" name="Rectangle: Rounded Corners 28">
            <a:extLst>
              <a:ext uri="{FF2B5EF4-FFF2-40B4-BE49-F238E27FC236}">
                <a16:creationId xmlns:a16="http://schemas.microsoft.com/office/drawing/2014/main" id="{B3DA57C2-E230-4D29-AF8B-3DF4F23B1515}"/>
              </a:ext>
            </a:extLst>
          </p:cNvPr>
          <p:cNvSpPr>
            <a:spLocks noGrp="1"/>
          </p:cNvSpPr>
          <p:nvPr/>
        </p:nvSpPr>
        <p:spPr>
          <a:xfrm>
            <a:off x="9744075" y="2476500"/>
            <a:ext cx="1952625" cy="1524000"/>
          </a:xfrm>
          <a:prstGeom prst="roundRect">
            <a:avLst>
              <a:gd name="adj" fmla="val 5000"/>
            </a:avLst>
          </a:prstGeom>
          <a:solidFill>
            <a:srgbClr val="F5F7FB"/>
          </a:solidFill>
          <a:ln w="19050">
            <a:solidFill>
              <a:srgbClr val="DD5577"/>
            </a:solidFill>
          </a:ln>
        </p:spPr>
        <p:txBody>
          <a:bodyPr/>
          <a:p/>
        </p:txBody>
      </p:sp>
      <p:sp>
        <p:nvSpPr>
          <p:cNvPr id="30" name="Rectangle: Rounded Corners 29">
            <a:extLst>
              <a:ext uri="{FF2B5EF4-FFF2-40B4-BE49-F238E27FC236}">
                <a16:creationId xmlns:a16="http://schemas.microsoft.com/office/drawing/2014/main" id="{B42252BF-09F2-43D1-A925-12D5E0621886}"/>
              </a:ext>
            </a:extLst>
          </p:cNvPr>
          <p:cNvSpPr>
            <a:spLocks noGrp="1"/>
          </p:cNvSpPr>
          <p:nvPr/>
        </p:nvSpPr>
        <p:spPr>
          <a:xfrm>
            <a:off x="10429875" y="2667000"/>
            <a:ext cx="571500" cy="438150"/>
          </a:xfrm>
          <a:prstGeom prst="roundRect">
            <a:avLst>
              <a:gd name="adj" fmla="val 17391"/>
            </a:avLst>
          </a:prstGeom>
          <a:solidFill>
            <a:srgbClr val="DD5577"/>
          </a:solidFill>
          <a:ln w="0">
            <a:noFill/>
          </a:ln>
        </p:spPr>
        <p:txBody>
          <a:bodyPr/>
          <a:p/>
        </p:txBody>
      </p:sp>
      <p:sp>
        <p:nvSpPr>
          <p:cNvPr id="31" name="Rectangle 30">
            <a:extLst>
              <a:ext uri="{FF2B5EF4-FFF2-40B4-BE49-F238E27FC236}">
                <a16:creationId xmlns:a16="http://schemas.microsoft.com/office/drawing/2014/main" id="{7C9B938E-1E8F-4229-870B-07B4F379EEE1}"/>
              </a:ext>
            </a:extLst>
          </p:cNvPr>
          <p:cNvSpPr>
            <a:spLocks noGrp="1"/>
          </p:cNvSpPr>
          <p:nvPr/>
        </p:nvSpPr>
        <p:spPr>
          <a:xfrm>
            <a:off x="10429875" y="2667000"/>
            <a:ext cx="571500" cy="4381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5</a:t>
            </a:r>
          </a:p>
        </p:txBody>
      </p:sp>
      <p:sp>
        <p:nvSpPr>
          <p:cNvPr id="32" name="Rectangle 31">
            <a:extLst>
              <a:ext uri="{FF2B5EF4-FFF2-40B4-BE49-F238E27FC236}">
                <a16:creationId xmlns:a16="http://schemas.microsoft.com/office/drawing/2014/main" id="{69C31BBA-C315-48B3-B1D6-E41864F01F9F}"/>
              </a:ext>
            </a:extLst>
          </p:cNvPr>
          <p:cNvSpPr>
            <a:spLocks noGrp="1"/>
          </p:cNvSpPr>
          <p:nvPr/>
        </p:nvSpPr>
        <p:spPr>
          <a:xfrm>
            <a:off x="9915525" y="3333750"/>
            <a:ext cx="1619250" cy="26670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Archive</a:t>
            </a:r>
          </a:p>
        </p:txBody>
      </p:sp>
      <p:sp>
        <p:nvSpPr>
          <p:cNvPr id="33" name="Rectangle 32">
            <a:extLst>
              <a:ext uri="{FF2B5EF4-FFF2-40B4-BE49-F238E27FC236}">
                <a16:creationId xmlns:a16="http://schemas.microsoft.com/office/drawing/2014/main" id="{F90CF353-D2F7-44F3-98A2-1BC181BBF9DC}"/>
              </a:ext>
            </a:extLst>
          </p:cNvPr>
          <p:cNvSpPr>
            <a:spLocks noGrp="1"/>
          </p:cNvSpPr>
          <p:nvPr/>
        </p:nvSpPr>
        <p:spPr>
          <a:xfrm>
            <a:off x="9915525" y="3695700"/>
            <a:ext cx="1619250" cy="238125"/>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Searchable record</a:t>
            </a:r>
          </a:p>
        </p:txBody>
      </p:sp>
      <p:sp>
        <p:nvSpPr>
          <p:cNvPr id="34" name="Rectangle: Rounded Corners 33">
            <a:extLst>
              <a:ext uri="{FF2B5EF4-FFF2-40B4-BE49-F238E27FC236}">
                <a16:creationId xmlns:a16="http://schemas.microsoft.com/office/drawing/2014/main" id="{EEAF2563-73A2-4E7E-BB97-1D584AFE64DA}"/>
              </a:ext>
            </a:extLst>
          </p:cNvPr>
          <p:cNvSpPr>
            <a:spLocks noGrp="1"/>
          </p:cNvSpPr>
          <p:nvPr/>
        </p:nvSpPr>
        <p:spPr>
          <a:xfrm>
            <a:off x="1714500" y="4762500"/>
            <a:ext cx="8763000" cy="714375"/>
          </a:xfrm>
          <a:prstGeom prst="roundRect">
            <a:avLst>
              <a:gd name="adj" fmla="val 10667"/>
            </a:avLst>
          </a:prstGeom>
          <a:solidFill>
            <a:srgbClr val="EAF2FF"/>
          </a:solidFill>
          <a:ln w="0">
            <a:noFill/>
          </a:ln>
        </p:spPr>
        <p:txBody>
          <a:bodyPr/>
          <a:p/>
        </p:txBody>
      </p:sp>
      <p:sp>
        <p:nvSpPr>
          <p:cNvPr id="35" name="Rectangle 34">
            <a:extLst>
              <a:ext uri="{FF2B5EF4-FFF2-40B4-BE49-F238E27FC236}">
                <a16:creationId xmlns:a16="http://schemas.microsoft.com/office/drawing/2014/main" id="{98789F66-570C-4987-B1E1-403496F8272E}"/>
              </a:ext>
            </a:extLst>
          </p:cNvPr>
          <p:cNvSpPr>
            <a:spLocks noGrp="1"/>
          </p:cNvSpPr>
          <p:nvPr/>
        </p:nvSpPr>
        <p:spPr>
          <a:xfrm>
            <a:off x="1952625" y="4981575"/>
            <a:ext cx="8286750" cy="28575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Draft  →  Pending Review  →  Verified  →  Approved  →  Archived</a:t>
            </a:r>
          </a:p>
        </p:txBody>
      </p:sp>
      <p:sp>
        <p:nvSpPr>
          <p:cNvPr id="36" name="Rectangle 35">
            <a:extLst>
              <a:ext uri="{FF2B5EF4-FFF2-40B4-BE49-F238E27FC236}">
                <a16:creationId xmlns:a16="http://schemas.microsoft.com/office/drawing/2014/main" id="{8FB219C2-75C9-4EB7-A131-06930B5A338C}"/>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37" name="Rectangle 36">
            <a:extLst>
              <a:ext uri="{FF2B5EF4-FFF2-40B4-BE49-F238E27FC236}">
                <a16:creationId xmlns:a16="http://schemas.microsoft.com/office/drawing/2014/main" id="{C0345DAF-0417-41E9-BF8C-06FADE55DDFF}"/>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07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83491765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E1BFE6A1-5997-448D-902D-5A4D68CBA255}"/>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STEP 1</a:t>
            </a:r>
          </a:p>
        </p:txBody>
      </p:sp>
      <p:sp>
        <p:nvSpPr>
          <p:cNvPr id="2" name="Rectangle 1">
            <a:extLst>
              <a:ext uri="{FF2B5EF4-FFF2-40B4-BE49-F238E27FC236}">
                <a16:creationId xmlns:a16="http://schemas.microsoft.com/office/drawing/2014/main" id="{93A1640E-1994-43C3-AC19-BD065BD099C5}"/>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Capture: scan, upload, and OCR</a:t>
            </a:r>
          </a:p>
        </p:txBody>
      </p:sp>
      <p:sp>
        <p:nvSpPr>
          <p:cNvPr id="3" name="Rectangle 2">
            <a:extLst>
              <a:ext uri="{FF2B5EF4-FFF2-40B4-BE49-F238E27FC236}">
                <a16:creationId xmlns:a16="http://schemas.microsoft.com/office/drawing/2014/main" id="{F8DD440C-88F0-4B84-AB3B-4B527FA9001F}"/>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60A1D7F8-D63C-41E6-A640-15AA822D7CE9}"/>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Paper certificates enter through the Epson DS-530 II or a browser PDF upload.</a:t>
            </a:r>
          </a:p>
        </p:txBody>
      </p:sp>
      <p:pic>
        <p:nvPicPr>
          <p:cNvPr id="24" name="Picture 23"/>
          <p:cNvPicPr>
            <a:picLocks noChangeAspect="1"/>
          </p:cNvPicPr>
          <p:nvPr/>
        </p:nvPicPr>
        <p:blipFill>
          <a:blip r:embed="rId3"/>
          <a:stretch/>
        </p:blipFill>
        <p:spPr>
          <a:xfrm>
            <a:off x="609600" y="2303033"/>
            <a:ext cx="5524500" cy="3109183"/>
          </a:xfrm>
          <a:prstGeom prst="roundRect">
            <a:avLst>
              <a:gd name="adj" fmla="val 6667"/>
            </a:avLst>
          </a:prstGeom>
        </p:spPr>
      </p:pic>
      <p:sp>
        <p:nvSpPr>
          <p:cNvPr id="6" name="Rectangle: Rounded Corners 5">
            <a:extLst>
              <a:ext uri="{FF2B5EF4-FFF2-40B4-BE49-F238E27FC236}">
                <a16:creationId xmlns:a16="http://schemas.microsoft.com/office/drawing/2014/main" id="{42622F22-ACF9-4A8D-A86E-673D93CEB36F}"/>
              </a:ext>
            </a:extLst>
          </p:cNvPr>
          <p:cNvSpPr>
            <a:spLocks noGrp="1"/>
          </p:cNvSpPr>
          <p:nvPr/>
        </p:nvSpPr>
        <p:spPr>
          <a:xfrm>
            <a:off x="6762750" y="2381250"/>
            <a:ext cx="4476750" cy="2857500"/>
          </a:xfrm>
          <a:prstGeom prst="roundRect">
            <a:avLst>
              <a:gd name="adj" fmla="val 2667"/>
            </a:avLst>
          </a:prstGeom>
          <a:solidFill>
            <a:srgbClr val="FFFFFF"/>
          </a:solidFill>
          <a:ln w="14288">
            <a:solidFill>
              <a:srgbClr val="D8E1ED"/>
            </a:solidFill>
          </a:ln>
        </p:spPr>
        <p:txBody>
          <a:bodyPr/>
          <a:p/>
        </p:txBody>
      </p:sp>
      <p:sp>
        <p:nvSpPr>
          <p:cNvPr id="7" name="Rectangle: Rounded Corners 6">
            <a:extLst>
              <a:ext uri="{FF2B5EF4-FFF2-40B4-BE49-F238E27FC236}">
                <a16:creationId xmlns:a16="http://schemas.microsoft.com/office/drawing/2014/main" id="{0133F7B9-F6D9-4687-8C9C-6094E9F8B0BB}"/>
              </a:ext>
            </a:extLst>
          </p:cNvPr>
          <p:cNvSpPr>
            <a:spLocks noGrp="1"/>
          </p:cNvSpPr>
          <p:nvPr/>
        </p:nvSpPr>
        <p:spPr>
          <a:xfrm>
            <a:off x="7067550" y="2714625"/>
            <a:ext cx="419100" cy="361950"/>
          </a:xfrm>
          <a:prstGeom prst="roundRect">
            <a:avLst>
              <a:gd name="adj" fmla="val 21053"/>
            </a:avLst>
          </a:prstGeom>
          <a:solidFill>
            <a:srgbClr val="2F6BDE"/>
          </a:solidFill>
          <a:ln w="0">
            <a:noFill/>
          </a:ln>
        </p:spPr>
        <p:txBody>
          <a:bodyPr/>
          <a:p/>
        </p:txBody>
      </p:sp>
      <p:sp>
        <p:nvSpPr>
          <p:cNvPr id="8" name="Rectangle 7">
            <a:extLst>
              <a:ext uri="{FF2B5EF4-FFF2-40B4-BE49-F238E27FC236}">
                <a16:creationId xmlns:a16="http://schemas.microsoft.com/office/drawing/2014/main" id="{A3D7EFAA-1DBF-4AA3-9C11-214AF98E606B}"/>
              </a:ext>
            </a:extLst>
          </p:cNvPr>
          <p:cNvSpPr>
            <a:spLocks noGrp="1"/>
          </p:cNvSpPr>
          <p:nvPr/>
        </p:nvSpPr>
        <p:spPr>
          <a:xfrm>
            <a:off x="7067550" y="2714625"/>
            <a:ext cx="4191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1</a:t>
            </a:r>
          </a:p>
        </p:txBody>
      </p:sp>
      <p:sp>
        <p:nvSpPr>
          <p:cNvPr id="9" name="Rectangle 8">
            <a:extLst>
              <a:ext uri="{FF2B5EF4-FFF2-40B4-BE49-F238E27FC236}">
                <a16:creationId xmlns:a16="http://schemas.microsoft.com/office/drawing/2014/main" id="{8B6AB0BC-CFCA-4B54-B72E-6E654F03BF31}"/>
              </a:ext>
            </a:extLst>
          </p:cNvPr>
          <p:cNvSpPr>
            <a:spLocks noGrp="1"/>
          </p:cNvSpPr>
          <p:nvPr/>
        </p:nvSpPr>
        <p:spPr>
          <a:xfrm>
            <a:off x="7667625" y="2705100"/>
            <a:ext cx="3143250" cy="285750"/>
          </a:xfrm>
          <a:prstGeom prst="rect">
            <a:avLst/>
          </a:prstGeom>
          <a:noFill/>
          <a:ln w="0">
            <a:noFill/>
          </a:ln>
        </p:spPr>
        <p:txBody>
          <a:bodyPr lIns="0" tIns="0" rIns="0" bIns="0" anchor="t">
            <a:normAutofit/>
          </a:bodyPr>
          <a:lstStyle/>
          <a:p>
            <a:pPr algn="l">
              <a:defRPr sz="1575" b="1">
                <a:solidFill>
                  <a:srgbClr val="17263A"/>
                </a:solidFill>
                <a:latin typeface="Arial"/>
                <a:ea typeface="Arial"/>
                <a:cs typeface="Arial"/>
              </a:defRPr>
            </a:pPr>
            <a:r>
              <a:rPr sz="1575" b="1">
                <a:solidFill>
                  <a:srgbClr val="17263A"/>
                </a:solidFill>
                <a:latin typeface="Arial"/>
                <a:ea typeface="Arial"/>
                <a:cs typeface="Arial"/>
              </a:rPr>
              <a:t>Scan or choose a PDF</a:t>
            </a:r>
          </a:p>
        </p:txBody>
      </p:sp>
      <p:sp>
        <p:nvSpPr>
          <p:cNvPr id="10" name="Rectangle: Rounded Corners 9">
            <a:extLst>
              <a:ext uri="{FF2B5EF4-FFF2-40B4-BE49-F238E27FC236}">
                <a16:creationId xmlns:a16="http://schemas.microsoft.com/office/drawing/2014/main" id="{1B667730-92F0-4814-8252-41DB772A20DC}"/>
              </a:ext>
            </a:extLst>
          </p:cNvPr>
          <p:cNvSpPr>
            <a:spLocks noGrp="1"/>
          </p:cNvSpPr>
          <p:nvPr/>
        </p:nvSpPr>
        <p:spPr>
          <a:xfrm>
            <a:off x="7067550" y="3476625"/>
            <a:ext cx="419100" cy="361950"/>
          </a:xfrm>
          <a:prstGeom prst="roundRect">
            <a:avLst>
              <a:gd name="adj" fmla="val 21053"/>
            </a:avLst>
          </a:prstGeom>
          <a:solidFill>
            <a:srgbClr val="17A673"/>
          </a:solidFill>
          <a:ln w="0">
            <a:noFill/>
          </a:ln>
        </p:spPr>
        <p:txBody>
          <a:bodyPr/>
          <a:p/>
        </p:txBody>
      </p:sp>
      <p:sp>
        <p:nvSpPr>
          <p:cNvPr id="11" name="Rectangle 10">
            <a:extLst>
              <a:ext uri="{FF2B5EF4-FFF2-40B4-BE49-F238E27FC236}">
                <a16:creationId xmlns:a16="http://schemas.microsoft.com/office/drawing/2014/main" id="{7EC71E4F-D585-476D-9ED9-49CE82DE0B5C}"/>
              </a:ext>
            </a:extLst>
          </p:cNvPr>
          <p:cNvSpPr>
            <a:spLocks noGrp="1"/>
          </p:cNvSpPr>
          <p:nvPr/>
        </p:nvSpPr>
        <p:spPr>
          <a:xfrm>
            <a:off x="7067550" y="3476625"/>
            <a:ext cx="4191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2</a:t>
            </a:r>
          </a:p>
        </p:txBody>
      </p:sp>
      <p:sp>
        <p:nvSpPr>
          <p:cNvPr id="12" name="Rectangle 11">
            <a:extLst>
              <a:ext uri="{FF2B5EF4-FFF2-40B4-BE49-F238E27FC236}">
                <a16:creationId xmlns:a16="http://schemas.microsoft.com/office/drawing/2014/main" id="{A3EF768D-1A85-421A-8C41-3B5B1F959F90}"/>
              </a:ext>
            </a:extLst>
          </p:cNvPr>
          <p:cNvSpPr>
            <a:spLocks noGrp="1"/>
          </p:cNvSpPr>
          <p:nvPr/>
        </p:nvSpPr>
        <p:spPr>
          <a:xfrm>
            <a:off x="7667625" y="3467100"/>
            <a:ext cx="3143250" cy="285750"/>
          </a:xfrm>
          <a:prstGeom prst="rect">
            <a:avLst/>
          </a:prstGeom>
          <a:noFill/>
          <a:ln w="0">
            <a:noFill/>
          </a:ln>
        </p:spPr>
        <p:txBody>
          <a:bodyPr lIns="0" tIns="0" rIns="0" bIns="0" anchor="t">
            <a:normAutofit/>
          </a:bodyPr>
          <a:lstStyle/>
          <a:p>
            <a:pPr algn="l">
              <a:defRPr sz="1575" b="1">
                <a:solidFill>
                  <a:srgbClr val="17263A"/>
                </a:solidFill>
                <a:latin typeface="Arial"/>
                <a:ea typeface="Arial"/>
                <a:cs typeface="Arial"/>
              </a:defRPr>
            </a:pPr>
            <a:r>
              <a:rPr sz="1575" b="1">
                <a:solidFill>
                  <a:srgbClr val="17263A"/>
                </a:solidFill>
                <a:latin typeface="Arial"/>
                <a:ea typeface="Arial"/>
                <a:cs typeface="Arial"/>
              </a:rPr>
              <a:t>Validate the file</a:t>
            </a:r>
          </a:p>
        </p:txBody>
      </p:sp>
      <p:sp>
        <p:nvSpPr>
          <p:cNvPr id="13" name="Rectangle 12">
            <a:extLst>
              <a:ext uri="{FF2B5EF4-FFF2-40B4-BE49-F238E27FC236}">
                <a16:creationId xmlns:a16="http://schemas.microsoft.com/office/drawing/2014/main" id="{76089F41-07F0-476D-B853-DD97B3B17CD5}"/>
              </a:ext>
            </a:extLst>
          </p:cNvPr>
          <p:cNvSpPr>
            <a:spLocks noGrp="1"/>
          </p:cNvSpPr>
          <p:nvPr/>
        </p:nvSpPr>
        <p:spPr>
          <a:xfrm>
            <a:off x="7667625" y="3781425"/>
            <a:ext cx="3143250" cy="2667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Type, size, and content checks run first.</a:t>
            </a:r>
          </a:p>
        </p:txBody>
      </p:sp>
      <p:sp>
        <p:nvSpPr>
          <p:cNvPr id="14" name="Rectangle: Rounded Corners 13">
            <a:extLst>
              <a:ext uri="{FF2B5EF4-FFF2-40B4-BE49-F238E27FC236}">
                <a16:creationId xmlns:a16="http://schemas.microsoft.com/office/drawing/2014/main" id="{84BEB1B4-87C9-403D-8736-9326375BDEE7}"/>
              </a:ext>
            </a:extLst>
          </p:cNvPr>
          <p:cNvSpPr>
            <a:spLocks noGrp="1"/>
          </p:cNvSpPr>
          <p:nvPr/>
        </p:nvSpPr>
        <p:spPr>
          <a:xfrm>
            <a:off x="7067550" y="4333875"/>
            <a:ext cx="419100" cy="361950"/>
          </a:xfrm>
          <a:prstGeom prst="roundRect">
            <a:avLst>
              <a:gd name="adj" fmla="val 21053"/>
            </a:avLst>
          </a:prstGeom>
          <a:solidFill>
            <a:srgbClr val="F6B638"/>
          </a:solidFill>
          <a:ln w="0">
            <a:noFill/>
          </a:ln>
        </p:spPr>
        <p:txBody>
          <a:bodyPr/>
          <a:p/>
        </p:txBody>
      </p:sp>
      <p:sp>
        <p:nvSpPr>
          <p:cNvPr id="15" name="Rectangle 14">
            <a:extLst>
              <a:ext uri="{FF2B5EF4-FFF2-40B4-BE49-F238E27FC236}">
                <a16:creationId xmlns:a16="http://schemas.microsoft.com/office/drawing/2014/main" id="{0FE7451D-C9DD-423E-A93C-578147CE52EA}"/>
              </a:ext>
            </a:extLst>
          </p:cNvPr>
          <p:cNvSpPr>
            <a:spLocks noGrp="1"/>
          </p:cNvSpPr>
          <p:nvPr/>
        </p:nvSpPr>
        <p:spPr>
          <a:xfrm>
            <a:off x="7067550" y="4333875"/>
            <a:ext cx="4191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3</a:t>
            </a:r>
          </a:p>
        </p:txBody>
      </p:sp>
      <p:sp>
        <p:nvSpPr>
          <p:cNvPr id="16" name="Rectangle 15">
            <a:extLst>
              <a:ext uri="{FF2B5EF4-FFF2-40B4-BE49-F238E27FC236}">
                <a16:creationId xmlns:a16="http://schemas.microsoft.com/office/drawing/2014/main" id="{C7101D85-D7D5-4315-A5FD-5C7C9CB4A139}"/>
              </a:ext>
            </a:extLst>
          </p:cNvPr>
          <p:cNvSpPr>
            <a:spLocks noGrp="1"/>
          </p:cNvSpPr>
          <p:nvPr/>
        </p:nvSpPr>
        <p:spPr>
          <a:xfrm>
            <a:off x="7667625" y="4324350"/>
            <a:ext cx="3143250" cy="285750"/>
          </a:xfrm>
          <a:prstGeom prst="rect">
            <a:avLst/>
          </a:prstGeom>
          <a:noFill/>
          <a:ln w="0">
            <a:noFill/>
          </a:ln>
        </p:spPr>
        <p:txBody>
          <a:bodyPr lIns="0" tIns="0" rIns="0" bIns="0" anchor="t">
            <a:normAutofit/>
          </a:bodyPr>
          <a:lstStyle/>
          <a:p>
            <a:pPr algn="l">
              <a:defRPr sz="1575" b="1">
                <a:solidFill>
                  <a:srgbClr val="17263A"/>
                </a:solidFill>
                <a:latin typeface="Arial"/>
                <a:ea typeface="Arial"/>
                <a:cs typeface="Arial"/>
              </a:defRPr>
            </a:pPr>
            <a:r>
              <a:rPr sz="1575" b="1">
                <a:solidFill>
                  <a:srgbClr val="17263A"/>
                </a:solidFill>
                <a:latin typeface="Arial"/>
                <a:ea typeface="Arial"/>
                <a:cs typeface="Arial"/>
              </a:rPr>
              <a:t>Review OCR suggestions</a:t>
            </a:r>
          </a:p>
        </p:txBody>
      </p:sp>
      <p:sp>
        <p:nvSpPr>
          <p:cNvPr id="17" name="Rectangle 16">
            <a:extLst>
              <a:ext uri="{FF2B5EF4-FFF2-40B4-BE49-F238E27FC236}">
                <a16:creationId xmlns:a16="http://schemas.microsoft.com/office/drawing/2014/main" id="{377811F6-3B93-4599-A8D9-6B717132878F}"/>
              </a:ext>
            </a:extLst>
          </p:cNvPr>
          <p:cNvSpPr>
            <a:spLocks noGrp="1"/>
          </p:cNvSpPr>
          <p:nvPr/>
        </p:nvSpPr>
        <p:spPr>
          <a:xfrm>
            <a:off x="7667625" y="4638675"/>
            <a:ext cx="3143250" cy="2667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Verify every value against the original.</a:t>
            </a:r>
          </a:p>
        </p:txBody>
      </p:sp>
      <p:sp>
        <p:nvSpPr>
          <p:cNvPr id="18" name="Rectangle 17">
            <a:extLst>
              <a:ext uri="{FF2B5EF4-FFF2-40B4-BE49-F238E27FC236}">
                <a16:creationId xmlns:a16="http://schemas.microsoft.com/office/drawing/2014/main" id="{BDFC3F12-E97D-4E72-BBC5-E6D92D89A2AF}"/>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9" name="Rectangle 18">
            <a:extLst>
              <a:ext uri="{FF2B5EF4-FFF2-40B4-BE49-F238E27FC236}">
                <a16:creationId xmlns:a16="http://schemas.microsoft.com/office/drawing/2014/main" id="{2E52293B-CEE6-4727-9FC5-69C4B7741A7F}"/>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08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19111865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8862E7AD-743E-416F-8ECA-203681D29509}"/>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STEP 2</a:t>
            </a:r>
          </a:p>
        </p:txBody>
      </p:sp>
      <p:sp>
        <p:nvSpPr>
          <p:cNvPr id="2" name="Rectangle 1">
            <a:extLst>
              <a:ext uri="{FF2B5EF4-FFF2-40B4-BE49-F238E27FC236}">
                <a16:creationId xmlns:a16="http://schemas.microsoft.com/office/drawing/2014/main" id="{C8903D7D-F6BA-4A7B-93E2-B8B58B44156E}"/>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Encode with recovery built in</a:t>
            </a:r>
          </a:p>
        </p:txBody>
      </p:sp>
      <p:sp>
        <p:nvSpPr>
          <p:cNvPr id="3" name="Rectangle 2">
            <a:extLst>
              <a:ext uri="{FF2B5EF4-FFF2-40B4-BE49-F238E27FC236}">
                <a16:creationId xmlns:a16="http://schemas.microsoft.com/office/drawing/2014/main" id="{57B25AAB-AC72-4419-A3A8-02F8C6ADD5CD}"/>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DD69D561-B387-4C84-87E4-D9AF7ABE4580}"/>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Auto-save protects work in progress; the database Save creates the official record.</a:t>
            </a:r>
          </a:p>
        </p:txBody>
      </p:sp>
      <p:sp>
        <p:nvSpPr>
          <p:cNvPr id="5" name="Rectangle: Rounded Corners 4">
            <a:extLst>
              <a:ext uri="{FF2B5EF4-FFF2-40B4-BE49-F238E27FC236}">
                <a16:creationId xmlns:a16="http://schemas.microsoft.com/office/drawing/2014/main" id="{A428D9DC-73C5-4AEB-A88C-8CEEF035DE6B}"/>
              </a:ext>
            </a:extLst>
          </p:cNvPr>
          <p:cNvSpPr>
            <a:spLocks noGrp="1"/>
          </p:cNvSpPr>
          <p:nvPr/>
        </p:nvSpPr>
        <p:spPr>
          <a:xfrm>
            <a:off x="666750" y="2381250"/>
            <a:ext cx="1809750" cy="1333500"/>
          </a:xfrm>
          <a:prstGeom prst="roundRect">
            <a:avLst>
              <a:gd name="adj" fmla="val 5714"/>
            </a:avLst>
          </a:prstGeom>
          <a:solidFill>
            <a:srgbClr val="EAF2FF"/>
          </a:solidFill>
          <a:ln w="0">
            <a:noFill/>
          </a:ln>
        </p:spPr>
        <p:txBody>
          <a:bodyPr/>
          <a:p/>
        </p:txBody>
      </p:sp>
      <p:sp>
        <p:nvSpPr>
          <p:cNvPr id="6" name="Rectangle 5">
            <a:extLst>
              <a:ext uri="{FF2B5EF4-FFF2-40B4-BE49-F238E27FC236}">
                <a16:creationId xmlns:a16="http://schemas.microsoft.com/office/drawing/2014/main" id="{9968BF77-0686-4B0F-922A-38FA4BCF0885}"/>
              </a:ext>
            </a:extLst>
          </p:cNvPr>
          <p:cNvSpPr>
            <a:spLocks noGrp="1"/>
          </p:cNvSpPr>
          <p:nvPr/>
        </p:nvSpPr>
        <p:spPr>
          <a:xfrm>
            <a:off x="781050" y="2647950"/>
            <a:ext cx="1581150" cy="266700"/>
          </a:xfrm>
          <a:prstGeom prst="rect">
            <a:avLst/>
          </a:prstGeom>
          <a:noFill/>
          <a:ln w="0">
            <a:noFill/>
          </a:ln>
        </p:spPr>
        <p:txBody>
          <a:bodyPr lIns="0" tIns="0" rIns="0" bIns="0" anchor="t">
            <a:normAutofit/>
          </a:bodyPr>
          <a:lstStyle/>
          <a:p>
            <a:pPr algn="ctr">
              <a:defRPr sz="1500" b="1">
                <a:solidFill>
                  <a:srgbClr val="17263A"/>
                </a:solidFill>
                <a:latin typeface="Arial"/>
                <a:ea typeface="Arial"/>
                <a:cs typeface="Arial"/>
              </a:defRPr>
            </a:pPr>
            <a:r>
              <a:rPr sz="1500" b="1">
                <a:solidFill>
                  <a:srgbClr val="17263A"/>
                </a:solidFill>
                <a:latin typeface="Arial"/>
                <a:ea typeface="Arial"/>
                <a:cs typeface="Arial"/>
              </a:rPr>
              <a:t>1  Enter</a:t>
            </a:r>
          </a:p>
        </p:txBody>
      </p:sp>
      <p:sp>
        <p:nvSpPr>
          <p:cNvPr id="7" name="Rectangle 6">
            <a:extLst>
              <a:ext uri="{FF2B5EF4-FFF2-40B4-BE49-F238E27FC236}">
                <a16:creationId xmlns:a16="http://schemas.microsoft.com/office/drawing/2014/main" id="{CCA4CEB0-97C5-47B4-9A56-F04D274A81FC}"/>
              </a:ext>
            </a:extLst>
          </p:cNvPr>
          <p:cNvSpPr>
            <a:spLocks noGrp="1"/>
          </p:cNvSpPr>
          <p:nvPr/>
        </p:nvSpPr>
        <p:spPr>
          <a:xfrm>
            <a:off x="781050" y="3143250"/>
            <a:ext cx="1581150" cy="457200"/>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Fields change</a:t>
            </a:r>
          </a:p>
        </p:txBody>
      </p:sp>
      <p:sp>
        <p:nvSpPr>
          <p:cNvPr id="8" name="Rectangle 7">
            <a:extLst>
              <a:ext uri="{FF2B5EF4-FFF2-40B4-BE49-F238E27FC236}">
                <a16:creationId xmlns:a16="http://schemas.microsoft.com/office/drawing/2014/main" id="{CDA6C808-9883-46A2-97AC-5B31675C0106}"/>
              </a:ext>
            </a:extLst>
          </p:cNvPr>
          <p:cNvSpPr>
            <a:spLocks noGrp="1"/>
          </p:cNvSpPr>
          <p:nvPr/>
        </p:nvSpPr>
        <p:spPr>
          <a:xfrm>
            <a:off x="2514600" y="2857500"/>
            <a:ext cx="514350" cy="400050"/>
          </a:xfrm>
          <a:prstGeom prst="rect">
            <a:avLst/>
          </a:prstGeom>
          <a:noFill/>
          <a:ln w="0">
            <a:noFill/>
          </a:ln>
        </p:spPr>
        <p:txBody>
          <a:bodyPr lIns="0" tIns="0" rIns="0" bIns="0" anchor="t">
            <a:normAutofit fontScale="92105"/>
          </a:bodyPr>
          <a:lstStyle/>
          <a:p>
            <a:pPr algn="ctr">
              <a:defRPr sz="2850" b="1">
                <a:solidFill>
                  <a:srgbClr val="2F6BDE"/>
                </a:solidFill>
                <a:latin typeface="Arial"/>
                <a:ea typeface="Arial"/>
                <a:cs typeface="Arial"/>
              </a:defRPr>
            </a:pPr>
            <a:r>
              <a:rPr sz="2850" b="1">
                <a:solidFill>
                  <a:srgbClr val="2F6BDE"/>
                </a:solidFill>
                <a:latin typeface="Arial"/>
                <a:ea typeface="Arial"/>
                <a:cs typeface="Arial"/>
              </a:rPr>
              <a:t>→</a:t>
            </a:r>
          </a:p>
        </p:txBody>
      </p:sp>
      <p:sp>
        <p:nvSpPr>
          <p:cNvPr id="9" name="Rectangle: Rounded Corners 8">
            <a:extLst>
              <a:ext uri="{FF2B5EF4-FFF2-40B4-BE49-F238E27FC236}">
                <a16:creationId xmlns:a16="http://schemas.microsoft.com/office/drawing/2014/main" id="{B4531AD5-93F1-4091-AABF-A5360757638A}"/>
              </a:ext>
            </a:extLst>
          </p:cNvPr>
          <p:cNvSpPr>
            <a:spLocks noGrp="1"/>
          </p:cNvSpPr>
          <p:nvPr/>
        </p:nvSpPr>
        <p:spPr>
          <a:xfrm>
            <a:off x="2762250" y="2381250"/>
            <a:ext cx="1809750" cy="1333500"/>
          </a:xfrm>
          <a:prstGeom prst="roundRect">
            <a:avLst>
              <a:gd name="adj" fmla="val 5714"/>
            </a:avLst>
          </a:prstGeom>
          <a:solidFill>
            <a:srgbClr val="E9F8F1"/>
          </a:solidFill>
          <a:ln w="0">
            <a:noFill/>
          </a:ln>
        </p:spPr>
        <p:txBody>
          <a:bodyPr/>
          <a:p/>
        </p:txBody>
      </p:sp>
      <p:sp>
        <p:nvSpPr>
          <p:cNvPr id="10" name="Rectangle 9">
            <a:extLst>
              <a:ext uri="{FF2B5EF4-FFF2-40B4-BE49-F238E27FC236}">
                <a16:creationId xmlns:a16="http://schemas.microsoft.com/office/drawing/2014/main" id="{273A6882-F4C7-4210-9267-9BFACC7391A5}"/>
              </a:ext>
            </a:extLst>
          </p:cNvPr>
          <p:cNvSpPr>
            <a:spLocks noGrp="1"/>
          </p:cNvSpPr>
          <p:nvPr/>
        </p:nvSpPr>
        <p:spPr>
          <a:xfrm>
            <a:off x="2876550" y="2647950"/>
            <a:ext cx="1581150" cy="266700"/>
          </a:xfrm>
          <a:prstGeom prst="rect">
            <a:avLst/>
          </a:prstGeom>
          <a:noFill/>
          <a:ln w="0">
            <a:noFill/>
          </a:ln>
        </p:spPr>
        <p:txBody>
          <a:bodyPr lIns="0" tIns="0" rIns="0" bIns="0" anchor="t">
            <a:normAutofit/>
          </a:bodyPr>
          <a:lstStyle/>
          <a:p>
            <a:pPr algn="ctr">
              <a:defRPr sz="1500" b="1">
                <a:solidFill>
                  <a:srgbClr val="17263A"/>
                </a:solidFill>
                <a:latin typeface="Arial"/>
                <a:ea typeface="Arial"/>
                <a:cs typeface="Arial"/>
              </a:defRPr>
            </a:pPr>
            <a:r>
              <a:rPr sz="1500" b="1">
                <a:solidFill>
                  <a:srgbClr val="17263A"/>
                </a:solidFill>
                <a:latin typeface="Arial"/>
                <a:ea typeface="Arial"/>
                <a:cs typeface="Arial"/>
              </a:rPr>
              <a:t>2  Auto-save</a:t>
            </a:r>
          </a:p>
        </p:txBody>
      </p:sp>
      <p:sp>
        <p:nvSpPr>
          <p:cNvPr id="11" name="Rectangle 10">
            <a:extLst>
              <a:ext uri="{FF2B5EF4-FFF2-40B4-BE49-F238E27FC236}">
                <a16:creationId xmlns:a16="http://schemas.microsoft.com/office/drawing/2014/main" id="{C56060B8-5D4D-40FE-A717-30031C608549}"/>
              </a:ext>
            </a:extLst>
          </p:cNvPr>
          <p:cNvSpPr>
            <a:spLocks noGrp="1"/>
          </p:cNvSpPr>
          <p:nvPr/>
        </p:nvSpPr>
        <p:spPr>
          <a:xfrm>
            <a:off x="2876550" y="3143250"/>
            <a:ext cx="1581150" cy="457200"/>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Draft stays in browser storage</a:t>
            </a:r>
          </a:p>
        </p:txBody>
      </p:sp>
      <p:sp>
        <p:nvSpPr>
          <p:cNvPr id="12" name="Rectangle 11">
            <a:extLst>
              <a:ext uri="{FF2B5EF4-FFF2-40B4-BE49-F238E27FC236}">
                <a16:creationId xmlns:a16="http://schemas.microsoft.com/office/drawing/2014/main" id="{42D1B937-5E47-4E1F-BE1C-8C39EA8F3CAA}"/>
              </a:ext>
            </a:extLst>
          </p:cNvPr>
          <p:cNvSpPr>
            <a:spLocks noGrp="1"/>
          </p:cNvSpPr>
          <p:nvPr/>
        </p:nvSpPr>
        <p:spPr>
          <a:xfrm>
            <a:off x="4610100" y="2857500"/>
            <a:ext cx="514350" cy="400050"/>
          </a:xfrm>
          <a:prstGeom prst="rect">
            <a:avLst/>
          </a:prstGeom>
          <a:noFill/>
          <a:ln w="0">
            <a:noFill/>
          </a:ln>
        </p:spPr>
        <p:txBody>
          <a:bodyPr lIns="0" tIns="0" rIns="0" bIns="0" anchor="t">
            <a:normAutofit fontScale="92105"/>
          </a:bodyPr>
          <a:lstStyle/>
          <a:p>
            <a:pPr algn="ctr">
              <a:defRPr sz="2850" b="1">
                <a:solidFill>
                  <a:srgbClr val="2F6BDE"/>
                </a:solidFill>
                <a:latin typeface="Arial"/>
                <a:ea typeface="Arial"/>
                <a:cs typeface="Arial"/>
              </a:defRPr>
            </a:pPr>
            <a:r>
              <a:rPr sz="2850" b="1">
                <a:solidFill>
                  <a:srgbClr val="2F6BDE"/>
                </a:solidFill>
                <a:latin typeface="Arial"/>
                <a:ea typeface="Arial"/>
                <a:cs typeface="Arial"/>
              </a:rPr>
              <a:t>→</a:t>
            </a:r>
          </a:p>
        </p:txBody>
      </p:sp>
      <p:sp>
        <p:nvSpPr>
          <p:cNvPr id="13" name="Rectangle: Rounded Corners 12">
            <a:extLst>
              <a:ext uri="{FF2B5EF4-FFF2-40B4-BE49-F238E27FC236}">
                <a16:creationId xmlns:a16="http://schemas.microsoft.com/office/drawing/2014/main" id="{6659DC25-D5F4-46E5-8F99-6B210B8205A8}"/>
              </a:ext>
            </a:extLst>
          </p:cNvPr>
          <p:cNvSpPr>
            <a:spLocks noGrp="1"/>
          </p:cNvSpPr>
          <p:nvPr/>
        </p:nvSpPr>
        <p:spPr>
          <a:xfrm>
            <a:off x="4857750" y="2381250"/>
            <a:ext cx="1809750" cy="1333500"/>
          </a:xfrm>
          <a:prstGeom prst="roundRect">
            <a:avLst>
              <a:gd name="adj" fmla="val 5714"/>
            </a:avLst>
          </a:prstGeom>
          <a:solidFill>
            <a:srgbClr val="FFF5DE"/>
          </a:solidFill>
          <a:ln w="0">
            <a:noFill/>
          </a:ln>
        </p:spPr>
        <p:txBody>
          <a:bodyPr/>
          <a:p/>
        </p:txBody>
      </p:sp>
      <p:sp>
        <p:nvSpPr>
          <p:cNvPr id="14" name="Rectangle 13">
            <a:extLst>
              <a:ext uri="{FF2B5EF4-FFF2-40B4-BE49-F238E27FC236}">
                <a16:creationId xmlns:a16="http://schemas.microsoft.com/office/drawing/2014/main" id="{CA88D26E-1348-4DFF-A3A5-35CF69AD2209}"/>
              </a:ext>
            </a:extLst>
          </p:cNvPr>
          <p:cNvSpPr>
            <a:spLocks noGrp="1"/>
          </p:cNvSpPr>
          <p:nvPr/>
        </p:nvSpPr>
        <p:spPr>
          <a:xfrm>
            <a:off x="4972050" y="2647950"/>
            <a:ext cx="1581150" cy="266700"/>
          </a:xfrm>
          <a:prstGeom prst="rect">
            <a:avLst/>
          </a:prstGeom>
          <a:noFill/>
          <a:ln w="0">
            <a:noFill/>
          </a:ln>
        </p:spPr>
        <p:txBody>
          <a:bodyPr lIns="0" tIns="0" rIns="0" bIns="0" anchor="t">
            <a:normAutofit/>
          </a:bodyPr>
          <a:lstStyle/>
          <a:p>
            <a:pPr algn="ctr">
              <a:defRPr sz="1500" b="1">
                <a:solidFill>
                  <a:srgbClr val="17263A"/>
                </a:solidFill>
                <a:latin typeface="Arial"/>
                <a:ea typeface="Arial"/>
                <a:cs typeface="Arial"/>
              </a:defRPr>
            </a:pPr>
            <a:r>
              <a:rPr sz="1500" b="1">
                <a:solidFill>
                  <a:srgbClr val="17263A"/>
                </a:solidFill>
                <a:latin typeface="Arial"/>
                <a:ea typeface="Arial"/>
                <a:cs typeface="Arial"/>
              </a:rPr>
              <a:t>3  Restore</a:t>
            </a:r>
          </a:p>
        </p:txBody>
      </p:sp>
      <p:sp>
        <p:nvSpPr>
          <p:cNvPr id="15" name="Rectangle 14">
            <a:extLst>
              <a:ext uri="{FF2B5EF4-FFF2-40B4-BE49-F238E27FC236}">
                <a16:creationId xmlns:a16="http://schemas.microsoft.com/office/drawing/2014/main" id="{9B24109A-103E-4688-B2A4-4F5CF00B4B13}"/>
              </a:ext>
            </a:extLst>
          </p:cNvPr>
          <p:cNvSpPr>
            <a:spLocks noGrp="1"/>
          </p:cNvSpPr>
          <p:nvPr/>
        </p:nvSpPr>
        <p:spPr>
          <a:xfrm>
            <a:off x="4972050" y="3143250"/>
            <a:ext cx="1581150" cy="457200"/>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Draft can return after interruption</a:t>
            </a:r>
          </a:p>
        </p:txBody>
      </p:sp>
      <p:sp>
        <p:nvSpPr>
          <p:cNvPr id="16" name="Rectangle 15">
            <a:extLst>
              <a:ext uri="{FF2B5EF4-FFF2-40B4-BE49-F238E27FC236}">
                <a16:creationId xmlns:a16="http://schemas.microsoft.com/office/drawing/2014/main" id="{3A35F172-83B9-4414-A669-669F1FAD1F5E}"/>
              </a:ext>
            </a:extLst>
          </p:cNvPr>
          <p:cNvSpPr>
            <a:spLocks noGrp="1"/>
          </p:cNvSpPr>
          <p:nvPr/>
        </p:nvSpPr>
        <p:spPr>
          <a:xfrm>
            <a:off x="6705600" y="2857500"/>
            <a:ext cx="514350" cy="400050"/>
          </a:xfrm>
          <a:prstGeom prst="rect">
            <a:avLst/>
          </a:prstGeom>
          <a:noFill/>
          <a:ln w="0">
            <a:noFill/>
          </a:ln>
        </p:spPr>
        <p:txBody>
          <a:bodyPr lIns="0" tIns="0" rIns="0" bIns="0" anchor="t">
            <a:normAutofit fontScale="92105"/>
          </a:bodyPr>
          <a:lstStyle/>
          <a:p>
            <a:pPr algn="ctr">
              <a:defRPr sz="2850" b="1">
                <a:solidFill>
                  <a:srgbClr val="2F6BDE"/>
                </a:solidFill>
                <a:latin typeface="Arial"/>
                <a:ea typeface="Arial"/>
                <a:cs typeface="Arial"/>
              </a:defRPr>
            </a:pPr>
            <a:r>
              <a:rPr sz="2850" b="1">
                <a:solidFill>
                  <a:srgbClr val="2F6BDE"/>
                </a:solidFill>
                <a:latin typeface="Arial"/>
                <a:ea typeface="Arial"/>
                <a:cs typeface="Arial"/>
              </a:rPr>
              <a:t>→</a:t>
            </a:r>
          </a:p>
        </p:txBody>
      </p:sp>
      <p:sp>
        <p:nvSpPr>
          <p:cNvPr id="17" name="Rectangle: Rounded Corners 16">
            <a:extLst>
              <a:ext uri="{FF2B5EF4-FFF2-40B4-BE49-F238E27FC236}">
                <a16:creationId xmlns:a16="http://schemas.microsoft.com/office/drawing/2014/main" id="{AA0ECD65-4560-43A9-87C6-C1EC0286AC33}"/>
              </a:ext>
            </a:extLst>
          </p:cNvPr>
          <p:cNvSpPr>
            <a:spLocks noGrp="1"/>
          </p:cNvSpPr>
          <p:nvPr/>
        </p:nvSpPr>
        <p:spPr>
          <a:xfrm>
            <a:off x="6953250" y="2381250"/>
            <a:ext cx="1809750" cy="1333500"/>
          </a:xfrm>
          <a:prstGeom prst="roundRect">
            <a:avLst>
              <a:gd name="adj" fmla="val 5714"/>
            </a:avLst>
          </a:prstGeom>
          <a:solidFill>
            <a:srgbClr val="10243E"/>
          </a:solidFill>
          <a:ln w="0">
            <a:noFill/>
          </a:ln>
        </p:spPr>
        <p:txBody>
          <a:bodyPr/>
          <a:p/>
        </p:txBody>
      </p:sp>
      <p:sp>
        <p:nvSpPr>
          <p:cNvPr id="18" name="Rectangle 17">
            <a:extLst>
              <a:ext uri="{FF2B5EF4-FFF2-40B4-BE49-F238E27FC236}">
                <a16:creationId xmlns:a16="http://schemas.microsoft.com/office/drawing/2014/main" id="{21C7C2B3-E57B-470C-8C89-38A3252BAD98}"/>
              </a:ext>
            </a:extLst>
          </p:cNvPr>
          <p:cNvSpPr>
            <a:spLocks noGrp="1"/>
          </p:cNvSpPr>
          <p:nvPr/>
        </p:nvSpPr>
        <p:spPr>
          <a:xfrm>
            <a:off x="7067550" y="2647950"/>
            <a:ext cx="1581150" cy="266700"/>
          </a:xfrm>
          <a:prstGeom prst="rect">
            <a:avLst/>
          </a:prstGeom>
          <a:noFill/>
          <a:ln w="0">
            <a:noFill/>
          </a:ln>
        </p:spPr>
        <p:txBody>
          <a:bodyPr lIns="0" tIns="0" rIns="0" bIns="0" anchor="t">
            <a:normAutofit/>
          </a:bodyPr>
          <a:lstStyle/>
          <a:p>
            <a:pPr algn="ctr">
              <a:defRPr sz="1500" b="1">
                <a:solidFill>
                  <a:srgbClr val="FFFFFF"/>
                </a:solidFill>
                <a:latin typeface="Arial"/>
                <a:ea typeface="Arial"/>
                <a:cs typeface="Arial"/>
              </a:defRPr>
            </a:pPr>
            <a:r>
              <a:rPr sz="1500" b="1">
                <a:solidFill>
                  <a:srgbClr val="FFFFFF"/>
                </a:solidFill>
                <a:latin typeface="Arial"/>
                <a:ea typeface="Arial"/>
                <a:cs typeface="Arial"/>
              </a:rPr>
              <a:t>4  Save</a:t>
            </a:r>
          </a:p>
        </p:txBody>
      </p:sp>
      <p:sp>
        <p:nvSpPr>
          <p:cNvPr id="19" name="Rectangle 18">
            <a:extLst>
              <a:ext uri="{FF2B5EF4-FFF2-40B4-BE49-F238E27FC236}">
                <a16:creationId xmlns:a16="http://schemas.microsoft.com/office/drawing/2014/main" id="{25B63112-919B-45B6-A9BB-9928B8F82907}"/>
              </a:ext>
            </a:extLst>
          </p:cNvPr>
          <p:cNvSpPr>
            <a:spLocks noGrp="1"/>
          </p:cNvSpPr>
          <p:nvPr/>
        </p:nvSpPr>
        <p:spPr>
          <a:xfrm>
            <a:off x="7067550" y="3143250"/>
            <a:ext cx="1581150" cy="457200"/>
          </a:xfrm>
          <a:prstGeom prst="rect">
            <a:avLst/>
          </a:prstGeom>
          <a:noFill/>
          <a:ln w="0">
            <a:noFill/>
          </a:ln>
        </p:spPr>
        <p:txBody>
          <a:bodyPr lIns="0" tIns="0" rIns="0" bIns="0" anchor="t">
            <a:normAutofit/>
          </a:bodyPr>
          <a:lstStyle/>
          <a:p>
            <a:pPr algn="ctr">
              <a:defRPr sz="1125">
                <a:solidFill>
                  <a:srgbClr val="BFD0E7"/>
                </a:solidFill>
                <a:latin typeface="Arial"/>
                <a:ea typeface="Arial"/>
                <a:cs typeface="Arial"/>
              </a:defRPr>
            </a:pPr>
            <a:r>
              <a:rPr sz="1125">
                <a:solidFill>
                  <a:srgbClr val="BFD0E7"/>
                </a:solidFill>
                <a:latin typeface="Arial"/>
                <a:ea typeface="Arial"/>
                <a:cs typeface="Arial"/>
              </a:rPr>
              <a:t>Database commit</a:t>
            </a:r>
          </a:p>
        </p:txBody>
      </p:sp>
      <p:pic>
        <p:nvPicPr>
          <p:cNvPr id="45" name="Picture 44"/>
          <p:cNvPicPr>
            <a:picLocks noChangeAspect="1"/>
          </p:cNvPicPr>
          <p:nvPr/>
        </p:nvPicPr>
        <p:blipFill>
          <a:blip r:embed="rId3"/>
          <a:stretch/>
        </p:blipFill>
        <p:spPr>
          <a:xfrm>
            <a:off x="8750423" y="4333875"/>
            <a:ext cx="2454029" cy="1381125"/>
          </a:xfrm>
          <a:prstGeom prst="roundRect">
            <a:avLst>
              <a:gd name="adj" fmla="val 12414"/>
            </a:avLst>
          </a:prstGeom>
        </p:spPr>
      </p:pic>
      <p:sp>
        <p:nvSpPr>
          <p:cNvPr id="21" name="Rectangle 20">
            <a:extLst>
              <a:ext uri="{FF2B5EF4-FFF2-40B4-BE49-F238E27FC236}">
                <a16:creationId xmlns:a16="http://schemas.microsoft.com/office/drawing/2014/main" id="{B0A90BE8-1684-4098-8D19-35D863AA3DA5}"/>
              </a:ext>
            </a:extLst>
          </p:cNvPr>
          <p:cNvSpPr>
            <a:spLocks noGrp="1"/>
          </p:cNvSpPr>
          <p:nvPr/>
        </p:nvSpPr>
        <p:spPr>
          <a:xfrm>
            <a:off x="904875" y="4524375"/>
            <a:ext cx="6477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Saved records clear their draft.</a:t>
            </a:r>
          </a:p>
        </p:txBody>
      </p:sp>
      <p:sp>
        <p:nvSpPr>
          <p:cNvPr id="22" name="Rectangle 21">
            <a:extLst>
              <a:ext uri="{FF2B5EF4-FFF2-40B4-BE49-F238E27FC236}">
                <a16:creationId xmlns:a16="http://schemas.microsoft.com/office/drawing/2014/main" id="{E11CFD60-3F13-483B-B0E7-14CA98E8D8D8}"/>
              </a:ext>
            </a:extLst>
          </p:cNvPr>
          <p:cNvSpPr>
            <a:spLocks noGrp="1"/>
          </p:cNvSpPr>
          <p:nvPr/>
        </p:nvSpPr>
        <p:spPr>
          <a:xfrm>
            <a:off x="904875" y="4953000"/>
            <a:ext cx="6477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Edit mode clears stale draft data.</a:t>
            </a:r>
          </a:p>
        </p:txBody>
      </p:sp>
      <p:sp>
        <p:nvSpPr>
          <p:cNvPr id="23" name="Rectangle 22">
            <a:extLst>
              <a:ext uri="{FF2B5EF4-FFF2-40B4-BE49-F238E27FC236}">
                <a16:creationId xmlns:a16="http://schemas.microsoft.com/office/drawing/2014/main" id="{456DCAFD-D0AF-48EA-879E-029750DA43BB}"/>
              </a:ext>
            </a:extLst>
          </p:cNvPr>
          <p:cNvSpPr>
            <a:spLocks noGrp="1"/>
          </p:cNvSpPr>
          <p:nvPr/>
        </p:nvSpPr>
        <p:spPr>
          <a:xfrm>
            <a:off x="904875" y="5381625"/>
            <a:ext cx="6477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Default inactivity timeout: 60 minutes.</a:t>
            </a:r>
          </a:p>
        </p:txBody>
      </p:sp>
      <p:sp>
        <p:nvSpPr>
          <p:cNvPr id="24" name="Rectangle 23">
            <a:extLst>
              <a:ext uri="{FF2B5EF4-FFF2-40B4-BE49-F238E27FC236}">
                <a16:creationId xmlns:a16="http://schemas.microsoft.com/office/drawing/2014/main" id="{EA6A648F-79B3-4548-AE32-8D2D1B3D83C3}"/>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5" name="Rectangle 24">
            <a:extLst>
              <a:ext uri="{FF2B5EF4-FFF2-40B4-BE49-F238E27FC236}">
                <a16:creationId xmlns:a16="http://schemas.microsoft.com/office/drawing/2014/main" id="{7CDAE635-706F-47AA-9E98-ADE687CF1FF2}"/>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09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04760733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044DBDF2-227D-430F-B7B7-922BC7F0BCC1}"/>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STEP 3</a:t>
            </a:r>
          </a:p>
        </p:txBody>
      </p:sp>
      <p:sp>
        <p:nvSpPr>
          <p:cNvPr id="2" name="Rectangle 1">
            <a:extLst>
              <a:ext uri="{FF2B5EF4-FFF2-40B4-BE49-F238E27FC236}">
                <a16:creationId xmlns:a16="http://schemas.microsoft.com/office/drawing/2014/main" id="{DAAB64CC-455C-4CBC-973D-F37EEB96DFB4}"/>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Automatic folders and Folder Browser</a:t>
            </a:r>
          </a:p>
        </p:txBody>
      </p:sp>
      <p:sp>
        <p:nvSpPr>
          <p:cNvPr id="3" name="Rectangle 2">
            <a:extLst>
              <a:ext uri="{FF2B5EF4-FFF2-40B4-BE49-F238E27FC236}">
                <a16:creationId xmlns:a16="http://schemas.microsoft.com/office/drawing/2014/main" id="{021D116C-B0BD-496A-9D72-CB3E39EE87C5}"/>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7C9B75B1-E952-46C9-8129-A24E1C2E7CF7}"/>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upload path follows the certificate type, year, and normalized last name.</a:t>
            </a:r>
          </a:p>
        </p:txBody>
      </p:sp>
      <p:sp>
        <p:nvSpPr>
          <p:cNvPr id="5" name="Rectangle: Rounded Corners 4">
            <a:extLst>
              <a:ext uri="{FF2B5EF4-FFF2-40B4-BE49-F238E27FC236}">
                <a16:creationId xmlns:a16="http://schemas.microsoft.com/office/drawing/2014/main" id="{B1D3228B-AD29-45E0-85D6-FBB185AE569D}"/>
              </a:ext>
            </a:extLst>
          </p:cNvPr>
          <p:cNvSpPr>
            <a:spLocks noGrp="1"/>
          </p:cNvSpPr>
          <p:nvPr/>
        </p:nvSpPr>
        <p:spPr>
          <a:xfrm>
            <a:off x="666750" y="2381250"/>
            <a:ext cx="5334000" cy="2333625"/>
          </a:xfrm>
          <a:prstGeom prst="roundRect">
            <a:avLst>
              <a:gd name="adj" fmla="val 3265"/>
            </a:avLst>
          </a:prstGeom>
          <a:solidFill>
            <a:srgbClr val="10243E"/>
          </a:solidFill>
          <a:ln w="0">
            <a:noFill/>
          </a:ln>
        </p:spPr>
        <p:txBody>
          <a:bodyPr/>
          <a:p/>
        </p:txBody>
      </p:sp>
      <p:sp>
        <p:nvSpPr>
          <p:cNvPr id="6" name="Rectangle 5">
            <a:extLst>
              <a:ext uri="{FF2B5EF4-FFF2-40B4-BE49-F238E27FC236}">
                <a16:creationId xmlns:a16="http://schemas.microsoft.com/office/drawing/2014/main" id="{FD0FC446-8548-4F7C-AEEC-402B192373A4}"/>
              </a:ext>
            </a:extLst>
          </p:cNvPr>
          <p:cNvSpPr>
            <a:spLocks noGrp="1"/>
          </p:cNvSpPr>
          <p:nvPr/>
        </p:nvSpPr>
        <p:spPr>
          <a:xfrm>
            <a:off x="1000125" y="2952750"/>
            <a:ext cx="4667250" cy="400050"/>
          </a:xfrm>
          <a:prstGeom prst="rect">
            <a:avLst/>
          </a:prstGeom>
          <a:noFill/>
          <a:ln w="0">
            <a:noFill/>
          </a:ln>
        </p:spPr>
        <p:txBody>
          <a:bodyPr lIns="0" tIns="0" rIns="0" bIns="0" anchor="t">
            <a:normAutofit/>
          </a:bodyPr>
          <a:lstStyle/>
          <a:p>
            <a:pPr algn="ctr">
              <a:defRPr sz="2175" b="1">
                <a:solidFill>
                  <a:srgbClr val="FFFFFF"/>
                </a:solidFill>
                <a:latin typeface="Arial"/>
                <a:ea typeface="Arial"/>
                <a:cs typeface="Arial"/>
              </a:defRPr>
            </a:pPr>
            <a:r>
              <a:rPr sz="2175" b="1">
                <a:solidFill>
                  <a:srgbClr val="FFFFFF"/>
                </a:solidFill>
                <a:latin typeface="Arial"/>
                <a:ea typeface="Arial"/>
                <a:cs typeface="Arial"/>
              </a:rPr>
              <a:t>birth / 1972 / TARUBAL /</a:t>
            </a:r>
          </a:p>
        </p:txBody>
      </p:sp>
      <p:sp>
        <p:nvSpPr>
          <p:cNvPr id="7" name="Rectangle 6">
            <a:extLst>
              <a:ext uri="{FF2B5EF4-FFF2-40B4-BE49-F238E27FC236}">
                <a16:creationId xmlns:a16="http://schemas.microsoft.com/office/drawing/2014/main" id="{E8AD9351-A08A-42B8-B35C-ECBD61498B72}"/>
              </a:ext>
            </a:extLst>
          </p:cNvPr>
          <p:cNvSpPr>
            <a:spLocks noGrp="1"/>
          </p:cNvSpPr>
          <p:nvPr/>
        </p:nvSpPr>
        <p:spPr>
          <a:xfrm>
            <a:off x="1000125" y="3552825"/>
            <a:ext cx="4667250" cy="304800"/>
          </a:xfrm>
          <a:prstGeom prst="rect">
            <a:avLst/>
          </a:prstGeom>
          <a:noFill/>
          <a:ln w="0">
            <a:noFill/>
          </a:ln>
        </p:spPr>
        <p:txBody>
          <a:bodyPr lIns="0" tIns="0" rIns="0" bIns="0" anchor="t">
            <a:normAutofit/>
          </a:bodyPr>
          <a:lstStyle/>
          <a:p>
            <a:pPr algn="ctr">
              <a:defRPr sz="1650">
                <a:solidFill>
                  <a:srgbClr val="BFD0E7"/>
                </a:solidFill>
                <a:latin typeface="Arial"/>
                <a:ea typeface="Arial"/>
                <a:cs typeface="Arial"/>
              </a:defRPr>
            </a:pPr>
            <a:r>
              <a:rPr sz="1650">
                <a:solidFill>
                  <a:srgbClr val="BFD0E7"/>
                </a:solidFill>
                <a:latin typeface="Arial"/>
                <a:ea typeface="Arial"/>
                <a:cs typeface="Arial"/>
              </a:rPr>
              <a:t>certificate.pdf</a:t>
            </a:r>
          </a:p>
        </p:txBody>
      </p:sp>
      <p:sp>
        <p:nvSpPr>
          <p:cNvPr id="8" name="Rectangle 7">
            <a:extLst>
              <a:ext uri="{FF2B5EF4-FFF2-40B4-BE49-F238E27FC236}">
                <a16:creationId xmlns:a16="http://schemas.microsoft.com/office/drawing/2014/main" id="{34E98469-58B7-4B6D-909C-FB2E5F0C9158}"/>
              </a:ext>
            </a:extLst>
          </p:cNvPr>
          <p:cNvSpPr>
            <a:spLocks noGrp="1"/>
          </p:cNvSpPr>
          <p:nvPr/>
        </p:nvSpPr>
        <p:spPr>
          <a:xfrm>
            <a:off x="1000125" y="4162425"/>
            <a:ext cx="4667250" cy="238125"/>
          </a:xfrm>
          <a:prstGeom prst="rect">
            <a:avLst/>
          </a:prstGeom>
          <a:noFill/>
          <a:ln w="0">
            <a:noFill/>
          </a:ln>
        </p:spPr>
        <p:txBody>
          <a:bodyPr lIns="0" tIns="0" rIns="0" bIns="0" anchor="t">
            <a:normAutofit/>
          </a:bodyPr>
          <a:lstStyle/>
          <a:p>
            <a:pPr algn="ctr">
              <a:defRPr sz="1200">
                <a:solidFill>
                  <a:srgbClr val="BFD0E7"/>
                </a:solidFill>
                <a:latin typeface="Arial"/>
                <a:ea typeface="Arial"/>
                <a:cs typeface="Arial"/>
              </a:defRPr>
            </a:pPr>
            <a:r>
              <a:rPr sz="1200">
                <a:solidFill>
                  <a:srgbClr val="BFD0E7"/>
                </a:solidFill>
                <a:latin typeface="Arial"/>
                <a:ea typeface="Arial"/>
                <a:cs typeface="Arial"/>
              </a:rPr>
              <a:t>type  /  year  /  normalized last name</a:t>
            </a:r>
          </a:p>
        </p:txBody>
      </p:sp>
      <p:pic>
        <p:nvPicPr>
          <p:cNvPr id="25" name="Picture 24"/>
          <p:cNvPicPr>
            <a:picLocks noChangeAspect="1"/>
          </p:cNvPicPr>
          <p:nvPr/>
        </p:nvPicPr>
        <p:blipFill>
          <a:blip r:embed="rId3"/>
          <a:stretch/>
        </p:blipFill>
        <p:spPr>
          <a:xfrm>
            <a:off x="1416844" y="5048250"/>
            <a:ext cx="1643063" cy="1095375"/>
          </a:xfrm>
          <a:prstGeom prst="roundRect">
            <a:avLst>
              <a:gd name="adj" fmla="val 15652"/>
            </a:avLst>
          </a:prstGeom>
        </p:spPr>
      </p:pic>
      <p:sp>
        <p:nvSpPr>
          <p:cNvPr id="10" name="Rectangle 9">
            <a:extLst>
              <a:ext uri="{FF2B5EF4-FFF2-40B4-BE49-F238E27FC236}">
                <a16:creationId xmlns:a16="http://schemas.microsoft.com/office/drawing/2014/main" id="{BEF602DD-87E5-483D-9B8C-23D9DE1FDC15}"/>
              </a:ext>
            </a:extLst>
          </p:cNvPr>
          <p:cNvSpPr>
            <a:spLocks noGrp="1"/>
          </p:cNvSpPr>
          <p:nvPr/>
        </p:nvSpPr>
        <p:spPr>
          <a:xfrm>
            <a:off x="6667500" y="2571750"/>
            <a:ext cx="4000500" cy="304800"/>
          </a:xfrm>
          <a:prstGeom prst="rect">
            <a:avLst/>
          </a:prstGeom>
          <a:noFill/>
          <a:ln w="0">
            <a:noFill/>
          </a:ln>
        </p:spPr>
        <p:txBody>
          <a:bodyPr lIns="0" tIns="0" rIns="0" bIns="0" anchor="t">
            <a:normAutofit/>
          </a:bodyPr>
          <a:lstStyle/>
          <a:p>
            <a:pPr algn="l">
              <a:defRPr sz="1875" b="1">
                <a:solidFill>
                  <a:srgbClr val="17263A"/>
                </a:solidFill>
                <a:latin typeface="Arial"/>
                <a:ea typeface="Arial"/>
                <a:cs typeface="Arial"/>
              </a:defRPr>
            </a:pPr>
            <a:r>
              <a:rPr sz="1875" b="1">
                <a:solidFill>
                  <a:srgbClr val="17263A"/>
                </a:solidFill>
                <a:latin typeface="Arial"/>
                <a:ea typeface="Arial"/>
                <a:cs typeface="Arial"/>
              </a:rPr>
              <a:t>How browsing works</a:t>
            </a:r>
          </a:p>
        </p:txBody>
      </p:sp>
      <p:sp>
        <p:nvSpPr>
          <p:cNvPr id="11" name="Rectangle 10">
            <a:extLst>
              <a:ext uri="{FF2B5EF4-FFF2-40B4-BE49-F238E27FC236}">
                <a16:creationId xmlns:a16="http://schemas.microsoft.com/office/drawing/2014/main" id="{51D32F1E-736B-4075-AA8F-5C4D5DD03268}"/>
              </a:ext>
            </a:extLst>
          </p:cNvPr>
          <p:cNvSpPr>
            <a:spLocks noGrp="1"/>
          </p:cNvSpPr>
          <p:nvPr/>
        </p:nvSpPr>
        <p:spPr>
          <a:xfrm>
            <a:off x="6667500" y="3143250"/>
            <a:ext cx="43815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Folder is created on first upload.</a:t>
            </a:r>
          </a:p>
        </p:txBody>
      </p:sp>
      <p:sp>
        <p:nvSpPr>
          <p:cNvPr id="12" name="Rectangle 11">
            <a:extLst>
              <a:ext uri="{FF2B5EF4-FFF2-40B4-BE49-F238E27FC236}">
                <a16:creationId xmlns:a16="http://schemas.microsoft.com/office/drawing/2014/main" id="{126D13EC-66D5-4B77-914A-B01B4C23CADA}"/>
              </a:ext>
            </a:extLst>
          </p:cNvPr>
          <p:cNvSpPr>
            <a:spLocks noGrp="1"/>
          </p:cNvSpPr>
          <p:nvPr/>
        </p:nvSpPr>
        <p:spPr>
          <a:xfrm>
            <a:off x="6667500" y="3667125"/>
            <a:ext cx="4572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Names are normalized for safe, predictable paths.</a:t>
            </a:r>
          </a:p>
        </p:txBody>
      </p:sp>
      <p:sp>
        <p:nvSpPr>
          <p:cNvPr id="13" name="Rectangle 12">
            <a:extLst>
              <a:ext uri="{FF2B5EF4-FFF2-40B4-BE49-F238E27FC236}">
                <a16:creationId xmlns:a16="http://schemas.microsoft.com/office/drawing/2014/main" id="{24EE4FBA-5D26-47AA-A1F8-FC1C040D8A96}"/>
              </a:ext>
            </a:extLst>
          </p:cNvPr>
          <p:cNvSpPr>
            <a:spLocks noGrp="1"/>
          </p:cNvSpPr>
          <p:nvPr/>
        </p:nvSpPr>
        <p:spPr>
          <a:xfrm>
            <a:off x="6667500" y="4191000"/>
            <a:ext cx="4572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Folder Browser gives a visual route to the record.</a:t>
            </a:r>
          </a:p>
        </p:txBody>
      </p:sp>
      <p:sp>
        <p:nvSpPr>
          <p:cNvPr id="14" name="Rectangle 13">
            <a:extLst>
              <a:ext uri="{FF2B5EF4-FFF2-40B4-BE49-F238E27FC236}">
                <a16:creationId xmlns:a16="http://schemas.microsoft.com/office/drawing/2014/main" id="{274E27B5-687C-4B43-84EE-982D2EEBE591}"/>
              </a:ext>
            </a:extLst>
          </p:cNvPr>
          <p:cNvSpPr>
            <a:spLocks noGrp="1"/>
          </p:cNvSpPr>
          <p:nvPr/>
        </p:nvSpPr>
        <p:spPr>
          <a:xfrm>
            <a:off x="4762500" y="5429250"/>
            <a:ext cx="6381750" cy="285750"/>
          </a:xfrm>
          <a:prstGeom prst="rect">
            <a:avLst/>
          </a:prstGeom>
          <a:noFill/>
          <a:ln w="0">
            <a:noFill/>
          </a:ln>
        </p:spPr>
        <p:txBody>
          <a:bodyPr lIns="0" tIns="0" rIns="0" bIns="0" anchor="t">
            <a:normAutofit/>
          </a:bodyPr>
          <a:lstStyle/>
          <a:p>
            <a:pPr algn="ctr">
              <a:defRPr sz="1425" b="1">
                <a:solidFill>
                  <a:srgbClr val="17A673"/>
                </a:solidFill>
                <a:latin typeface="Arial"/>
                <a:ea typeface="Arial"/>
                <a:cs typeface="Arial"/>
              </a:defRPr>
            </a:pPr>
            <a:r>
              <a:rPr sz="1425" b="1">
                <a:solidFill>
                  <a:srgbClr val="17A673"/>
                </a:solidFill>
                <a:latin typeface="Arial"/>
                <a:ea typeface="Arial"/>
                <a:cs typeface="Arial"/>
              </a:rPr>
              <a:t>Database = source of truth  |  Folders = practical browsing</a:t>
            </a:r>
          </a:p>
        </p:txBody>
      </p:sp>
      <p:sp>
        <p:nvSpPr>
          <p:cNvPr id="15" name="Rectangle 14">
            <a:extLst>
              <a:ext uri="{FF2B5EF4-FFF2-40B4-BE49-F238E27FC236}">
                <a16:creationId xmlns:a16="http://schemas.microsoft.com/office/drawing/2014/main" id="{B32162A9-440F-482C-B290-FC1D377632EC}"/>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6" name="Rectangle 15">
            <a:extLst>
              <a:ext uri="{FF2B5EF4-FFF2-40B4-BE49-F238E27FC236}">
                <a16:creationId xmlns:a16="http://schemas.microsoft.com/office/drawing/2014/main" id="{8E9E91C5-6DC0-43E8-8331-2E4ECDA96F3F}"/>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10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44526790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1253D91-D983-4FE4-BB51-398BEC63E993}"/>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STEP 4</a:t>
            </a:r>
          </a:p>
        </p:txBody>
      </p:sp>
      <p:sp>
        <p:nvSpPr>
          <p:cNvPr id="2" name="Rectangle 1">
            <a:extLst>
              <a:ext uri="{FF2B5EF4-FFF2-40B4-BE49-F238E27FC236}">
                <a16:creationId xmlns:a16="http://schemas.microsoft.com/office/drawing/2014/main" id="{D4F44184-E6D6-4186-A832-9C3786EE1E21}"/>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Search, compare, and verify</a:t>
            </a:r>
          </a:p>
        </p:txBody>
      </p:sp>
      <p:sp>
        <p:nvSpPr>
          <p:cNvPr id="3" name="Rectangle 2">
            <a:extLst>
              <a:ext uri="{FF2B5EF4-FFF2-40B4-BE49-F238E27FC236}">
                <a16:creationId xmlns:a16="http://schemas.microsoft.com/office/drawing/2014/main" id="{C2CDC859-8565-4DA1-90DE-AC1312F5A94E}"/>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AC531813-5D49-4A04-BAE6-3FCDB1754D5C}"/>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Retrieval is a verification step, not only a lookup step.</a:t>
            </a:r>
          </a:p>
        </p:txBody>
      </p:sp>
      <p:sp>
        <p:nvSpPr>
          <p:cNvPr id="5" name="Rectangle: Rounded Corners 4">
            <a:extLst>
              <a:ext uri="{FF2B5EF4-FFF2-40B4-BE49-F238E27FC236}">
                <a16:creationId xmlns:a16="http://schemas.microsoft.com/office/drawing/2014/main" id="{2544F0D2-A653-4B47-955F-56DFBCB2362D}"/>
              </a:ext>
            </a:extLst>
          </p:cNvPr>
          <p:cNvSpPr>
            <a:spLocks noGrp="1"/>
          </p:cNvSpPr>
          <p:nvPr/>
        </p:nvSpPr>
        <p:spPr>
          <a:xfrm>
            <a:off x="666750" y="2381250"/>
            <a:ext cx="4762500" cy="2952750"/>
          </a:xfrm>
          <a:prstGeom prst="roundRect">
            <a:avLst>
              <a:gd name="adj" fmla="val 2581"/>
            </a:avLst>
          </a:prstGeom>
          <a:solidFill>
            <a:srgbClr val="F5F7FB"/>
          </a:solidFill>
          <a:ln w="14288">
            <a:solidFill>
              <a:srgbClr val="D8E1ED"/>
            </a:solidFill>
          </a:ln>
        </p:spPr>
        <p:txBody>
          <a:bodyPr/>
          <a:p/>
        </p:txBody>
      </p:sp>
      <p:sp>
        <p:nvSpPr>
          <p:cNvPr id="6" name="Rectangle 5">
            <a:extLst>
              <a:ext uri="{FF2B5EF4-FFF2-40B4-BE49-F238E27FC236}">
                <a16:creationId xmlns:a16="http://schemas.microsoft.com/office/drawing/2014/main" id="{FA8F4AB6-03CC-4496-95AD-D0F3892A0361}"/>
              </a:ext>
            </a:extLst>
          </p:cNvPr>
          <p:cNvSpPr>
            <a:spLocks noGrp="1"/>
          </p:cNvSpPr>
          <p:nvPr/>
        </p:nvSpPr>
        <p:spPr>
          <a:xfrm>
            <a:off x="952500" y="2667000"/>
            <a:ext cx="381000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Search records</a:t>
            </a:r>
          </a:p>
        </p:txBody>
      </p:sp>
      <p:sp>
        <p:nvSpPr>
          <p:cNvPr id="7" name="Rectangle: Rounded Corners 6">
            <a:extLst>
              <a:ext uri="{FF2B5EF4-FFF2-40B4-BE49-F238E27FC236}">
                <a16:creationId xmlns:a16="http://schemas.microsoft.com/office/drawing/2014/main" id="{6EC04F5A-4F41-4E7B-B773-CEC2A0610B1F}"/>
              </a:ext>
            </a:extLst>
          </p:cNvPr>
          <p:cNvSpPr>
            <a:spLocks noGrp="1"/>
          </p:cNvSpPr>
          <p:nvPr/>
        </p:nvSpPr>
        <p:spPr>
          <a:xfrm>
            <a:off x="952500" y="3190875"/>
            <a:ext cx="4000500" cy="457200"/>
          </a:xfrm>
          <a:prstGeom prst="roundRect">
            <a:avLst>
              <a:gd name="adj" fmla="val 16667"/>
            </a:avLst>
          </a:prstGeom>
          <a:solidFill>
            <a:srgbClr val="FFFFFF"/>
          </a:solidFill>
          <a:ln w="9525">
            <a:solidFill>
              <a:srgbClr val="D8E1ED"/>
            </a:solidFill>
          </a:ln>
        </p:spPr>
        <p:txBody>
          <a:bodyPr/>
          <a:p/>
        </p:txBody>
      </p:sp>
      <p:sp>
        <p:nvSpPr>
          <p:cNvPr id="8" name="Rectangle 7">
            <a:extLst>
              <a:ext uri="{FF2B5EF4-FFF2-40B4-BE49-F238E27FC236}">
                <a16:creationId xmlns:a16="http://schemas.microsoft.com/office/drawing/2014/main" id="{6B8062F2-6935-4E05-88F1-773317157768}"/>
              </a:ext>
            </a:extLst>
          </p:cNvPr>
          <p:cNvSpPr>
            <a:spLocks noGrp="1"/>
          </p:cNvSpPr>
          <p:nvPr/>
        </p:nvSpPr>
        <p:spPr>
          <a:xfrm>
            <a:off x="1143000" y="3333750"/>
            <a:ext cx="3429000" cy="20955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Name / registry no. / date / folder</a:t>
            </a:r>
          </a:p>
        </p:txBody>
      </p:sp>
      <p:sp>
        <p:nvSpPr>
          <p:cNvPr id="9" name="Rectangle: Rounded Corners 8">
            <a:extLst>
              <a:ext uri="{FF2B5EF4-FFF2-40B4-BE49-F238E27FC236}">
                <a16:creationId xmlns:a16="http://schemas.microsoft.com/office/drawing/2014/main" id="{F5F4EDC6-309D-4EB0-85E6-95A0D882C1E2}"/>
              </a:ext>
            </a:extLst>
          </p:cNvPr>
          <p:cNvSpPr>
            <a:spLocks noGrp="1"/>
          </p:cNvSpPr>
          <p:nvPr/>
        </p:nvSpPr>
        <p:spPr>
          <a:xfrm>
            <a:off x="3619500" y="3857625"/>
            <a:ext cx="1333500" cy="361950"/>
          </a:xfrm>
          <a:prstGeom prst="roundRect">
            <a:avLst>
              <a:gd name="adj" fmla="val 21053"/>
            </a:avLst>
          </a:prstGeom>
          <a:solidFill>
            <a:srgbClr val="2F6BDE"/>
          </a:solidFill>
          <a:ln w="0">
            <a:noFill/>
          </a:ln>
        </p:spPr>
        <p:txBody>
          <a:bodyPr/>
          <a:p/>
        </p:txBody>
      </p:sp>
      <p:sp>
        <p:nvSpPr>
          <p:cNvPr id="10" name="Rectangle 9">
            <a:extLst>
              <a:ext uri="{FF2B5EF4-FFF2-40B4-BE49-F238E27FC236}">
                <a16:creationId xmlns:a16="http://schemas.microsoft.com/office/drawing/2014/main" id="{04994055-AC4A-4688-BBDA-DB1FCBD4E05E}"/>
              </a:ext>
            </a:extLst>
          </p:cNvPr>
          <p:cNvSpPr>
            <a:spLocks noGrp="1"/>
          </p:cNvSpPr>
          <p:nvPr/>
        </p:nvSpPr>
        <p:spPr>
          <a:xfrm>
            <a:off x="3619500" y="3857625"/>
            <a:ext cx="13335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Search</a:t>
            </a:r>
          </a:p>
        </p:txBody>
      </p:sp>
      <p:sp>
        <p:nvSpPr>
          <p:cNvPr id="11" name="Rectangle 10">
            <a:extLst>
              <a:ext uri="{FF2B5EF4-FFF2-40B4-BE49-F238E27FC236}">
                <a16:creationId xmlns:a16="http://schemas.microsoft.com/office/drawing/2014/main" id="{4333982F-3437-4A9D-B54F-DEB6B0FCC279}"/>
              </a:ext>
            </a:extLst>
          </p:cNvPr>
          <p:cNvSpPr>
            <a:spLocks noGrp="1"/>
          </p:cNvSpPr>
          <p:nvPr/>
        </p:nvSpPr>
        <p:spPr>
          <a:xfrm>
            <a:off x="1000125" y="4476750"/>
            <a:ext cx="3429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Folder Browser</a:t>
            </a:r>
          </a:p>
        </p:txBody>
      </p:sp>
      <p:sp>
        <p:nvSpPr>
          <p:cNvPr id="12" name="Rectangle 11">
            <a:extLst>
              <a:ext uri="{FF2B5EF4-FFF2-40B4-BE49-F238E27FC236}">
                <a16:creationId xmlns:a16="http://schemas.microsoft.com/office/drawing/2014/main" id="{AA2C2157-6B10-409E-9922-81E324F3DC3B}"/>
              </a:ext>
            </a:extLst>
          </p:cNvPr>
          <p:cNvSpPr>
            <a:spLocks noGrp="1"/>
          </p:cNvSpPr>
          <p:nvPr/>
        </p:nvSpPr>
        <p:spPr>
          <a:xfrm>
            <a:off x="1000125" y="4857750"/>
            <a:ext cx="3429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Advanced Search</a:t>
            </a:r>
          </a:p>
        </p:txBody>
      </p:sp>
      <p:sp>
        <p:nvSpPr>
          <p:cNvPr id="13" name="Rectangle: Rounded Corners 12">
            <a:extLst>
              <a:ext uri="{FF2B5EF4-FFF2-40B4-BE49-F238E27FC236}">
                <a16:creationId xmlns:a16="http://schemas.microsoft.com/office/drawing/2014/main" id="{DF6FE28B-1009-46C0-9C57-17AC93598E35}"/>
              </a:ext>
            </a:extLst>
          </p:cNvPr>
          <p:cNvSpPr>
            <a:spLocks noGrp="1"/>
          </p:cNvSpPr>
          <p:nvPr/>
        </p:nvSpPr>
        <p:spPr>
          <a:xfrm>
            <a:off x="6191250" y="2381250"/>
            <a:ext cx="5334000" cy="2952750"/>
          </a:xfrm>
          <a:prstGeom prst="roundRect">
            <a:avLst>
              <a:gd name="adj" fmla="val 2581"/>
            </a:avLst>
          </a:prstGeom>
          <a:solidFill>
            <a:srgbClr val="10243E"/>
          </a:solidFill>
          <a:ln w="0">
            <a:noFill/>
          </a:ln>
        </p:spPr>
        <p:txBody>
          <a:bodyPr/>
          <a:p/>
        </p:txBody>
      </p:sp>
      <p:sp>
        <p:nvSpPr>
          <p:cNvPr id="14" name="Rectangle 13">
            <a:extLst>
              <a:ext uri="{FF2B5EF4-FFF2-40B4-BE49-F238E27FC236}">
                <a16:creationId xmlns:a16="http://schemas.microsoft.com/office/drawing/2014/main" id="{54FD7EE4-3C8E-4C14-831E-01A67849E1B1}"/>
              </a:ext>
            </a:extLst>
          </p:cNvPr>
          <p:cNvSpPr>
            <a:spLocks noGrp="1"/>
          </p:cNvSpPr>
          <p:nvPr/>
        </p:nvSpPr>
        <p:spPr>
          <a:xfrm>
            <a:off x="6524625" y="2667000"/>
            <a:ext cx="4667250" cy="285750"/>
          </a:xfrm>
          <a:prstGeom prst="rect">
            <a:avLst/>
          </a:prstGeom>
          <a:noFill/>
          <a:ln w="0">
            <a:noFill/>
          </a:ln>
        </p:spPr>
        <p:txBody>
          <a:bodyPr lIns="0" tIns="0" rIns="0" bIns="0" anchor="t">
            <a:normAutofit/>
          </a:bodyPr>
          <a:lstStyle/>
          <a:p>
            <a:pPr algn="l">
              <a:defRPr sz="1800" b="1">
                <a:solidFill>
                  <a:srgbClr val="FFFFFF"/>
                </a:solidFill>
                <a:latin typeface="Arial"/>
                <a:ea typeface="Arial"/>
                <a:cs typeface="Arial"/>
              </a:defRPr>
            </a:pPr>
            <a:r>
              <a:rPr sz="1800" b="1">
                <a:solidFill>
                  <a:srgbClr val="FFFFFF"/>
                </a:solidFill>
                <a:latin typeface="Arial"/>
                <a:ea typeface="Arial"/>
                <a:cs typeface="Arial"/>
              </a:rPr>
              <a:t>PDF Comparison Viewer</a:t>
            </a:r>
          </a:p>
        </p:txBody>
      </p:sp>
      <p:sp>
        <p:nvSpPr>
          <p:cNvPr id="15" name="Rectangle: Rounded Corners 14">
            <a:extLst>
              <a:ext uri="{FF2B5EF4-FFF2-40B4-BE49-F238E27FC236}">
                <a16:creationId xmlns:a16="http://schemas.microsoft.com/office/drawing/2014/main" id="{77D23147-710C-4891-9DF4-0DA4CA311764}"/>
              </a:ext>
            </a:extLst>
          </p:cNvPr>
          <p:cNvSpPr>
            <a:spLocks noGrp="1"/>
          </p:cNvSpPr>
          <p:nvPr/>
        </p:nvSpPr>
        <p:spPr>
          <a:xfrm>
            <a:off x="6524625" y="3238500"/>
            <a:ext cx="2095500" cy="1619250"/>
          </a:xfrm>
          <a:prstGeom prst="roundRect">
            <a:avLst>
              <a:gd name="adj" fmla="val 4706"/>
            </a:avLst>
          </a:prstGeom>
          <a:solidFill>
            <a:srgbClr val="EAF2FF"/>
          </a:solidFill>
          <a:ln w="0">
            <a:noFill/>
          </a:ln>
        </p:spPr>
        <p:txBody>
          <a:bodyPr/>
          <a:p/>
        </p:txBody>
      </p:sp>
      <p:sp>
        <p:nvSpPr>
          <p:cNvPr id="16" name="Rectangle 15">
            <a:extLst>
              <a:ext uri="{FF2B5EF4-FFF2-40B4-BE49-F238E27FC236}">
                <a16:creationId xmlns:a16="http://schemas.microsoft.com/office/drawing/2014/main" id="{990D2425-484A-47F9-9019-D97D8B69C843}"/>
              </a:ext>
            </a:extLst>
          </p:cNvPr>
          <p:cNvSpPr>
            <a:spLocks noGrp="1"/>
          </p:cNvSpPr>
          <p:nvPr/>
        </p:nvSpPr>
        <p:spPr>
          <a:xfrm>
            <a:off x="6762750" y="3762375"/>
            <a:ext cx="1619250" cy="552450"/>
          </a:xfrm>
          <a:prstGeom prst="rect">
            <a:avLst/>
          </a:prstGeom>
          <a:noFill/>
          <a:ln w="0">
            <a:noFill/>
          </a:ln>
        </p:spPr>
        <p:txBody>
          <a:bodyPr lIns="0" tIns="0" rIns="0" bIns="0" anchor="t">
            <a:normAutofit fontScale="86309"/>
          </a:bodyPr>
          <a:lstStyle/>
          <a:p>
            <a:pPr algn="ctr">
              <a:defRPr sz="2100" b="1">
                <a:solidFill>
                  <a:srgbClr val="2F6BDE"/>
                </a:solidFill>
                <a:latin typeface="Arial"/>
                <a:ea typeface="Arial"/>
                <a:cs typeface="Arial"/>
              </a:defRPr>
            </a:pPr>
            <a:r>
              <a:rPr sz="2100" b="1">
                <a:solidFill>
                  <a:srgbClr val="2F6BDE"/>
                </a:solidFill>
                <a:latin typeface="Arial"/>
                <a:ea typeface="Arial"/>
                <a:cs typeface="Arial"/>
              </a:rPr>
              <a:t>Original</a:t>
            </a:r>
          </a:p>
          <a:p>
            <a:pPr algn="ctr">
              <a:defRPr sz="2100" b="1">
                <a:solidFill>
                  <a:srgbClr val="2F6BDE"/>
                </a:solidFill>
                <a:latin typeface="Arial"/>
                <a:ea typeface="Arial"/>
                <a:cs typeface="Arial"/>
              </a:defRPr>
            </a:pPr>
            <a:r>
              <a:rPr sz="2100" b="1">
                <a:solidFill>
                  <a:srgbClr val="2F6BDE"/>
                </a:solidFill>
                <a:latin typeface="Arial"/>
                <a:ea typeface="Arial"/>
                <a:cs typeface="Arial"/>
              </a:rPr>
              <a:t>PDF</a:t>
            </a:r>
          </a:p>
        </p:txBody>
      </p:sp>
      <p:sp>
        <p:nvSpPr>
          <p:cNvPr id="17" name="Rectangle: Rounded Corners 16">
            <a:extLst>
              <a:ext uri="{FF2B5EF4-FFF2-40B4-BE49-F238E27FC236}">
                <a16:creationId xmlns:a16="http://schemas.microsoft.com/office/drawing/2014/main" id="{44709344-3DAB-4A9C-A9AD-1EDFA570374F}"/>
              </a:ext>
            </a:extLst>
          </p:cNvPr>
          <p:cNvSpPr>
            <a:spLocks noGrp="1"/>
          </p:cNvSpPr>
          <p:nvPr/>
        </p:nvSpPr>
        <p:spPr>
          <a:xfrm>
            <a:off x="9001125" y="3238500"/>
            <a:ext cx="2095500" cy="1619250"/>
          </a:xfrm>
          <a:prstGeom prst="roundRect">
            <a:avLst>
              <a:gd name="adj" fmla="val 4706"/>
            </a:avLst>
          </a:prstGeom>
          <a:solidFill>
            <a:srgbClr val="E9F8F1"/>
          </a:solidFill>
          <a:ln w="0">
            <a:noFill/>
          </a:ln>
        </p:spPr>
        <p:txBody>
          <a:bodyPr/>
          <a:p/>
        </p:txBody>
      </p:sp>
      <p:sp>
        <p:nvSpPr>
          <p:cNvPr id="18" name="Rectangle 17">
            <a:extLst>
              <a:ext uri="{FF2B5EF4-FFF2-40B4-BE49-F238E27FC236}">
                <a16:creationId xmlns:a16="http://schemas.microsoft.com/office/drawing/2014/main" id="{5692F783-6616-42C3-9C59-E0587FC79DF5}"/>
              </a:ext>
            </a:extLst>
          </p:cNvPr>
          <p:cNvSpPr>
            <a:spLocks noGrp="1"/>
          </p:cNvSpPr>
          <p:nvPr/>
        </p:nvSpPr>
        <p:spPr>
          <a:xfrm>
            <a:off x="9239250" y="3762375"/>
            <a:ext cx="1619250" cy="552450"/>
          </a:xfrm>
          <a:prstGeom prst="rect">
            <a:avLst/>
          </a:prstGeom>
          <a:noFill/>
          <a:ln w="0">
            <a:noFill/>
          </a:ln>
        </p:spPr>
        <p:txBody>
          <a:bodyPr lIns="0" tIns="0" rIns="0" bIns="0" anchor="t">
            <a:normAutofit fontScale="86309"/>
          </a:bodyPr>
          <a:lstStyle/>
          <a:p>
            <a:pPr algn="ctr">
              <a:defRPr sz="2100" b="1">
                <a:solidFill>
                  <a:srgbClr val="17A673"/>
                </a:solidFill>
                <a:latin typeface="Arial"/>
                <a:ea typeface="Arial"/>
                <a:cs typeface="Arial"/>
              </a:defRPr>
            </a:pPr>
            <a:r>
              <a:rPr sz="2100" b="1">
                <a:solidFill>
                  <a:srgbClr val="17A673"/>
                </a:solidFill>
                <a:latin typeface="Arial"/>
                <a:ea typeface="Arial"/>
                <a:cs typeface="Arial"/>
              </a:rPr>
              <a:t>Encoded</a:t>
            </a:r>
          </a:p>
          <a:p>
            <a:pPr algn="ctr">
              <a:defRPr sz="2100" b="1">
                <a:solidFill>
                  <a:srgbClr val="17A673"/>
                </a:solidFill>
                <a:latin typeface="Arial"/>
                <a:ea typeface="Arial"/>
                <a:cs typeface="Arial"/>
              </a:defRPr>
            </a:pPr>
            <a:r>
              <a:rPr sz="2100" b="1">
                <a:solidFill>
                  <a:srgbClr val="17A673"/>
                </a:solidFill>
                <a:latin typeface="Arial"/>
                <a:ea typeface="Arial"/>
                <a:cs typeface="Arial"/>
              </a:rPr>
              <a:t>fields</a:t>
            </a:r>
          </a:p>
        </p:txBody>
      </p:sp>
      <p:sp>
        <p:nvSpPr>
          <p:cNvPr id="19" name="Rectangle 18">
            <a:extLst>
              <a:ext uri="{FF2B5EF4-FFF2-40B4-BE49-F238E27FC236}">
                <a16:creationId xmlns:a16="http://schemas.microsoft.com/office/drawing/2014/main" id="{B06D93B5-CDDC-43F0-B79A-E5DD3932858D}"/>
              </a:ext>
            </a:extLst>
          </p:cNvPr>
          <p:cNvSpPr>
            <a:spLocks noGrp="1"/>
          </p:cNvSpPr>
          <p:nvPr/>
        </p:nvSpPr>
        <p:spPr>
          <a:xfrm>
            <a:off x="6524625" y="5048250"/>
            <a:ext cx="4572000" cy="228600"/>
          </a:xfrm>
          <a:prstGeom prst="rect">
            <a:avLst/>
          </a:prstGeom>
          <a:noFill/>
          <a:ln w="0">
            <a:noFill/>
          </a:ln>
        </p:spPr>
        <p:txBody>
          <a:bodyPr lIns="0" tIns="0" rIns="0" bIns="0" anchor="t">
            <a:normAutofit/>
          </a:bodyPr>
          <a:lstStyle/>
          <a:p>
            <a:pPr algn="ctr">
              <a:defRPr sz="1350">
                <a:solidFill>
                  <a:srgbClr val="BFD0E7"/>
                </a:solidFill>
                <a:latin typeface="Arial"/>
                <a:ea typeface="Arial"/>
                <a:cs typeface="Arial"/>
              </a:defRPr>
            </a:pPr>
            <a:r>
              <a:rPr sz="1350">
                <a:solidFill>
                  <a:srgbClr val="BFD0E7"/>
                </a:solidFill>
                <a:latin typeface="Arial"/>
                <a:ea typeface="Arial"/>
                <a:cs typeface="Arial"/>
              </a:rPr>
              <a:t>Compare before approval</a:t>
            </a:r>
          </a:p>
        </p:txBody>
      </p:sp>
      <p:sp>
        <p:nvSpPr>
          <p:cNvPr id="20" name="Rectangle 19">
            <a:extLst>
              <a:ext uri="{FF2B5EF4-FFF2-40B4-BE49-F238E27FC236}">
                <a16:creationId xmlns:a16="http://schemas.microsoft.com/office/drawing/2014/main" id="{28258B8A-2A78-440C-A7FF-BF51396A2B37}"/>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1" name="Rectangle 20">
            <a:extLst>
              <a:ext uri="{FF2B5EF4-FFF2-40B4-BE49-F238E27FC236}">
                <a16:creationId xmlns:a16="http://schemas.microsoft.com/office/drawing/2014/main" id="{869742B7-B90F-4CFE-978E-962A3FFC4085}"/>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11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79697461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0243E"/>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7B8A73D5-3CF7-4F57-A0CE-63D918106AB5}"/>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8EB7FF"/>
                </a:solidFill>
                <a:latin typeface="Arial"/>
                <a:ea typeface="Arial"/>
                <a:cs typeface="Arial"/>
              </a:defRPr>
            </a:pPr>
            <a:r>
              <a:rPr sz="975" b="1">
                <a:solidFill>
                  <a:srgbClr val="8EB7FF"/>
                </a:solidFill>
                <a:latin typeface="Arial"/>
                <a:ea typeface="Arial"/>
                <a:cs typeface="Arial"/>
              </a:rPr>
              <a:t>CONTROLS</a:t>
            </a:r>
          </a:p>
        </p:txBody>
      </p:sp>
      <p:sp>
        <p:nvSpPr>
          <p:cNvPr id="2" name="Rectangle 1">
            <a:extLst>
              <a:ext uri="{FF2B5EF4-FFF2-40B4-BE49-F238E27FC236}">
                <a16:creationId xmlns:a16="http://schemas.microsoft.com/office/drawing/2014/main" id="{40DCFC83-B488-4C89-9521-7DF440B70A28}"/>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Security, roles, and deletion</a:t>
            </a:r>
          </a:p>
        </p:txBody>
      </p:sp>
      <p:sp>
        <p:nvSpPr>
          <p:cNvPr id="3" name="Rectangle 2">
            <a:extLst>
              <a:ext uri="{FF2B5EF4-FFF2-40B4-BE49-F238E27FC236}">
                <a16:creationId xmlns:a16="http://schemas.microsoft.com/office/drawing/2014/main" id="{FE0BDA58-3A21-45DE-BAD6-1BED539060BC}"/>
              </a:ext>
            </a:extLst>
          </p:cNvPr>
          <p:cNvSpPr>
            <a:spLocks noGrp="1"/>
          </p:cNvSpPr>
          <p:nvPr/>
        </p:nvSpPr>
        <p:spPr>
          <a:xfrm>
            <a:off x="609600" y="1200150"/>
            <a:ext cx="685800" cy="47625"/>
          </a:xfrm>
          <a:prstGeom prst="rect">
            <a:avLst/>
          </a:prstGeom>
          <a:solidFill>
            <a:srgbClr val="4A8DFF"/>
          </a:solidFill>
          <a:ln w="0">
            <a:noFill/>
          </a:ln>
        </p:spPr>
        <p:txBody>
          <a:bodyPr/>
          <a:p/>
        </p:txBody>
      </p:sp>
      <p:sp>
        <p:nvSpPr>
          <p:cNvPr id="4" name="Rectangle 3">
            <a:extLst>
              <a:ext uri="{FF2B5EF4-FFF2-40B4-BE49-F238E27FC236}">
                <a16:creationId xmlns:a16="http://schemas.microsoft.com/office/drawing/2014/main" id="{53F029D7-A65A-470C-B6C1-9D89F2681F68}"/>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BFD0E7"/>
                </a:solidFill>
                <a:latin typeface="Arial"/>
                <a:ea typeface="Arial"/>
                <a:cs typeface="Arial"/>
              </a:defRPr>
            </a:pPr>
            <a:r>
              <a:rPr sz="1650">
                <a:solidFill>
                  <a:srgbClr val="BFD0E7"/>
                </a:solidFill>
                <a:latin typeface="Arial"/>
                <a:ea typeface="Arial"/>
                <a:cs typeface="Arial"/>
              </a:rPr>
              <a:t>Protection is layered across login, sessions, files, permissions, and logs.</a:t>
            </a:r>
          </a:p>
        </p:txBody>
      </p:sp>
      <p:pic>
        <p:nvPicPr>
          <p:cNvPr id="28" name="Picture 27"/>
          <p:cNvPicPr>
            <a:picLocks noChangeAspect="1"/>
          </p:cNvPicPr>
          <p:nvPr/>
        </p:nvPicPr>
        <p:blipFill>
          <a:blip r:embed="rId3"/>
          <a:stretch/>
        </p:blipFill>
        <p:spPr>
          <a:xfrm>
            <a:off x="7953375" y="2270590"/>
            <a:ext cx="3524250" cy="1983445"/>
          </a:xfrm>
          <a:prstGeom prst="roundRect">
            <a:avLst>
              <a:gd name="adj" fmla="val 8163"/>
            </a:avLst>
          </a:prstGeom>
        </p:spPr>
      </p:pic>
      <p:sp>
        <p:nvSpPr>
          <p:cNvPr id="6" name="Rectangle: Rounded Corners 5">
            <a:extLst>
              <a:ext uri="{FF2B5EF4-FFF2-40B4-BE49-F238E27FC236}">
                <a16:creationId xmlns:a16="http://schemas.microsoft.com/office/drawing/2014/main" id="{ADAE3396-EF22-40A3-833F-90435470B7D8}"/>
              </a:ext>
            </a:extLst>
          </p:cNvPr>
          <p:cNvSpPr>
            <a:spLocks noGrp="1"/>
          </p:cNvSpPr>
          <p:nvPr/>
        </p:nvSpPr>
        <p:spPr>
          <a:xfrm>
            <a:off x="666750" y="2381250"/>
            <a:ext cx="3143250" cy="857250"/>
          </a:xfrm>
          <a:prstGeom prst="roundRect">
            <a:avLst>
              <a:gd name="adj" fmla="val 8889"/>
            </a:avLst>
          </a:prstGeom>
          <a:solidFill>
            <a:srgbClr val="183657"/>
          </a:solidFill>
          <a:ln w="19050">
            <a:solidFill>
              <a:srgbClr val="2F6BDE"/>
            </a:solidFill>
          </a:ln>
        </p:spPr>
        <p:txBody>
          <a:bodyPr/>
          <a:p/>
        </p:txBody>
      </p:sp>
      <p:sp>
        <p:nvSpPr>
          <p:cNvPr id="7" name="Rectangle 6">
            <a:extLst>
              <a:ext uri="{FF2B5EF4-FFF2-40B4-BE49-F238E27FC236}">
                <a16:creationId xmlns:a16="http://schemas.microsoft.com/office/drawing/2014/main" id="{21D8B289-29F4-4E90-86F6-B3F943CB5118}"/>
              </a:ext>
            </a:extLst>
          </p:cNvPr>
          <p:cNvSpPr>
            <a:spLocks noGrp="1"/>
          </p:cNvSpPr>
          <p:nvPr/>
        </p:nvSpPr>
        <p:spPr>
          <a:xfrm>
            <a:off x="838200" y="2533650"/>
            <a:ext cx="2800350" cy="228600"/>
          </a:xfrm>
          <a:prstGeom prst="rect">
            <a:avLst/>
          </a:prstGeom>
          <a:noFill/>
          <a:ln w="0">
            <a:noFill/>
          </a:ln>
        </p:spPr>
        <p:txBody>
          <a:bodyPr lIns="0" tIns="0" rIns="0" bIns="0" anchor="t">
            <a:normAutofit/>
          </a:bodyPr>
          <a:lstStyle/>
          <a:p>
            <a:pPr algn="l">
              <a:defRPr sz="1425" b="1">
                <a:solidFill>
                  <a:srgbClr val="FFFFFF"/>
                </a:solidFill>
                <a:latin typeface="Arial"/>
                <a:ea typeface="Arial"/>
                <a:cs typeface="Arial"/>
              </a:defRPr>
            </a:pPr>
            <a:r>
              <a:rPr sz="1425" b="1">
                <a:solidFill>
                  <a:srgbClr val="FFFFFF"/>
                </a:solidFill>
                <a:latin typeface="Arial"/>
                <a:ea typeface="Arial"/>
                <a:cs typeface="Arial"/>
              </a:rPr>
              <a:t>Rate limiting</a:t>
            </a:r>
          </a:p>
        </p:txBody>
      </p:sp>
      <p:sp>
        <p:nvSpPr>
          <p:cNvPr id="8" name="Rectangle 7">
            <a:extLst>
              <a:ext uri="{FF2B5EF4-FFF2-40B4-BE49-F238E27FC236}">
                <a16:creationId xmlns:a16="http://schemas.microsoft.com/office/drawing/2014/main" id="{E9593196-FA0C-4448-AE9D-3872EE58BF26}"/>
              </a:ext>
            </a:extLst>
          </p:cNvPr>
          <p:cNvSpPr>
            <a:spLocks noGrp="1"/>
          </p:cNvSpPr>
          <p:nvPr/>
        </p:nvSpPr>
        <p:spPr>
          <a:xfrm>
            <a:off x="838200" y="2847975"/>
            <a:ext cx="2800350" cy="266700"/>
          </a:xfrm>
          <a:prstGeom prst="rect">
            <a:avLst/>
          </a:prstGeom>
          <a:noFill/>
          <a:ln w="0">
            <a:noFill/>
          </a:ln>
        </p:spPr>
        <p:txBody>
          <a:bodyPr lIns="0" tIns="0" rIns="0" bIns="0" anchor="t">
            <a:normAutofit/>
          </a:bodyPr>
          <a:lstStyle/>
          <a:p>
            <a:pPr algn="l">
              <a:defRPr sz="1125">
                <a:solidFill>
                  <a:srgbClr val="BFD0E7"/>
                </a:solidFill>
                <a:latin typeface="Arial"/>
                <a:ea typeface="Arial"/>
                <a:cs typeface="Arial"/>
              </a:defRPr>
            </a:pPr>
            <a:r>
              <a:rPr sz="1125">
                <a:solidFill>
                  <a:srgbClr val="BFD0E7"/>
                </a:solidFill>
                <a:latin typeface="Arial"/>
                <a:ea typeface="Arial"/>
                <a:cs typeface="Arial"/>
              </a:rPr>
              <a:t>5 attempts / 5-minute window</a:t>
            </a:r>
          </a:p>
        </p:txBody>
      </p:sp>
      <p:sp>
        <p:nvSpPr>
          <p:cNvPr id="9" name="Rectangle: Rounded Corners 8">
            <a:extLst>
              <a:ext uri="{FF2B5EF4-FFF2-40B4-BE49-F238E27FC236}">
                <a16:creationId xmlns:a16="http://schemas.microsoft.com/office/drawing/2014/main" id="{CE31935A-CC0E-4141-944D-03069CC6F60F}"/>
              </a:ext>
            </a:extLst>
          </p:cNvPr>
          <p:cNvSpPr>
            <a:spLocks noGrp="1"/>
          </p:cNvSpPr>
          <p:nvPr/>
        </p:nvSpPr>
        <p:spPr>
          <a:xfrm>
            <a:off x="4238625" y="2381250"/>
            <a:ext cx="3143250" cy="857250"/>
          </a:xfrm>
          <a:prstGeom prst="roundRect">
            <a:avLst>
              <a:gd name="adj" fmla="val 8889"/>
            </a:avLst>
          </a:prstGeom>
          <a:solidFill>
            <a:srgbClr val="183657"/>
          </a:solidFill>
          <a:ln w="19050">
            <a:solidFill>
              <a:srgbClr val="17A673"/>
            </a:solidFill>
          </a:ln>
        </p:spPr>
        <p:txBody>
          <a:bodyPr/>
          <a:p/>
        </p:txBody>
      </p:sp>
      <p:sp>
        <p:nvSpPr>
          <p:cNvPr id="10" name="Rectangle 9">
            <a:extLst>
              <a:ext uri="{FF2B5EF4-FFF2-40B4-BE49-F238E27FC236}">
                <a16:creationId xmlns:a16="http://schemas.microsoft.com/office/drawing/2014/main" id="{660074E2-2E60-47C8-9A88-BEDF3C31990A}"/>
              </a:ext>
            </a:extLst>
          </p:cNvPr>
          <p:cNvSpPr>
            <a:spLocks noGrp="1"/>
          </p:cNvSpPr>
          <p:nvPr/>
        </p:nvSpPr>
        <p:spPr>
          <a:xfrm>
            <a:off x="4410075" y="2533650"/>
            <a:ext cx="2800350" cy="228600"/>
          </a:xfrm>
          <a:prstGeom prst="rect">
            <a:avLst/>
          </a:prstGeom>
          <a:noFill/>
          <a:ln w="0">
            <a:noFill/>
          </a:ln>
        </p:spPr>
        <p:txBody>
          <a:bodyPr lIns="0" tIns="0" rIns="0" bIns="0" anchor="t">
            <a:normAutofit/>
          </a:bodyPr>
          <a:lstStyle/>
          <a:p>
            <a:pPr algn="l">
              <a:defRPr sz="1425" b="1">
                <a:solidFill>
                  <a:srgbClr val="FFFFFF"/>
                </a:solidFill>
                <a:latin typeface="Arial"/>
                <a:ea typeface="Arial"/>
                <a:cs typeface="Arial"/>
              </a:defRPr>
            </a:pPr>
            <a:r>
              <a:rPr sz="1425" b="1">
                <a:solidFill>
                  <a:srgbClr val="FFFFFF"/>
                </a:solidFill>
                <a:latin typeface="Arial"/>
                <a:ea typeface="Arial"/>
                <a:cs typeface="Arial"/>
              </a:rPr>
              <a:t>Session timeout</a:t>
            </a:r>
          </a:p>
        </p:txBody>
      </p:sp>
      <p:sp>
        <p:nvSpPr>
          <p:cNvPr id="11" name="Rectangle 10">
            <a:extLst>
              <a:ext uri="{FF2B5EF4-FFF2-40B4-BE49-F238E27FC236}">
                <a16:creationId xmlns:a16="http://schemas.microsoft.com/office/drawing/2014/main" id="{8AB0005B-FC4F-45A5-8643-27340380D1B9}"/>
              </a:ext>
            </a:extLst>
          </p:cNvPr>
          <p:cNvSpPr>
            <a:spLocks noGrp="1"/>
          </p:cNvSpPr>
          <p:nvPr/>
        </p:nvSpPr>
        <p:spPr>
          <a:xfrm>
            <a:off x="4410075" y="2847975"/>
            <a:ext cx="2800350" cy="266700"/>
          </a:xfrm>
          <a:prstGeom prst="rect">
            <a:avLst/>
          </a:prstGeom>
          <a:noFill/>
          <a:ln w="0">
            <a:noFill/>
          </a:ln>
        </p:spPr>
        <p:txBody>
          <a:bodyPr lIns="0" tIns="0" rIns="0" bIns="0" anchor="t">
            <a:normAutofit/>
          </a:bodyPr>
          <a:lstStyle/>
          <a:p>
            <a:pPr algn="l">
              <a:defRPr sz="1125">
                <a:solidFill>
                  <a:srgbClr val="BFD0E7"/>
                </a:solidFill>
                <a:latin typeface="Arial"/>
                <a:ea typeface="Arial"/>
                <a:cs typeface="Arial"/>
              </a:defRPr>
            </a:pPr>
            <a:r>
              <a:rPr sz="1125">
                <a:solidFill>
                  <a:srgbClr val="BFD0E7"/>
                </a:solidFill>
                <a:latin typeface="Arial"/>
                <a:ea typeface="Arial"/>
                <a:cs typeface="Arial"/>
              </a:rPr>
              <a:t>60 minutes inactive by default</a:t>
            </a:r>
          </a:p>
        </p:txBody>
      </p:sp>
      <p:sp>
        <p:nvSpPr>
          <p:cNvPr id="12" name="Rectangle: Rounded Corners 11">
            <a:extLst>
              <a:ext uri="{FF2B5EF4-FFF2-40B4-BE49-F238E27FC236}">
                <a16:creationId xmlns:a16="http://schemas.microsoft.com/office/drawing/2014/main" id="{4E0829A6-111E-4052-BA95-BD5F0FE82985}"/>
              </a:ext>
            </a:extLst>
          </p:cNvPr>
          <p:cNvSpPr>
            <a:spLocks noGrp="1"/>
          </p:cNvSpPr>
          <p:nvPr/>
        </p:nvSpPr>
        <p:spPr>
          <a:xfrm>
            <a:off x="666750" y="3476625"/>
            <a:ext cx="3143250" cy="857250"/>
          </a:xfrm>
          <a:prstGeom prst="roundRect">
            <a:avLst>
              <a:gd name="adj" fmla="val 8889"/>
            </a:avLst>
          </a:prstGeom>
          <a:solidFill>
            <a:srgbClr val="183657"/>
          </a:solidFill>
          <a:ln w="19050">
            <a:solidFill>
              <a:srgbClr val="7B61D1"/>
            </a:solidFill>
          </a:ln>
        </p:spPr>
        <p:txBody>
          <a:bodyPr/>
          <a:p/>
        </p:txBody>
      </p:sp>
      <p:sp>
        <p:nvSpPr>
          <p:cNvPr id="13" name="Rectangle 12">
            <a:extLst>
              <a:ext uri="{FF2B5EF4-FFF2-40B4-BE49-F238E27FC236}">
                <a16:creationId xmlns:a16="http://schemas.microsoft.com/office/drawing/2014/main" id="{29BC8384-67E9-462D-9764-2AB9CFB59F94}"/>
              </a:ext>
            </a:extLst>
          </p:cNvPr>
          <p:cNvSpPr>
            <a:spLocks noGrp="1"/>
          </p:cNvSpPr>
          <p:nvPr/>
        </p:nvSpPr>
        <p:spPr>
          <a:xfrm>
            <a:off x="838200" y="3629025"/>
            <a:ext cx="2800350" cy="228600"/>
          </a:xfrm>
          <a:prstGeom prst="rect">
            <a:avLst/>
          </a:prstGeom>
          <a:noFill/>
          <a:ln w="0">
            <a:noFill/>
          </a:ln>
        </p:spPr>
        <p:txBody>
          <a:bodyPr lIns="0" tIns="0" rIns="0" bIns="0" anchor="t">
            <a:normAutofit/>
          </a:bodyPr>
          <a:lstStyle/>
          <a:p>
            <a:pPr algn="l">
              <a:defRPr sz="1425" b="1">
                <a:solidFill>
                  <a:srgbClr val="FFFFFF"/>
                </a:solidFill>
                <a:latin typeface="Arial"/>
                <a:ea typeface="Arial"/>
                <a:cs typeface="Arial"/>
              </a:defRPr>
            </a:pPr>
            <a:r>
              <a:rPr sz="1425" b="1">
                <a:solidFill>
                  <a:srgbClr val="FFFFFF"/>
                </a:solidFill>
                <a:latin typeface="Arial"/>
                <a:ea typeface="Arial"/>
                <a:cs typeface="Arial"/>
              </a:rPr>
              <a:t>Roles</a:t>
            </a:r>
          </a:p>
        </p:txBody>
      </p:sp>
      <p:sp>
        <p:nvSpPr>
          <p:cNvPr id="14" name="Rectangle 13">
            <a:extLst>
              <a:ext uri="{FF2B5EF4-FFF2-40B4-BE49-F238E27FC236}">
                <a16:creationId xmlns:a16="http://schemas.microsoft.com/office/drawing/2014/main" id="{D3D75663-E1F5-4DF5-B4B9-3BAB63F36B89}"/>
              </a:ext>
            </a:extLst>
          </p:cNvPr>
          <p:cNvSpPr>
            <a:spLocks noGrp="1"/>
          </p:cNvSpPr>
          <p:nvPr/>
        </p:nvSpPr>
        <p:spPr>
          <a:xfrm>
            <a:off x="838200" y="3943350"/>
            <a:ext cx="2800350" cy="266700"/>
          </a:xfrm>
          <a:prstGeom prst="rect">
            <a:avLst/>
          </a:prstGeom>
          <a:noFill/>
          <a:ln w="0">
            <a:noFill/>
          </a:ln>
        </p:spPr>
        <p:txBody>
          <a:bodyPr lIns="0" tIns="0" rIns="0" bIns="0" anchor="t">
            <a:normAutofit/>
          </a:bodyPr>
          <a:lstStyle/>
          <a:p>
            <a:pPr algn="l">
              <a:defRPr sz="1125">
                <a:solidFill>
                  <a:srgbClr val="BFD0E7"/>
                </a:solidFill>
                <a:latin typeface="Arial"/>
                <a:ea typeface="Arial"/>
                <a:cs typeface="Arial"/>
              </a:defRPr>
            </a:pPr>
            <a:r>
              <a:rPr sz="1125">
                <a:solidFill>
                  <a:srgbClr val="BFD0E7"/>
                </a:solidFill>
                <a:latin typeface="Arial"/>
                <a:ea typeface="Arial"/>
                <a:cs typeface="Arial"/>
              </a:rPr>
              <a:t>Admin • Encoder • Viewer</a:t>
            </a:r>
          </a:p>
        </p:txBody>
      </p:sp>
      <p:sp>
        <p:nvSpPr>
          <p:cNvPr id="15" name="Rectangle: Rounded Corners 14">
            <a:extLst>
              <a:ext uri="{FF2B5EF4-FFF2-40B4-BE49-F238E27FC236}">
                <a16:creationId xmlns:a16="http://schemas.microsoft.com/office/drawing/2014/main" id="{5CE34D04-14EC-46F2-9618-5B2AB0A12004}"/>
              </a:ext>
            </a:extLst>
          </p:cNvPr>
          <p:cNvSpPr>
            <a:spLocks noGrp="1"/>
          </p:cNvSpPr>
          <p:nvPr/>
        </p:nvSpPr>
        <p:spPr>
          <a:xfrm>
            <a:off x="4238625" y="3476625"/>
            <a:ext cx="3143250" cy="857250"/>
          </a:xfrm>
          <a:prstGeom prst="roundRect">
            <a:avLst>
              <a:gd name="adj" fmla="val 8889"/>
            </a:avLst>
          </a:prstGeom>
          <a:solidFill>
            <a:srgbClr val="183657"/>
          </a:solidFill>
          <a:ln w="19050">
            <a:solidFill>
              <a:srgbClr val="F6B638"/>
            </a:solidFill>
          </a:ln>
        </p:spPr>
        <p:txBody>
          <a:bodyPr/>
          <a:p/>
        </p:txBody>
      </p:sp>
      <p:sp>
        <p:nvSpPr>
          <p:cNvPr id="16" name="Rectangle 15">
            <a:extLst>
              <a:ext uri="{FF2B5EF4-FFF2-40B4-BE49-F238E27FC236}">
                <a16:creationId xmlns:a16="http://schemas.microsoft.com/office/drawing/2014/main" id="{C3E7FC54-029E-4204-8059-58234490E729}"/>
              </a:ext>
            </a:extLst>
          </p:cNvPr>
          <p:cNvSpPr>
            <a:spLocks noGrp="1"/>
          </p:cNvSpPr>
          <p:nvPr/>
        </p:nvSpPr>
        <p:spPr>
          <a:xfrm>
            <a:off x="4410075" y="3629025"/>
            <a:ext cx="2800350" cy="228600"/>
          </a:xfrm>
          <a:prstGeom prst="rect">
            <a:avLst/>
          </a:prstGeom>
          <a:noFill/>
          <a:ln w="0">
            <a:noFill/>
          </a:ln>
        </p:spPr>
        <p:txBody>
          <a:bodyPr lIns="0" tIns="0" rIns="0" bIns="0" anchor="t">
            <a:normAutofit/>
          </a:bodyPr>
          <a:lstStyle/>
          <a:p>
            <a:pPr algn="l">
              <a:defRPr sz="1425" b="1">
                <a:solidFill>
                  <a:srgbClr val="FFFFFF"/>
                </a:solidFill>
                <a:latin typeface="Arial"/>
                <a:ea typeface="Arial"/>
                <a:cs typeface="Arial"/>
              </a:defRPr>
            </a:pPr>
            <a:r>
              <a:rPr sz="1425" b="1">
                <a:solidFill>
                  <a:srgbClr val="FFFFFF"/>
                </a:solidFill>
                <a:latin typeface="Arial"/>
                <a:ea typeface="Arial"/>
                <a:cs typeface="Arial"/>
              </a:rPr>
              <a:t>Audit logs</a:t>
            </a:r>
          </a:p>
        </p:txBody>
      </p:sp>
      <p:sp>
        <p:nvSpPr>
          <p:cNvPr id="17" name="Rectangle 16">
            <a:extLst>
              <a:ext uri="{FF2B5EF4-FFF2-40B4-BE49-F238E27FC236}">
                <a16:creationId xmlns:a16="http://schemas.microsoft.com/office/drawing/2014/main" id="{252405BC-7A9B-44D0-95BA-23BF3A797C7E}"/>
              </a:ext>
            </a:extLst>
          </p:cNvPr>
          <p:cNvSpPr>
            <a:spLocks noGrp="1"/>
          </p:cNvSpPr>
          <p:nvPr/>
        </p:nvSpPr>
        <p:spPr>
          <a:xfrm>
            <a:off x="4410075" y="3943350"/>
            <a:ext cx="2800350" cy="266700"/>
          </a:xfrm>
          <a:prstGeom prst="rect">
            <a:avLst/>
          </a:prstGeom>
          <a:noFill/>
          <a:ln w="0">
            <a:noFill/>
          </a:ln>
        </p:spPr>
        <p:txBody>
          <a:bodyPr lIns="0" tIns="0" rIns="0" bIns="0" anchor="t">
            <a:normAutofit/>
          </a:bodyPr>
          <a:lstStyle/>
          <a:p>
            <a:pPr algn="l">
              <a:defRPr sz="1125">
                <a:solidFill>
                  <a:srgbClr val="BFD0E7"/>
                </a:solidFill>
                <a:latin typeface="Arial"/>
                <a:ea typeface="Arial"/>
                <a:cs typeface="Arial"/>
              </a:defRPr>
            </a:pPr>
            <a:r>
              <a:rPr sz="1125">
                <a:solidFill>
                  <a:srgbClr val="BFD0E7"/>
                </a:solidFill>
                <a:latin typeface="Arial"/>
                <a:ea typeface="Arial"/>
                <a:cs typeface="Arial"/>
              </a:rPr>
              <a:t>User • action • IP • device • time</a:t>
            </a:r>
          </a:p>
        </p:txBody>
      </p:sp>
      <p:sp>
        <p:nvSpPr>
          <p:cNvPr id="18" name="Rectangle: Rounded Corners 17">
            <a:extLst>
              <a:ext uri="{FF2B5EF4-FFF2-40B4-BE49-F238E27FC236}">
                <a16:creationId xmlns:a16="http://schemas.microsoft.com/office/drawing/2014/main" id="{31DA1BFE-66E0-485C-A2A1-505D9B88C626}"/>
              </a:ext>
            </a:extLst>
          </p:cNvPr>
          <p:cNvSpPr>
            <a:spLocks noGrp="1"/>
          </p:cNvSpPr>
          <p:nvPr/>
        </p:nvSpPr>
        <p:spPr>
          <a:xfrm>
            <a:off x="666750" y="4762500"/>
            <a:ext cx="6715125" cy="971550"/>
          </a:xfrm>
          <a:prstGeom prst="roundRect">
            <a:avLst>
              <a:gd name="adj" fmla="val 7843"/>
            </a:avLst>
          </a:prstGeom>
          <a:solidFill>
            <a:srgbClr val="183657"/>
          </a:solidFill>
          <a:ln w="19050">
            <a:solidFill>
              <a:srgbClr val="DD5577"/>
            </a:solidFill>
          </a:ln>
        </p:spPr>
        <p:txBody>
          <a:bodyPr/>
          <a:p/>
        </p:txBody>
      </p:sp>
      <p:sp>
        <p:nvSpPr>
          <p:cNvPr id="19" name="Rectangle 18">
            <a:extLst>
              <a:ext uri="{FF2B5EF4-FFF2-40B4-BE49-F238E27FC236}">
                <a16:creationId xmlns:a16="http://schemas.microsoft.com/office/drawing/2014/main" id="{05EBB922-DEA1-4448-B675-53CC38B5590F}"/>
              </a:ext>
            </a:extLst>
          </p:cNvPr>
          <p:cNvSpPr>
            <a:spLocks noGrp="1"/>
          </p:cNvSpPr>
          <p:nvPr/>
        </p:nvSpPr>
        <p:spPr>
          <a:xfrm>
            <a:off x="904875" y="4953000"/>
            <a:ext cx="1714500" cy="247650"/>
          </a:xfrm>
          <a:prstGeom prst="rect">
            <a:avLst/>
          </a:prstGeom>
          <a:noFill/>
          <a:ln w="0">
            <a:noFill/>
          </a:ln>
        </p:spPr>
        <p:txBody>
          <a:bodyPr lIns="0" tIns="0" rIns="0" bIns="0" anchor="t">
            <a:normAutofit/>
          </a:bodyPr>
          <a:lstStyle/>
          <a:p>
            <a:pPr algn="l">
              <a:defRPr sz="1500" b="1">
                <a:solidFill>
                  <a:srgbClr val="FFFFFF"/>
                </a:solidFill>
                <a:latin typeface="Arial"/>
                <a:ea typeface="Arial"/>
                <a:cs typeface="Arial"/>
              </a:defRPr>
            </a:pPr>
            <a:r>
              <a:rPr sz="1500" b="1">
                <a:solidFill>
                  <a:srgbClr val="FFFFFF"/>
                </a:solidFill>
                <a:latin typeface="Arial"/>
                <a:ea typeface="Arial"/>
                <a:cs typeface="Arial"/>
              </a:rPr>
              <a:t>Permanent delete</a:t>
            </a:r>
          </a:p>
        </p:txBody>
      </p:sp>
      <p:sp>
        <p:nvSpPr>
          <p:cNvPr id="20" name="Rectangle 19">
            <a:extLst>
              <a:ext uri="{FF2B5EF4-FFF2-40B4-BE49-F238E27FC236}">
                <a16:creationId xmlns:a16="http://schemas.microsoft.com/office/drawing/2014/main" id="{CADD97A6-5048-4EC4-BDD4-AC42229013E9}"/>
              </a:ext>
            </a:extLst>
          </p:cNvPr>
          <p:cNvSpPr>
            <a:spLocks noGrp="1"/>
          </p:cNvSpPr>
          <p:nvPr/>
        </p:nvSpPr>
        <p:spPr>
          <a:xfrm>
            <a:off x="904875" y="5286375"/>
            <a:ext cx="1714500" cy="266700"/>
          </a:xfrm>
          <a:prstGeom prst="rect">
            <a:avLst/>
          </a:prstGeom>
          <a:noFill/>
          <a:ln w="0">
            <a:noFill/>
          </a:ln>
        </p:spPr>
        <p:txBody>
          <a:bodyPr lIns="0" tIns="0" rIns="0" bIns="0" anchor="t">
            <a:normAutofit/>
          </a:bodyPr>
          <a:lstStyle/>
          <a:p>
            <a:pPr algn="l">
              <a:defRPr sz="1575" b="1">
                <a:solidFill>
                  <a:srgbClr val="FFB6C7"/>
                </a:solidFill>
                <a:latin typeface="Arial"/>
                <a:ea typeface="Arial"/>
                <a:cs typeface="Arial"/>
              </a:defRPr>
            </a:pPr>
            <a:r>
              <a:rPr sz="1575" b="1">
                <a:solidFill>
                  <a:srgbClr val="FFB6C7"/>
                </a:solidFill>
                <a:latin typeface="Arial"/>
                <a:ea typeface="Arial"/>
                <a:cs typeface="Arial"/>
              </a:rPr>
              <a:t>Admin only</a:t>
            </a:r>
          </a:p>
        </p:txBody>
      </p:sp>
      <p:sp>
        <p:nvSpPr>
          <p:cNvPr id="21" name="Rectangle 20">
            <a:extLst>
              <a:ext uri="{FF2B5EF4-FFF2-40B4-BE49-F238E27FC236}">
                <a16:creationId xmlns:a16="http://schemas.microsoft.com/office/drawing/2014/main" id="{7ACEBC6D-9506-43C7-A3D9-A6AC25609961}"/>
              </a:ext>
            </a:extLst>
          </p:cNvPr>
          <p:cNvSpPr>
            <a:spLocks noGrp="1"/>
          </p:cNvSpPr>
          <p:nvPr/>
        </p:nvSpPr>
        <p:spPr>
          <a:xfrm>
            <a:off x="2857500" y="5143500"/>
            <a:ext cx="4191000" cy="323850"/>
          </a:xfrm>
          <a:prstGeom prst="rect">
            <a:avLst/>
          </a:prstGeom>
          <a:noFill/>
          <a:ln w="0">
            <a:noFill/>
          </a:ln>
        </p:spPr>
        <p:txBody>
          <a:bodyPr lIns="0" tIns="0" rIns="0" bIns="0" anchor="t">
            <a:normAutofit fontScale="94380"/>
          </a:bodyPr>
          <a:lstStyle/>
          <a:p>
            <a:pPr algn="ctr">
              <a:defRPr sz="1350">
                <a:solidFill>
                  <a:srgbClr val="BFD0E7"/>
                </a:solidFill>
                <a:latin typeface="Arial"/>
                <a:ea typeface="Arial"/>
                <a:cs typeface="Arial"/>
              </a:defRPr>
            </a:pPr>
            <a:r>
              <a:rPr sz="1350">
                <a:solidFill>
                  <a:srgbClr val="BFD0E7"/>
                </a:solidFill>
                <a:latin typeface="Arial"/>
                <a:ea typeface="Arial"/>
                <a:cs typeface="Arial"/>
              </a:rPr>
              <a:t>Soft delete → Trash → Admin restore or permanent delete</a:t>
            </a:r>
          </a:p>
        </p:txBody>
      </p:sp>
      <p:sp>
        <p:nvSpPr>
          <p:cNvPr id="22" name="Rectangle 21">
            <a:extLst>
              <a:ext uri="{FF2B5EF4-FFF2-40B4-BE49-F238E27FC236}">
                <a16:creationId xmlns:a16="http://schemas.microsoft.com/office/drawing/2014/main" id="{B1A4F288-9FA5-4644-91C1-A4722CEA76FA}"/>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3" name="Rectangle 22">
            <a:extLst>
              <a:ext uri="{FF2B5EF4-FFF2-40B4-BE49-F238E27FC236}">
                <a16:creationId xmlns:a16="http://schemas.microsoft.com/office/drawing/2014/main" id="{516EBE7A-F0AF-46B0-9EDB-A0D5B5350B74}"/>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12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14296444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0243E"/>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29B3D54-DFFE-F91C-CC46-4630599BADFA}"/>
              </a:ext>
            </a:extLst>
          </p:cNvPr>
          <p:cNvSpPr txBox="1"/>
          <p:nvPr/>
        </p:nvSpPr>
        <p:spPr>
          <a:xfrm>
            <a:off x="609600" y="304800"/>
            <a:ext cx="5524500" cy="292388"/>
          </a:xfrm>
          <a:prstGeom prst="rect">
            <a:avLst/>
          </a:prstGeom>
          <a:noFill/>
        </p:spPr>
        <p:txBody>
          <a:bodyPr vert="horz" wrap="square" rtlCol="0">
            <a:spAutoFit/>
          </a:bodyPr>
          <a:lstStyle/>
          <a:p>
            <a:r>
              <a:rPr lang="en-US" sz="1300" b="1">
                <a:solidFill>
                  <a:srgbClr val="8EB7FF"/>
                </a:solidFill>
                <a:latin typeface="Arial" panose="020B0604020202020204" pitchFamily="34" charset="0"/>
              </a:rPr>
              <a:t>SECURITY - TECHNICAL VIEW</a:t>
            </a:r>
            <a:endParaRPr lang="en-AS" sz="1300" b="1">
              <a:solidFill>
                <a:srgbClr val="8EB7FF"/>
              </a:solidFill>
              <a:latin typeface="Arial" panose="020B0604020202020204" pitchFamily="34" charset="0"/>
            </a:endParaRPr>
          </a:p>
        </p:txBody>
      </p:sp>
      <p:sp>
        <p:nvSpPr>
          <p:cNvPr id="3" name="TextBox 2">
            <a:extLst>
              <a:ext uri="{FF2B5EF4-FFF2-40B4-BE49-F238E27FC236}">
                <a16:creationId xmlns:a16="http://schemas.microsoft.com/office/drawing/2014/main" id="{C55073B3-B9CE-D8F1-D2FD-0A78295AD521}"/>
              </a:ext>
            </a:extLst>
          </p:cNvPr>
          <p:cNvSpPr txBox="1"/>
          <p:nvPr/>
        </p:nvSpPr>
        <p:spPr>
          <a:xfrm>
            <a:off x="609600" y="552450"/>
            <a:ext cx="7143750" cy="646331"/>
          </a:xfrm>
          <a:prstGeom prst="rect">
            <a:avLst/>
          </a:prstGeom>
          <a:noFill/>
        </p:spPr>
        <p:txBody>
          <a:bodyPr vert="horz" wrap="square" rtlCol="0">
            <a:spAutoFit/>
          </a:bodyPr>
          <a:lstStyle/>
          <a:p>
            <a:r>
              <a:rPr lang="en-US" sz="3600" b="1">
                <a:solidFill>
                  <a:srgbClr val="FFFFFF"/>
                </a:solidFill>
                <a:latin typeface="Arial" panose="020B0604020202020204" pitchFamily="34" charset="0"/>
              </a:rPr>
              <a:t>How the controls work</a:t>
            </a:r>
            <a:endParaRPr lang="en-AS" sz="3600" b="1">
              <a:solidFill>
                <a:srgbClr val="FFFFFF"/>
              </a:solidFill>
              <a:latin typeface="Arial" panose="020B0604020202020204" pitchFamily="34" charset="0"/>
            </a:endParaRPr>
          </a:p>
        </p:txBody>
      </p:sp>
      <p:sp>
        <p:nvSpPr>
          <p:cNvPr id="4" name="Rectangle 3">
            <a:extLst>
              <a:ext uri="{FF2B5EF4-FFF2-40B4-BE49-F238E27FC236}">
                <a16:creationId xmlns:a16="http://schemas.microsoft.com/office/drawing/2014/main" id="{D978678B-B99D-1423-8EBF-B42021408919}"/>
              </a:ext>
            </a:extLst>
          </p:cNvPr>
          <p:cNvSpPr/>
          <p:nvPr/>
        </p:nvSpPr>
        <p:spPr>
          <a:xfrm>
            <a:off x="609600" y="1200150"/>
            <a:ext cx="685800" cy="47625"/>
          </a:xfrm>
          <a:prstGeom prst="rect">
            <a:avLst/>
          </a:prstGeom>
          <a:solidFill>
            <a:srgbClr val="4A8DFF"/>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5" name="TextBox 4">
            <a:extLst>
              <a:ext uri="{FF2B5EF4-FFF2-40B4-BE49-F238E27FC236}">
                <a16:creationId xmlns:a16="http://schemas.microsoft.com/office/drawing/2014/main" id="{9D8C0CFE-C375-0BA2-66F9-A80ABA5D892E}"/>
              </a:ext>
            </a:extLst>
          </p:cNvPr>
          <p:cNvSpPr txBox="1"/>
          <p:nvPr/>
        </p:nvSpPr>
        <p:spPr>
          <a:xfrm>
            <a:off x="609600" y="1466850"/>
            <a:ext cx="6858000" cy="769441"/>
          </a:xfrm>
          <a:prstGeom prst="rect">
            <a:avLst/>
          </a:prstGeom>
          <a:noFill/>
        </p:spPr>
        <p:txBody>
          <a:bodyPr vert="horz" wrap="square" rtlCol="0">
            <a:spAutoFit/>
          </a:bodyPr>
          <a:lstStyle/>
          <a:p>
            <a:r>
              <a:rPr lang="en-US" sz="2200">
                <a:solidFill>
                  <a:srgbClr val="BFD0E7"/>
                </a:solidFill>
                <a:latin typeface="Arial" panose="020B0604020202020204" pitchFamily="34" charset="0"/>
              </a:rPr>
              <a:t>Technical description for IT and system administrators.</a:t>
            </a:r>
            <a:endParaRPr lang="en-AS" sz="2200">
              <a:solidFill>
                <a:srgbClr val="BFD0E7"/>
              </a:solidFill>
              <a:latin typeface="Arial" panose="020B0604020202020204" pitchFamily="34" charset="0"/>
            </a:endParaRPr>
          </a:p>
        </p:txBody>
      </p:sp>
      <p:pic>
        <p:nvPicPr>
          <p:cNvPr id="7" name="Picture 6">
            <a:extLst>
              <a:ext uri="{FF2B5EF4-FFF2-40B4-BE49-F238E27FC236}">
                <a16:creationId xmlns:a16="http://schemas.microsoft.com/office/drawing/2014/main" id="{E4EB0E36-2B89-07C3-344B-DCDE1A42709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7905750" y="2095500"/>
            <a:ext cx="3667125" cy="2333625"/>
          </a:xfrm>
          <a:prstGeom prst="rect">
            <a:avLst/>
          </a:prstGeom>
        </p:spPr>
      </p:pic>
      <p:sp>
        <p:nvSpPr>
          <p:cNvPr id="8" name="Rectangle: Rounded Corners 7">
            <a:extLst>
              <a:ext uri="{FF2B5EF4-FFF2-40B4-BE49-F238E27FC236}">
                <a16:creationId xmlns:a16="http://schemas.microsoft.com/office/drawing/2014/main" id="{93B56BE4-4E5B-1BFF-EF10-0BF5DCFBD86E}"/>
              </a:ext>
            </a:extLst>
          </p:cNvPr>
          <p:cNvSpPr/>
          <p:nvPr/>
        </p:nvSpPr>
        <p:spPr>
          <a:xfrm>
            <a:off x="666750" y="2381250"/>
            <a:ext cx="3143250" cy="857250"/>
          </a:xfrm>
          <a:prstGeom prst="roundRect">
            <a:avLst/>
          </a:prstGeom>
          <a:solidFill>
            <a:srgbClr val="183657"/>
          </a:solidFill>
          <a:ln w="16510">
            <a:solidFill>
              <a:srgbClr val="2F6BD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9" name="TextBox 8">
            <a:extLst>
              <a:ext uri="{FF2B5EF4-FFF2-40B4-BE49-F238E27FC236}">
                <a16:creationId xmlns:a16="http://schemas.microsoft.com/office/drawing/2014/main" id="{996B570C-3ED2-0B6A-4DA6-02689BAE0A41}"/>
              </a:ext>
            </a:extLst>
          </p:cNvPr>
          <p:cNvSpPr txBox="1"/>
          <p:nvPr/>
        </p:nvSpPr>
        <p:spPr>
          <a:xfrm>
            <a:off x="838200" y="2533650"/>
            <a:ext cx="2800350" cy="384721"/>
          </a:xfrm>
          <a:prstGeom prst="rect">
            <a:avLst/>
          </a:prstGeom>
          <a:noFill/>
        </p:spPr>
        <p:txBody>
          <a:bodyPr vert="horz" wrap="square" rtlCol="0">
            <a:spAutoFit/>
          </a:bodyPr>
          <a:lstStyle/>
          <a:p>
            <a:r>
              <a:rPr lang="en-US" sz="1900" b="1">
                <a:solidFill>
                  <a:srgbClr val="FFFFFF"/>
                </a:solidFill>
                <a:latin typeface="Arial" panose="020B0604020202020204" pitchFamily="34" charset="0"/>
              </a:rPr>
              <a:t>Authentication</a:t>
            </a:r>
            <a:endParaRPr lang="en-AS" sz="1900" b="1">
              <a:solidFill>
                <a:srgbClr val="FFFFFF"/>
              </a:solidFill>
              <a:latin typeface="Arial" panose="020B0604020202020204" pitchFamily="34" charset="0"/>
            </a:endParaRPr>
          </a:p>
        </p:txBody>
      </p:sp>
      <p:sp>
        <p:nvSpPr>
          <p:cNvPr id="10" name="TextBox 9">
            <a:extLst>
              <a:ext uri="{FF2B5EF4-FFF2-40B4-BE49-F238E27FC236}">
                <a16:creationId xmlns:a16="http://schemas.microsoft.com/office/drawing/2014/main" id="{73D3527A-D224-FD3E-6AD5-972FB865B20F}"/>
              </a:ext>
            </a:extLst>
          </p:cNvPr>
          <p:cNvSpPr txBox="1"/>
          <p:nvPr/>
        </p:nvSpPr>
        <p:spPr>
          <a:xfrm>
            <a:off x="838200" y="2838450"/>
            <a:ext cx="2800350" cy="523220"/>
          </a:xfrm>
          <a:prstGeom prst="rect">
            <a:avLst/>
          </a:prstGeom>
          <a:noFill/>
        </p:spPr>
        <p:txBody>
          <a:bodyPr vert="horz" wrap="square" rtlCol="0">
            <a:spAutoFit/>
          </a:bodyPr>
          <a:lstStyle/>
          <a:p>
            <a:r>
              <a:rPr lang="en-US" sz="1400">
                <a:solidFill>
                  <a:srgbClr val="BFD0E7"/>
                </a:solidFill>
                <a:latin typeface="Arial" panose="020B0604020202020204" pitchFamily="34" charset="0"/>
              </a:rPr>
              <a:t>bcrypt | 5 attempts / 5 min | 3600-second timeout</a:t>
            </a:r>
            <a:endParaRPr lang="en-AS" sz="1400">
              <a:solidFill>
                <a:srgbClr val="BFD0E7"/>
              </a:solidFill>
              <a:latin typeface="Arial" panose="020B0604020202020204" pitchFamily="34" charset="0"/>
            </a:endParaRPr>
          </a:p>
        </p:txBody>
      </p:sp>
      <p:sp>
        <p:nvSpPr>
          <p:cNvPr id="11" name="Rectangle: Rounded Corners 10">
            <a:extLst>
              <a:ext uri="{FF2B5EF4-FFF2-40B4-BE49-F238E27FC236}">
                <a16:creationId xmlns:a16="http://schemas.microsoft.com/office/drawing/2014/main" id="{1F895B84-FFCE-EC32-4810-02D4A7A7564B}"/>
              </a:ext>
            </a:extLst>
          </p:cNvPr>
          <p:cNvSpPr/>
          <p:nvPr/>
        </p:nvSpPr>
        <p:spPr>
          <a:xfrm>
            <a:off x="4238625" y="2381250"/>
            <a:ext cx="3143250" cy="857250"/>
          </a:xfrm>
          <a:prstGeom prst="roundRect">
            <a:avLst/>
          </a:prstGeom>
          <a:solidFill>
            <a:srgbClr val="183657"/>
          </a:solidFill>
          <a:ln w="16510">
            <a:solidFill>
              <a:srgbClr val="17A6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2" name="TextBox 11">
            <a:extLst>
              <a:ext uri="{FF2B5EF4-FFF2-40B4-BE49-F238E27FC236}">
                <a16:creationId xmlns:a16="http://schemas.microsoft.com/office/drawing/2014/main" id="{D264AE39-5EE1-0128-5371-382047878976}"/>
              </a:ext>
            </a:extLst>
          </p:cNvPr>
          <p:cNvSpPr txBox="1"/>
          <p:nvPr/>
        </p:nvSpPr>
        <p:spPr>
          <a:xfrm>
            <a:off x="4410075" y="2533650"/>
            <a:ext cx="2800350" cy="384721"/>
          </a:xfrm>
          <a:prstGeom prst="rect">
            <a:avLst/>
          </a:prstGeom>
          <a:noFill/>
        </p:spPr>
        <p:txBody>
          <a:bodyPr vert="horz" wrap="square" rtlCol="0">
            <a:spAutoFit/>
          </a:bodyPr>
          <a:lstStyle/>
          <a:p>
            <a:r>
              <a:rPr lang="en-US" sz="1900" b="1">
                <a:solidFill>
                  <a:srgbClr val="FFFFFF"/>
                </a:solidFill>
                <a:latin typeface="Arial" panose="020B0604020202020204" pitchFamily="34" charset="0"/>
              </a:rPr>
              <a:t>Request protection</a:t>
            </a:r>
            <a:endParaRPr lang="en-AS" sz="1900" b="1">
              <a:solidFill>
                <a:srgbClr val="FFFFFF"/>
              </a:solidFill>
              <a:latin typeface="Arial" panose="020B0604020202020204" pitchFamily="34" charset="0"/>
            </a:endParaRPr>
          </a:p>
        </p:txBody>
      </p:sp>
      <p:sp>
        <p:nvSpPr>
          <p:cNvPr id="13" name="TextBox 12">
            <a:extLst>
              <a:ext uri="{FF2B5EF4-FFF2-40B4-BE49-F238E27FC236}">
                <a16:creationId xmlns:a16="http://schemas.microsoft.com/office/drawing/2014/main" id="{89A67C8F-6272-2164-4B6F-7840F575D6C0}"/>
              </a:ext>
            </a:extLst>
          </p:cNvPr>
          <p:cNvSpPr txBox="1"/>
          <p:nvPr/>
        </p:nvSpPr>
        <p:spPr>
          <a:xfrm>
            <a:off x="4410075" y="2838450"/>
            <a:ext cx="2800350" cy="523220"/>
          </a:xfrm>
          <a:prstGeom prst="rect">
            <a:avLst/>
          </a:prstGeom>
          <a:noFill/>
        </p:spPr>
        <p:txBody>
          <a:bodyPr vert="horz" wrap="square" rtlCol="0">
            <a:spAutoFit/>
          </a:bodyPr>
          <a:lstStyle/>
          <a:p>
            <a:r>
              <a:rPr lang="en-US" sz="1400">
                <a:solidFill>
                  <a:srgbClr val="BFD0E7"/>
                </a:solidFill>
                <a:latin typeface="Arial" panose="020B0604020202020204" pitchFamily="34" charset="0"/>
              </a:rPr>
              <a:t>CSRF | prepared SQL | security headers | auth checks</a:t>
            </a:r>
            <a:endParaRPr lang="en-AS" sz="1400">
              <a:solidFill>
                <a:srgbClr val="BFD0E7"/>
              </a:solidFill>
              <a:latin typeface="Arial" panose="020B0604020202020204" pitchFamily="34" charset="0"/>
            </a:endParaRPr>
          </a:p>
        </p:txBody>
      </p:sp>
      <p:sp>
        <p:nvSpPr>
          <p:cNvPr id="14" name="Rectangle: Rounded Corners 13">
            <a:extLst>
              <a:ext uri="{FF2B5EF4-FFF2-40B4-BE49-F238E27FC236}">
                <a16:creationId xmlns:a16="http://schemas.microsoft.com/office/drawing/2014/main" id="{8DD7AE73-90C1-5617-E6E4-A2EB502C72D9}"/>
              </a:ext>
            </a:extLst>
          </p:cNvPr>
          <p:cNvSpPr/>
          <p:nvPr/>
        </p:nvSpPr>
        <p:spPr>
          <a:xfrm>
            <a:off x="666750" y="3476625"/>
            <a:ext cx="3143250" cy="857250"/>
          </a:xfrm>
          <a:prstGeom prst="roundRect">
            <a:avLst/>
          </a:prstGeom>
          <a:solidFill>
            <a:srgbClr val="183657"/>
          </a:solidFill>
          <a:ln w="16510">
            <a:solidFill>
              <a:srgbClr val="F6B6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5" name="TextBox 14">
            <a:extLst>
              <a:ext uri="{FF2B5EF4-FFF2-40B4-BE49-F238E27FC236}">
                <a16:creationId xmlns:a16="http://schemas.microsoft.com/office/drawing/2014/main" id="{BF9A39EC-70A7-5452-353F-668E3B4AC99F}"/>
              </a:ext>
            </a:extLst>
          </p:cNvPr>
          <p:cNvSpPr txBox="1"/>
          <p:nvPr/>
        </p:nvSpPr>
        <p:spPr>
          <a:xfrm>
            <a:off x="838200" y="3629025"/>
            <a:ext cx="2800350" cy="384721"/>
          </a:xfrm>
          <a:prstGeom prst="rect">
            <a:avLst/>
          </a:prstGeom>
          <a:noFill/>
        </p:spPr>
        <p:txBody>
          <a:bodyPr vert="horz" wrap="square" rtlCol="0">
            <a:spAutoFit/>
          </a:bodyPr>
          <a:lstStyle/>
          <a:p>
            <a:r>
              <a:rPr lang="en-US" sz="1900" b="1">
                <a:solidFill>
                  <a:srgbClr val="FFFFFF"/>
                </a:solidFill>
                <a:latin typeface="Arial" panose="020B0604020202020204" pitchFamily="34" charset="0"/>
              </a:rPr>
              <a:t>File protection</a:t>
            </a:r>
            <a:endParaRPr lang="en-AS" sz="1900" b="1">
              <a:solidFill>
                <a:srgbClr val="FFFFFF"/>
              </a:solidFill>
              <a:latin typeface="Arial" panose="020B0604020202020204" pitchFamily="34" charset="0"/>
            </a:endParaRPr>
          </a:p>
        </p:txBody>
      </p:sp>
      <p:sp>
        <p:nvSpPr>
          <p:cNvPr id="16" name="TextBox 15">
            <a:extLst>
              <a:ext uri="{FF2B5EF4-FFF2-40B4-BE49-F238E27FC236}">
                <a16:creationId xmlns:a16="http://schemas.microsoft.com/office/drawing/2014/main" id="{C5AECDAA-D5D1-8AE4-C617-694D489EC74E}"/>
              </a:ext>
            </a:extLst>
          </p:cNvPr>
          <p:cNvSpPr txBox="1"/>
          <p:nvPr/>
        </p:nvSpPr>
        <p:spPr>
          <a:xfrm>
            <a:off x="838200" y="3933825"/>
            <a:ext cx="2800350" cy="523220"/>
          </a:xfrm>
          <a:prstGeom prst="rect">
            <a:avLst/>
          </a:prstGeom>
          <a:noFill/>
        </p:spPr>
        <p:txBody>
          <a:bodyPr vert="horz" wrap="square" rtlCol="0">
            <a:spAutoFit/>
          </a:bodyPr>
          <a:lstStyle/>
          <a:p>
            <a:r>
              <a:rPr lang="en-US" sz="1400">
                <a:solidFill>
                  <a:srgbClr val="BFD0E7"/>
                </a:solidFill>
                <a:latin typeface="Arial" panose="020B0604020202020204" pitchFamily="34" charset="0"/>
              </a:rPr>
              <a:t>MIME/path checks | size limits | SHA-256 PDF verification</a:t>
            </a:r>
            <a:endParaRPr lang="en-AS" sz="1400">
              <a:solidFill>
                <a:srgbClr val="BFD0E7"/>
              </a:solidFill>
              <a:latin typeface="Arial" panose="020B0604020202020204" pitchFamily="34" charset="0"/>
            </a:endParaRPr>
          </a:p>
        </p:txBody>
      </p:sp>
      <p:sp>
        <p:nvSpPr>
          <p:cNvPr id="17" name="Rectangle: Rounded Corners 16">
            <a:extLst>
              <a:ext uri="{FF2B5EF4-FFF2-40B4-BE49-F238E27FC236}">
                <a16:creationId xmlns:a16="http://schemas.microsoft.com/office/drawing/2014/main" id="{A4F840B9-6F19-6237-F9F1-6723DA0723D9}"/>
              </a:ext>
            </a:extLst>
          </p:cNvPr>
          <p:cNvSpPr/>
          <p:nvPr/>
        </p:nvSpPr>
        <p:spPr>
          <a:xfrm>
            <a:off x="4238625" y="3476625"/>
            <a:ext cx="3143250" cy="857250"/>
          </a:xfrm>
          <a:prstGeom prst="roundRect">
            <a:avLst/>
          </a:prstGeom>
          <a:solidFill>
            <a:srgbClr val="183657"/>
          </a:solidFill>
          <a:ln w="16510">
            <a:solidFill>
              <a:srgbClr val="7B61D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8" name="TextBox 17">
            <a:extLst>
              <a:ext uri="{FF2B5EF4-FFF2-40B4-BE49-F238E27FC236}">
                <a16:creationId xmlns:a16="http://schemas.microsoft.com/office/drawing/2014/main" id="{F19870FC-8132-B8A6-B2F1-401822D55AC3}"/>
              </a:ext>
            </a:extLst>
          </p:cNvPr>
          <p:cNvSpPr txBox="1"/>
          <p:nvPr/>
        </p:nvSpPr>
        <p:spPr>
          <a:xfrm>
            <a:off x="4410075" y="3629025"/>
            <a:ext cx="2800350" cy="384721"/>
          </a:xfrm>
          <a:prstGeom prst="rect">
            <a:avLst/>
          </a:prstGeom>
          <a:noFill/>
        </p:spPr>
        <p:txBody>
          <a:bodyPr vert="horz" wrap="square" rtlCol="0">
            <a:spAutoFit/>
          </a:bodyPr>
          <a:lstStyle/>
          <a:p>
            <a:r>
              <a:rPr lang="en-US" sz="1900" b="1">
                <a:solidFill>
                  <a:srgbClr val="FFFFFF"/>
                </a:solidFill>
                <a:latin typeface="Arial" panose="020B0604020202020204" pitchFamily="34" charset="0"/>
              </a:rPr>
              <a:t>Accountability</a:t>
            </a:r>
            <a:endParaRPr lang="en-AS" sz="1900" b="1">
              <a:solidFill>
                <a:srgbClr val="FFFFFF"/>
              </a:solidFill>
              <a:latin typeface="Arial" panose="020B0604020202020204" pitchFamily="34" charset="0"/>
            </a:endParaRPr>
          </a:p>
        </p:txBody>
      </p:sp>
      <p:sp>
        <p:nvSpPr>
          <p:cNvPr id="19" name="TextBox 18">
            <a:extLst>
              <a:ext uri="{FF2B5EF4-FFF2-40B4-BE49-F238E27FC236}">
                <a16:creationId xmlns:a16="http://schemas.microsoft.com/office/drawing/2014/main" id="{A90DA8B8-754B-8FA1-A451-8C41B789ADF3}"/>
              </a:ext>
            </a:extLst>
          </p:cNvPr>
          <p:cNvSpPr txBox="1"/>
          <p:nvPr/>
        </p:nvSpPr>
        <p:spPr>
          <a:xfrm>
            <a:off x="4410075" y="3933825"/>
            <a:ext cx="2800350" cy="523220"/>
          </a:xfrm>
          <a:prstGeom prst="rect">
            <a:avLst/>
          </a:prstGeom>
          <a:noFill/>
        </p:spPr>
        <p:txBody>
          <a:bodyPr vert="horz" wrap="square" rtlCol="0">
            <a:spAutoFit/>
          </a:bodyPr>
          <a:lstStyle/>
          <a:p>
            <a:r>
              <a:rPr lang="en-US" sz="1400">
                <a:solidFill>
                  <a:srgbClr val="BFD0E7"/>
                </a:solidFill>
                <a:latin typeface="Arial" panose="020B0604020202020204" pitchFamily="34" charset="0"/>
              </a:rPr>
              <a:t>Admin / Encoder / Viewer | security and audit logs</a:t>
            </a:r>
            <a:endParaRPr lang="en-AS" sz="1400">
              <a:solidFill>
                <a:srgbClr val="BFD0E7"/>
              </a:solidFill>
              <a:latin typeface="Arial" panose="020B0604020202020204" pitchFamily="34" charset="0"/>
            </a:endParaRPr>
          </a:p>
        </p:txBody>
      </p:sp>
      <p:sp>
        <p:nvSpPr>
          <p:cNvPr id="20" name="Rectangle: Rounded Corners 19">
            <a:extLst>
              <a:ext uri="{FF2B5EF4-FFF2-40B4-BE49-F238E27FC236}">
                <a16:creationId xmlns:a16="http://schemas.microsoft.com/office/drawing/2014/main" id="{AC913810-DEC5-67E6-BDAB-973B394BDA78}"/>
              </a:ext>
            </a:extLst>
          </p:cNvPr>
          <p:cNvSpPr/>
          <p:nvPr/>
        </p:nvSpPr>
        <p:spPr>
          <a:xfrm>
            <a:off x="666750" y="4762500"/>
            <a:ext cx="6715125" cy="971550"/>
          </a:xfrm>
          <a:prstGeom prst="roundRect">
            <a:avLst/>
          </a:prstGeom>
          <a:solidFill>
            <a:srgbClr val="183657"/>
          </a:solidFill>
          <a:ln w="16510">
            <a:solidFill>
              <a:srgbClr val="DD557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21" name="TextBox 20">
            <a:extLst>
              <a:ext uri="{FF2B5EF4-FFF2-40B4-BE49-F238E27FC236}">
                <a16:creationId xmlns:a16="http://schemas.microsoft.com/office/drawing/2014/main" id="{1AFE6971-EA08-1C31-2695-43B141A3D1D5}"/>
              </a:ext>
            </a:extLst>
          </p:cNvPr>
          <p:cNvSpPr txBox="1"/>
          <p:nvPr/>
        </p:nvSpPr>
        <p:spPr>
          <a:xfrm>
            <a:off x="904875" y="4953000"/>
            <a:ext cx="2095500" cy="369332"/>
          </a:xfrm>
          <a:prstGeom prst="rect">
            <a:avLst/>
          </a:prstGeom>
          <a:noFill/>
        </p:spPr>
        <p:txBody>
          <a:bodyPr vert="horz" wrap="square" rtlCol="0">
            <a:spAutoFit/>
          </a:bodyPr>
          <a:lstStyle/>
          <a:p>
            <a:r>
              <a:rPr lang="en-US" b="1">
                <a:solidFill>
                  <a:srgbClr val="FFFFFF"/>
                </a:solidFill>
                <a:latin typeface="Arial" panose="020B0604020202020204" pitchFamily="34" charset="0"/>
              </a:rPr>
              <a:t>Permanent delete</a:t>
            </a:r>
            <a:endParaRPr lang="en-AS" b="1">
              <a:solidFill>
                <a:srgbClr val="FFFFFF"/>
              </a:solidFill>
              <a:latin typeface="Arial" panose="020B0604020202020204" pitchFamily="34" charset="0"/>
            </a:endParaRPr>
          </a:p>
        </p:txBody>
      </p:sp>
      <p:sp>
        <p:nvSpPr>
          <p:cNvPr id="22" name="TextBox 21">
            <a:extLst>
              <a:ext uri="{FF2B5EF4-FFF2-40B4-BE49-F238E27FC236}">
                <a16:creationId xmlns:a16="http://schemas.microsoft.com/office/drawing/2014/main" id="{16F6C6EF-D8FD-87C0-5E81-440BD2E74E40}"/>
              </a:ext>
            </a:extLst>
          </p:cNvPr>
          <p:cNvSpPr txBox="1"/>
          <p:nvPr/>
        </p:nvSpPr>
        <p:spPr>
          <a:xfrm>
            <a:off x="904875" y="5286375"/>
            <a:ext cx="1714500" cy="400110"/>
          </a:xfrm>
          <a:prstGeom prst="rect">
            <a:avLst/>
          </a:prstGeom>
          <a:noFill/>
        </p:spPr>
        <p:txBody>
          <a:bodyPr vert="horz" wrap="square" rtlCol="0">
            <a:spAutoFit/>
          </a:bodyPr>
          <a:lstStyle/>
          <a:p>
            <a:r>
              <a:rPr lang="en-US" sz="2000" b="1">
                <a:solidFill>
                  <a:srgbClr val="FFB6C7"/>
                </a:solidFill>
                <a:latin typeface="Arial" panose="020B0604020202020204" pitchFamily="34" charset="0"/>
              </a:rPr>
              <a:t>Admin only</a:t>
            </a:r>
            <a:endParaRPr lang="en-AS" sz="2000" b="1">
              <a:solidFill>
                <a:srgbClr val="FFB6C7"/>
              </a:solidFill>
              <a:latin typeface="Arial" panose="020B0604020202020204" pitchFamily="34" charset="0"/>
            </a:endParaRPr>
          </a:p>
        </p:txBody>
      </p:sp>
      <p:sp>
        <p:nvSpPr>
          <p:cNvPr id="23" name="TextBox 22">
            <a:extLst>
              <a:ext uri="{FF2B5EF4-FFF2-40B4-BE49-F238E27FC236}">
                <a16:creationId xmlns:a16="http://schemas.microsoft.com/office/drawing/2014/main" id="{060D7AE1-3503-D18E-E217-E425599E6584}"/>
              </a:ext>
            </a:extLst>
          </p:cNvPr>
          <p:cNvSpPr txBox="1"/>
          <p:nvPr/>
        </p:nvSpPr>
        <p:spPr>
          <a:xfrm>
            <a:off x="2857500" y="5143500"/>
            <a:ext cx="4191000" cy="646331"/>
          </a:xfrm>
          <a:prstGeom prst="rect">
            <a:avLst/>
          </a:prstGeom>
          <a:noFill/>
        </p:spPr>
        <p:txBody>
          <a:bodyPr vert="horz" wrap="square" rtlCol="0">
            <a:spAutoFit/>
          </a:bodyPr>
          <a:lstStyle/>
          <a:p>
            <a:pPr algn="ctr"/>
            <a:r>
              <a:rPr lang="en-US">
                <a:solidFill>
                  <a:srgbClr val="BFD0E7"/>
                </a:solidFill>
                <a:latin typeface="Arial" panose="020B0604020202020204" pitchFamily="34" charset="0"/>
              </a:rPr>
              <a:t>Soft delete -&gt; Trash -&gt; Admin restore or permanent delete</a:t>
            </a:r>
            <a:endParaRPr lang="en-AS">
              <a:solidFill>
                <a:srgbClr val="BFD0E7"/>
              </a:solidFill>
              <a:latin typeface="Arial" panose="020B0604020202020204" pitchFamily="34" charset="0"/>
            </a:endParaRPr>
          </a:p>
        </p:txBody>
      </p:sp>
      <p:sp>
        <p:nvSpPr>
          <p:cNvPr id="24" name="TextBox 23">
            <a:extLst>
              <a:ext uri="{FF2B5EF4-FFF2-40B4-BE49-F238E27FC236}">
                <a16:creationId xmlns:a16="http://schemas.microsoft.com/office/drawing/2014/main" id="{DC2514F2-5B59-EC20-5FEE-17392B21EA49}"/>
              </a:ext>
            </a:extLst>
          </p:cNvPr>
          <p:cNvSpPr txBox="1"/>
          <p:nvPr/>
        </p:nvSpPr>
        <p:spPr>
          <a:xfrm>
            <a:off x="514350" y="6543675"/>
            <a:ext cx="6667500" cy="261610"/>
          </a:xfrm>
          <a:prstGeom prst="rect">
            <a:avLst/>
          </a:prstGeom>
          <a:noFill/>
        </p:spPr>
        <p:txBody>
          <a:bodyPr vert="horz" wrap="square" rtlCol="0">
            <a:spAutoFit/>
          </a:bodyPr>
          <a:lstStyle/>
          <a:p>
            <a:r>
              <a:rPr lang="en-US" sz="1100">
                <a:solidFill>
                  <a:srgbClr val="B8C9DE"/>
                </a:solidFill>
                <a:latin typeface="Arial" panose="020B0604020202020204" pitchFamily="34" charset="0"/>
              </a:rPr>
              <a:t>iScan CRDMS  |  Civil Registry Records Management System</a:t>
            </a:r>
            <a:endParaRPr lang="en-AS" sz="1100">
              <a:solidFill>
                <a:srgbClr val="B8C9DE"/>
              </a:solidFill>
              <a:latin typeface="Arial" panose="020B0604020202020204" pitchFamily="34" charset="0"/>
            </a:endParaRPr>
          </a:p>
        </p:txBody>
      </p:sp>
      <p:sp>
        <p:nvSpPr>
          <p:cNvPr id="25" name="TextBox 24">
            <a:extLst>
              <a:ext uri="{FF2B5EF4-FFF2-40B4-BE49-F238E27FC236}">
                <a16:creationId xmlns:a16="http://schemas.microsoft.com/office/drawing/2014/main" id="{1F8A82FC-0BF1-7A8F-EFEE-4F2E7F20639B}"/>
              </a:ext>
            </a:extLst>
          </p:cNvPr>
          <p:cNvSpPr txBox="1"/>
          <p:nvPr/>
        </p:nvSpPr>
        <p:spPr>
          <a:xfrm>
            <a:off x="10382250" y="6543675"/>
            <a:ext cx="1295400" cy="261610"/>
          </a:xfrm>
          <a:prstGeom prst="rect">
            <a:avLst/>
          </a:prstGeom>
          <a:noFill/>
        </p:spPr>
        <p:txBody>
          <a:bodyPr vert="horz" wrap="square" rtlCol="0">
            <a:spAutoFit/>
          </a:bodyPr>
          <a:lstStyle/>
          <a:p>
            <a:pPr algn="r"/>
            <a:r>
              <a:rPr lang="en-AS" sz="1100">
                <a:solidFill>
                  <a:srgbClr val="B8C9DE"/>
                </a:solidFill>
                <a:latin typeface="Arial" panose="020B0604020202020204" pitchFamily="34" charset="0"/>
              </a:rPr>
              <a:t>13 / 20</a:t>
            </a:r>
          </a:p>
        </p:txBody>
      </p:sp>
    </p:spTree>
    <p:extLst>
      <p:ext uri="{BB962C8B-B14F-4D97-AF65-F5344CB8AC3E}">
        <p14:creationId xmlns:p14="http://schemas.microsoft.com/office/powerpoint/2010/main" val="231001011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F99590D-F71A-3FDB-2FDB-DD294077265D}"/>
              </a:ext>
            </a:extLst>
          </p:cNvPr>
          <p:cNvSpPr txBox="1"/>
          <p:nvPr/>
        </p:nvSpPr>
        <p:spPr>
          <a:xfrm>
            <a:off x="609600" y="304800"/>
            <a:ext cx="6191250" cy="292388"/>
          </a:xfrm>
          <a:prstGeom prst="rect">
            <a:avLst/>
          </a:prstGeom>
          <a:noFill/>
        </p:spPr>
        <p:txBody>
          <a:bodyPr vert="horz" wrap="square" rtlCol="0">
            <a:spAutoFit/>
          </a:bodyPr>
          <a:lstStyle/>
          <a:p>
            <a:r>
              <a:rPr lang="en-US" sz="1300" b="1">
                <a:solidFill>
                  <a:srgbClr val="2F6BDE"/>
                </a:solidFill>
                <a:latin typeface="Arial" panose="020B0604020202020204" pitchFamily="34" charset="0"/>
              </a:rPr>
              <a:t>SECURITY - PLAIN-LANGUAGE VIEW</a:t>
            </a:r>
            <a:endParaRPr lang="en-AS" sz="1300" b="1">
              <a:solidFill>
                <a:srgbClr val="2F6BDE"/>
              </a:solidFill>
              <a:latin typeface="Arial" panose="020B0604020202020204" pitchFamily="34" charset="0"/>
            </a:endParaRPr>
          </a:p>
        </p:txBody>
      </p:sp>
      <p:sp>
        <p:nvSpPr>
          <p:cNvPr id="3" name="TextBox 2">
            <a:extLst>
              <a:ext uri="{FF2B5EF4-FFF2-40B4-BE49-F238E27FC236}">
                <a16:creationId xmlns:a16="http://schemas.microsoft.com/office/drawing/2014/main" id="{5E336471-49A2-CE38-DFDA-B585239C1A2A}"/>
              </a:ext>
            </a:extLst>
          </p:cNvPr>
          <p:cNvSpPr txBox="1"/>
          <p:nvPr/>
        </p:nvSpPr>
        <p:spPr>
          <a:xfrm>
            <a:off x="609600" y="552450"/>
            <a:ext cx="8096250" cy="646331"/>
          </a:xfrm>
          <a:prstGeom prst="rect">
            <a:avLst/>
          </a:prstGeom>
          <a:noFill/>
        </p:spPr>
        <p:txBody>
          <a:bodyPr vert="horz" wrap="square" rtlCol="0">
            <a:spAutoFit/>
          </a:bodyPr>
          <a:lstStyle/>
          <a:p>
            <a:r>
              <a:rPr lang="en-US" sz="3600" b="1">
                <a:solidFill>
                  <a:srgbClr val="17263A"/>
                </a:solidFill>
                <a:latin typeface="Arial" panose="020B0604020202020204" pitchFamily="34" charset="0"/>
              </a:rPr>
              <a:t>What security means to staff</a:t>
            </a:r>
            <a:endParaRPr lang="en-AS" sz="3600" b="1">
              <a:solidFill>
                <a:srgbClr val="17263A"/>
              </a:solidFill>
              <a:latin typeface="Arial" panose="020B0604020202020204" pitchFamily="34" charset="0"/>
            </a:endParaRPr>
          </a:p>
        </p:txBody>
      </p:sp>
      <p:sp>
        <p:nvSpPr>
          <p:cNvPr id="4" name="Rectangle 3">
            <a:extLst>
              <a:ext uri="{FF2B5EF4-FFF2-40B4-BE49-F238E27FC236}">
                <a16:creationId xmlns:a16="http://schemas.microsoft.com/office/drawing/2014/main" id="{48C83DE7-FC43-DBDA-3C74-E9F3F5BA81A9}"/>
              </a:ext>
            </a:extLst>
          </p:cNvPr>
          <p:cNvSpPr/>
          <p:nvPr/>
        </p:nvSpPr>
        <p:spPr>
          <a:xfrm>
            <a:off x="609600" y="1200150"/>
            <a:ext cx="685800" cy="47625"/>
          </a:xfrm>
          <a:prstGeom prst="rect">
            <a:avLst/>
          </a:prstGeom>
          <a:solidFill>
            <a:srgbClr val="2F6BDE"/>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5" name="TextBox 4">
            <a:extLst>
              <a:ext uri="{FF2B5EF4-FFF2-40B4-BE49-F238E27FC236}">
                <a16:creationId xmlns:a16="http://schemas.microsoft.com/office/drawing/2014/main" id="{D61965A0-E024-AA59-9EE8-7E8DC333785B}"/>
              </a:ext>
            </a:extLst>
          </p:cNvPr>
          <p:cNvSpPr txBox="1"/>
          <p:nvPr/>
        </p:nvSpPr>
        <p:spPr>
          <a:xfrm>
            <a:off x="609600" y="1466850"/>
            <a:ext cx="10668000" cy="769441"/>
          </a:xfrm>
          <a:prstGeom prst="rect">
            <a:avLst/>
          </a:prstGeom>
          <a:noFill/>
        </p:spPr>
        <p:txBody>
          <a:bodyPr vert="horz" wrap="square" rtlCol="0">
            <a:spAutoFit/>
          </a:bodyPr>
          <a:lstStyle/>
          <a:p>
            <a:r>
              <a:rPr lang="en-US" sz="2200">
                <a:solidFill>
                  <a:srgbClr val="5E6C80"/>
                </a:solidFill>
                <a:latin typeface="Arial" panose="020B0604020202020204" pitchFamily="34" charset="0"/>
              </a:rPr>
              <a:t>Think of iScan as a locked records office with a sign-in desk, checklist, and history book.</a:t>
            </a:r>
            <a:endParaRPr lang="en-AS" sz="2200">
              <a:solidFill>
                <a:srgbClr val="5E6C80"/>
              </a:solidFill>
              <a:latin typeface="Arial" panose="020B0604020202020204" pitchFamily="34" charset="0"/>
            </a:endParaRPr>
          </a:p>
        </p:txBody>
      </p:sp>
      <p:pic>
        <p:nvPicPr>
          <p:cNvPr id="7" name="Picture 6">
            <a:extLst>
              <a:ext uri="{FF2B5EF4-FFF2-40B4-BE49-F238E27FC236}">
                <a16:creationId xmlns:a16="http://schemas.microsoft.com/office/drawing/2014/main" id="{FCDF129A-2FD1-924B-B7F0-5C400D859BB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667500" y="2286000"/>
            <a:ext cx="4857750" cy="3048000"/>
          </a:xfrm>
          <a:prstGeom prst="rect">
            <a:avLst/>
          </a:prstGeom>
        </p:spPr>
      </p:pic>
      <p:sp>
        <p:nvSpPr>
          <p:cNvPr id="8" name="Rectangle: Rounded Corners 7">
            <a:extLst>
              <a:ext uri="{FF2B5EF4-FFF2-40B4-BE49-F238E27FC236}">
                <a16:creationId xmlns:a16="http://schemas.microsoft.com/office/drawing/2014/main" id="{B2FBE712-ADE6-0BC9-9F28-DA20E820E084}"/>
              </a:ext>
            </a:extLst>
          </p:cNvPr>
          <p:cNvSpPr/>
          <p:nvPr/>
        </p:nvSpPr>
        <p:spPr>
          <a:xfrm>
            <a:off x="666750" y="2333625"/>
            <a:ext cx="5429250" cy="514350"/>
          </a:xfrm>
          <a:prstGeom prst="roundRect">
            <a:avLst/>
          </a:prstGeom>
          <a:solidFill>
            <a:srgbClr val="FFFFFF"/>
          </a:solidFill>
          <a:ln w="12700">
            <a:solidFill>
              <a:srgbClr val="D8E1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9" name="Rectangle 8">
            <a:extLst>
              <a:ext uri="{FF2B5EF4-FFF2-40B4-BE49-F238E27FC236}">
                <a16:creationId xmlns:a16="http://schemas.microsoft.com/office/drawing/2014/main" id="{5B4DF821-0F0E-72AE-1C5D-6BD4379A6833}"/>
              </a:ext>
            </a:extLst>
          </p:cNvPr>
          <p:cNvSpPr/>
          <p:nvPr/>
        </p:nvSpPr>
        <p:spPr>
          <a:xfrm>
            <a:off x="666750" y="2333625"/>
            <a:ext cx="85725" cy="514350"/>
          </a:xfrm>
          <a:prstGeom prst="rect">
            <a:avLst/>
          </a:prstGeom>
          <a:solidFill>
            <a:srgbClr val="2F6BDE"/>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0" name="TextBox 9">
            <a:extLst>
              <a:ext uri="{FF2B5EF4-FFF2-40B4-BE49-F238E27FC236}">
                <a16:creationId xmlns:a16="http://schemas.microsoft.com/office/drawing/2014/main" id="{A5E8BD62-56A7-BFA3-E88F-2EB3CFB429EF}"/>
              </a:ext>
            </a:extLst>
          </p:cNvPr>
          <p:cNvSpPr txBox="1"/>
          <p:nvPr/>
        </p:nvSpPr>
        <p:spPr>
          <a:xfrm>
            <a:off x="952500" y="2419350"/>
            <a:ext cx="1619250" cy="369332"/>
          </a:xfrm>
          <a:prstGeom prst="rect">
            <a:avLst/>
          </a:prstGeom>
          <a:noFill/>
        </p:spPr>
        <p:txBody>
          <a:bodyPr vert="horz" wrap="square" rtlCol="0">
            <a:spAutoFit/>
          </a:bodyPr>
          <a:lstStyle/>
          <a:p>
            <a:r>
              <a:rPr lang="en-US" b="1">
                <a:solidFill>
                  <a:srgbClr val="17263A"/>
                </a:solidFill>
                <a:latin typeface="Arial" panose="020B0604020202020204" pitchFamily="34" charset="0"/>
              </a:rPr>
              <a:t>Right people</a:t>
            </a:r>
            <a:endParaRPr lang="en-AS" b="1">
              <a:solidFill>
                <a:srgbClr val="17263A"/>
              </a:solidFill>
              <a:latin typeface="Arial" panose="020B0604020202020204" pitchFamily="34" charset="0"/>
            </a:endParaRPr>
          </a:p>
        </p:txBody>
      </p:sp>
      <p:sp>
        <p:nvSpPr>
          <p:cNvPr id="11" name="TextBox 10">
            <a:extLst>
              <a:ext uri="{FF2B5EF4-FFF2-40B4-BE49-F238E27FC236}">
                <a16:creationId xmlns:a16="http://schemas.microsoft.com/office/drawing/2014/main" id="{AF1D4CA1-9A29-1B79-44B3-8C45A7F97BAA}"/>
              </a:ext>
            </a:extLst>
          </p:cNvPr>
          <p:cNvSpPr txBox="1"/>
          <p:nvPr/>
        </p:nvSpPr>
        <p:spPr>
          <a:xfrm>
            <a:off x="2619375" y="2419350"/>
            <a:ext cx="3238500" cy="692497"/>
          </a:xfrm>
          <a:prstGeom prst="rect">
            <a:avLst/>
          </a:prstGeom>
          <a:noFill/>
        </p:spPr>
        <p:txBody>
          <a:bodyPr vert="horz" wrap="square" rtlCol="0">
            <a:spAutoFit/>
          </a:bodyPr>
          <a:lstStyle/>
          <a:p>
            <a:r>
              <a:rPr lang="en-US" sz="1300">
                <a:solidFill>
                  <a:srgbClr val="5E6C80"/>
                </a:solidFill>
                <a:latin typeface="Arial" panose="020B0604020202020204" pitchFamily="34" charset="0"/>
              </a:rPr>
              <a:t>Roles decide who may view, encode, approve, restore, or permanently delete a record.</a:t>
            </a:r>
            <a:endParaRPr lang="en-AS" sz="1300">
              <a:solidFill>
                <a:srgbClr val="5E6C80"/>
              </a:solidFill>
              <a:latin typeface="Arial" panose="020B0604020202020204" pitchFamily="34" charset="0"/>
            </a:endParaRPr>
          </a:p>
        </p:txBody>
      </p:sp>
      <p:sp>
        <p:nvSpPr>
          <p:cNvPr id="12" name="Rectangle: Rounded Corners 11">
            <a:extLst>
              <a:ext uri="{FF2B5EF4-FFF2-40B4-BE49-F238E27FC236}">
                <a16:creationId xmlns:a16="http://schemas.microsoft.com/office/drawing/2014/main" id="{93EA5BFA-A87D-6C36-41BF-A9F26B0EBE5A}"/>
              </a:ext>
            </a:extLst>
          </p:cNvPr>
          <p:cNvSpPr/>
          <p:nvPr/>
        </p:nvSpPr>
        <p:spPr>
          <a:xfrm>
            <a:off x="666750" y="2981325"/>
            <a:ext cx="5429250" cy="514350"/>
          </a:xfrm>
          <a:prstGeom prst="roundRect">
            <a:avLst/>
          </a:prstGeom>
          <a:solidFill>
            <a:srgbClr val="FFFFFF"/>
          </a:solidFill>
          <a:ln w="12700">
            <a:solidFill>
              <a:srgbClr val="D8E1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3" name="Rectangle 12">
            <a:extLst>
              <a:ext uri="{FF2B5EF4-FFF2-40B4-BE49-F238E27FC236}">
                <a16:creationId xmlns:a16="http://schemas.microsoft.com/office/drawing/2014/main" id="{FEA58892-317E-15D2-AB75-0F549FD31880}"/>
              </a:ext>
            </a:extLst>
          </p:cNvPr>
          <p:cNvSpPr/>
          <p:nvPr/>
        </p:nvSpPr>
        <p:spPr>
          <a:xfrm>
            <a:off x="666750" y="2981325"/>
            <a:ext cx="85725" cy="514350"/>
          </a:xfrm>
          <a:prstGeom prst="rect">
            <a:avLst/>
          </a:prstGeom>
          <a:solidFill>
            <a:srgbClr val="17A673"/>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4" name="TextBox 13">
            <a:extLst>
              <a:ext uri="{FF2B5EF4-FFF2-40B4-BE49-F238E27FC236}">
                <a16:creationId xmlns:a16="http://schemas.microsoft.com/office/drawing/2014/main" id="{3AFCCB87-FD15-0756-BF88-E3477AE81A81}"/>
              </a:ext>
            </a:extLst>
          </p:cNvPr>
          <p:cNvSpPr txBox="1"/>
          <p:nvPr/>
        </p:nvSpPr>
        <p:spPr>
          <a:xfrm>
            <a:off x="952500" y="3067050"/>
            <a:ext cx="1619250" cy="646331"/>
          </a:xfrm>
          <a:prstGeom prst="rect">
            <a:avLst/>
          </a:prstGeom>
          <a:noFill/>
        </p:spPr>
        <p:txBody>
          <a:bodyPr vert="horz" wrap="square" rtlCol="0">
            <a:spAutoFit/>
          </a:bodyPr>
          <a:lstStyle/>
          <a:p>
            <a:r>
              <a:rPr lang="en-US" b="1">
                <a:solidFill>
                  <a:srgbClr val="17263A"/>
                </a:solidFill>
                <a:latin typeface="Arial" panose="020B0604020202020204" pitchFamily="34" charset="0"/>
              </a:rPr>
              <a:t>Too many tries</a:t>
            </a:r>
            <a:endParaRPr lang="en-AS" b="1">
              <a:solidFill>
                <a:srgbClr val="17263A"/>
              </a:solidFill>
              <a:latin typeface="Arial" panose="020B0604020202020204" pitchFamily="34" charset="0"/>
            </a:endParaRPr>
          </a:p>
        </p:txBody>
      </p:sp>
      <p:sp>
        <p:nvSpPr>
          <p:cNvPr id="15" name="TextBox 14">
            <a:extLst>
              <a:ext uri="{FF2B5EF4-FFF2-40B4-BE49-F238E27FC236}">
                <a16:creationId xmlns:a16="http://schemas.microsoft.com/office/drawing/2014/main" id="{5620EECE-CFD9-8CA4-4FBE-3551E1285337}"/>
              </a:ext>
            </a:extLst>
          </p:cNvPr>
          <p:cNvSpPr txBox="1"/>
          <p:nvPr/>
        </p:nvSpPr>
        <p:spPr>
          <a:xfrm>
            <a:off x="2619375" y="3067050"/>
            <a:ext cx="3238500" cy="492443"/>
          </a:xfrm>
          <a:prstGeom prst="rect">
            <a:avLst/>
          </a:prstGeom>
          <a:noFill/>
        </p:spPr>
        <p:txBody>
          <a:bodyPr vert="horz" wrap="square" rtlCol="0">
            <a:spAutoFit/>
          </a:bodyPr>
          <a:lstStyle/>
          <a:p>
            <a:r>
              <a:rPr lang="en-US" sz="1300">
                <a:solidFill>
                  <a:srgbClr val="5E6C80"/>
                </a:solidFill>
                <a:latin typeface="Arial" panose="020B0604020202020204" pitchFamily="34" charset="0"/>
              </a:rPr>
              <a:t>After five login attempts in five minutes, the system rate-limits more attempts.</a:t>
            </a:r>
            <a:endParaRPr lang="en-AS" sz="1300">
              <a:solidFill>
                <a:srgbClr val="5E6C80"/>
              </a:solidFill>
              <a:latin typeface="Arial" panose="020B0604020202020204" pitchFamily="34" charset="0"/>
            </a:endParaRPr>
          </a:p>
        </p:txBody>
      </p:sp>
      <p:sp>
        <p:nvSpPr>
          <p:cNvPr id="16" name="Rectangle: Rounded Corners 15">
            <a:extLst>
              <a:ext uri="{FF2B5EF4-FFF2-40B4-BE49-F238E27FC236}">
                <a16:creationId xmlns:a16="http://schemas.microsoft.com/office/drawing/2014/main" id="{5DADD159-A7C6-1F65-0AE2-ED05DAF63F66}"/>
              </a:ext>
            </a:extLst>
          </p:cNvPr>
          <p:cNvSpPr/>
          <p:nvPr/>
        </p:nvSpPr>
        <p:spPr>
          <a:xfrm>
            <a:off x="666750" y="3629025"/>
            <a:ext cx="5429250" cy="514350"/>
          </a:xfrm>
          <a:prstGeom prst="roundRect">
            <a:avLst/>
          </a:prstGeom>
          <a:solidFill>
            <a:srgbClr val="FFFFFF"/>
          </a:solidFill>
          <a:ln w="12700">
            <a:solidFill>
              <a:srgbClr val="D8E1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7" name="Rectangle 16">
            <a:extLst>
              <a:ext uri="{FF2B5EF4-FFF2-40B4-BE49-F238E27FC236}">
                <a16:creationId xmlns:a16="http://schemas.microsoft.com/office/drawing/2014/main" id="{8C10E226-C6B2-6EC0-5D55-104C0939BD9E}"/>
              </a:ext>
            </a:extLst>
          </p:cNvPr>
          <p:cNvSpPr/>
          <p:nvPr/>
        </p:nvSpPr>
        <p:spPr>
          <a:xfrm>
            <a:off x="666750" y="3629025"/>
            <a:ext cx="85725" cy="514350"/>
          </a:xfrm>
          <a:prstGeom prst="rect">
            <a:avLst/>
          </a:prstGeom>
          <a:solidFill>
            <a:srgbClr val="F6B63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8" name="TextBox 17">
            <a:extLst>
              <a:ext uri="{FF2B5EF4-FFF2-40B4-BE49-F238E27FC236}">
                <a16:creationId xmlns:a16="http://schemas.microsoft.com/office/drawing/2014/main" id="{3467F2FE-4927-D627-286F-66DED272E989}"/>
              </a:ext>
            </a:extLst>
          </p:cNvPr>
          <p:cNvSpPr txBox="1"/>
          <p:nvPr/>
        </p:nvSpPr>
        <p:spPr>
          <a:xfrm>
            <a:off x="952500" y="3714750"/>
            <a:ext cx="1619250" cy="369332"/>
          </a:xfrm>
          <a:prstGeom prst="rect">
            <a:avLst/>
          </a:prstGeom>
          <a:noFill/>
        </p:spPr>
        <p:txBody>
          <a:bodyPr vert="horz" wrap="square" rtlCol="0">
            <a:spAutoFit/>
          </a:bodyPr>
          <a:lstStyle/>
          <a:p>
            <a:r>
              <a:rPr lang="en-US" b="1">
                <a:solidFill>
                  <a:srgbClr val="17263A"/>
                </a:solidFill>
                <a:latin typeface="Arial" panose="020B0604020202020204" pitchFamily="34" charset="0"/>
              </a:rPr>
              <a:t>Auto logout</a:t>
            </a:r>
            <a:endParaRPr lang="en-AS" b="1">
              <a:solidFill>
                <a:srgbClr val="17263A"/>
              </a:solidFill>
              <a:latin typeface="Arial" panose="020B0604020202020204" pitchFamily="34" charset="0"/>
            </a:endParaRPr>
          </a:p>
        </p:txBody>
      </p:sp>
      <p:sp>
        <p:nvSpPr>
          <p:cNvPr id="19" name="TextBox 18">
            <a:extLst>
              <a:ext uri="{FF2B5EF4-FFF2-40B4-BE49-F238E27FC236}">
                <a16:creationId xmlns:a16="http://schemas.microsoft.com/office/drawing/2014/main" id="{B9F5E98D-97CB-62F9-E6C4-039F61F8F278}"/>
              </a:ext>
            </a:extLst>
          </p:cNvPr>
          <p:cNvSpPr txBox="1"/>
          <p:nvPr/>
        </p:nvSpPr>
        <p:spPr>
          <a:xfrm>
            <a:off x="2619375" y="3714750"/>
            <a:ext cx="3238500" cy="492443"/>
          </a:xfrm>
          <a:prstGeom prst="rect">
            <a:avLst/>
          </a:prstGeom>
          <a:noFill/>
        </p:spPr>
        <p:txBody>
          <a:bodyPr vert="horz" wrap="square" rtlCol="0">
            <a:spAutoFit/>
          </a:bodyPr>
          <a:lstStyle/>
          <a:p>
            <a:r>
              <a:rPr lang="en-US" sz="1300">
                <a:solidFill>
                  <a:srgbClr val="5E6C80"/>
                </a:solidFill>
                <a:latin typeface="Arial" panose="020B0604020202020204" pitchFamily="34" charset="0"/>
              </a:rPr>
              <a:t>After 60 minutes without activity, the user is returned to login on the next request.</a:t>
            </a:r>
            <a:endParaRPr lang="en-AS" sz="1300">
              <a:solidFill>
                <a:srgbClr val="5E6C80"/>
              </a:solidFill>
              <a:latin typeface="Arial" panose="020B0604020202020204" pitchFamily="34" charset="0"/>
            </a:endParaRPr>
          </a:p>
        </p:txBody>
      </p:sp>
      <p:sp>
        <p:nvSpPr>
          <p:cNvPr id="20" name="Rectangle: Rounded Corners 19">
            <a:extLst>
              <a:ext uri="{FF2B5EF4-FFF2-40B4-BE49-F238E27FC236}">
                <a16:creationId xmlns:a16="http://schemas.microsoft.com/office/drawing/2014/main" id="{C06115BD-FCE0-74A3-5952-00D9B3A81A6A}"/>
              </a:ext>
            </a:extLst>
          </p:cNvPr>
          <p:cNvSpPr/>
          <p:nvPr/>
        </p:nvSpPr>
        <p:spPr>
          <a:xfrm>
            <a:off x="666750" y="4276725"/>
            <a:ext cx="5429250" cy="514350"/>
          </a:xfrm>
          <a:prstGeom prst="roundRect">
            <a:avLst/>
          </a:prstGeom>
          <a:solidFill>
            <a:srgbClr val="FFFFFF"/>
          </a:solidFill>
          <a:ln w="12700">
            <a:solidFill>
              <a:srgbClr val="D8E1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21" name="Rectangle 20">
            <a:extLst>
              <a:ext uri="{FF2B5EF4-FFF2-40B4-BE49-F238E27FC236}">
                <a16:creationId xmlns:a16="http://schemas.microsoft.com/office/drawing/2014/main" id="{717E15A1-EC72-28BC-A1A6-FB440C3FDDEB}"/>
              </a:ext>
            </a:extLst>
          </p:cNvPr>
          <p:cNvSpPr/>
          <p:nvPr/>
        </p:nvSpPr>
        <p:spPr>
          <a:xfrm>
            <a:off x="666750" y="4276725"/>
            <a:ext cx="85725" cy="514350"/>
          </a:xfrm>
          <a:prstGeom prst="rect">
            <a:avLst/>
          </a:prstGeom>
          <a:solidFill>
            <a:srgbClr val="7B61D1"/>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22" name="TextBox 21">
            <a:extLst>
              <a:ext uri="{FF2B5EF4-FFF2-40B4-BE49-F238E27FC236}">
                <a16:creationId xmlns:a16="http://schemas.microsoft.com/office/drawing/2014/main" id="{A7769973-1BBF-EAA1-7745-BFCF659F8A20}"/>
              </a:ext>
            </a:extLst>
          </p:cNvPr>
          <p:cNvSpPr txBox="1"/>
          <p:nvPr/>
        </p:nvSpPr>
        <p:spPr>
          <a:xfrm>
            <a:off x="952500" y="4362450"/>
            <a:ext cx="1619250" cy="646331"/>
          </a:xfrm>
          <a:prstGeom prst="rect">
            <a:avLst/>
          </a:prstGeom>
          <a:noFill/>
        </p:spPr>
        <p:txBody>
          <a:bodyPr vert="horz" wrap="square" rtlCol="0">
            <a:spAutoFit/>
          </a:bodyPr>
          <a:lstStyle/>
          <a:p>
            <a:r>
              <a:rPr lang="en-US" b="1">
                <a:solidFill>
                  <a:srgbClr val="17263A"/>
                </a:solidFill>
                <a:latin typeface="Arial" panose="020B0604020202020204" pitchFamily="34" charset="0"/>
              </a:rPr>
              <a:t>Checked files</a:t>
            </a:r>
            <a:endParaRPr lang="en-AS" b="1">
              <a:solidFill>
                <a:srgbClr val="17263A"/>
              </a:solidFill>
              <a:latin typeface="Arial" panose="020B0604020202020204" pitchFamily="34" charset="0"/>
            </a:endParaRPr>
          </a:p>
        </p:txBody>
      </p:sp>
      <p:sp>
        <p:nvSpPr>
          <p:cNvPr id="23" name="TextBox 22">
            <a:extLst>
              <a:ext uri="{FF2B5EF4-FFF2-40B4-BE49-F238E27FC236}">
                <a16:creationId xmlns:a16="http://schemas.microsoft.com/office/drawing/2014/main" id="{BB208D64-EC50-7919-7969-98726A7C700C}"/>
              </a:ext>
            </a:extLst>
          </p:cNvPr>
          <p:cNvSpPr txBox="1"/>
          <p:nvPr/>
        </p:nvSpPr>
        <p:spPr>
          <a:xfrm>
            <a:off x="2619375" y="4362450"/>
            <a:ext cx="3238500" cy="692497"/>
          </a:xfrm>
          <a:prstGeom prst="rect">
            <a:avLst/>
          </a:prstGeom>
          <a:noFill/>
        </p:spPr>
        <p:txBody>
          <a:bodyPr vert="horz" wrap="square" rtlCol="0">
            <a:spAutoFit/>
          </a:bodyPr>
          <a:lstStyle/>
          <a:p>
            <a:r>
              <a:rPr lang="en-US" sz="1300">
                <a:solidFill>
                  <a:srgbClr val="5E6C80"/>
                </a:solidFill>
                <a:latin typeface="Arial" panose="020B0604020202020204" pitchFamily="34" charset="0"/>
              </a:rPr>
              <a:t>The system checks the document type and path; PDF hashes expose changed files.</a:t>
            </a:r>
            <a:endParaRPr lang="en-AS" sz="1300">
              <a:solidFill>
                <a:srgbClr val="5E6C80"/>
              </a:solidFill>
              <a:latin typeface="Arial" panose="020B0604020202020204" pitchFamily="34" charset="0"/>
            </a:endParaRPr>
          </a:p>
        </p:txBody>
      </p:sp>
      <p:sp>
        <p:nvSpPr>
          <p:cNvPr id="24" name="Rectangle: Rounded Corners 23">
            <a:extLst>
              <a:ext uri="{FF2B5EF4-FFF2-40B4-BE49-F238E27FC236}">
                <a16:creationId xmlns:a16="http://schemas.microsoft.com/office/drawing/2014/main" id="{88464740-094B-EE14-E008-4FE1CEB1C234}"/>
              </a:ext>
            </a:extLst>
          </p:cNvPr>
          <p:cNvSpPr/>
          <p:nvPr/>
        </p:nvSpPr>
        <p:spPr>
          <a:xfrm>
            <a:off x="666750" y="4924425"/>
            <a:ext cx="5429250" cy="514350"/>
          </a:xfrm>
          <a:prstGeom prst="roundRect">
            <a:avLst/>
          </a:prstGeom>
          <a:solidFill>
            <a:srgbClr val="FFFFFF"/>
          </a:solidFill>
          <a:ln w="12700">
            <a:solidFill>
              <a:srgbClr val="D8E1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25" name="Rectangle 24">
            <a:extLst>
              <a:ext uri="{FF2B5EF4-FFF2-40B4-BE49-F238E27FC236}">
                <a16:creationId xmlns:a16="http://schemas.microsoft.com/office/drawing/2014/main" id="{333845DB-26C3-462C-F608-79C4B091C102}"/>
              </a:ext>
            </a:extLst>
          </p:cNvPr>
          <p:cNvSpPr/>
          <p:nvPr/>
        </p:nvSpPr>
        <p:spPr>
          <a:xfrm>
            <a:off x="666750" y="4924425"/>
            <a:ext cx="85725" cy="514350"/>
          </a:xfrm>
          <a:prstGeom prst="rect">
            <a:avLst/>
          </a:prstGeom>
          <a:solidFill>
            <a:srgbClr val="DD557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26" name="TextBox 25">
            <a:extLst>
              <a:ext uri="{FF2B5EF4-FFF2-40B4-BE49-F238E27FC236}">
                <a16:creationId xmlns:a16="http://schemas.microsoft.com/office/drawing/2014/main" id="{30607101-83BF-AD1C-D317-51197C30B06C}"/>
              </a:ext>
            </a:extLst>
          </p:cNvPr>
          <p:cNvSpPr txBox="1"/>
          <p:nvPr/>
        </p:nvSpPr>
        <p:spPr>
          <a:xfrm>
            <a:off x="952500" y="5010150"/>
            <a:ext cx="1619250" cy="646331"/>
          </a:xfrm>
          <a:prstGeom prst="rect">
            <a:avLst/>
          </a:prstGeom>
          <a:noFill/>
        </p:spPr>
        <p:txBody>
          <a:bodyPr vert="horz" wrap="square" rtlCol="0">
            <a:spAutoFit/>
          </a:bodyPr>
          <a:lstStyle/>
          <a:p>
            <a:r>
              <a:rPr lang="en-US" b="1">
                <a:solidFill>
                  <a:srgbClr val="17263A"/>
                </a:solidFill>
                <a:latin typeface="Arial" panose="020B0604020202020204" pitchFamily="34" charset="0"/>
              </a:rPr>
              <a:t>History and recovery</a:t>
            </a:r>
            <a:endParaRPr lang="en-AS" b="1">
              <a:solidFill>
                <a:srgbClr val="17263A"/>
              </a:solidFill>
              <a:latin typeface="Arial" panose="020B0604020202020204" pitchFamily="34" charset="0"/>
            </a:endParaRPr>
          </a:p>
        </p:txBody>
      </p:sp>
      <p:sp>
        <p:nvSpPr>
          <p:cNvPr id="27" name="TextBox 26">
            <a:extLst>
              <a:ext uri="{FF2B5EF4-FFF2-40B4-BE49-F238E27FC236}">
                <a16:creationId xmlns:a16="http://schemas.microsoft.com/office/drawing/2014/main" id="{DA3984D1-B5D2-3A3F-42DF-855828CE1859}"/>
              </a:ext>
            </a:extLst>
          </p:cNvPr>
          <p:cNvSpPr txBox="1"/>
          <p:nvPr/>
        </p:nvSpPr>
        <p:spPr>
          <a:xfrm>
            <a:off x="2619375" y="5010150"/>
            <a:ext cx="3238500" cy="692497"/>
          </a:xfrm>
          <a:prstGeom prst="rect">
            <a:avLst/>
          </a:prstGeom>
          <a:noFill/>
        </p:spPr>
        <p:txBody>
          <a:bodyPr vert="horz" wrap="square" rtlCol="0">
            <a:spAutoFit/>
          </a:bodyPr>
          <a:lstStyle/>
          <a:p>
            <a:r>
              <a:rPr lang="en-US" sz="1300">
                <a:solidFill>
                  <a:srgbClr val="5E6C80"/>
                </a:solidFill>
                <a:latin typeface="Arial" panose="020B0604020202020204" pitchFamily="34" charset="0"/>
              </a:rPr>
              <a:t>Actions are logged; soft delete goes to Trash; Admin controls permanent deletion.</a:t>
            </a:r>
            <a:endParaRPr lang="en-AS" sz="1300">
              <a:solidFill>
                <a:srgbClr val="5E6C80"/>
              </a:solidFill>
              <a:latin typeface="Arial" panose="020B0604020202020204" pitchFamily="34" charset="0"/>
            </a:endParaRPr>
          </a:p>
        </p:txBody>
      </p:sp>
      <p:sp>
        <p:nvSpPr>
          <p:cNvPr id="28" name="TextBox 27">
            <a:extLst>
              <a:ext uri="{FF2B5EF4-FFF2-40B4-BE49-F238E27FC236}">
                <a16:creationId xmlns:a16="http://schemas.microsoft.com/office/drawing/2014/main" id="{BB56332A-94A3-7D1B-D8D0-C9F39BA97C72}"/>
              </a:ext>
            </a:extLst>
          </p:cNvPr>
          <p:cNvSpPr txBox="1"/>
          <p:nvPr/>
        </p:nvSpPr>
        <p:spPr>
          <a:xfrm>
            <a:off x="1143000" y="5715000"/>
            <a:ext cx="9906000" cy="415498"/>
          </a:xfrm>
          <a:prstGeom prst="rect">
            <a:avLst/>
          </a:prstGeom>
          <a:noFill/>
        </p:spPr>
        <p:txBody>
          <a:bodyPr vert="horz" wrap="square" rtlCol="0">
            <a:spAutoFit/>
          </a:bodyPr>
          <a:lstStyle/>
          <a:p>
            <a:pPr algn="ctr"/>
            <a:r>
              <a:rPr lang="en-US" sz="2100" b="1">
                <a:solidFill>
                  <a:srgbClr val="17A673"/>
                </a:solidFill>
                <a:latin typeface="Arial" panose="020B0604020202020204" pitchFamily="34" charset="0"/>
              </a:rPr>
              <a:t>Safe records = right access + checked files + visible history.</a:t>
            </a:r>
            <a:endParaRPr lang="en-AS" sz="2100" b="1">
              <a:solidFill>
                <a:srgbClr val="17A673"/>
              </a:solidFill>
              <a:latin typeface="Arial" panose="020B0604020202020204" pitchFamily="34" charset="0"/>
            </a:endParaRPr>
          </a:p>
        </p:txBody>
      </p:sp>
      <p:sp>
        <p:nvSpPr>
          <p:cNvPr id="29" name="TextBox 28">
            <a:extLst>
              <a:ext uri="{FF2B5EF4-FFF2-40B4-BE49-F238E27FC236}">
                <a16:creationId xmlns:a16="http://schemas.microsoft.com/office/drawing/2014/main" id="{0A59C9C2-6C52-B765-04A3-A02683021171}"/>
              </a:ext>
            </a:extLst>
          </p:cNvPr>
          <p:cNvSpPr txBox="1"/>
          <p:nvPr/>
        </p:nvSpPr>
        <p:spPr>
          <a:xfrm>
            <a:off x="514350" y="6543675"/>
            <a:ext cx="6667500" cy="261610"/>
          </a:xfrm>
          <a:prstGeom prst="rect">
            <a:avLst/>
          </a:prstGeom>
          <a:noFill/>
        </p:spPr>
        <p:txBody>
          <a:bodyPr vert="horz" wrap="square" rtlCol="0">
            <a:spAutoFit/>
          </a:bodyPr>
          <a:lstStyle/>
          <a:p>
            <a:r>
              <a:rPr lang="en-US" sz="1100">
                <a:solidFill>
                  <a:srgbClr val="B8C9DE"/>
                </a:solidFill>
                <a:latin typeface="Arial" panose="020B0604020202020204" pitchFamily="34" charset="0"/>
              </a:rPr>
              <a:t>iScan CRDMS  |  Civil Registry Records Management System</a:t>
            </a:r>
            <a:endParaRPr lang="en-AS" sz="1100">
              <a:solidFill>
                <a:srgbClr val="B8C9DE"/>
              </a:solidFill>
              <a:latin typeface="Arial" panose="020B0604020202020204" pitchFamily="34" charset="0"/>
            </a:endParaRPr>
          </a:p>
        </p:txBody>
      </p:sp>
      <p:sp>
        <p:nvSpPr>
          <p:cNvPr id="30" name="TextBox 29">
            <a:extLst>
              <a:ext uri="{FF2B5EF4-FFF2-40B4-BE49-F238E27FC236}">
                <a16:creationId xmlns:a16="http://schemas.microsoft.com/office/drawing/2014/main" id="{D98DE919-9C8E-950B-0D04-5CA4520E9494}"/>
              </a:ext>
            </a:extLst>
          </p:cNvPr>
          <p:cNvSpPr txBox="1"/>
          <p:nvPr/>
        </p:nvSpPr>
        <p:spPr>
          <a:xfrm>
            <a:off x="10382250" y="6543675"/>
            <a:ext cx="1295400" cy="261610"/>
          </a:xfrm>
          <a:prstGeom prst="rect">
            <a:avLst/>
          </a:prstGeom>
          <a:noFill/>
        </p:spPr>
        <p:txBody>
          <a:bodyPr vert="horz" wrap="square" rtlCol="0">
            <a:spAutoFit/>
          </a:bodyPr>
          <a:lstStyle/>
          <a:p>
            <a:pPr algn="r"/>
            <a:r>
              <a:rPr lang="en-AS" sz="1100">
                <a:solidFill>
                  <a:srgbClr val="B8C9DE"/>
                </a:solidFill>
                <a:latin typeface="Arial" panose="020B0604020202020204" pitchFamily="34" charset="0"/>
              </a:rPr>
              <a:t>14 / 20</a:t>
            </a:r>
          </a:p>
        </p:txBody>
      </p:sp>
    </p:spTree>
    <p:extLst>
      <p:ext uri="{BB962C8B-B14F-4D97-AF65-F5344CB8AC3E}">
        <p14:creationId xmlns:p14="http://schemas.microsoft.com/office/powerpoint/2010/main" val="174733325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6F53F6EC-C477-49DC-AEEC-693B7FEA0DBC}"/>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CONTROLS</a:t>
            </a:r>
          </a:p>
        </p:txBody>
      </p:sp>
      <p:sp>
        <p:nvSpPr>
          <p:cNvPr id="2" name="Rectangle 1">
            <a:extLst>
              <a:ext uri="{FF2B5EF4-FFF2-40B4-BE49-F238E27FC236}">
                <a16:creationId xmlns:a16="http://schemas.microsoft.com/office/drawing/2014/main" id="{1FA17822-1CE4-4904-9A30-FEE6ED63BF33}"/>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Backup and online/offline continuity</a:t>
            </a:r>
          </a:p>
        </p:txBody>
      </p:sp>
      <p:sp>
        <p:nvSpPr>
          <p:cNvPr id="3" name="Rectangle 2">
            <a:extLst>
              <a:ext uri="{FF2B5EF4-FFF2-40B4-BE49-F238E27FC236}">
                <a16:creationId xmlns:a16="http://schemas.microsoft.com/office/drawing/2014/main" id="{49E92F94-D184-43D0-A48B-AC68917176C4}"/>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69259676-B0F9-4D75-906F-5C3720AF00CA}"/>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office can recover records and keep working through a network interruption.</a:t>
            </a:r>
          </a:p>
        </p:txBody>
      </p:sp>
      <p:pic>
        <p:nvPicPr>
          <p:cNvPr id="20" name="Picture 19"/>
          <p:cNvPicPr>
            <a:picLocks noChangeAspect="1"/>
          </p:cNvPicPr>
          <p:nvPr/>
        </p:nvPicPr>
        <p:blipFill>
          <a:blip r:embed="rId3"/>
          <a:stretch/>
        </p:blipFill>
        <p:spPr>
          <a:xfrm>
            <a:off x="720904" y="2381250"/>
            <a:ext cx="4654192" cy="2619375"/>
          </a:xfrm>
          <a:prstGeom prst="roundRect">
            <a:avLst>
              <a:gd name="adj" fmla="val 8000"/>
            </a:avLst>
          </a:prstGeom>
        </p:spPr>
      </p:pic>
      <p:sp>
        <p:nvSpPr>
          <p:cNvPr id="6" name="Rectangle: Rounded Corners 5">
            <a:extLst>
              <a:ext uri="{FF2B5EF4-FFF2-40B4-BE49-F238E27FC236}">
                <a16:creationId xmlns:a16="http://schemas.microsoft.com/office/drawing/2014/main" id="{64716BC0-C686-4502-BEB8-2043350EFA8D}"/>
              </a:ext>
            </a:extLst>
          </p:cNvPr>
          <p:cNvSpPr>
            <a:spLocks noGrp="1"/>
          </p:cNvSpPr>
          <p:nvPr/>
        </p:nvSpPr>
        <p:spPr>
          <a:xfrm>
            <a:off x="6191250" y="2333625"/>
            <a:ext cx="5238750" cy="1476375"/>
          </a:xfrm>
          <a:prstGeom prst="roundRect">
            <a:avLst>
              <a:gd name="adj" fmla="val 5161"/>
            </a:avLst>
          </a:prstGeom>
          <a:solidFill>
            <a:srgbClr val="FFF5DE"/>
          </a:solidFill>
          <a:ln w="0">
            <a:noFill/>
          </a:ln>
        </p:spPr>
        <p:txBody>
          <a:bodyPr/>
          <a:p/>
        </p:txBody>
      </p:sp>
      <p:sp>
        <p:nvSpPr>
          <p:cNvPr id="7" name="Rectangle 6">
            <a:extLst>
              <a:ext uri="{FF2B5EF4-FFF2-40B4-BE49-F238E27FC236}">
                <a16:creationId xmlns:a16="http://schemas.microsoft.com/office/drawing/2014/main" id="{1823A9F9-D1CD-4167-9331-DB055059502F}"/>
              </a:ext>
            </a:extLst>
          </p:cNvPr>
          <p:cNvSpPr>
            <a:spLocks noGrp="1"/>
          </p:cNvSpPr>
          <p:nvPr/>
        </p:nvSpPr>
        <p:spPr>
          <a:xfrm>
            <a:off x="6477000" y="2590800"/>
            <a:ext cx="447675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Backup and integrity</a:t>
            </a:r>
          </a:p>
        </p:txBody>
      </p:sp>
      <p:sp>
        <p:nvSpPr>
          <p:cNvPr id="8" name="Rectangle 7">
            <a:extLst>
              <a:ext uri="{FF2B5EF4-FFF2-40B4-BE49-F238E27FC236}">
                <a16:creationId xmlns:a16="http://schemas.microsoft.com/office/drawing/2014/main" id="{A59E2B69-B3C8-4660-AA80-0AF4D7535193}"/>
              </a:ext>
            </a:extLst>
          </p:cNvPr>
          <p:cNvSpPr>
            <a:spLocks noGrp="1"/>
          </p:cNvSpPr>
          <p:nvPr/>
        </p:nvSpPr>
        <p:spPr>
          <a:xfrm>
            <a:off x="6477000" y="3048000"/>
            <a:ext cx="447675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PDF and database backups support recovery.</a:t>
            </a:r>
          </a:p>
        </p:txBody>
      </p:sp>
      <p:sp>
        <p:nvSpPr>
          <p:cNvPr id="9" name="Rectangle 8">
            <a:extLst>
              <a:ext uri="{FF2B5EF4-FFF2-40B4-BE49-F238E27FC236}">
                <a16:creationId xmlns:a16="http://schemas.microsoft.com/office/drawing/2014/main" id="{DD3CCCBA-D6F2-4CC1-BF34-B5F9BE76061B}"/>
              </a:ext>
            </a:extLst>
          </p:cNvPr>
          <p:cNvSpPr>
            <a:spLocks noGrp="1"/>
          </p:cNvSpPr>
          <p:nvPr/>
        </p:nvSpPr>
        <p:spPr>
          <a:xfrm>
            <a:off x="6477000" y="3381375"/>
            <a:ext cx="4572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SHA-256 detects changed or corrupted PDFs.</a:t>
            </a:r>
          </a:p>
        </p:txBody>
      </p:sp>
      <p:sp>
        <p:nvSpPr>
          <p:cNvPr id="10" name="Rectangle: Rounded Corners 9">
            <a:extLst>
              <a:ext uri="{FF2B5EF4-FFF2-40B4-BE49-F238E27FC236}">
                <a16:creationId xmlns:a16="http://schemas.microsoft.com/office/drawing/2014/main" id="{209A5C90-7D70-4A50-9B15-17DB7CF43714}"/>
              </a:ext>
            </a:extLst>
          </p:cNvPr>
          <p:cNvSpPr>
            <a:spLocks noGrp="1"/>
          </p:cNvSpPr>
          <p:nvPr/>
        </p:nvSpPr>
        <p:spPr>
          <a:xfrm>
            <a:off x="6191250" y="4143375"/>
            <a:ext cx="5238750" cy="1476375"/>
          </a:xfrm>
          <a:prstGeom prst="roundRect">
            <a:avLst>
              <a:gd name="adj" fmla="val 5161"/>
            </a:avLst>
          </a:prstGeom>
          <a:solidFill>
            <a:srgbClr val="E9F8F1"/>
          </a:solidFill>
          <a:ln w="0">
            <a:noFill/>
          </a:ln>
        </p:spPr>
        <p:txBody>
          <a:bodyPr/>
          <a:p/>
        </p:txBody>
      </p:sp>
      <p:sp>
        <p:nvSpPr>
          <p:cNvPr id="11" name="Rectangle 10">
            <a:extLst>
              <a:ext uri="{FF2B5EF4-FFF2-40B4-BE49-F238E27FC236}">
                <a16:creationId xmlns:a16="http://schemas.microsoft.com/office/drawing/2014/main" id="{35934AC7-21D0-435C-A717-B70F162B574A}"/>
              </a:ext>
            </a:extLst>
          </p:cNvPr>
          <p:cNvSpPr>
            <a:spLocks noGrp="1"/>
          </p:cNvSpPr>
          <p:nvPr/>
        </p:nvSpPr>
        <p:spPr>
          <a:xfrm>
            <a:off x="6477000" y="4400550"/>
            <a:ext cx="447675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Continuity</a:t>
            </a:r>
          </a:p>
        </p:txBody>
      </p:sp>
      <p:sp>
        <p:nvSpPr>
          <p:cNvPr id="12" name="Rectangle 11">
            <a:extLst>
              <a:ext uri="{FF2B5EF4-FFF2-40B4-BE49-F238E27FC236}">
                <a16:creationId xmlns:a16="http://schemas.microsoft.com/office/drawing/2014/main" id="{BB736BAB-8C2C-420C-9005-E2C9B5A35FCC}"/>
              </a:ext>
            </a:extLst>
          </p:cNvPr>
          <p:cNvSpPr>
            <a:spLocks noGrp="1"/>
          </p:cNvSpPr>
          <p:nvPr/>
        </p:nvSpPr>
        <p:spPr>
          <a:xfrm>
            <a:off x="6477000" y="4857750"/>
            <a:ext cx="447675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Local LAN access works without internet.</a:t>
            </a:r>
          </a:p>
        </p:txBody>
      </p:sp>
      <p:sp>
        <p:nvSpPr>
          <p:cNvPr id="13" name="Rectangle 12">
            <a:extLst>
              <a:ext uri="{FF2B5EF4-FFF2-40B4-BE49-F238E27FC236}">
                <a16:creationId xmlns:a16="http://schemas.microsoft.com/office/drawing/2014/main" id="{CC4CB1E1-964F-4F6B-AA59-21EAFFB8C64A}"/>
              </a:ext>
            </a:extLst>
          </p:cNvPr>
          <p:cNvSpPr>
            <a:spLocks noGrp="1"/>
          </p:cNvSpPr>
          <p:nvPr/>
        </p:nvSpPr>
        <p:spPr>
          <a:xfrm>
            <a:off x="6477000" y="5191125"/>
            <a:ext cx="466725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Remote Cloudflare access returns with internet.</a:t>
            </a:r>
          </a:p>
        </p:txBody>
      </p:sp>
      <p:sp>
        <p:nvSpPr>
          <p:cNvPr id="14" name="Rectangle 13">
            <a:extLst>
              <a:ext uri="{FF2B5EF4-FFF2-40B4-BE49-F238E27FC236}">
                <a16:creationId xmlns:a16="http://schemas.microsoft.com/office/drawing/2014/main" id="{96B36176-D05A-48CB-866D-C25D0CE5F485}"/>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5" name="Rectangle 14">
            <a:extLst>
              <a:ext uri="{FF2B5EF4-FFF2-40B4-BE49-F238E27FC236}">
                <a16:creationId xmlns:a16="http://schemas.microsoft.com/office/drawing/2014/main" id="{4C1A8D4C-3EA4-4BB6-B568-8AF9D252C5D3}"/>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15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589116521"/>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22941F9A-0667-4715-B6FA-0C6F2B98CF99}"/>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BEYOND THE CORE FLOW</a:t>
            </a:r>
          </a:p>
        </p:txBody>
      </p:sp>
      <p:sp>
        <p:nvSpPr>
          <p:cNvPr id="2" name="Rectangle 1">
            <a:extLst>
              <a:ext uri="{FF2B5EF4-FFF2-40B4-BE49-F238E27FC236}">
                <a16:creationId xmlns:a16="http://schemas.microsoft.com/office/drawing/2014/main" id="{93BDC138-9F20-4F94-AEA7-316E84E094C7}"/>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Supporting tools around the record</a:t>
            </a:r>
          </a:p>
        </p:txBody>
      </p:sp>
      <p:sp>
        <p:nvSpPr>
          <p:cNvPr id="3" name="Rectangle 2">
            <a:extLst>
              <a:ext uri="{FF2B5EF4-FFF2-40B4-BE49-F238E27FC236}">
                <a16:creationId xmlns:a16="http://schemas.microsoft.com/office/drawing/2014/main" id="{DB73E29F-73EE-4C22-AD00-8E39A25F09F9}"/>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6747F85E-4ADF-4241-B72B-65CEBDCC165F}"/>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These functions help administrators and staff manage the system at scale.</a:t>
            </a:r>
          </a:p>
        </p:txBody>
      </p:sp>
      <p:sp>
        <p:nvSpPr>
          <p:cNvPr id="5" name="Rectangle: Rounded Corners 4">
            <a:extLst>
              <a:ext uri="{FF2B5EF4-FFF2-40B4-BE49-F238E27FC236}">
                <a16:creationId xmlns:a16="http://schemas.microsoft.com/office/drawing/2014/main" id="{A588425A-54FB-4466-A4DC-D52460AA2BD9}"/>
              </a:ext>
            </a:extLst>
          </p:cNvPr>
          <p:cNvSpPr>
            <a:spLocks noGrp="1"/>
          </p:cNvSpPr>
          <p:nvPr/>
        </p:nvSpPr>
        <p:spPr>
          <a:xfrm>
            <a:off x="666750" y="2286000"/>
            <a:ext cx="5143500" cy="1000125"/>
          </a:xfrm>
          <a:prstGeom prst="roundRect">
            <a:avLst>
              <a:gd name="adj" fmla="val 7619"/>
            </a:avLst>
          </a:prstGeom>
          <a:solidFill>
            <a:srgbClr val="F5F7FB"/>
          </a:solidFill>
          <a:ln w="11430">
            <a:solidFill>
              <a:srgbClr val="D8E1ED"/>
            </a:solidFill>
          </a:ln>
        </p:spPr>
        <p:txBody>
          <a:bodyPr/>
          <a:p/>
        </p:txBody>
      </p:sp>
      <p:sp>
        <p:nvSpPr>
          <p:cNvPr id="6" name="Rectangle 5">
            <a:extLst>
              <a:ext uri="{FF2B5EF4-FFF2-40B4-BE49-F238E27FC236}">
                <a16:creationId xmlns:a16="http://schemas.microsoft.com/office/drawing/2014/main" id="{B0E2F85D-0468-4C61-ABE4-4D36B24F654B}"/>
              </a:ext>
            </a:extLst>
          </p:cNvPr>
          <p:cNvSpPr>
            <a:spLocks noGrp="1"/>
          </p:cNvSpPr>
          <p:nvPr/>
        </p:nvSpPr>
        <p:spPr>
          <a:xfrm>
            <a:off x="666750" y="2286000"/>
            <a:ext cx="95250" cy="1000125"/>
          </a:xfrm>
          <a:prstGeom prst="rect">
            <a:avLst/>
          </a:prstGeom>
          <a:solidFill>
            <a:srgbClr val="2F6BDE"/>
          </a:solidFill>
          <a:ln w="0">
            <a:noFill/>
          </a:ln>
        </p:spPr>
        <p:txBody>
          <a:bodyPr/>
          <a:p/>
        </p:txBody>
      </p:sp>
      <p:sp>
        <p:nvSpPr>
          <p:cNvPr id="7" name="Rectangle 6">
            <a:extLst>
              <a:ext uri="{FF2B5EF4-FFF2-40B4-BE49-F238E27FC236}">
                <a16:creationId xmlns:a16="http://schemas.microsoft.com/office/drawing/2014/main" id="{C66AB588-48E4-45FA-B54A-AF15D640A5AA}"/>
              </a:ext>
            </a:extLst>
          </p:cNvPr>
          <p:cNvSpPr>
            <a:spLocks noGrp="1"/>
          </p:cNvSpPr>
          <p:nvPr/>
        </p:nvSpPr>
        <p:spPr>
          <a:xfrm>
            <a:off x="952500" y="2476500"/>
            <a:ext cx="4476750" cy="247650"/>
          </a:xfrm>
          <a:prstGeom prst="rect">
            <a:avLst/>
          </a:prstGeom>
          <a:noFill/>
          <a:ln w="0">
            <a:noFill/>
          </a:ln>
        </p:spPr>
        <p:txBody>
          <a:bodyPr lIns="0" tIns="0" rIns="0" bIns="0" anchor="t">
            <a:normAutofit/>
          </a:bodyPr>
          <a:lstStyle/>
          <a:p>
            <a:pPr algn="l">
              <a:defRPr sz="1575" b="1">
                <a:solidFill>
                  <a:srgbClr val="17263A"/>
                </a:solidFill>
                <a:latin typeface="Arial"/>
                <a:ea typeface="Arial"/>
                <a:cs typeface="Arial"/>
              </a:defRPr>
            </a:pPr>
            <a:r>
              <a:rPr lang="en-US" sz="1575" b="1">
                <a:solidFill>
                  <a:srgbClr val="17263A"/>
                </a:solidFill>
                <a:latin typeface="Arial"/>
                <a:ea typeface="Arial"/>
                <a:cs typeface="Arial"/>
              </a:rPr>
              <a:t>Search and dashboards</a:t>
            </a:r>
            <a:endParaRPr sz="1575" b="1">
              <a:solidFill>
                <a:srgbClr val="17263A"/>
              </a:solidFill>
              <a:latin typeface="Arial"/>
              <a:ea typeface="Arial"/>
              <a:cs typeface="Arial"/>
            </a:endParaRPr>
          </a:p>
        </p:txBody>
      </p:sp>
      <p:sp>
        <p:nvSpPr>
          <p:cNvPr id="8" name="Rectangle 7">
            <a:extLst>
              <a:ext uri="{FF2B5EF4-FFF2-40B4-BE49-F238E27FC236}">
                <a16:creationId xmlns:a16="http://schemas.microsoft.com/office/drawing/2014/main" id="{F0C81987-3794-49B1-A5A7-40EF89BC1FAC}"/>
              </a:ext>
            </a:extLst>
          </p:cNvPr>
          <p:cNvSpPr>
            <a:spLocks noGrp="1"/>
          </p:cNvSpPr>
          <p:nvPr/>
        </p:nvSpPr>
        <p:spPr>
          <a:xfrm>
            <a:off x="952500" y="2819400"/>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Advanced Search | Analytics Dashboard | Records Viewer | PDF Comparison Viewer</a:t>
            </a:r>
            <a:endParaRPr sz="1300">
              <a:solidFill>
                <a:srgbClr val="5E6C80"/>
              </a:solidFill>
              <a:latin typeface="Arial"/>
              <a:ea typeface="Arial"/>
              <a:cs typeface="Arial"/>
            </a:endParaRPr>
          </a:p>
        </p:txBody>
      </p:sp>
      <p:sp>
        <p:nvSpPr>
          <p:cNvPr id="9" name="Rectangle: Rounded Corners 8">
            <a:extLst>
              <a:ext uri="{FF2B5EF4-FFF2-40B4-BE49-F238E27FC236}">
                <a16:creationId xmlns:a16="http://schemas.microsoft.com/office/drawing/2014/main" id="{852E8D2A-3378-40A4-BD5B-ED9AA8074978}"/>
              </a:ext>
            </a:extLst>
          </p:cNvPr>
          <p:cNvSpPr>
            <a:spLocks noGrp="1"/>
          </p:cNvSpPr>
          <p:nvPr/>
        </p:nvSpPr>
        <p:spPr>
          <a:xfrm>
            <a:off x="6286500" y="2286000"/>
            <a:ext cx="5143500" cy="1000125"/>
          </a:xfrm>
          <a:prstGeom prst="roundRect">
            <a:avLst>
              <a:gd name="adj" fmla="val 7619"/>
            </a:avLst>
          </a:prstGeom>
          <a:solidFill>
            <a:srgbClr val="F5F7FB"/>
          </a:solidFill>
          <a:ln w="11430">
            <a:solidFill>
              <a:srgbClr val="D8E1ED"/>
            </a:solidFill>
          </a:ln>
        </p:spPr>
        <p:txBody>
          <a:bodyPr/>
          <a:p/>
        </p:txBody>
      </p:sp>
      <p:sp>
        <p:nvSpPr>
          <p:cNvPr id="10" name="Rectangle 9">
            <a:extLst>
              <a:ext uri="{FF2B5EF4-FFF2-40B4-BE49-F238E27FC236}">
                <a16:creationId xmlns:a16="http://schemas.microsoft.com/office/drawing/2014/main" id="{CEBAAD8F-4E06-496C-A4F0-C748904A21EB}"/>
              </a:ext>
            </a:extLst>
          </p:cNvPr>
          <p:cNvSpPr>
            <a:spLocks noGrp="1"/>
          </p:cNvSpPr>
          <p:nvPr/>
        </p:nvSpPr>
        <p:spPr>
          <a:xfrm>
            <a:off x="6286500" y="2286000"/>
            <a:ext cx="95250" cy="1000125"/>
          </a:xfrm>
          <a:prstGeom prst="rect">
            <a:avLst/>
          </a:prstGeom>
          <a:solidFill>
            <a:srgbClr val="17A673"/>
          </a:solidFill>
          <a:ln w="0">
            <a:noFill/>
          </a:ln>
        </p:spPr>
        <p:txBody>
          <a:bodyPr/>
          <a:p/>
        </p:txBody>
      </p:sp>
      <p:sp>
        <p:nvSpPr>
          <p:cNvPr id="11" name="Rectangle 10">
            <a:extLst>
              <a:ext uri="{FF2B5EF4-FFF2-40B4-BE49-F238E27FC236}">
                <a16:creationId xmlns:a16="http://schemas.microsoft.com/office/drawing/2014/main" id="{89AACA72-60F9-460A-9DB0-16332E3E6F54}"/>
              </a:ext>
            </a:extLst>
          </p:cNvPr>
          <p:cNvSpPr>
            <a:spLocks noGrp="1"/>
          </p:cNvSpPr>
          <p:nvPr/>
        </p:nvSpPr>
        <p:spPr>
          <a:xfrm>
            <a:off x="6572250" y="2476500"/>
            <a:ext cx="4476750" cy="247650"/>
          </a:xfrm>
          <a:prstGeom prst="rect">
            <a:avLst/>
          </a:prstGeom>
          <a:noFill/>
          <a:ln w="0">
            <a:noFill/>
          </a:ln>
        </p:spPr>
        <p:txBody>
          <a:bodyPr lIns="0" tIns="0" rIns="0" bIns="0" anchor="t">
            <a:normAutofit/>
          </a:bodyPr>
          <a:lstStyle/>
          <a:p>
            <a:pPr algn="l">
              <a:defRPr sz="1575" b="1">
                <a:solidFill>
                  <a:srgbClr val="17263A"/>
                </a:solidFill>
                <a:latin typeface="Arial"/>
                <a:ea typeface="Arial"/>
                <a:cs typeface="Arial"/>
              </a:defRPr>
            </a:pPr>
            <a:r>
              <a:rPr lang="en-US" sz="1575" b="1">
                <a:solidFill>
                  <a:srgbClr val="17263A"/>
                </a:solidFill>
                <a:latin typeface="Arial"/>
                <a:ea typeface="Arial"/>
                <a:cs typeface="Arial"/>
              </a:rPr>
              <a:t>Workflow and archive</a:t>
            </a:r>
            <a:endParaRPr sz="1575" b="1">
              <a:solidFill>
                <a:srgbClr val="17263A"/>
              </a:solidFill>
              <a:latin typeface="Arial"/>
              <a:ea typeface="Arial"/>
              <a:cs typeface="Arial"/>
            </a:endParaRPr>
          </a:p>
        </p:txBody>
      </p:sp>
      <p:sp>
        <p:nvSpPr>
          <p:cNvPr id="12" name="Rectangle 11">
            <a:extLst>
              <a:ext uri="{FF2B5EF4-FFF2-40B4-BE49-F238E27FC236}">
                <a16:creationId xmlns:a16="http://schemas.microsoft.com/office/drawing/2014/main" id="{FF784E48-8EA0-440D-9AD2-B6CD6CA360EE}"/>
              </a:ext>
            </a:extLst>
          </p:cNvPr>
          <p:cNvSpPr>
            <a:spLocks noGrp="1"/>
          </p:cNvSpPr>
          <p:nvPr/>
        </p:nvSpPr>
        <p:spPr>
          <a:xfrm>
            <a:off x="6572250" y="2819400"/>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Workflow Dashboard | Archive | Trash | Restore</a:t>
            </a:r>
            <a:endParaRPr sz="1300">
              <a:solidFill>
                <a:srgbClr val="5E6C80"/>
              </a:solidFill>
              <a:latin typeface="Arial"/>
              <a:ea typeface="Arial"/>
              <a:cs typeface="Arial"/>
            </a:endParaRPr>
          </a:p>
        </p:txBody>
      </p:sp>
      <p:sp>
        <p:nvSpPr>
          <p:cNvPr id="13" name="Rectangle: Rounded Corners 12">
            <a:extLst>
              <a:ext uri="{FF2B5EF4-FFF2-40B4-BE49-F238E27FC236}">
                <a16:creationId xmlns:a16="http://schemas.microsoft.com/office/drawing/2014/main" id="{8452C5A0-11E3-4671-8580-BEF561FE3FE9}"/>
              </a:ext>
            </a:extLst>
          </p:cNvPr>
          <p:cNvSpPr>
            <a:spLocks noGrp="1"/>
          </p:cNvSpPr>
          <p:nvPr/>
        </p:nvSpPr>
        <p:spPr>
          <a:xfrm>
            <a:off x="666750" y="3571875"/>
            <a:ext cx="5143500" cy="1000125"/>
          </a:xfrm>
          <a:prstGeom prst="roundRect">
            <a:avLst>
              <a:gd name="adj" fmla="val 7619"/>
            </a:avLst>
          </a:prstGeom>
          <a:solidFill>
            <a:srgbClr val="F5F7FB"/>
          </a:solidFill>
          <a:ln w="11430">
            <a:solidFill>
              <a:srgbClr val="D8E1ED"/>
            </a:solidFill>
          </a:ln>
        </p:spPr>
        <p:txBody>
          <a:bodyPr/>
          <a:p/>
        </p:txBody>
      </p:sp>
      <p:sp>
        <p:nvSpPr>
          <p:cNvPr id="14" name="Rectangle 13">
            <a:extLst>
              <a:ext uri="{FF2B5EF4-FFF2-40B4-BE49-F238E27FC236}">
                <a16:creationId xmlns:a16="http://schemas.microsoft.com/office/drawing/2014/main" id="{6532673C-8BD8-443C-BB5B-5A561E5D0C13}"/>
              </a:ext>
            </a:extLst>
          </p:cNvPr>
          <p:cNvSpPr>
            <a:spLocks noGrp="1"/>
          </p:cNvSpPr>
          <p:nvPr/>
        </p:nvSpPr>
        <p:spPr>
          <a:xfrm>
            <a:off x="666750" y="3571875"/>
            <a:ext cx="95250" cy="1000125"/>
          </a:xfrm>
          <a:prstGeom prst="rect">
            <a:avLst/>
          </a:prstGeom>
          <a:solidFill>
            <a:srgbClr val="7B61D1"/>
          </a:solidFill>
          <a:ln w="0">
            <a:noFill/>
          </a:ln>
        </p:spPr>
        <p:txBody>
          <a:bodyPr/>
          <a:p/>
        </p:txBody>
      </p:sp>
      <p:sp>
        <p:nvSpPr>
          <p:cNvPr id="15" name="Rectangle 14">
            <a:extLst>
              <a:ext uri="{FF2B5EF4-FFF2-40B4-BE49-F238E27FC236}">
                <a16:creationId xmlns:a16="http://schemas.microsoft.com/office/drawing/2014/main" id="{36065CB2-642A-4357-8D0D-C52465FB2D62}"/>
              </a:ext>
            </a:extLst>
          </p:cNvPr>
          <p:cNvSpPr>
            <a:spLocks noGrp="1"/>
          </p:cNvSpPr>
          <p:nvPr/>
        </p:nvSpPr>
        <p:spPr>
          <a:xfrm>
            <a:off x="952500" y="3762375"/>
            <a:ext cx="4476750" cy="247650"/>
          </a:xfrm>
          <a:prstGeom prst="rect">
            <a:avLst/>
          </a:prstGeom>
          <a:noFill/>
          <a:ln w="0">
            <a:noFill/>
          </a:ln>
        </p:spPr>
        <p:txBody>
          <a:bodyPr lIns="0" tIns="0" rIns="0" bIns="0" anchor="t">
            <a:noAutofit/>
          </a:bodyPr>
          <a:lstStyle/>
          <a:p>
            <a:pPr algn="l">
              <a:defRPr sz="1575" b="1">
                <a:solidFill>
                  <a:srgbClr val="17263A"/>
                </a:solidFill>
                <a:latin typeface="Arial"/>
                <a:ea typeface="Arial"/>
                <a:cs typeface="Arial"/>
              </a:defRPr>
            </a:pPr>
            <a:r>
              <a:rPr lang="en-US" sz="1900" b="1">
                <a:solidFill>
                  <a:srgbClr val="17263A"/>
                </a:solidFill>
                <a:latin typeface="Arial"/>
                <a:ea typeface="Arial"/>
                <a:cs typeface="Arial"/>
              </a:rPr>
              <a:t>Upload and PDF tools</a:t>
            </a:r>
            <a:endParaRPr sz="1900" b="1">
              <a:solidFill>
                <a:srgbClr val="17263A"/>
              </a:solidFill>
              <a:latin typeface="Arial"/>
              <a:ea typeface="Arial"/>
              <a:cs typeface="Arial"/>
            </a:endParaRPr>
          </a:p>
        </p:txBody>
      </p:sp>
      <p:sp>
        <p:nvSpPr>
          <p:cNvPr id="16" name="Rectangle 15">
            <a:extLst>
              <a:ext uri="{FF2B5EF4-FFF2-40B4-BE49-F238E27FC236}">
                <a16:creationId xmlns:a16="http://schemas.microsoft.com/office/drawing/2014/main" id="{742E19F3-9A21-4870-8FFF-D0F695F4B208}"/>
              </a:ext>
            </a:extLst>
          </p:cNvPr>
          <p:cNvSpPr>
            <a:spLocks noGrp="1"/>
          </p:cNvSpPr>
          <p:nvPr/>
        </p:nvSpPr>
        <p:spPr>
          <a:xfrm>
            <a:off x="952500" y="4105275"/>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Batch Upload | PDF Backup Manager | PDF Integrity Tools | Reorganize Uploads</a:t>
            </a:r>
            <a:endParaRPr sz="1300">
              <a:solidFill>
                <a:srgbClr val="5E6C80"/>
              </a:solidFill>
              <a:latin typeface="Arial"/>
              <a:ea typeface="Arial"/>
              <a:cs typeface="Arial"/>
            </a:endParaRPr>
          </a:p>
        </p:txBody>
      </p:sp>
      <p:sp>
        <p:nvSpPr>
          <p:cNvPr id="17" name="Rectangle: Rounded Corners 16">
            <a:extLst>
              <a:ext uri="{FF2B5EF4-FFF2-40B4-BE49-F238E27FC236}">
                <a16:creationId xmlns:a16="http://schemas.microsoft.com/office/drawing/2014/main" id="{859F21C2-EA8C-4670-A6F7-5BB4813A78E1}"/>
              </a:ext>
            </a:extLst>
          </p:cNvPr>
          <p:cNvSpPr>
            <a:spLocks noGrp="1"/>
          </p:cNvSpPr>
          <p:nvPr/>
        </p:nvSpPr>
        <p:spPr>
          <a:xfrm>
            <a:off x="6286500" y="3571875"/>
            <a:ext cx="5143500" cy="1000125"/>
          </a:xfrm>
          <a:prstGeom prst="roundRect">
            <a:avLst>
              <a:gd name="adj" fmla="val 7619"/>
            </a:avLst>
          </a:prstGeom>
          <a:solidFill>
            <a:srgbClr val="F5F7FB"/>
          </a:solidFill>
          <a:ln w="11430">
            <a:solidFill>
              <a:srgbClr val="D8E1ED"/>
            </a:solidFill>
          </a:ln>
        </p:spPr>
        <p:txBody>
          <a:bodyPr/>
          <a:p/>
        </p:txBody>
      </p:sp>
      <p:sp>
        <p:nvSpPr>
          <p:cNvPr id="18" name="Rectangle 17">
            <a:extLst>
              <a:ext uri="{FF2B5EF4-FFF2-40B4-BE49-F238E27FC236}">
                <a16:creationId xmlns:a16="http://schemas.microsoft.com/office/drawing/2014/main" id="{07DDA78A-1FBC-492D-B062-56557A0BC3D6}"/>
              </a:ext>
            </a:extLst>
          </p:cNvPr>
          <p:cNvSpPr>
            <a:spLocks noGrp="1"/>
          </p:cNvSpPr>
          <p:nvPr/>
        </p:nvSpPr>
        <p:spPr>
          <a:xfrm>
            <a:off x="6286500" y="3571875"/>
            <a:ext cx="95250" cy="1000125"/>
          </a:xfrm>
          <a:prstGeom prst="rect">
            <a:avLst/>
          </a:prstGeom>
          <a:solidFill>
            <a:srgbClr val="F6B638"/>
          </a:solidFill>
          <a:ln w="0">
            <a:noFill/>
          </a:ln>
        </p:spPr>
        <p:txBody>
          <a:bodyPr/>
          <a:p/>
        </p:txBody>
      </p:sp>
      <p:sp>
        <p:nvSpPr>
          <p:cNvPr id="19" name="Rectangle 18">
            <a:extLst>
              <a:ext uri="{FF2B5EF4-FFF2-40B4-BE49-F238E27FC236}">
                <a16:creationId xmlns:a16="http://schemas.microsoft.com/office/drawing/2014/main" id="{82948DCE-06A3-44C2-B307-C734FB69E44C}"/>
              </a:ext>
            </a:extLst>
          </p:cNvPr>
          <p:cNvSpPr>
            <a:spLocks noGrp="1"/>
          </p:cNvSpPr>
          <p:nvPr/>
        </p:nvSpPr>
        <p:spPr>
          <a:xfrm>
            <a:off x="6572250" y="3762375"/>
            <a:ext cx="4476750" cy="247650"/>
          </a:xfrm>
          <a:prstGeom prst="rect">
            <a:avLst/>
          </a:prstGeom>
          <a:noFill/>
          <a:ln w="0">
            <a:noFill/>
          </a:ln>
        </p:spPr>
        <p:txBody>
          <a:bodyPr lIns="0" tIns="0" rIns="0" bIns="0" anchor="t">
            <a:noAutofit/>
          </a:bodyPr>
          <a:lstStyle/>
          <a:p>
            <a:pPr algn="l">
              <a:defRPr sz="1575" b="1">
                <a:solidFill>
                  <a:srgbClr val="17263A"/>
                </a:solidFill>
                <a:latin typeface="Arial"/>
                <a:ea typeface="Arial"/>
                <a:cs typeface="Arial"/>
              </a:defRPr>
            </a:pPr>
            <a:r>
              <a:rPr lang="en-US" sz="1900" b="1">
                <a:solidFill>
                  <a:srgbClr val="17263A"/>
                </a:solidFill>
                <a:latin typeface="Arial"/>
                <a:ea typeface="Arial"/>
                <a:cs typeface="Arial"/>
              </a:rPr>
              <a:t>Relationships and notes</a:t>
            </a:r>
            <a:endParaRPr sz="1900" b="1">
              <a:solidFill>
                <a:srgbClr val="17263A"/>
              </a:solidFill>
              <a:latin typeface="Arial"/>
              <a:ea typeface="Arial"/>
              <a:cs typeface="Arial"/>
            </a:endParaRPr>
          </a:p>
        </p:txBody>
      </p:sp>
      <p:sp>
        <p:nvSpPr>
          <p:cNvPr id="20" name="Rectangle 19">
            <a:extLst>
              <a:ext uri="{FF2B5EF4-FFF2-40B4-BE49-F238E27FC236}">
                <a16:creationId xmlns:a16="http://schemas.microsoft.com/office/drawing/2014/main" id="{4D3B4D7C-9BA7-47E1-AF7D-D10BD3F5D79F}"/>
              </a:ext>
            </a:extLst>
          </p:cNvPr>
          <p:cNvSpPr>
            <a:spLocks noGrp="1"/>
          </p:cNvSpPr>
          <p:nvPr/>
        </p:nvSpPr>
        <p:spPr>
          <a:xfrm>
            <a:off x="6572250" y="4105275"/>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Double Registration Linking | Family Relations | Calendar | Notes</a:t>
            </a:r>
            <a:endParaRPr sz="1300">
              <a:solidFill>
                <a:srgbClr val="5E6C80"/>
              </a:solidFill>
              <a:latin typeface="Arial"/>
              <a:ea typeface="Arial"/>
              <a:cs typeface="Arial"/>
            </a:endParaRPr>
          </a:p>
        </p:txBody>
      </p:sp>
      <p:sp>
        <p:nvSpPr>
          <p:cNvPr id="21" name="Rectangle: Rounded Corners 20">
            <a:extLst>
              <a:ext uri="{FF2B5EF4-FFF2-40B4-BE49-F238E27FC236}">
                <a16:creationId xmlns:a16="http://schemas.microsoft.com/office/drawing/2014/main" id="{FDE638B9-789A-4791-9B44-99D4201132B8}"/>
              </a:ext>
            </a:extLst>
          </p:cNvPr>
          <p:cNvSpPr>
            <a:spLocks noGrp="1"/>
          </p:cNvSpPr>
          <p:nvPr/>
        </p:nvSpPr>
        <p:spPr>
          <a:xfrm>
            <a:off x="666750" y="4857750"/>
            <a:ext cx="5143500" cy="1000125"/>
          </a:xfrm>
          <a:prstGeom prst="roundRect">
            <a:avLst>
              <a:gd name="adj" fmla="val 7619"/>
            </a:avLst>
          </a:prstGeom>
          <a:solidFill>
            <a:srgbClr val="F5F7FB"/>
          </a:solidFill>
          <a:ln w="11430">
            <a:solidFill>
              <a:srgbClr val="D8E1ED"/>
            </a:solidFill>
          </a:ln>
        </p:spPr>
        <p:txBody>
          <a:bodyPr/>
          <a:p/>
        </p:txBody>
      </p:sp>
      <p:sp>
        <p:nvSpPr>
          <p:cNvPr id="22" name="Rectangle 21">
            <a:extLst>
              <a:ext uri="{FF2B5EF4-FFF2-40B4-BE49-F238E27FC236}">
                <a16:creationId xmlns:a16="http://schemas.microsoft.com/office/drawing/2014/main" id="{0442E61B-96E8-4CA0-AE47-C18A6F667C34}"/>
              </a:ext>
            </a:extLst>
          </p:cNvPr>
          <p:cNvSpPr>
            <a:spLocks noGrp="1"/>
          </p:cNvSpPr>
          <p:nvPr/>
        </p:nvSpPr>
        <p:spPr>
          <a:xfrm>
            <a:off x="666750" y="4857750"/>
            <a:ext cx="95250" cy="1000125"/>
          </a:xfrm>
          <a:prstGeom prst="rect">
            <a:avLst/>
          </a:prstGeom>
          <a:solidFill>
            <a:srgbClr val="DD5577"/>
          </a:solidFill>
          <a:ln w="0">
            <a:noFill/>
          </a:ln>
        </p:spPr>
        <p:txBody>
          <a:bodyPr/>
          <a:p/>
        </p:txBody>
      </p:sp>
      <p:sp>
        <p:nvSpPr>
          <p:cNvPr id="23" name="Rectangle 22">
            <a:extLst>
              <a:ext uri="{FF2B5EF4-FFF2-40B4-BE49-F238E27FC236}">
                <a16:creationId xmlns:a16="http://schemas.microsoft.com/office/drawing/2014/main" id="{5AD1F889-4005-4394-9759-08C749DAA285}"/>
              </a:ext>
            </a:extLst>
          </p:cNvPr>
          <p:cNvSpPr>
            <a:spLocks noGrp="1"/>
          </p:cNvSpPr>
          <p:nvPr/>
        </p:nvSpPr>
        <p:spPr>
          <a:xfrm>
            <a:off x="952500" y="5048250"/>
            <a:ext cx="4476750" cy="247650"/>
          </a:xfrm>
          <a:prstGeom prst="rect">
            <a:avLst/>
          </a:prstGeom>
          <a:noFill/>
          <a:ln w="0">
            <a:noFill/>
          </a:ln>
        </p:spPr>
        <p:txBody>
          <a:bodyPr lIns="0" tIns="0" rIns="0" bIns="0" anchor="t">
            <a:noAutofit/>
          </a:bodyPr>
          <a:lstStyle/>
          <a:p>
            <a:pPr algn="l">
              <a:defRPr sz="1575" b="1">
                <a:solidFill>
                  <a:srgbClr val="17263A"/>
                </a:solidFill>
                <a:latin typeface="Arial"/>
                <a:ea typeface="Arial"/>
                <a:cs typeface="Arial"/>
              </a:defRPr>
            </a:pPr>
            <a:r>
              <a:rPr lang="en-US" sz="1900" b="1">
                <a:solidFill>
                  <a:srgbClr val="17263A"/>
                </a:solidFill>
                <a:latin typeface="Arial"/>
                <a:ea typeface="Arial"/>
                <a:cs typeface="Arial"/>
              </a:rPr>
              <a:t>Administration and security</a:t>
            </a:r>
            <a:endParaRPr sz="1900" b="1">
              <a:solidFill>
                <a:srgbClr val="17263A"/>
              </a:solidFill>
              <a:latin typeface="Arial"/>
              <a:ea typeface="Arial"/>
              <a:cs typeface="Arial"/>
            </a:endParaRPr>
          </a:p>
        </p:txBody>
      </p:sp>
      <p:sp>
        <p:nvSpPr>
          <p:cNvPr id="24" name="Rectangle 23">
            <a:extLst>
              <a:ext uri="{FF2B5EF4-FFF2-40B4-BE49-F238E27FC236}">
                <a16:creationId xmlns:a16="http://schemas.microsoft.com/office/drawing/2014/main" id="{C321E8BA-4FFC-4D89-AD0C-549A4808406F}"/>
              </a:ext>
            </a:extLst>
          </p:cNvPr>
          <p:cNvSpPr>
            <a:spLocks noGrp="1"/>
          </p:cNvSpPr>
          <p:nvPr/>
        </p:nvSpPr>
        <p:spPr>
          <a:xfrm>
            <a:off x="952500" y="5391150"/>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Device registration / approval / locking | User Management | System Settings | Security Logs</a:t>
            </a:r>
            <a:endParaRPr sz="1300">
              <a:solidFill>
                <a:srgbClr val="5E6C80"/>
              </a:solidFill>
              <a:latin typeface="Arial"/>
              <a:ea typeface="Arial"/>
              <a:cs typeface="Arial"/>
            </a:endParaRPr>
          </a:p>
        </p:txBody>
      </p:sp>
      <p:sp>
        <p:nvSpPr>
          <p:cNvPr id="25" name="Rectangle: Rounded Corners 24">
            <a:extLst>
              <a:ext uri="{FF2B5EF4-FFF2-40B4-BE49-F238E27FC236}">
                <a16:creationId xmlns:a16="http://schemas.microsoft.com/office/drawing/2014/main" id="{DB7643E6-60EA-4E01-83E9-CBC58D3A8AEE}"/>
              </a:ext>
            </a:extLst>
          </p:cNvPr>
          <p:cNvSpPr>
            <a:spLocks noGrp="1"/>
          </p:cNvSpPr>
          <p:nvPr/>
        </p:nvSpPr>
        <p:spPr>
          <a:xfrm>
            <a:off x="6286500" y="4857750"/>
            <a:ext cx="5143500" cy="1000125"/>
          </a:xfrm>
          <a:prstGeom prst="roundRect">
            <a:avLst>
              <a:gd name="adj" fmla="val 7619"/>
            </a:avLst>
          </a:prstGeom>
          <a:solidFill>
            <a:srgbClr val="F5F7FB"/>
          </a:solidFill>
          <a:ln w="11430">
            <a:solidFill>
              <a:srgbClr val="D8E1ED"/>
            </a:solidFill>
          </a:ln>
        </p:spPr>
        <p:txBody>
          <a:bodyPr/>
          <a:p/>
        </p:txBody>
      </p:sp>
      <p:sp>
        <p:nvSpPr>
          <p:cNvPr id="26" name="Rectangle 25">
            <a:extLst>
              <a:ext uri="{FF2B5EF4-FFF2-40B4-BE49-F238E27FC236}">
                <a16:creationId xmlns:a16="http://schemas.microsoft.com/office/drawing/2014/main" id="{EFCE7587-1699-4E2E-A849-899DB8C77B3A}"/>
              </a:ext>
            </a:extLst>
          </p:cNvPr>
          <p:cNvSpPr>
            <a:spLocks noGrp="1"/>
          </p:cNvSpPr>
          <p:nvPr/>
        </p:nvSpPr>
        <p:spPr>
          <a:xfrm>
            <a:off x="6286500" y="4857750"/>
            <a:ext cx="95250" cy="1000125"/>
          </a:xfrm>
          <a:prstGeom prst="rect">
            <a:avLst/>
          </a:prstGeom>
          <a:solidFill>
            <a:srgbClr val="2F6BDE"/>
          </a:solidFill>
          <a:ln w="0">
            <a:noFill/>
          </a:ln>
        </p:spPr>
        <p:txBody>
          <a:bodyPr/>
          <a:p/>
        </p:txBody>
      </p:sp>
      <p:sp>
        <p:nvSpPr>
          <p:cNvPr id="27" name="Rectangle 26">
            <a:extLst>
              <a:ext uri="{FF2B5EF4-FFF2-40B4-BE49-F238E27FC236}">
                <a16:creationId xmlns:a16="http://schemas.microsoft.com/office/drawing/2014/main" id="{0D64DD67-09F3-4105-B47E-7BAB5F601B5D}"/>
              </a:ext>
            </a:extLst>
          </p:cNvPr>
          <p:cNvSpPr>
            <a:spLocks noGrp="1"/>
          </p:cNvSpPr>
          <p:nvPr/>
        </p:nvSpPr>
        <p:spPr>
          <a:xfrm>
            <a:off x="6572250" y="5048250"/>
            <a:ext cx="4476750" cy="247650"/>
          </a:xfrm>
          <a:prstGeom prst="rect">
            <a:avLst/>
          </a:prstGeom>
          <a:noFill/>
          <a:ln w="0">
            <a:noFill/>
          </a:ln>
        </p:spPr>
        <p:txBody>
          <a:bodyPr lIns="0" tIns="0" rIns="0" bIns="0" anchor="t">
            <a:noAutofit/>
          </a:bodyPr>
          <a:lstStyle/>
          <a:p>
            <a:pPr algn="l">
              <a:defRPr sz="1575" b="1">
                <a:solidFill>
                  <a:srgbClr val="17263A"/>
                </a:solidFill>
                <a:latin typeface="Arial"/>
                <a:ea typeface="Arial"/>
                <a:cs typeface="Arial"/>
              </a:defRPr>
            </a:pPr>
            <a:r>
              <a:rPr lang="en-US" sz="1900" b="1">
                <a:solidFill>
                  <a:srgbClr val="17263A"/>
                </a:solidFill>
                <a:latin typeface="Arial"/>
                <a:ea typeface="Arial"/>
                <a:cs typeface="Arial"/>
              </a:rPr>
              <a:t>Reports and maintenance</a:t>
            </a:r>
            <a:endParaRPr sz="1900" b="1">
              <a:solidFill>
                <a:srgbClr val="17263A"/>
              </a:solidFill>
              <a:latin typeface="Arial"/>
              <a:ea typeface="Arial"/>
              <a:cs typeface="Arial"/>
            </a:endParaRPr>
          </a:p>
        </p:txBody>
      </p:sp>
      <p:sp>
        <p:nvSpPr>
          <p:cNvPr id="28" name="Rectangle 27">
            <a:extLst>
              <a:ext uri="{FF2B5EF4-FFF2-40B4-BE49-F238E27FC236}">
                <a16:creationId xmlns:a16="http://schemas.microsoft.com/office/drawing/2014/main" id="{5DA165E0-2501-44D5-B6C8-F75CA439A869}"/>
              </a:ext>
            </a:extLst>
          </p:cNvPr>
          <p:cNvSpPr>
            <a:spLocks noGrp="1"/>
          </p:cNvSpPr>
          <p:nvPr/>
        </p:nvSpPr>
        <p:spPr>
          <a:xfrm>
            <a:off x="6572250" y="5391150"/>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Reports | Data Export | Error Log Viewer | Maintenance Mode</a:t>
            </a:r>
            <a:endParaRPr sz="1300">
              <a:solidFill>
                <a:srgbClr val="5E6C80"/>
              </a:solidFill>
              <a:latin typeface="Arial"/>
              <a:ea typeface="Arial"/>
              <a:cs typeface="Arial"/>
            </a:endParaRPr>
          </a:p>
        </p:txBody>
      </p:sp>
      <p:sp>
        <p:nvSpPr>
          <p:cNvPr id="29" name="Rectangle 28">
            <a:extLst>
              <a:ext uri="{FF2B5EF4-FFF2-40B4-BE49-F238E27FC236}">
                <a16:creationId xmlns:a16="http://schemas.microsoft.com/office/drawing/2014/main" id="{A0BCAB2C-3184-4D9E-AA95-0B10B3CB04DB}"/>
              </a:ext>
            </a:extLst>
          </p:cNvPr>
          <p:cNvSpPr>
            <a:spLocks noGrp="1"/>
          </p:cNvSpPr>
          <p:nvPr/>
        </p:nvSpPr>
        <p:spPr>
          <a:xfrm>
            <a:off x="1428750" y="6048375"/>
            <a:ext cx="9334500" cy="228600"/>
          </a:xfrm>
          <a:prstGeom prst="rect">
            <a:avLst/>
          </a:prstGeom>
          <a:noFill/>
          <a:ln w="0">
            <a:noFill/>
          </a:ln>
        </p:spPr>
        <p:txBody>
          <a:bodyPr lIns="0" tIns="0" rIns="0" bIns="0" anchor="t">
            <a:normAutofit/>
          </a:bodyPr>
          <a:lstStyle/>
          <a:p>
            <a:pPr algn="ctr">
              <a:defRPr sz="1425" b="1">
                <a:solidFill>
                  <a:srgbClr val="2F6BDE"/>
                </a:solidFill>
                <a:latin typeface="Arial"/>
                <a:ea typeface="Arial"/>
                <a:cs typeface="Arial"/>
              </a:defRPr>
            </a:pPr>
            <a:r>
              <a:rPr lang="en-US" sz="1425" b="1">
                <a:solidFill>
                  <a:srgbClr val="2F6BDE"/>
                </a:solidFill>
                <a:latin typeface="Arial"/>
                <a:ea typeface="Arial"/>
                <a:cs typeface="Arial"/>
              </a:rPr>
              <a:t>Every supporting tool serves the same four civil registry records and their audit trail.</a:t>
            </a:r>
            <a:endParaRPr sz="1425" b="1">
              <a:solidFill>
                <a:srgbClr val="2F6BDE"/>
              </a:solidFill>
              <a:latin typeface="Arial"/>
              <a:ea typeface="Arial"/>
              <a:cs typeface="Arial"/>
            </a:endParaRPr>
          </a:p>
        </p:txBody>
      </p:sp>
      <p:sp>
        <p:nvSpPr>
          <p:cNvPr id="30" name="Rectangle 29">
            <a:extLst>
              <a:ext uri="{FF2B5EF4-FFF2-40B4-BE49-F238E27FC236}">
                <a16:creationId xmlns:a16="http://schemas.microsoft.com/office/drawing/2014/main" id="{BE4D425B-892F-456C-B3E9-555FEE1B7E4D}"/>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31" name="Rectangle 30">
            <a:extLst>
              <a:ext uri="{FF2B5EF4-FFF2-40B4-BE49-F238E27FC236}">
                <a16:creationId xmlns:a16="http://schemas.microsoft.com/office/drawing/2014/main" id="{038FD97B-855A-433D-B395-03751128C33A}"/>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17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731778554"/>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12648" y="301752"/>
            <a:ext cx="6675120" cy="201168"/>
          </a:xfrm>
          <a:prstGeom prst="rect">
            <a:avLst/>
          </a:prstGeom>
          <a:noFill/>
        </p:spPr>
        <p:txBody>
          <a:bodyPr wrap="square" lIns="0" rIns="0" tIns="0" bIns="0" anchor="t">
            <a:spAutoFit/>
          </a:bodyPr>
          <a:lstStyle/>
          <a:p>
            <a:pPr algn="l"/>
            <a:r>
              <a:rPr sz="975" b="1">
                <a:solidFill>
                  <a:srgbClr val="2F6BDE"/>
                </a:solidFill>
                <a:latin typeface="Arial"/>
              </a:rPr>
              <a:t>ADMINISTRATION / ACCESS CONTROL</a:t>
            </a:r>
          </a:p>
        </p:txBody>
      </p:sp>
      <p:sp>
        <p:nvSpPr>
          <p:cNvPr id="3" name="TextBox 2"/>
          <p:cNvSpPr txBox="1"/>
          <p:nvPr/>
        </p:nvSpPr>
        <p:spPr>
          <a:xfrm>
            <a:off x="612648" y="548640"/>
            <a:ext cx="10789920" cy="475488"/>
          </a:xfrm>
          <a:prstGeom prst="rect">
            <a:avLst/>
          </a:prstGeom>
          <a:noFill/>
        </p:spPr>
        <p:txBody>
          <a:bodyPr wrap="square" lIns="0" rIns="0" tIns="0" bIns="0" anchor="t">
            <a:spAutoFit/>
          </a:bodyPr>
          <a:lstStyle/>
          <a:p>
            <a:pPr algn="l"/>
            <a:r>
              <a:rPr sz="2700" b="1">
                <a:solidFill>
                  <a:srgbClr val="17263A"/>
                </a:solidFill>
                <a:latin typeface="Arial"/>
              </a:rPr>
              <a:t>Registered Devices</a:t>
            </a:r>
          </a:p>
        </p:txBody>
      </p:sp>
      <p:sp>
        <p:nvSpPr>
          <p:cNvPr id="4" name="Rectangle 3"/>
          <p:cNvSpPr/>
          <p:nvPr/>
        </p:nvSpPr>
        <p:spPr>
          <a:xfrm>
            <a:off x="612648" y="1197864"/>
            <a:ext cx="685800" cy="45720"/>
          </a:xfrm>
          <a:prstGeom prst="rect">
            <a:avLst/>
          </a:prstGeom>
          <a:solidFill>
            <a:srgbClr val="2F6B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12648" y="1444752"/>
            <a:ext cx="10698480" cy="411480"/>
          </a:xfrm>
          <a:prstGeom prst="rect">
            <a:avLst/>
          </a:prstGeom>
          <a:noFill/>
        </p:spPr>
        <p:txBody>
          <a:bodyPr wrap="square" lIns="0" rIns="0" tIns="0" bIns="0" anchor="t">
            <a:spAutoFit/>
          </a:bodyPr>
          <a:lstStyle/>
          <a:p>
            <a:pPr algn="l"/>
            <a:r>
              <a:rPr sz="1650" b="0">
                <a:solidFill>
                  <a:srgbClr val="5E6C80"/>
                </a:solidFill>
                <a:latin typeface="Arial"/>
              </a:rPr>
              <a:t>Manage which physical devices are allowed to access the system</a:t>
            </a:r>
          </a:p>
        </p:txBody>
      </p:sp>
      <p:sp>
        <p:nvSpPr>
          <p:cNvPr id="6" name="Rounded Rectangle 5"/>
          <p:cNvSpPr/>
          <p:nvPr/>
        </p:nvSpPr>
        <p:spPr>
          <a:xfrm>
            <a:off x="6537960" y="1874519"/>
            <a:ext cx="5074920" cy="2852928"/>
          </a:xfrm>
          <a:prstGeom prst="roundRect">
            <a:avLst/>
          </a:prstGeom>
          <a:solidFill>
            <a:srgbClr val="FFFFFF"/>
          </a:solidFill>
          <a:ln w="12700">
            <a:solidFill>
              <a:srgbClr val="DA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exec-04467c0a-fcce-4a5a-aac0-c01b508a0bb6.png"/>
          <p:cNvPicPr>
            <a:picLocks noChangeAspect="1"/>
          </p:cNvPicPr>
          <p:nvPr/>
        </p:nvPicPr>
        <p:blipFill>
          <a:blip r:embed="rId2"/>
          <a:stretch>
            <a:fillRect/>
          </a:stretch>
        </p:blipFill>
        <p:spPr>
          <a:xfrm>
            <a:off x="6583680" y="1920239"/>
            <a:ext cx="4983480" cy="2761488"/>
          </a:xfrm>
          <a:prstGeom prst="rect">
            <a:avLst/>
          </a:prstGeom>
        </p:spPr>
      </p:pic>
      <p:sp>
        <p:nvSpPr>
          <p:cNvPr id="8" name="TextBox 7"/>
          <p:cNvSpPr txBox="1"/>
          <p:nvPr/>
        </p:nvSpPr>
        <p:spPr>
          <a:xfrm>
            <a:off x="676656" y="1901952"/>
            <a:ext cx="5349240" cy="237744"/>
          </a:xfrm>
          <a:prstGeom prst="rect">
            <a:avLst/>
          </a:prstGeom>
          <a:noFill/>
        </p:spPr>
        <p:txBody>
          <a:bodyPr wrap="square" lIns="0" rIns="0" tIns="0" bIns="0" anchor="t">
            <a:spAutoFit/>
          </a:bodyPr>
          <a:lstStyle/>
          <a:p>
            <a:pPr algn="l"/>
            <a:r>
              <a:rPr sz="1550" b="1">
                <a:solidFill>
                  <a:srgbClr val="17263A"/>
                </a:solidFill>
                <a:latin typeface="Arial"/>
              </a:rPr>
              <a:t>Technical description</a:t>
            </a:r>
          </a:p>
        </p:txBody>
      </p:sp>
      <p:sp>
        <p:nvSpPr>
          <p:cNvPr id="9" name="TextBox 8"/>
          <p:cNvSpPr txBox="1"/>
          <p:nvPr/>
        </p:nvSpPr>
        <p:spPr>
          <a:xfrm>
            <a:off x="676656" y="2221992"/>
            <a:ext cx="5394960" cy="1508760"/>
          </a:xfrm>
          <a:prstGeom prst="rect">
            <a:avLst/>
          </a:prstGeom>
          <a:noFill/>
        </p:spPr>
        <p:txBody>
          <a:bodyPr wrap="square" lIns="18288" rIns="18288" tIns="18288" bIns="18288">
            <a:spAutoFit/>
          </a:bodyPr>
          <a:lstStyle/>
          <a:p>
            <a:pPr>
              <a:spcAft>
                <a:spcPts val="600"/>
              </a:spcAft>
            </a:pPr>
            <a:r>
              <a:rPr sz="1350" b="1">
                <a:solidFill>
                  <a:srgbClr val="17263A"/>
                </a:solidFill>
                <a:latin typeface="Arial"/>
              </a:rPr>
              <a:t>Device fingerprint registry. </a:t>
            </a:r>
            <a:r>
              <a:rPr sz="1350" b="0">
                <a:solidFill>
                  <a:srgbClr val="5E6C80"/>
                </a:solidFill>
                <a:latin typeface="Arial"/>
              </a:rPr>
              <a:t>The system records each registered browser or workstation.</a:t>
            </a:r>
          </a:p>
          <a:p>
            <a:pPr>
              <a:spcAft>
                <a:spcPts val="600"/>
              </a:spcAft>
            </a:pPr>
            <a:r>
              <a:rPr sz="1350" b="1">
                <a:solidFill>
                  <a:srgbClr val="17263A"/>
                </a:solidFill>
                <a:latin typeface="Arial"/>
              </a:rPr>
              <a:t>Admin actions. </a:t>
            </a:r>
            <a:r>
              <a:rPr sz="1350" b="0">
                <a:solidFill>
                  <a:srgbClr val="5E6C80"/>
                </a:solidFill>
                <a:latin typeface="Arial"/>
              </a:rPr>
              <a:t>Register, review last seen, revoke, or remove a device.</a:t>
            </a:r>
          </a:p>
          <a:p>
            <a:pPr>
              <a:spcAft>
                <a:spcPts val="600"/>
              </a:spcAft>
            </a:pPr>
            <a:r>
              <a:rPr sz="1350" b="1">
                <a:solidFill>
                  <a:srgbClr val="17263A"/>
                </a:solidFill>
                <a:latin typeface="Arial"/>
              </a:rPr>
              <a:t>Device Lock. </a:t>
            </a:r>
            <a:r>
              <a:rPr sz="1350" b="0">
                <a:solidFill>
                  <a:srgbClr val="5E6C80"/>
                </a:solidFill>
                <a:latin typeface="Arial"/>
              </a:rPr>
              <a:t>When enabled, only approved devices may log in.</a:t>
            </a:r>
          </a:p>
        </p:txBody>
      </p:sp>
      <p:sp>
        <p:nvSpPr>
          <p:cNvPr id="10" name="Rounded Rectangle 9"/>
          <p:cNvSpPr/>
          <p:nvPr/>
        </p:nvSpPr>
        <p:spPr>
          <a:xfrm>
            <a:off x="676656" y="3977639"/>
            <a:ext cx="5394960" cy="1078992"/>
          </a:xfrm>
          <a:prstGeom prst="roundRect">
            <a:avLst/>
          </a:prstGeom>
          <a:solidFill>
            <a:srgbClr val="EEFBF5"/>
          </a:solidFill>
          <a:ln w="12700">
            <a:solidFill>
              <a:srgbClr val="168A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4105655"/>
            <a:ext cx="5029200" cy="219456"/>
          </a:xfrm>
          <a:prstGeom prst="rect">
            <a:avLst/>
          </a:prstGeom>
          <a:noFill/>
        </p:spPr>
        <p:txBody>
          <a:bodyPr wrap="square" lIns="0" rIns="0" tIns="0" bIns="0" anchor="t">
            <a:spAutoFit/>
          </a:bodyPr>
          <a:lstStyle/>
          <a:p>
            <a:pPr algn="l"/>
            <a:r>
              <a:rPr sz="1400" b="1">
                <a:solidFill>
                  <a:srgbClr val="168A61"/>
                </a:solidFill>
                <a:latin typeface="Arial"/>
              </a:rPr>
              <a:t>Plain-language explanation</a:t>
            </a:r>
          </a:p>
        </p:txBody>
      </p:sp>
      <p:sp>
        <p:nvSpPr>
          <p:cNvPr id="12" name="TextBox 11"/>
          <p:cNvSpPr txBox="1"/>
          <p:nvPr/>
        </p:nvSpPr>
        <p:spPr>
          <a:xfrm>
            <a:off x="859536" y="4389120"/>
            <a:ext cx="5029200" cy="557784"/>
          </a:xfrm>
          <a:prstGeom prst="rect">
            <a:avLst/>
          </a:prstGeom>
          <a:noFill/>
        </p:spPr>
        <p:txBody>
          <a:bodyPr wrap="square" lIns="0" rIns="0" tIns="0" bIns="0" anchor="t">
            <a:spAutoFit/>
          </a:bodyPr>
          <a:lstStyle/>
          <a:p>
            <a:pPr algn="l"/>
            <a:r>
              <a:rPr sz="1250" b="0">
                <a:solidFill>
                  <a:srgbClr val="17263A"/>
                </a:solidFill>
                <a:latin typeface="Arial"/>
              </a:rPr>
              <a:t>The office keeps a list of allowed computers. An unregistered or revoked device can be blocked when Device Lock is enabled.</a:t>
            </a:r>
          </a:p>
        </p:txBody>
      </p:sp>
      <p:sp>
        <p:nvSpPr>
          <p:cNvPr id="13" name="Rounded Rectangle 12"/>
          <p:cNvSpPr/>
          <p:nvPr/>
        </p:nvSpPr>
        <p:spPr>
          <a:xfrm>
            <a:off x="6537960" y="4919472"/>
            <a:ext cx="5074920" cy="795528"/>
          </a:xfrm>
          <a:prstGeom prst="roundRect">
            <a:avLst/>
          </a:prstGeom>
          <a:solidFill>
            <a:srgbClr val="FFF8EA"/>
          </a:solidFill>
          <a:ln w="127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0840" y="5047488"/>
            <a:ext cx="4709159" cy="219456"/>
          </a:xfrm>
          <a:prstGeom prst="rect">
            <a:avLst/>
          </a:prstGeom>
          <a:noFill/>
        </p:spPr>
        <p:txBody>
          <a:bodyPr wrap="square" lIns="0" rIns="0" tIns="0" bIns="0" anchor="t">
            <a:spAutoFit/>
          </a:bodyPr>
          <a:lstStyle/>
          <a:p>
            <a:pPr algn="l"/>
            <a:r>
              <a:rPr sz="1400" b="1">
                <a:solidFill>
                  <a:srgbClr val="B45309"/>
                </a:solidFill>
                <a:latin typeface="Arial"/>
              </a:rPr>
              <a:t>Current-state note</a:t>
            </a:r>
          </a:p>
        </p:txBody>
      </p:sp>
      <p:sp>
        <p:nvSpPr>
          <p:cNvPr id="15" name="TextBox 14"/>
          <p:cNvSpPr txBox="1"/>
          <p:nvPr/>
        </p:nvSpPr>
        <p:spPr>
          <a:xfrm>
            <a:off x="6720840" y="5330952"/>
            <a:ext cx="4709159" cy="274320"/>
          </a:xfrm>
          <a:prstGeom prst="rect">
            <a:avLst/>
          </a:prstGeom>
          <a:noFill/>
        </p:spPr>
        <p:txBody>
          <a:bodyPr wrap="square" lIns="0" rIns="0" tIns="0" bIns="0" anchor="t">
            <a:spAutoFit/>
          </a:bodyPr>
          <a:lstStyle/>
          <a:p>
            <a:pPr algn="l"/>
            <a:r>
              <a:rPr sz="1250" b="0">
                <a:solidFill>
                  <a:srgbClr val="17263A"/>
                </a:solidFill>
                <a:latin typeface="Arial"/>
              </a:rPr>
              <a:t>The screen shows Device Lock disabled. Register the current device before enabling the restriction.</a:t>
            </a:r>
          </a:p>
        </p:txBody>
      </p:sp>
      <p:sp>
        <p:nvSpPr>
          <p:cNvPr id="16" name="TextBox 15"/>
          <p:cNvSpPr txBox="1"/>
          <p:nvPr/>
        </p:nvSpPr>
        <p:spPr>
          <a:xfrm>
            <a:off x="512064" y="6547104"/>
            <a:ext cx="6675120" cy="173736"/>
          </a:xfrm>
          <a:prstGeom prst="rect">
            <a:avLst/>
          </a:prstGeom>
          <a:noFill/>
        </p:spPr>
        <p:txBody>
          <a:bodyPr wrap="square" lIns="0" rIns="0" tIns="0" bIns="0" anchor="t">
            <a:spAutoFit/>
          </a:bodyPr>
          <a:lstStyle/>
          <a:p>
            <a:pPr algn="l"/>
            <a:r>
              <a:rPr sz="825" b="0">
                <a:solidFill>
                  <a:srgbClr val="B8C9DE"/>
                </a:solidFill>
                <a:latin typeface="Arial"/>
              </a:rPr>
              <a:t>iScan CRDMS  |  Civil Registry Records Management System</a:t>
            </a:r>
          </a:p>
        </p:txBody>
      </p:sp>
      <p:sp>
        <p:nvSpPr>
          <p:cNvPr id="17" name="TextBox 16"/>
          <p:cNvSpPr txBox="1"/>
          <p:nvPr/>
        </p:nvSpPr>
        <p:spPr>
          <a:xfrm>
            <a:off x="10378440" y="6547104"/>
            <a:ext cx="1298448" cy="173736"/>
          </a:xfrm>
          <a:prstGeom prst="rect">
            <a:avLst/>
          </a:prstGeom>
          <a:noFill/>
        </p:spPr>
        <p:txBody>
          <a:bodyPr wrap="square" lIns="0" rIns="0" tIns="0" bIns="0" anchor="t">
            <a:spAutoFit/>
          </a:bodyPr>
          <a:lstStyle/>
          <a:p>
            <a:pPr algn="r"/>
            <a:r>
              <a:rPr sz="825" b="1">
                <a:solidFill>
                  <a:srgbClr val="B8C9DE"/>
                </a:solidFill>
                <a:latin typeface="Arial"/>
              </a:rPr>
              <a:t>18 / 20</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12648" y="301752"/>
            <a:ext cx="6675120" cy="201168"/>
          </a:xfrm>
          <a:prstGeom prst="rect">
            <a:avLst/>
          </a:prstGeom>
          <a:noFill/>
        </p:spPr>
        <p:txBody>
          <a:bodyPr wrap="square" lIns="0" rIns="0" tIns="0" bIns="0" anchor="t">
            <a:spAutoFit/>
          </a:bodyPr>
          <a:lstStyle/>
          <a:p>
            <a:pPr algn="l"/>
            <a:r>
              <a:rPr sz="975" b="1">
                <a:solidFill>
                  <a:srgbClr val="2F6BDE"/>
                </a:solidFill>
                <a:latin typeface="Arial"/>
              </a:rPr>
              <a:t>FILE MAINTENANCE</a:t>
            </a:r>
          </a:p>
        </p:txBody>
      </p:sp>
      <p:sp>
        <p:nvSpPr>
          <p:cNvPr id="3" name="TextBox 2"/>
          <p:cNvSpPr txBox="1"/>
          <p:nvPr/>
        </p:nvSpPr>
        <p:spPr>
          <a:xfrm>
            <a:off x="612648" y="548640"/>
            <a:ext cx="10789920" cy="475488"/>
          </a:xfrm>
          <a:prstGeom prst="rect">
            <a:avLst/>
          </a:prstGeom>
          <a:noFill/>
        </p:spPr>
        <p:txBody>
          <a:bodyPr wrap="square" lIns="0" rIns="0" tIns="0" bIns="0" anchor="t">
            <a:spAutoFit/>
          </a:bodyPr>
          <a:lstStyle/>
          <a:p>
            <a:pPr algn="l"/>
            <a:r>
              <a:rPr sz="2700" b="1">
                <a:solidFill>
                  <a:srgbClr val="17263A"/>
                </a:solidFill>
                <a:latin typeface="Arial"/>
              </a:rPr>
              <a:t>Reorganize Uploads</a:t>
            </a:r>
          </a:p>
        </p:txBody>
      </p:sp>
      <p:sp>
        <p:nvSpPr>
          <p:cNvPr id="4" name="Rectangle 3"/>
          <p:cNvSpPr/>
          <p:nvPr/>
        </p:nvSpPr>
        <p:spPr>
          <a:xfrm>
            <a:off x="612648" y="1197864"/>
            <a:ext cx="685800" cy="45720"/>
          </a:xfrm>
          <a:prstGeom prst="rect">
            <a:avLst/>
          </a:prstGeom>
          <a:solidFill>
            <a:srgbClr val="2F6B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12648" y="1444752"/>
            <a:ext cx="10698480" cy="411480"/>
          </a:xfrm>
          <a:prstGeom prst="rect">
            <a:avLst/>
          </a:prstGeom>
          <a:noFill/>
        </p:spPr>
        <p:txBody>
          <a:bodyPr wrap="square" lIns="0" rIns="0" tIns="0" bIns="0" anchor="t">
            <a:spAutoFit/>
          </a:bodyPr>
          <a:lstStyle/>
          <a:p>
            <a:pPr algn="l"/>
            <a:r>
              <a:rPr sz="1650" b="0">
                <a:solidFill>
                  <a:srgbClr val="5E6C80"/>
                </a:solidFill>
                <a:latin typeface="Arial"/>
              </a:rPr>
              <a:t>Move existing PDFs into the correct year and last-name folder structure</a:t>
            </a:r>
          </a:p>
        </p:txBody>
      </p:sp>
      <p:sp>
        <p:nvSpPr>
          <p:cNvPr id="6" name="Rounded Rectangle 5"/>
          <p:cNvSpPr/>
          <p:nvPr/>
        </p:nvSpPr>
        <p:spPr>
          <a:xfrm>
            <a:off x="612648" y="1874519"/>
            <a:ext cx="5166360" cy="2907792"/>
          </a:xfrm>
          <a:prstGeom prst="roundRect">
            <a:avLst/>
          </a:prstGeom>
          <a:solidFill>
            <a:srgbClr val="FFFFFF"/>
          </a:solidFill>
          <a:ln w="12700">
            <a:solidFill>
              <a:srgbClr val="DA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exec-3dff5064-2809-4a38-82fa-bad3b9b660e3.png"/>
          <p:cNvPicPr>
            <a:picLocks noChangeAspect="1"/>
          </p:cNvPicPr>
          <p:nvPr/>
        </p:nvPicPr>
        <p:blipFill>
          <a:blip r:embed="rId2"/>
          <a:stretch>
            <a:fillRect/>
          </a:stretch>
        </p:blipFill>
        <p:spPr>
          <a:xfrm>
            <a:off x="658368" y="1920239"/>
            <a:ext cx="5074920" cy="2816352"/>
          </a:xfrm>
          <a:prstGeom prst="rect">
            <a:avLst/>
          </a:prstGeom>
        </p:spPr>
      </p:pic>
      <p:sp>
        <p:nvSpPr>
          <p:cNvPr id="8" name="TextBox 7"/>
          <p:cNvSpPr txBox="1"/>
          <p:nvPr/>
        </p:nvSpPr>
        <p:spPr>
          <a:xfrm>
            <a:off x="6144768" y="1901952"/>
            <a:ext cx="5394960" cy="237744"/>
          </a:xfrm>
          <a:prstGeom prst="rect">
            <a:avLst/>
          </a:prstGeom>
          <a:noFill/>
        </p:spPr>
        <p:txBody>
          <a:bodyPr wrap="square" lIns="0" rIns="0" tIns="0" bIns="0" anchor="t">
            <a:spAutoFit/>
          </a:bodyPr>
          <a:lstStyle/>
          <a:p>
            <a:pPr algn="l"/>
            <a:r>
              <a:rPr sz="1550" b="1">
                <a:solidFill>
                  <a:srgbClr val="17263A"/>
                </a:solidFill>
                <a:latin typeface="Arial"/>
              </a:rPr>
              <a:t>How the tool works</a:t>
            </a:r>
          </a:p>
        </p:txBody>
      </p:sp>
      <p:sp>
        <p:nvSpPr>
          <p:cNvPr id="9" name="TextBox 8"/>
          <p:cNvSpPr txBox="1"/>
          <p:nvPr/>
        </p:nvSpPr>
        <p:spPr>
          <a:xfrm>
            <a:off x="6144768" y="2221992"/>
            <a:ext cx="5303520" cy="1664208"/>
          </a:xfrm>
          <a:prstGeom prst="rect">
            <a:avLst/>
          </a:prstGeom>
          <a:noFill/>
        </p:spPr>
        <p:txBody>
          <a:bodyPr wrap="square" lIns="18288" rIns="18288" tIns="18288" bIns="18288">
            <a:spAutoFit/>
          </a:bodyPr>
          <a:lstStyle/>
          <a:p>
            <a:pPr>
              <a:spcAft>
                <a:spcPts val="600"/>
              </a:spcAft>
            </a:pPr>
            <a:r>
              <a:rPr sz="1350" b="1">
                <a:solidFill>
                  <a:srgbClr val="17263A"/>
                </a:solidFill>
                <a:latin typeface="Arial"/>
              </a:rPr>
              <a:t>Dry Run. </a:t>
            </a:r>
            <a:r>
              <a:rPr sz="1350" b="0">
                <a:solidFill>
                  <a:srgbClr val="5E6C80"/>
                </a:solidFill>
                <a:latin typeface="Arial"/>
              </a:rPr>
              <a:t>Scans records and previews the proposed file moves without changing anything.</a:t>
            </a:r>
          </a:p>
          <a:p>
            <a:pPr>
              <a:spcAft>
                <a:spcPts val="600"/>
              </a:spcAft>
            </a:pPr>
            <a:r>
              <a:rPr sz="1350" b="1">
                <a:solidFill>
                  <a:srgbClr val="17263A"/>
                </a:solidFill>
                <a:latin typeface="Arial"/>
              </a:rPr>
              <a:t>Apply. </a:t>
            </a:r>
            <a:r>
              <a:rPr sz="1350" b="0">
                <a:solidFill>
                  <a:srgbClr val="5E6C80"/>
                </a:solidFill>
                <a:latin typeface="Arial"/>
              </a:rPr>
              <a:t>Moves PDFs and updates database paths after an explicit UNDERSTAND confirmation.</a:t>
            </a:r>
          </a:p>
          <a:p>
            <a:pPr>
              <a:spcAft>
                <a:spcPts val="600"/>
              </a:spcAft>
            </a:pPr>
            <a:r>
              <a:rPr sz="1350" b="1">
                <a:solidFill>
                  <a:srgbClr val="17263A"/>
                </a:solidFill>
                <a:latin typeface="Arial"/>
              </a:rPr>
              <a:t>Folder scheme. </a:t>
            </a:r>
            <a:r>
              <a:rPr sz="1350" b="0">
                <a:solidFill>
                  <a:srgbClr val="5E6C80"/>
                </a:solidFill>
                <a:latin typeface="Arial"/>
              </a:rPr>
              <a:t>{type}/{year}/{LAST_NAME}/, with the event date taking priority when available.</a:t>
            </a:r>
          </a:p>
        </p:txBody>
      </p:sp>
      <p:sp>
        <p:nvSpPr>
          <p:cNvPr id="10" name="Rounded Rectangle 9"/>
          <p:cNvSpPr/>
          <p:nvPr/>
        </p:nvSpPr>
        <p:spPr>
          <a:xfrm>
            <a:off x="6144768" y="4187952"/>
            <a:ext cx="5303520" cy="1069848"/>
          </a:xfrm>
          <a:prstGeom prst="roundRect">
            <a:avLst/>
          </a:prstGeom>
          <a:solidFill>
            <a:srgbClr val="F2F6FF"/>
          </a:solidFill>
          <a:ln w="12700">
            <a:solidFill>
              <a:srgbClr val="2F6B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27648" y="4315968"/>
            <a:ext cx="4937759" cy="219456"/>
          </a:xfrm>
          <a:prstGeom prst="rect">
            <a:avLst/>
          </a:prstGeom>
          <a:noFill/>
        </p:spPr>
        <p:txBody>
          <a:bodyPr wrap="square" lIns="0" rIns="0" tIns="0" bIns="0" anchor="t">
            <a:spAutoFit/>
          </a:bodyPr>
          <a:lstStyle/>
          <a:p>
            <a:pPr algn="l"/>
            <a:r>
              <a:rPr sz="1400" b="1">
                <a:solidFill>
                  <a:srgbClr val="2F6BDE"/>
                </a:solidFill>
                <a:latin typeface="Arial"/>
              </a:rPr>
              <a:t>Plain-language explanation</a:t>
            </a:r>
          </a:p>
        </p:txBody>
      </p:sp>
      <p:sp>
        <p:nvSpPr>
          <p:cNvPr id="12" name="TextBox 11"/>
          <p:cNvSpPr txBox="1"/>
          <p:nvPr/>
        </p:nvSpPr>
        <p:spPr>
          <a:xfrm>
            <a:off x="6327648" y="4599432"/>
            <a:ext cx="4937759" cy="548640"/>
          </a:xfrm>
          <a:prstGeom prst="rect">
            <a:avLst/>
          </a:prstGeom>
          <a:noFill/>
        </p:spPr>
        <p:txBody>
          <a:bodyPr wrap="square" lIns="0" rIns="0" tIns="0" bIns="0" anchor="t">
            <a:spAutoFit/>
          </a:bodyPr>
          <a:lstStyle/>
          <a:p>
            <a:pPr algn="l"/>
            <a:r>
              <a:rPr sz="1250" b="0">
                <a:solidFill>
                  <a:srgbClr val="17263A"/>
                </a:solidFill>
                <a:latin typeface="Arial"/>
              </a:rPr>
              <a:t>It works like a filing-cabinet cleanup: the system shows what it plans to move first, then applies the changes only after confirmation.</a:t>
            </a:r>
          </a:p>
        </p:txBody>
      </p:sp>
      <p:sp>
        <p:nvSpPr>
          <p:cNvPr id="13" name="Rounded Rectangle 12"/>
          <p:cNvSpPr/>
          <p:nvPr/>
        </p:nvSpPr>
        <p:spPr>
          <a:xfrm>
            <a:off x="612648" y="5047488"/>
            <a:ext cx="5166360" cy="685800"/>
          </a:xfrm>
          <a:prstGeom prst="roundRect">
            <a:avLst/>
          </a:prstGeom>
          <a:solidFill>
            <a:srgbClr val="FFF8EA"/>
          </a:solidFill>
          <a:ln w="127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5528" y="5175503"/>
            <a:ext cx="4800600" cy="219456"/>
          </a:xfrm>
          <a:prstGeom prst="rect">
            <a:avLst/>
          </a:prstGeom>
          <a:noFill/>
        </p:spPr>
        <p:txBody>
          <a:bodyPr wrap="square" lIns="0" rIns="0" tIns="0" bIns="0" anchor="t">
            <a:spAutoFit/>
          </a:bodyPr>
          <a:lstStyle/>
          <a:p>
            <a:pPr algn="l"/>
            <a:r>
              <a:rPr sz="1400" b="1">
                <a:solidFill>
                  <a:srgbClr val="B45309"/>
                </a:solidFill>
                <a:latin typeface="Arial"/>
              </a:rPr>
              <a:t>Example</a:t>
            </a:r>
          </a:p>
        </p:txBody>
      </p:sp>
      <p:sp>
        <p:nvSpPr>
          <p:cNvPr id="15" name="TextBox 14"/>
          <p:cNvSpPr txBox="1"/>
          <p:nvPr/>
        </p:nvSpPr>
        <p:spPr>
          <a:xfrm>
            <a:off x="795528" y="5458968"/>
            <a:ext cx="4800600" cy="164592"/>
          </a:xfrm>
          <a:prstGeom prst="rect">
            <a:avLst/>
          </a:prstGeom>
          <a:noFill/>
        </p:spPr>
        <p:txBody>
          <a:bodyPr wrap="square" lIns="0" rIns="0" tIns="0" bIns="0" anchor="t">
            <a:spAutoFit/>
          </a:bodyPr>
          <a:lstStyle/>
          <a:p>
            <a:pPr algn="l"/>
            <a:r>
              <a:rPr sz="1250" b="0">
                <a:solidFill>
                  <a:srgbClr val="17263A"/>
                </a:solidFill>
                <a:latin typeface="Arial"/>
              </a:rPr>
              <a:t>birth / 2014 / DELOS_SANTOS / certificate.pdf</a:t>
            </a:r>
          </a:p>
        </p:txBody>
      </p:sp>
      <p:sp>
        <p:nvSpPr>
          <p:cNvPr id="16" name="TextBox 15"/>
          <p:cNvSpPr txBox="1"/>
          <p:nvPr/>
        </p:nvSpPr>
        <p:spPr>
          <a:xfrm>
            <a:off x="512064" y="6547104"/>
            <a:ext cx="6675120" cy="173736"/>
          </a:xfrm>
          <a:prstGeom prst="rect">
            <a:avLst/>
          </a:prstGeom>
          <a:noFill/>
        </p:spPr>
        <p:txBody>
          <a:bodyPr wrap="square" lIns="0" rIns="0" tIns="0" bIns="0" anchor="t">
            <a:spAutoFit/>
          </a:bodyPr>
          <a:lstStyle/>
          <a:p>
            <a:pPr algn="l"/>
            <a:r>
              <a:rPr sz="825" b="0">
                <a:solidFill>
                  <a:srgbClr val="B8C9DE"/>
                </a:solidFill>
                <a:latin typeface="Arial"/>
              </a:rPr>
              <a:t>iScan CRDMS  |  Civil Registry Records Management System</a:t>
            </a:r>
          </a:p>
        </p:txBody>
      </p:sp>
      <p:sp>
        <p:nvSpPr>
          <p:cNvPr id="17" name="TextBox 16"/>
          <p:cNvSpPr txBox="1"/>
          <p:nvPr/>
        </p:nvSpPr>
        <p:spPr>
          <a:xfrm>
            <a:off x="10378440" y="6547104"/>
            <a:ext cx="1298448" cy="173736"/>
          </a:xfrm>
          <a:prstGeom prst="rect">
            <a:avLst/>
          </a:prstGeom>
          <a:noFill/>
        </p:spPr>
        <p:txBody>
          <a:bodyPr wrap="square" lIns="0" rIns="0" tIns="0" bIns="0" anchor="t">
            <a:spAutoFit/>
          </a:bodyPr>
          <a:lstStyle/>
          <a:p>
            <a:pPr algn="r"/>
            <a:r>
              <a:rPr sz="825" b="1">
                <a:solidFill>
                  <a:srgbClr val="B8C9DE"/>
                </a:solidFill>
                <a:latin typeface="Arial"/>
              </a:rPr>
              <a:t>19 / 20</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0243E"/>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F951244A-59B6-44CF-AD69-D10E9E5BC129}"/>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8EB7FF"/>
                </a:solidFill>
                <a:latin typeface="Arial"/>
                <a:ea typeface="Arial"/>
                <a:cs typeface="Arial"/>
              </a:defRPr>
            </a:pPr>
            <a:r>
              <a:rPr sz="975" b="1">
                <a:solidFill>
                  <a:srgbClr val="8EB7FF"/>
                </a:solidFill>
                <a:latin typeface="Arial"/>
                <a:ea typeface="Arial"/>
                <a:cs typeface="Arial"/>
              </a:rPr>
              <a:t>LIVE DEMONSTRATION</a:t>
            </a:r>
          </a:p>
        </p:txBody>
      </p:sp>
      <p:sp>
        <p:nvSpPr>
          <p:cNvPr id="2" name="Rectangle 1">
            <a:extLst>
              <a:ext uri="{FF2B5EF4-FFF2-40B4-BE49-F238E27FC236}">
                <a16:creationId xmlns:a16="http://schemas.microsoft.com/office/drawing/2014/main" id="{1BC009F0-C656-423B-83B1-5A197DDE7E1F}"/>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Show the system in the same order</a:t>
            </a:r>
          </a:p>
        </p:txBody>
      </p:sp>
      <p:sp>
        <p:nvSpPr>
          <p:cNvPr id="3" name="Rectangle 2">
            <a:extLst>
              <a:ext uri="{FF2B5EF4-FFF2-40B4-BE49-F238E27FC236}">
                <a16:creationId xmlns:a16="http://schemas.microsoft.com/office/drawing/2014/main" id="{B43A98E1-518E-4A3F-92EF-3B1303D506A4}"/>
              </a:ext>
            </a:extLst>
          </p:cNvPr>
          <p:cNvSpPr>
            <a:spLocks noGrp="1"/>
          </p:cNvSpPr>
          <p:nvPr/>
        </p:nvSpPr>
        <p:spPr>
          <a:xfrm>
            <a:off x="609600" y="1200150"/>
            <a:ext cx="685800" cy="47625"/>
          </a:xfrm>
          <a:prstGeom prst="rect">
            <a:avLst/>
          </a:prstGeom>
          <a:solidFill>
            <a:srgbClr val="4A8DFF"/>
          </a:solidFill>
          <a:ln w="0">
            <a:noFill/>
          </a:ln>
        </p:spPr>
        <p:txBody>
          <a:bodyPr/>
          <a:p/>
        </p:txBody>
      </p:sp>
      <p:sp>
        <p:nvSpPr>
          <p:cNvPr id="4" name="Rectangle 3">
            <a:extLst>
              <a:ext uri="{FF2B5EF4-FFF2-40B4-BE49-F238E27FC236}">
                <a16:creationId xmlns:a16="http://schemas.microsoft.com/office/drawing/2014/main" id="{AD482099-45EB-49DB-BA13-D1FF8E92F60B}"/>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BFD0E7"/>
                </a:solidFill>
                <a:latin typeface="Arial"/>
                <a:ea typeface="Arial"/>
                <a:cs typeface="Arial"/>
              </a:defRPr>
            </a:pPr>
            <a:r>
              <a:rPr sz="1650">
                <a:solidFill>
                  <a:srgbClr val="BFD0E7"/>
                </a:solidFill>
                <a:latin typeface="Arial"/>
                <a:ea typeface="Arial"/>
                <a:cs typeface="Arial"/>
              </a:rPr>
              <a:t>A clear demo follows the record instead of jumping between unrelated screens.</a:t>
            </a:r>
          </a:p>
        </p:txBody>
      </p:sp>
      <p:sp>
        <p:nvSpPr>
          <p:cNvPr id="5" name="Rectangle: Rounded Corners 4">
            <a:extLst>
              <a:ext uri="{FF2B5EF4-FFF2-40B4-BE49-F238E27FC236}">
                <a16:creationId xmlns:a16="http://schemas.microsoft.com/office/drawing/2014/main" id="{7A94DF84-1EE2-4FD6-B1A2-96F824E93551}"/>
              </a:ext>
            </a:extLst>
          </p:cNvPr>
          <p:cNvSpPr>
            <a:spLocks noGrp="1"/>
          </p:cNvSpPr>
          <p:nvPr/>
        </p:nvSpPr>
        <p:spPr>
          <a:xfrm>
            <a:off x="904875" y="2333625"/>
            <a:ext cx="400050" cy="342900"/>
          </a:xfrm>
          <a:prstGeom prst="roundRect">
            <a:avLst>
              <a:gd name="adj" fmla="val 22222"/>
            </a:avLst>
          </a:prstGeom>
          <a:solidFill>
            <a:srgbClr val="2F6BDE"/>
          </a:solidFill>
          <a:ln w="0">
            <a:noFill/>
          </a:ln>
        </p:spPr>
        <p:txBody>
          <a:bodyPr/>
          <a:p/>
        </p:txBody>
      </p:sp>
      <p:sp>
        <p:nvSpPr>
          <p:cNvPr id="6" name="Rectangle 5">
            <a:extLst>
              <a:ext uri="{FF2B5EF4-FFF2-40B4-BE49-F238E27FC236}">
                <a16:creationId xmlns:a16="http://schemas.microsoft.com/office/drawing/2014/main" id="{E4D2100C-1109-40E7-894E-300908B13DF9}"/>
              </a:ext>
            </a:extLst>
          </p:cNvPr>
          <p:cNvSpPr>
            <a:spLocks noGrp="1"/>
          </p:cNvSpPr>
          <p:nvPr/>
        </p:nvSpPr>
        <p:spPr>
          <a:xfrm>
            <a:off x="904875" y="2333625"/>
            <a:ext cx="400050" cy="3429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1</a:t>
            </a:r>
          </a:p>
        </p:txBody>
      </p:sp>
      <p:sp>
        <p:nvSpPr>
          <p:cNvPr id="7" name="Rectangle 6">
            <a:extLst>
              <a:ext uri="{FF2B5EF4-FFF2-40B4-BE49-F238E27FC236}">
                <a16:creationId xmlns:a16="http://schemas.microsoft.com/office/drawing/2014/main" id="{45D5E158-1875-4739-A0BE-9B2C51A032D0}"/>
              </a:ext>
            </a:extLst>
          </p:cNvPr>
          <p:cNvSpPr>
            <a:spLocks noGrp="1"/>
          </p:cNvSpPr>
          <p:nvPr/>
        </p:nvSpPr>
        <p:spPr>
          <a:xfrm>
            <a:off x="1524000" y="2371725"/>
            <a:ext cx="7239000" cy="266700"/>
          </a:xfrm>
          <a:prstGeom prst="rect">
            <a:avLst/>
          </a:prstGeom>
          <a:noFill/>
          <a:ln w="0">
            <a:noFill/>
          </a:ln>
        </p:spPr>
        <p:txBody>
          <a:bodyPr lIns="0" tIns="0" rIns="0" bIns="0" anchor="t">
            <a:normAutofit/>
          </a:bodyPr>
          <a:lstStyle/>
          <a:p>
            <a:pPr algn="l">
              <a:defRPr sz="1650">
                <a:solidFill>
                  <a:srgbClr val="FFFFFF"/>
                </a:solidFill>
                <a:latin typeface="Arial"/>
                <a:ea typeface="Arial"/>
                <a:cs typeface="Arial"/>
              </a:defRPr>
            </a:pPr>
            <a:r>
              <a:rPr sz="1650">
                <a:solidFill>
                  <a:srgbClr val="FFFFFF"/>
                </a:solidFill>
                <a:latin typeface="Arial"/>
                <a:ea typeface="Arial"/>
                <a:cs typeface="Arial"/>
              </a:rPr>
              <a:t>Login and show the role-based dashboard</a:t>
            </a:r>
          </a:p>
        </p:txBody>
      </p:sp>
      <p:sp>
        <p:nvSpPr>
          <p:cNvPr id="8" name="Rectangle: Rounded Corners 7">
            <a:extLst>
              <a:ext uri="{FF2B5EF4-FFF2-40B4-BE49-F238E27FC236}">
                <a16:creationId xmlns:a16="http://schemas.microsoft.com/office/drawing/2014/main" id="{14E9863D-1A74-4AC4-BC71-24831D4CBF0D}"/>
              </a:ext>
            </a:extLst>
          </p:cNvPr>
          <p:cNvSpPr>
            <a:spLocks noGrp="1"/>
          </p:cNvSpPr>
          <p:nvPr/>
        </p:nvSpPr>
        <p:spPr>
          <a:xfrm>
            <a:off x="904875" y="2924175"/>
            <a:ext cx="400050" cy="342900"/>
          </a:xfrm>
          <a:prstGeom prst="roundRect">
            <a:avLst>
              <a:gd name="adj" fmla="val 22222"/>
            </a:avLst>
          </a:prstGeom>
          <a:solidFill>
            <a:srgbClr val="2F6BDE"/>
          </a:solidFill>
          <a:ln w="0">
            <a:noFill/>
          </a:ln>
        </p:spPr>
        <p:txBody>
          <a:bodyPr/>
          <a:p/>
        </p:txBody>
      </p:sp>
      <p:sp>
        <p:nvSpPr>
          <p:cNvPr id="9" name="Rectangle 8">
            <a:extLst>
              <a:ext uri="{FF2B5EF4-FFF2-40B4-BE49-F238E27FC236}">
                <a16:creationId xmlns:a16="http://schemas.microsoft.com/office/drawing/2014/main" id="{FF3EDC8A-CEA0-4781-9EB7-1462A8C5372A}"/>
              </a:ext>
            </a:extLst>
          </p:cNvPr>
          <p:cNvSpPr>
            <a:spLocks noGrp="1"/>
          </p:cNvSpPr>
          <p:nvPr/>
        </p:nvSpPr>
        <p:spPr>
          <a:xfrm>
            <a:off x="904875" y="2924175"/>
            <a:ext cx="400050" cy="3429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2</a:t>
            </a:r>
          </a:p>
        </p:txBody>
      </p:sp>
      <p:sp>
        <p:nvSpPr>
          <p:cNvPr id="10" name="Rectangle 9">
            <a:extLst>
              <a:ext uri="{FF2B5EF4-FFF2-40B4-BE49-F238E27FC236}">
                <a16:creationId xmlns:a16="http://schemas.microsoft.com/office/drawing/2014/main" id="{872B5825-19ED-43E9-B8E1-E8B18AF2A0CE}"/>
              </a:ext>
            </a:extLst>
          </p:cNvPr>
          <p:cNvSpPr>
            <a:spLocks noGrp="1"/>
          </p:cNvSpPr>
          <p:nvPr/>
        </p:nvSpPr>
        <p:spPr>
          <a:xfrm>
            <a:off x="1524000" y="2962275"/>
            <a:ext cx="7239000" cy="266700"/>
          </a:xfrm>
          <a:prstGeom prst="rect">
            <a:avLst/>
          </a:prstGeom>
          <a:noFill/>
          <a:ln w="0">
            <a:noFill/>
          </a:ln>
        </p:spPr>
        <p:txBody>
          <a:bodyPr lIns="0" tIns="0" rIns="0" bIns="0" anchor="t">
            <a:normAutofit/>
          </a:bodyPr>
          <a:lstStyle/>
          <a:p>
            <a:pPr algn="l">
              <a:defRPr sz="1650">
                <a:solidFill>
                  <a:srgbClr val="FFFFFF"/>
                </a:solidFill>
                <a:latin typeface="Arial"/>
                <a:ea typeface="Arial"/>
                <a:cs typeface="Arial"/>
              </a:defRPr>
            </a:pPr>
            <a:r>
              <a:rPr sz="1650">
                <a:solidFill>
                  <a:srgbClr val="FFFFFF"/>
                </a:solidFill>
                <a:latin typeface="Arial"/>
                <a:ea typeface="Arial"/>
                <a:cs typeface="Arial"/>
              </a:rPr>
              <a:t>Create a record and demonstrate auto-save</a:t>
            </a:r>
          </a:p>
        </p:txBody>
      </p:sp>
      <p:sp>
        <p:nvSpPr>
          <p:cNvPr id="11" name="Rectangle: Rounded Corners 10">
            <a:extLst>
              <a:ext uri="{FF2B5EF4-FFF2-40B4-BE49-F238E27FC236}">
                <a16:creationId xmlns:a16="http://schemas.microsoft.com/office/drawing/2014/main" id="{FCFA9A08-A522-4EE4-936A-852FFF6626A4}"/>
              </a:ext>
            </a:extLst>
          </p:cNvPr>
          <p:cNvSpPr>
            <a:spLocks noGrp="1"/>
          </p:cNvSpPr>
          <p:nvPr/>
        </p:nvSpPr>
        <p:spPr>
          <a:xfrm>
            <a:off x="904875" y="3514725"/>
            <a:ext cx="400050" cy="342900"/>
          </a:xfrm>
          <a:prstGeom prst="roundRect">
            <a:avLst>
              <a:gd name="adj" fmla="val 22222"/>
            </a:avLst>
          </a:prstGeom>
          <a:solidFill>
            <a:srgbClr val="2F6BDE"/>
          </a:solidFill>
          <a:ln w="0">
            <a:noFill/>
          </a:ln>
        </p:spPr>
        <p:txBody>
          <a:bodyPr/>
          <a:p/>
        </p:txBody>
      </p:sp>
      <p:sp>
        <p:nvSpPr>
          <p:cNvPr id="12" name="Rectangle 11">
            <a:extLst>
              <a:ext uri="{FF2B5EF4-FFF2-40B4-BE49-F238E27FC236}">
                <a16:creationId xmlns:a16="http://schemas.microsoft.com/office/drawing/2014/main" id="{78FAE7C4-7999-43DA-A7FE-B97E6A42F5F0}"/>
              </a:ext>
            </a:extLst>
          </p:cNvPr>
          <p:cNvSpPr>
            <a:spLocks noGrp="1"/>
          </p:cNvSpPr>
          <p:nvPr/>
        </p:nvSpPr>
        <p:spPr>
          <a:xfrm>
            <a:off x="904875" y="3514725"/>
            <a:ext cx="400050" cy="3429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3</a:t>
            </a:r>
          </a:p>
        </p:txBody>
      </p:sp>
      <p:sp>
        <p:nvSpPr>
          <p:cNvPr id="13" name="Rectangle 12">
            <a:extLst>
              <a:ext uri="{FF2B5EF4-FFF2-40B4-BE49-F238E27FC236}">
                <a16:creationId xmlns:a16="http://schemas.microsoft.com/office/drawing/2014/main" id="{C9CFB783-22FB-4378-9964-C6A86AC25B8E}"/>
              </a:ext>
            </a:extLst>
          </p:cNvPr>
          <p:cNvSpPr>
            <a:spLocks noGrp="1"/>
          </p:cNvSpPr>
          <p:nvPr/>
        </p:nvSpPr>
        <p:spPr>
          <a:xfrm>
            <a:off x="1524000" y="3552825"/>
            <a:ext cx="7239000" cy="266700"/>
          </a:xfrm>
          <a:prstGeom prst="rect">
            <a:avLst/>
          </a:prstGeom>
          <a:noFill/>
          <a:ln w="0">
            <a:noFill/>
          </a:ln>
        </p:spPr>
        <p:txBody>
          <a:bodyPr lIns="0" tIns="0" rIns="0" bIns="0" anchor="t">
            <a:normAutofit/>
          </a:bodyPr>
          <a:lstStyle/>
          <a:p>
            <a:pPr algn="l">
              <a:defRPr sz="1650">
                <a:solidFill>
                  <a:srgbClr val="FFFFFF"/>
                </a:solidFill>
                <a:latin typeface="Arial"/>
                <a:ea typeface="Arial"/>
                <a:cs typeface="Arial"/>
              </a:defRPr>
            </a:pPr>
            <a:r>
              <a:rPr sz="1650">
                <a:solidFill>
                  <a:srgbClr val="FFFFFF"/>
                </a:solidFill>
                <a:latin typeface="Arial"/>
                <a:ea typeface="Arial"/>
                <a:cs typeface="Arial"/>
              </a:rPr>
              <a:t>Scan or upload a PDF and review OCR</a:t>
            </a:r>
          </a:p>
        </p:txBody>
      </p:sp>
      <p:sp>
        <p:nvSpPr>
          <p:cNvPr id="14" name="Rectangle: Rounded Corners 13">
            <a:extLst>
              <a:ext uri="{FF2B5EF4-FFF2-40B4-BE49-F238E27FC236}">
                <a16:creationId xmlns:a16="http://schemas.microsoft.com/office/drawing/2014/main" id="{24315367-D5FB-41ED-9C27-EAEDD44C46B3}"/>
              </a:ext>
            </a:extLst>
          </p:cNvPr>
          <p:cNvSpPr>
            <a:spLocks noGrp="1"/>
          </p:cNvSpPr>
          <p:nvPr/>
        </p:nvSpPr>
        <p:spPr>
          <a:xfrm>
            <a:off x="904875" y="4105275"/>
            <a:ext cx="400050" cy="342900"/>
          </a:xfrm>
          <a:prstGeom prst="roundRect">
            <a:avLst>
              <a:gd name="adj" fmla="val 22222"/>
            </a:avLst>
          </a:prstGeom>
          <a:solidFill>
            <a:srgbClr val="2F6BDE"/>
          </a:solidFill>
          <a:ln w="0">
            <a:noFill/>
          </a:ln>
        </p:spPr>
        <p:txBody>
          <a:bodyPr/>
          <a:p/>
        </p:txBody>
      </p:sp>
      <p:sp>
        <p:nvSpPr>
          <p:cNvPr id="15" name="Rectangle 14">
            <a:extLst>
              <a:ext uri="{FF2B5EF4-FFF2-40B4-BE49-F238E27FC236}">
                <a16:creationId xmlns:a16="http://schemas.microsoft.com/office/drawing/2014/main" id="{F6B203E6-88A5-403E-99D1-2FAF7825B656}"/>
              </a:ext>
            </a:extLst>
          </p:cNvPr>
          <p:cNvSpPr>
            <a:spLocks noGrp="1"/>
          </p:cNvSpPr>
          <p:nvPr/>
        </p:nvSpPr>
        <p:spPr>
          <a:xfrm>
            <a:off x="904875" y="4105275"/>
            <a:ext cx="400050" cy="3429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4</a:t>
            </a:r>
          </a:p>
        </p:txBody>
      </p:sp>
      <p:sp>
        <p:nvSpPr>
          <p:cNvPr id="16" name="Rectangle 15">
            <a:extLst>
              <a:ext uri="{FF2B5EF4-FFF2-40B4-BE49-F238E27FC236}">
                <a16:creationId xmlns:a16="http://schemas.microsoft.com/office/drawing/2014/main" id="{5D234B17-21CF-41FB-975D-4A471B043189}"/>
              </a:ext>
            </a:extLst>
          </p:cNvPr>
          <p:cNvSpPr>
            <a:spLocks noGrp="1"/>
          </p:cNvSpPr>
          <p:nvPr/>
        </p:nvSpPr>
        <p:spPr>
          <a:xfrm>
            <a:off x="1524000" y="4143375"/>
            <a:ext cx="7239000" cy="266700"/>
          </a:xfrm>
          <a:prstGeom prst="rect">
            <a:avLst/>
          </a:prstGeom>
          <a:noFill/>
          <a:ln w="0">
            <a:noFill/>
          </a:ln>
        </p:spPr>
        <p:txBody>
          <a:bodyPr lIns="0" tIns="0" rIns="0" bIns="0" anchor="t">
            <a:normAutofit/>
          </a:bodyPr>
          <a:lstStyle/>
          <a:p>
            <a:pPr algn="l">
              <a:defRPr sz="1650">
                <a:solidFill>
                  <a:srgbClr val="FFFFFF"/>
                </a:solidFill>
                <a:latin typeface="Arial"/>
                <a:ea typeface="Arial"/>
                <a:cs typeface="Arial"/>
              </a:defRPr>
            </a:pPr>
            <a:r>
              <a:rPr sz="1650">
                <a:solidFill>
                  <a:srgbClr val="FFFFFF"/>
                </a:solidFill>
                <a:latin typeface="Arial"/>
                <a:ea typeface="Arial"/>
                <a:cs typeface="Arial"/>
              </a:rPr>
              <a:t>Open Folder Browser and search the record</a:t>
            </a:r>
          </a:p>
        </p:txBody>
      </p:sp>
      <p:sp>
        <p:nvSpPr>
          <p:cNvPr id="17" name="Rectangle: Rounded Corners 16">
            <a:extLst>
              <a:ext uri="{FF2B5EF4-FFF2-40B4-BE49-F238E27FC236}">
                <a16:creationId xmlns:a16="http://schemas.microsoft.com/office/drawing/2014/main" id="{BB957397-B5A3-4807-8D37-3539646A9F0B}"/>
              </a:ext>
            </a:extLst>
          </p:cNvPr>
          <p:cNvSpPr>
            <a:spLocks noGrp="1"/>
          </p:cNvSpPr>
          <p:nvPr/>
        </p:nvSpPr>
        <p:spPr>
          <a:xfrm>
            <a:off x="904875" y="4695825"/>
            <a:ext cx="400050" cy="342900"/>
          </a:xfrm>
          <a:prstGeom prst="roundRect">
            <a:avLst>
              <a:gd name="adj" fmla="val 22222"/>
            </a:avLst>
          </a:prstGeom>
          <a:solidFill>
            <a:srgbClr val="F6B638"/>
          </a:solidFill>
          <a:ln w="0">
            <a:noFill/>
          </a:ln>
        </p:spPr>
        <p:txBody>
          <a:bodyPr/>
          <a:p/>
        </p:txBody>
      </p:sp>
      <p:sp>
        <p:nvSpPr>
          <p:cNvPr id="18" name="Rectangle 17">
            <a:extLst>
              <a:ext uri="{FF2B5EF4-FFF2-40B4-BE49-F238E27FC236}">
                <a16:creationId xmlns:a16="http://schemas.microsoft.com/office/drawing/2014/main" id="{20381EE7-2DFB-41B5-B22A-DC4916CD1D67}"/>
              </a:ext>
            </a:extLst>
          </p:cNvPr>
          <p:cNvSpPr>
            <a:spLocks noGrp="1"/>
          </p:cNvSpPr>
          <p:nvPr/>
        </p:nvSpPr>
        <p:spPr>
          <a:xfrm>
            <a:off x="904875" y="4695825"/>
            <a:ext cx="400050" cy="3429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5</a:t>
            </a:r>
          </a:p>
        </p:txBody>
      </p:sp>
      <p:sp>
        <p:nvSpPr>
          <p:cNvPr id="19" name="Rectangle 18">
            <a:extLst>
              <a:ext uri="{FF2B5EF4-FFF2-40B4-BE49-F238E27FC236}">
                <a16:creationId xmlns:a16="http://schemas.microsoft.com/office/drawing/2014/main" id="{7E9F56E0-C9CD-457C-91C5-45BA5553CC41}"/>
              </a:ext>
            </a:extLst>
          </p:cNvPr>
          <p:cNvSpPr>
            <a:spLocks noGrp="1"/>
          </p:cNvSpPr>
          <p:nvPr/>
        </p:nvSpPr>
        <p:spPr>
          <a:xfrm>
            <a:off x="1524000" y="4733925"/>
            <a:ext cx="7239000" cy="266700"/>
          </a:xfrm>
          <a:prstGeom prst="rect">
            <a:avLst/>
          </a:prstGeom>
          <a:noFill/>
          <a:ln w="0">
            <a:noFill/>
          </a:ln>
        </p:spPr>
        <p:txBody>
          <a:bodyPr lIns="0" tIns="0" rIns="0" bIns="0" anchor="t">
            <a:normAutofit/>
          </a:bodyPr>
          <a:lstStyle/>
          <a:p>
            <a:pPr algn="l">
              <a:defRPr sz="1650">
                <a:solidFill>
                  <a:srgbClr val="FFFFFF"/>
                </a:solidFill>
                <a:latin typeface="Arial"/>
                <a:ea typeface="Arial"/>
                <a:cs typeface="Arial"/>
              </a:defRPr>
            </a:pPr>
            <a:r>
              <a:rPr sz="1650">
                <a:solidFill>
                  <a:srgbClr val="FFFFFF"/>
                </a:solidFill>
                <a:latin typeface="Arial"/>
                <a:ea typeface="Arial"/>
                <a:cs typeface="Arial"/>
              </a:rPr>
              <a:t>Show verification, audit log, and deletion policy</a:t>
            </a:r>
          </a:p>
        </p:txBody>
      </p:sp>
      <p:sp>
        <p:nvSpPr>
          <p:cNvPr id="20" name="Rectangle: Rounded Corners 19">
            <a:extLst>
              <a:ext uri="{FF2B5EF4-FFF2-40B4-BE49-F238E27FC236}">
                <a16:creationId xmlns:a16="http://schemas.microsoft.com/office/drawing/2014/main" id="{DC5C4EC5-FD49-42F1-8AF4-876B546ED0EF}"/>
              </a:ext>
            </a:extLst>
          </p:cNvPr>
          <p:cNvSpPr>
            <a:spLocks noGrp="1"/>
          </p:cNvSpPr>
          <p:nvPr/>
        </p:nvSpPr>
        <p:spPr>
          <a:xfrm>
            <a:off x="8858250" y="2381250"/>
            <a:ext cx="2476500" cy="2333625"/>
          </a:xfrm>
          <a:prstGeom prst="roundRect">
            <a:avLst>
              <a:gd name="adj" fmla="val 3265"/>
            </a:avLst>
          </a:prstGeom>
          <a:solidFill>
            <a:srgbClr val="17A673"/>
          </a:solidFill>
          <a:ln w="0">
            <a:noFill/>
          </a:ln>
        </p:spPr>
        <p:txBody>
          <a:bodyPr/>
          <a:p/>
        </p:txBody>
      </p:sp>
      <p:sp>
        <p:nvSpPr>
          <p:cNvPr id="21" name="Rectangle 20">
            <a:extLst>
              <a:ext uri="{FF2B5EF4-FFF2-40B4-BE49-F238E27FC236}">
                <a16:creationId xmlns:a16="http://schemas.microsoft.com/office/drawing/2014/main" id="{0E1448EC-72B6-491B-99CC-BFC29F363F4A}"/>
              </a:ext>
            </a:extLst>
          </p:cNvPr>
          <p:cNvSpPr>
            <a:spLocks noGrp="1"/>
          </p:cNvSpPr>
          <p:nvPr/>
        </p:nvSpPr>
        <p:spPr>
          <a:xfrm>
            <a:off x="9144000" y="2714625"/>
            <a:ext cx="1905000" cy="285750"/>
          </a:xfrm>
          <a:prstGeom prst="rect">
            <a:avLst/>
          </a:prstGeom>
          <a:noFill/>
          <a:ln w="0">
            <a:noFill/>
          </a:ln>
        </p:spPr>
        <p:txBody>
          <a:bodyPr lIns="0" tIns="0" rIns="0" bIns="0" anchor="t">
            <a:normAutofit/>
          </a:bodyPr>
          <a:lstStyle/>
          <a:p>
            <a:pPr algn="ctr">
              <a:defRPr sz="1725" b="1">
                <a:solidFill>
                  <a:srgbClr val="FFFFFF"/>
                </a:solidFill>
                <a:latin typeface="Arial"/>
                <a:ea typeface="Arial"/>
                <a:cs typeface="Arial"/>
              </a:defRPr>
            </a:pPr>
            <a:r>
              <a:rPr sz="1725" b="1">
                <a:solidFill>
                  <a:srgbClr val="FFFFFF"/>
                </a:solidFill>
                <a:latin typeface="Arial"/>
                <a:ea typeface="Arial"/>
                <a:cs typeface="Arial"/>
              </a:rPr>
              <a:t>Key takeaway</a:t>
            </a:r>
          </a:p>
        </p:txBody>
      </p:sp>
      <p:sp>
        <p:nvSpPr>
          <p:cNvPr id="22" name="Rectangle 21">
            <a:extLst>
              <a:ext uri="{FF2B5EF4-FFF2-40B4-BE49-F238E27FC236}">
                <a16:creationId xmlns:a16="http://schemas.microsoft.com/office/drawing/2014/main" id="{5D230273-E5BC-475A-883E-66209B406F9E}"/>
              </a:ext>
            </a:extLst>
          </p:cNvPr>
          <p:cNvSpPr>
            <a:spLocks noGrp="1"/>
          </p:cNvSpPr>
          <p:nvPr/>
        </p:nvSpPr>
        <p:spPr>
          <a:xfrm>
            <a:off x="9144000" y="3333750"/>
            <a:ext cx="1905000" cy="952500"/>
          </a:xfrm>
          <a:prstGeom prst="rect">
            <a:avLst/>
          </a:prstGeom>
          <a:noFill/>
          <a:ln w="0">
            <a:noFill/>
          </a:ln>
        </p:spPr>
        <p:txBody>
          <a:bodyPr lIns="0" tIns="0" rIns="0" bIns="0" anchor="t">
            <a:normAutofit fontScale="96538"/>
          </a:bodyPr>
          <a:lstStyle/>
          <a:p>
            <a:pPr algn="ctr">
              <a:defRPr sz="1875" b="1">
                <a:solidFill>
                  <a:srgbClr val="FFFFFF"/>
                </a:solidFill>
                <a:latin typeface="Arial"/>
                <a:ea typeface="Arial"/>
                <a:cs typeface="Arial"/>
              </a:defRPr>
            </a:pPr>
            <a:r>
              <a:rPr sz="1875" b="1">
                <a:solidFill>
                  <a:srgbClr val="FFFFFF"/>
                </a:solidFill>
                <a:latin typeface="Arial"/>
                <a:ea typeface="Arial"/>
                <a:cs typeface="Arial"/>
              </a:rPr>
              <a:t>Faster to encode.</a:t>
            </a:r>
          </a:p>
          <a:p>
            <a:pPr algn="ctr">
              <a:defRPr sz="1875" b="1">
                <a:solidFill>
                  <a:srgbClr val="FFFFFF"/>
                </a:solidFill>
                <a:latin typeface="Arial"/>
                <a:ea typeface="Arial"/>
                <a:cs typeface="Arial"/>
              </a:defRPr>
            </a:pPr>
            <a:r>
              <a:rPr sz="1875" b="1">
                <a:solidFill>
                  <a:srgbClr val="FFFFFF"/>
                </a:solidFill>
                <a:latin typeface="Arial"/>
                <a:ea typeface="Arial"/>
                <a:cs typeface="Arial"/>
              </a:rPr>
              <a:t>Easier to find.</a:t>
            </a:r>
          </a:p>
          <a:p>
            <a:pPr algn="ctr">
              <a:defRPr sz="1875" b="1">
                <a:solidFill>
                  <a:srgbClr val="FFFFFF"/>
                </a:solidFill>
                <a:latin typeface="Arial"/>
                <a:ea typeface="Arial"/>
                <a:cs typeface="Arial"/>
              </a:defRPr>
            </a:pPr>
            <a:r>
              <a:rPr sz="1875" b="1">
                <a:solidFill>
                  <a:srgbClr val="FFFFFF"/>
                </a:solidFill>
                <a:latin typeface="Arial"/>
                <a:ea typeface="Arial"/>
                <a:cs typeface="Arial"/>
              </a:rPr>
              <a:t>Safer to protect.</a:t>
            </a:r>
          </a:p>
        </p:txBody>
      </p:sp>
      <p:sp>
        <p:nvSpPr>
          <p:cNvPr id="23" name="Rectangle 22">
            <a:extLst>
              <a:ext uri="{FF2B5EF4-FFF2-40B4-BE49-F238E27FC236}">
                <a16:creationId xmlns:a16="http://schemas.microsoft.com/office/drawing/2014/main" id="{906E3EB7-8742-48CB-8B17-1CBF4E1A4FD2}"/>
              </a:ext>
            </a:extLst>
          </p:cNvPr>
          <p:cNvSpPr>
            <a:spLocks noGrp="1"/>
          </p:cNvSpPr>
          <p:nvPr/>
        </p:nvSpPr>
        <p:spPr>
          <a:xfrm>
            <a:off x="904875" y="5667375"/>
            <a:ext cx="10096500" cy="266700"/>
          </a:xfrm>
          <a:prstGeom prst="rect">
            <a:avLst/>
          </a:prstGeom>
          <a:noFill/>
          <a:ln w="0">
            <a:noFill/>
          </a:ln>
        </p:spPr>
        <p:txBody>
          <a:bodyPr lIns="0" tIns="0" rIns="0" bIns="0" anchor="t">
            <a:normAutofit/>
          </a:bodyPr>
          <a:lstStyle/>
          <a:p>
            <a:pPr algn="ctr">
              <a:defRPr sz="1350">
                <a:solidFill>
                  <a:srgbClr val="BFD0E7"/>
                </a:solidFill>
                <a:latin typeface="Arial"/>
                <a:ea typeface="Arial"/>
                <a:cs typeface="Arial"/>
              </a:defRPr>
            </a:pPr>
            <a:r>
              <a:rPr sz="1350">
                <a:solidFill>
                  <a:srgbClr val="BFD0E7"/>
                </a:solidFill>
                <a:latin typeface="Arial"/>
                <a:ea typeface="Arial"/>
                <a:cs typeface="Arial"/>
              </a:rPr>
              <a:t>The flow is: understand → create → verify → protect → recover.</a:t>
            </a:r>
          </a:p>
        </p:txBody>
      </p:sp>
      <p:sp>
        <p:nvSpPr>
          <p:cNvPr id="24" name="Rectangle 23">
            <a:extLst>
              <a:ext uri="{FF2B5EF4-FFF2-40B4-BE49-F238E27FC236}">
                <a16:creationId xmlns:a16="http://schemas.microsoft.com/office/drawing/2014/main" id="{D6C0D5FC-A56A-4D79-8561-DAA66FC168B8}"/>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5" name="Rectangle 24">
            <a:extLst>
              <a:ext uri="{FF2B5EF4-FFF2-40B4-BE49-F238E27FC236}">
                <a16:creationId xmlns:a16="http://schemas.microsoft.com/office/drawing/2014/main" id="{3D019A39-03B1-4613-A877-CB50CD3424B3}"/>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20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031195913"/>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12648" y="301752"/>
            <a:ext cx="6675120" cy="201168"/>
          </a:xfrm>
          <a:prstGeom prst="rect">
            <a:avLst/>
          </a:prstGeom>
          <a:noFill/>
        </p:spPr>
        <p:txBody>
          <a:bodyPr wrap="square" lIns="0" rIns="0" tIns="0" bIns="0" anchor="t">
            <a:spAutoFit/>
          </a:bodyPr>
          <a:lstStyle/>
          <a:p>
            <a:pPr algn="l"/>
            <a:r>
              <a:rPr sz="975" b="1">
                <a:solidFill>
                  <a:srgbClr val="2F6BDE"/>
                </a:solidFill>
                <a:latin typeface="Arial"/>
              </a:rPr>
              <a:t>CONTINUITY</a:t>
            </a:r>
          </a:p>
        </p:txBody>
      </p:sp>
      <p:sp>
        <p:nvSpPr>
          <p:cNvPr id="3" name="TextBox 2"/>
          <p:cNvSpPr txBox="1"/>
          <p:nvPr/>
        </p:nvSpPr>
        <p:spPr>
          <a:xfrm>
            <a:off x="612648" y="548640"/>
            <a:ext cx="10789920" cy="475488"/>
          </a:xfrm>
          <a:prstGeom prst="rect">
            <a:avLst/>
          </a:prstGeom>
          <a:noFill/>
        </p:spPr>
        <p:txBody>
          <a:bodyPr wrap="square" lIns="0" rIns="0" tIns="0" bIns="0" anchor="t">
            <a:spAutoFit/>
          </a:bodyPr>
          <a:lstStyle/>
          <a:p>
            <a:pPr algn="l"/>
            <a:r>
              <a:rPr sz="2700" b="1">
                <a:solidFill>
                  <a:srgbClr val="17263A"/>
                </a:solidFill>
                <a:latin typeface="Arial"/>
              </a:rPr>
              <a:t>Works Without Internet</a:t>
            </a:r>
          </a:p>
        </p:txBody>
      </p:sp>
      <p:sp>
        <p:nvSpPr>
          <p:cNvPr id="4" name="Rectangle 3"/>
          <p:cNvSpPr/>
          <p:nvPr/>
        </p:nvSpPr>
        <p:spPr>
          <a:xfrm>
            <a:off x="612648" y="1197864"/>
            <a:ext cx="685800" cy="45720"/>
          </a:xfrm>
          <a:prstGeom prst="rect">
            <a:avLst/>
          </a:prstGeom>
          <a:solidFill>
            <a:srgbClr val="2F6B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12648" y="1444752"/>
            <a:ext cx="10698480" cy="411480"/>
          </a:xfrm>
          <a:prstGeom prst="rect">
            <a:avLst/>
          </a:prstGeom>
          <a:noFill/>
        </p:spPr>
        <p:txBody>
          <a:bodyPr wrap="square" lIns="0" rIns="0" tIns="0" bIns="0" anchor="t">
            <a:spAutoFit/>
          </a:bodyPr>
          <a:lstStyle/>
          <a:p>
            <a:pPr algn="l"/>
            <a:r>
              <a:rPr sz="1650" b="0">
                <a:solidFill>
                  <a:srgbClr val="5E6C80"/>
                </a:solidFill>
                <a:latin typeface="Arial"/>
              </a:rPr>
              <a:t>The office NAS keeps local records available during an internet outage</a:t>
            </a:r>
          </a:p>
        </p:txBody>
      </p:sp>
      <p:sp>
        <p:nvSpPr>
          <p:cNvPr id="6" name="Rounded Rectangle 5"/>
          <p:cNvSpPr/>
          <p:nvPr/>
        </p:nvSpPr>
        <p:spPr>
          <a:xfrm>
            <a:off x="612648" y="1874519"/>
            <a:ext cx="5715000" cy="3218688"/>
          </a:xfrm>
          <a:prstGeom prst="roundRect">
            <a:avLst/>
          </a:prstGeom>
          <a:solidFill>
            <a:srgbClr val="FFFFFF"/>
          </a:solidFill>
          <a:ln w="12700">
            <a:solidFill>
              <a:srgbClr val="DA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exec-bc7be029-6299-4007-b00a-47bd95cd8c7b.png"/>
          <p:cNvPicPr>
            <a:picLocks noChangeAspect="1"/>
          </p:cNvPicPr>
          <p:nvPr/>
        </p:nvPicPr>
        <p:blipFill>
          <a:blip r:embed="rId2"/>
          <a:stretch>
            <a:fillRect/>
          </a:stretch>
        </p:blipFill>
        <p:spPr>
          <a:xfrm>
            <a:off x="658368" y="1920239"/>
            <a:ext cx="5623560" cy="3127248"/>
          </a:xfrm>
          <a:prstGeom prst="rect">
            <a:avLst/>
          </a:prstGeom>
        </p:spPr>
      </p:pic>
      <p:sp>
        <p:nvSpPr>
          <p:cNvPr id="8" name="TextBox 7"/>
          <p:cNvSpPr txBox="1"/>
          <p:nvPr/>
        </p:nvSpPr>
        <p:spPr>
          <a:xfrm>
            <a:off x="6656832" y="1901952"/>
            <a:ext cx="4800600" cy="237744"/>
          </a:xfrm>
          <a:prstGeom prst="rect">
            <a:avLst/>
          </a:prstGeom>
          <a:noFill/>
        </p:spPr>
        <p:txBody>
          <a:bodyPr wrap="square" lIns="0" rIns="0" tIns="0" bIns="0" anchor="t">
            <a:spAutoFit/>
          </a:bodyPr>
          <a:lstStyle/>
          <a:p>
            <a:pPr algn="l"/>
            <a:r>
              <a:rPr sz="1550" b="1">
                <a:solidFill>
                  <a:srgbClr val="17263A"/>
                </a:solidFill>
                <a:latin typeface="Arial"/>
              </a:rPr>
              <a:t>How access is separated</a:t>
            </a:r>
          </a:p>
        </p:txBody>
      </p:sp>
      <p:sp>
        <p:nvSpPr>
          <p:cNvPr id="9" name="TextBox 8"/>
          <p:cNvSpPr txBox="1"/>
          <p:nvPr/>
        </p:nvSpPr>
        <p:spPr>
          <a:xfrm>
            <a:off x="6656832" y="2221992"/>
            <a:ext cx="4663440" cy="1691640"/>
          </a:xfrm>
          <a:prstGeom prst="rect">
            <a:avLst/>
          </a:prstGeom>
          <a:noFill/>
        </p:spPr>
        <p:txBody>
          <a:bodyPr wrap="square" lIns="18288" rIns="18288" tIns="18288" bIns="18288">
            <a:spAutoFit/>
          </a:bodyPr>
          <a:lstStyle/>
          <a:p>
            <a:pPr>
              <a:spcAft>
                <a:spcPts val="600"/>
              </a:spcAft>
            </a:pPr>
            <a:r>
              <a:rPr sz="1350" b="1">
                <a:solidFill>
                  <a:srgbClr val="17263A"/>
                </a:solidFill>
                <a:latin typeface="Arial"/>
              </a:rPr>
              <a:t>Local LAN path. </a:t>
            </a:r>
            <a:r>
              <a:rPr sz="1350" b="0">
                <a:solidFill>
                  <a:srgbClr val="5E6C80"/>
                </a:solidFill>
                <a:latin typeface="Arial"/>
              </a:rPr>
              <a:t>Workstations and the scanner connect to the NAS/Web Station over the office network.</a:t>
            </a:r>
          </a:p>
          <a:p>
            <a:pPr>
              <a:spcAft>
                <a:spcPts val="600"/>
              </a:spcAft>
            </a:pPr>
            <a:r>
              <a:rPr sz="1350" b="1">
                <a:solidFill>
                  <a:srgbClr val="17263A"/>
                </a:solidFill>
                <a:latin typeface="Arial"/>
              </a:rPr>
              <a:t>Internet path. </a:t>
            </a:r>
            <a:r>
              <a:rPr sz="1350" b="0">
                <a:solidFill>
                  <a:srgbClr val="5E6C80"/>
                </a:solidFill>
                <a:latin typeface="Arial"/>
              </a:rPr>
              <a:t>The public URL and remote access need internet connectivity.</a:t>
            </a:r>
          </a:p>
          <a:p>
            <a:pPr>
              <a:spcAft>
                <a:spcPts val="600"/>
              </a:spcAft>
            </a:pPr>
            <a:r>
              <a:rPr sz="1350" b="1">
                <a:solidFill>
                  <a:srgbClr val="17263A"/>
                </a:solidFill>
                <a:latin typeface="Arial"/>
              </a:rPr>
              <a:t>Recovery. </a:t>
            </a:r>
            <a:r>
              <a:rPr sz="1350" b="0">
                <a:solidFill>
                  <a:srgbClr val="5E6C80"/>
                </a:solidFill>
                <a:latin typeface="Arial"/>
              </a:rPr>
              <a:t>When internet returns, remote access resumes; local records remain on the NAS.</a:t>
            </a:r>
          </a:p>
        </p:txBody>
      </p:sp>
      <p:sp>
        <p:nvSpPr>
          <p:cNvPr id="10" name="Rounded Rectangle 9"/>
          <p:cNvSpPr/>
          <p:nvPr/>
        </p:nvSpPr>
        <p:spPr>
          <a:xfrm>
            <a:off x="6656832" y="4169663"/>
            <a:ext cx="4709160" cy="1078992"/>
          </a:xfrm>
          <a:prstGeom prst="roundRect">
            <a:avLst/>
          </a:prstGeom>
          <a:solidFill>
            <a:srgbClr val="EEFBF5"/>
          </a:solidFill>
          <a:ln w="12700">
            <a:solidFill>
              <a:srgbClr val="168A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39712" y="4297679"/>
            <a:ext cx="4343400" cy="219456"/>
          </a:xfrm>
          <a:prstGeom prst="rect">
            <a:avLst/>
          </a:prstGeom>
          <a:noFill/>
        </p:spPr>
        <p:txBody>
          <a:bodyPr wrap="square" lIns="0" rIns="0" tIns="0" bIns="0" anchor="t">
            <a:spAutoFit/>
          </a:bodyPr>
          <a:lstStyle/>
          <a:p>
            <a:pPr algn="l"/>
            <a:r>
              <a:rPr sz="1400" b="1">
                <a:solidFill>
                  <a:srgbClr val="168A61"/>
                </a:solidFill>
                <a:latin typeface="Arial"/>
              </a:rPr>
              <a:t>Plain-language explanation</a:t>
            </a:r>
          </a:p>
        </p:txBody>
      </p:sp>
      <p:sp>
        <p:nvSpPr>
          <p:cNvPr id="12" name="TextBox 11"/>
          <p:cNvSpPr txBox="1"/>
          <p:nvPr/>
        </p:nvSpPr>
        <p:spPr>
          <a:xfrm>
            <a:off x="6839712" y="4581144"/>
            <a:ext cx="4343400" cy="557784"/>
          </a:xfrm>
          <a:prstGeom prst="rect">
            <a:avLst/>
          </a:prstGeom>
          <a:noFill/>
        </p:spPr>
        <p:txBody>
          <a:bodyPr wrap="square" lIns="0" rIns="0" tIns="0" bIns="0" anchor="t">
            <a:spAutoFit/>
          </a:bodyPr>
          <a:lstStyle/>
          <a:p>
            <a:pPr algn="l"/>
            <a:r>
              <a:rPr sz="1250" b="0">
                <a:solidFill>
                  <a:srgbClr val="17263A"/>
                </a:solidFill>
                <a:latin typeface="Arial"/>
              </a:rPr>
              <a:t>If the internet goes down, staff inside the office can still encode, scan, search, and open records through the NAS. Users outside the office reconnect when the internet is restored.</a:t>
            </a:r>
          </a:p>
        </p:txBody>
      </p:sp>
      <p:sp>
        <p:nvSpPr>
          <p:cNvPr id="13" name="Rounded Rectangle 12"/>
          <p:cNvSpPr/>
          <p:nvPr/>
        </p:nvSpPr>
        <p:spPr>
          <a:xfrm>
            <a:off x="612648" y="5321808"/>
            <a:ext cx="5715000" cy="512064"/>
          </a:xfrm>
          <a:prstGeom prst="roundRect">
            <a:avLst/>
          </a:prstGeom>
          <a:solidFill>
            <a:srgbClr val="F2F6FF"/>
          </a:solidFill>
          <a:ln w="12700">
            <a:solidFill>
              <a:srgbClr val="2F6B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5528" y="5449824"/>
            <a:ext cx="5349240" cy="219456"/>
          </a:xfrm>
          <a:prstGeom prst="rect">
            <a:avLst/>
          </a:prstGeom>
          <a:noFill/>
        </p:spPr>
        <p:txBody>
          <a:bodyPr wrap="square" lIns="0" rIns="0" tIns="0" bIns="0" anchor="t">
            <a:spAutoFit/>
          </a:bodyPr>
          <a:lstStyle/>
          <a:p>
            <a:pPr algn="l"/>
            <a:r>
              <a:rPr sz="1400" b="1">
                <a:solidFill>
                  <a:srgbClr val="2F6BDE"/>
                </a:solidFill>
                <a:latin typeface="Arial"/>
              </a:rPr>
              <a:t>Local access</a:t>
            </a:r>
          </a:p>
        </p:txBody>
      </p:sp>
      <p:sp>
        <p:nvSpPr>
          <p:cNvPr id="15" name="TextBox 14"/>
          <p:cNvSpPr txBox="1"/>
          <p:nvPr/>
        </p:nvSpPr>
        <p:spPr>
          <a:xfrm>
            <a:off x="795528" y="5733288"/>
            <a:ext cx="5349240" cy="-9143"/>
          </a:xfrm>
          <a:prstGeom prst="rect">
            <a:avLst/>
          </a:prstGeom>
          <a:noFill/>
        </p:spPr>
        <p:txBody>
          <a:bodyPr wrap="square" lIns="0" rIns="0" tIns="0" bIns="0" anchor="t">
            <a:spAutoFit/>
          </a:bodyPr>
          <a:lstStyle/>
          <a:p>
            <a:pPr algn="l"/>
            <a:r>
              <a:rPr sz="1250" b="0">
                <a:solidFill>
                  <a:srgbClr val="17263A"/>
                </a:solidFill>
                <a:latin typeface="Arial"/>
              </a:rPr>
              <a:t>Use the NAS IP address and Web Station port from an office computer.</a:t>
            </a:r>
          </a:p>
        </p:txBody>
      </p:sp>
      <p:sp>
        <p:nvSpPr>
          <p:cNvPr id="16" name="TextBox 15"/>
          <p:cNvSpPr txBox="1"/>
          <p:nvPr/>
        </p:nvSpPr>
        <p:spPr>
          <a:xfrm>
            <a:off x="512064" y="6547104"/>
            <a:ext cx="6675120" cy="173736"/>
          </a:xfrm>
          <a:prstGeom prst="rect">
            <a:avLst/>
          </a:prstGeom>
          <a:noFill/>
        </p:spPr>
        <p:txBody>
          <a:bodyPr wrap="square" lIns="0" rIns="0" tIns="0" bIns="0" anchor="t">
            <a:spAutoFit/>
          </a:bodyPr>
          <a:lstStyle/>
          <a:p>
            <a:pPr algn="l"/>
            <a:r>
              <a:rPr sz="825" b="0">
                <a:solidFill>
                  <a:srgbClr val="B8C9DE"/>
                </a:solidFill>
                <a:latin typeface="Arial"/>
              </a:rPr>
              <a:t>iScan CRDMS  |  Civil Registry Records Management System</a:t>
            </a:r>
          </a:p>
        </p:txBody>
      </p:sp>
      <p:sp>
        <p:nvSpPr>
          <p:cNvPr id="17" name="TextBox 16"/>
          <p:cNvSpPr txBox="1"/>
          <p:nvPr/>
        </p:nvSpPr>
        <p:spPr>
          <a:xfrm>
            <a:off x="10378440" y="6547104"/>
            <a:ext cx="1298448" cy="173736"/>
          </a:xfrm>
          <a:prstGeom prst="rect">
            <a:avLst/>
          </a:prstGeom>
          <a:noFill/>
        </p:spPr>
        <p:txBody>
          <a:bodyPr wrap="square" lIns="0" rIns="0" tIns="0" bIns="0" anchor="t">
            <a:spAutoFit/>
          </a:bodyPr>
          <a:lstStyle/>
          <a:p>
            <a:pPr algn="r"/>
            <a:r>
              <a:rPr sz="825" b="1">
                <a:solidFill>
                  <a:srgbClr val="B8C9DE"/>
                </a:solidFill>
                <a:latin typeface="Arial"/>
              </a:rPr>
              <a:t>16 / 20</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2189</Words>
  <Application>Microsoft Office PowerPoint</Application>
  <DocSecurity>0</DocSecurity>
  <PresentationFormat>Widescreen</PresentationFormat>
  <Paragraphs>295</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MDRRMO</cp:lastModifiedBy>
  <cp:revision>2</cp:revision>
  <dcterms:created xsi:type="dcterms:W3CDTF">2026-09-09T00:15:58Z</dcterms:created>
  <dcterms:modified xsi:type="dcterms:W3CDTF">2026-09-09T00:49:40Z</dcterms:modified>
</cp:coreProperties>
</file>