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3" r:id="rId8"/>
    <p:sldId id="264" r:id="rId9"/>
    <p:sldId id="267" r:id="rId10"/>
    <p:sldId id="269" r:id="rId11"/>
    <p:sldId id="270" r:id="rId12"/>
    <p:sldId id="271" r:id="rId13"/>
    <p:sldId id="272" r:id="rId14"/>
    <p:sldId id="273" r:id="rId15"/>
    <p:sldId id="274" r:id="rId16"/>
    <p:sldId id="275" r:id="rId17"/>
    <p:sldId id="276" r:id="rId18"/>
    <p:sldId id="277"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78" d="100"/>
          <a:sy n="78" d="100"/>
        </p:scale>
        <p:origin x="850"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5/12/2026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5/12/2026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5/12/2026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5/12/2026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5/12/2026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5/12/2026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gradFill flip="none" rotWithShape="1">
            <a:gsLst>
              <a:gs pos="0">
                <a:srgbClr val="061830"/>
              </a:gs>
              <a:gs pos="100000">
                <a:srgbClr val="1B3A6B"/>
              </a:gs>
            </a:gsLst>
            <a:lin ang="27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8991295" y="-1828800"/>
            <a:ext cx="4572000" cy="4572000"/>
          </a:xfrm>
          <a:prstGeom prst="ellipse">
            <a:avLst/>
          </a:prstGeom>
          <a:noFill/>
          <a:ln w="2540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731520" y="3584448"/>
            <a:ext cx="1097280"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31520" y="1325880"/>
            <a:ext cx="10058400" cy="365760"/>
          </a:xfrm>
          <a:prstGeom prst="rect">
            <a:avLst/>
          </a:prstGeom>
          <a:noFill/>
        </p:spPr>
        <p:txBody>
          <a:bodyPr wrap="square" lIns="45720" tIns="27432" rIns="45720" bIns="27432" anchor="ctr">
            <a:spAutoFit/>
          </a:bodyPr>
          <a:lstStyle/>
          <a:p>
            <a:pPr algn="l"/>
            <a:r>
              <a:rPr sz="1300" b="1" i="0">
                <a:solidFill>
                  <a:srgbClr val="F59E0B"/>
                </a:solidFill>
                <a:latin typeface="Calibri"/>
              </a:rPr>
              <a:t>MUNICIPAL CIVIL REGISTRAR'S OFFICE  •  MUNICIPALITY OF BAGGAO</a:t>
            </a:r>
          </a:p>
        </p:txBody>
      </p:sp>
      <p:sp>
        <p:nvSpPr>
          <p:cNvPr id="7" name="TextBox 6"/>
          <p:cNvSpPr txBox="1"/>
          <p:nvPr/>
        </p:nvSpPr>
        <p:spPr>
          <a:xfrm>
            <a:off x="731520" y="1691640"/>
            <a:ext cx="10698480" cy="1280160"/>
          </a:xfrm>
          <a:prstGeom prst="rect">
            <a:avLst/>
          </a:prstGeom>
          <a:noFill/>
        </p:spPr>
        <p:txBody>
          <a:bodyPr wrap="square" lIns="45720" tIns="27432" rIns="45720" bIns="27432" anchor="b">
            <a:spAutoFit/>
          </a:bodyPr>
          <a:lstStyle/>
          <a:p>
            <a:pPr algn="l"/>
            <a:r>
              <a:rPr sz="7200" b="1" i="0">
                <a:solidFill>
                  <a:srgbClr val="FFFFFF"/>
                </a:solidFill>
                <a:latin typeface="Calibri"/>
              </a:rPr>
              <a:t>iScan-CRDMS</a:t>
            </a:r>
          </a:p>
        </p:txBody>
      </p:sp>
      <p:sp>
        <p:nvSpPr>
          <p:cNvPr id="8" name="TextBox 7"/>
          <p:cNvSpPr txBox="1"/>
          <p:nvPr/>
        </p:nvSpPr>
        <p:spPr>
          <a:xfrm>
            <a:off x="731520" y="3703320"/>
            <a:ext cx="10698480" cy="731520"/>
          </a:xfrm>
          <a:prstGeom prst="rect">
            <a:avLst/>
          </a:prstGeom>
          <a:noFill/>
        </p:spPr>
        <p:txBody>
          <a:bodyPr wrap="square" lIns="45720" tIns="27432" rIns="45720" bIns="27432" anchor="ctr">
            <a:spAutoFit/>
          </a:bodyPr>
          <a:lstStyle/>
          <a:p>
            <a:pPr algn="l"/>
            <a:r>
              <a:rPr sz="2600" b="0" i="0">
                <a:solidFill>
                  <a:srgbClr val="FFFFFF"/>
                </a:solidFill>
                <a:latin typeface="Calibri"/>
              </a:rPr>
              <a:t>Civil Registry Records Management System</a:t>
            </a:r>
          </a:p>
        </p:txBody>
      </p:sp>
      <p:sp>
        <p:nvSpPr>
          <p:cNvPr id="9" name="TextBox 8"/>
          <p:cNvSpPr txBox="1"/>
          <p:nvPr/>
        </p:nvSpPr>
        <p:spPr>
          <a:xfrm>
            <a:off x="731520" y="4434840"/>
            <a:ext cx="10698480" cy="548640"/>
          </a:xfrm>
          <a:prstGeom prst="rect">
            <a:avLst/>
          </a:prstGeom>
          <a:noFill/>
        </p:spPr>
        <p:txBody>
          <a:bodyPr wrap="square" lIns="45720" tIns="27432" rIns="45720" bIns="27432" anchor="ctr">
            <a:spAutoFit/>
          </a:bodyPr>
          <a:lstStyle/>
          <a:p>
            <a:pPr algn="l"/>
            <a:r>
              <a:rPr sz="1400" b="0" i="1">
                <a:solidFill>
                  <a:srgbClr val="FFFFFF"/>
                </a:solidFill>
                <a:latin typeface="Calibri"/>
              </a:rPr>
              <a:t>A presentation on relevant features and security safeguards for executive review</a:t>
            </a:r>
          </a:p>
        </p:txBody>
      </p:sp>
      <p:sp>
        <p:nvSpPr>
          <p:cNvPr id="10" name="TextBox 9"/>
          <p:cNvSpPr txBox="1"/>
          <p:nvPr/>
        </p:nvSpPr>
        <p:spPr>
          <a:xfrm>
            <a:off x="731520" y="5166360"/>
            <a:ext cx="10698480" cy="457200"/>
          </a:xfrm>
          <a:prstGeom prst="rect">
            <a:avLst/>
          </a:prstGeom>
          <a:noFill/>
        </p:spPr>
        <p:txBody>
          <a:bodyPr wrap="square" lIns="45720" tIns="27432" rIns="45720" bIns="27432" anchor="ctr">
            <a:spAutoFit/>
          </a:bodyPr>
          <a:lstStyle/>
          <a:p>
            <a:pPr algn="l"/>
            <a:r>
              <a:rPr sz="1400" b="0" i="0">
                <a:solidFill>
                  <a:srgbClr val="FFFFFF"/>
                </a:solidFill>
                <a:latin typeface="Calibri"/>
              </a:rPr>
              <a:t>Under the leadership of Sir Atanacio G. Tungpalan, MCR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EXECUTIVE SUMMARY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A Locally Hosted, Sovereign Records Platform</a:t>
            </a:r>
          </a:p>
        </p:txBody>
      </p:sp>
      <p:sp>
        <p:nvSpPr>
          <p:cNvPr id="13" name="TextBox 12"/>
          <p:cNvSpPr txBox="1"/>
          <p:nvPr/>
        </p:nvSpPr>
        <p:spPr>
          <a:xfrm>
            <a:off x="1089507" y="1207008"/>
            <a:ext cx="10012680" cy="1987467"/>
          </a:xfrm>
          <a:prstGeom prst="rect">
            <a:avLst/>
          </a:prstGeom>
          <a:noFill/>
        </p:spPr>
        <p:txBody>
          <a:bodyPr wrap="square" lIns="45720">
            <a:spAutoFit/>
          </a:bodyPr>
          <a:lstStyle/>
          <a:p>
            <a:pPr algn="l">
              <a:lnSpc>
                <a:spcPct val="125000"/>
              </a:lnSpc>
            </a:pPr>
            <a:r>
              <a:rPr sz="2000" b="1" dirty="0" err="1">
                <a:solidFill>
                  <a:srgbClr val="374151"/>
                </a:solidFill>
                <a:latin typeface="Calibri"/>
              </a:rPr>
              <a:t>iScan</a:t>
            </a:r>
            <a:r>
              <a:rPr sz="2000" b="1" dirty="0">
                <a:solidFill>
                  <a:srgbClr val="374151"/>
                </a:solidFill>
                <a:latin typeface="Calibri"/>
              </a:rPr>
              <a:t>-CRDMS is the digital records management platform of the Municipal Civil Registrar's Office of </a:t>
            </a:r>
            <a:r>
              <a:rPr sz="2000" b="1" dirty="0" err="1">
                <a:solidFill>
                  <a:srgbClr val="374151"/>
                </a:solidFill>
                <a:latin typeface="Calibri"/>
              </a:rPr>
              <a:t>Baggao</a:t>
            </a:r>
            <a:r>
              <a:rPr sz="2000" b="1" dirty="0">
                <a:solidFill>
                  <a:srgbClr val="374151"/>
                </a:solidFill>
                <a:latin typeface="Calibri"/>
              </a:rPr>
              <a:t>. It digitizes and safeguards the four civil registry document types — Live Birth, Marriage, Death, and Marriage License — together with petitions filed under Republic Act No. 9048. The entire system runs on the municipality's own Synology DS925+ NAS, ensuring that the records belonging to </a:t>
            </a:r>
            <a:r>
              <a:rPr sz="2000" b="1" dirty="0" err="1">
                <a:solidFill>
                  <a:srgbClr val="374151"/>
                </a:solidFill>
                <a:latin typeface="Calibri"/>
              </a:rPr>
              <a:t>Baggao's</a:t>
            </a:r>
            <a:r>
              <a:rPr sz="2000" b="1" dirty="0">
                <a:solidFill>
                  <a:srgbClr val="374151"/>
                </a:solidFill>
                <a:latin typeface="Calibri"/>
              </a:rPr>
              <a:t> residents never leave the office.</a:t>
            </a:r>
          </a:p>
        </p:txBody>
      </p:sp>
      <p:sp>
        <p:nvSpPr>
          <p:cNvPr id="14" name="TextBox 13"/>
          <p:cNvSpPr txBox="1"/>
          <p:nvPr/>
        </p:nvSpPr>
        <p:spPr>
          <a:xfrm>
            <a:off x="1322438" y="3468153"/>
            <a:ext cx="10012680" cy="1590307"/>
          </a:xfrm>
          <a:prstGeom prst="rect">
            <a:avLst/>
          </a:prstGeom>
          <a:noFill/>
        </p:spPr>
        <p:txBody>
          <a:bodyPr wrap="square" lIns="45720">
            <a:spAutoFit/>
          </a:bodyPr>
          <a:lstStyle/>
          <a:p>
            <a:pPr algn="l">
              <a:lnSpc>
                <a:spcPct val="120000"/>
              </a:lnSpc>
              <a:spcAft>
                <a:spcPts val="500"/>
              </a:spcAft>
            </a:pPr>
            <a:r>
              <a:rPr b="1" dirty="0">
                <a:solidFill>
                  <a:srgbClr val="F59E0B"/>
                </a:solidFill>
                <a:latin typeface="Calibri"/>
              </a:rPr>
              <a:t>▸  </a:t>
            </a:r>
            <a:r>
              <a:rPr b="0" dirty="0">
                <a:solidFill>
                  <a:srgbClr val="1F2937"/>
                </a:solidFill>
                <a:latin typeface="Calibri"/>
              </a:rPr>
              <a:t>Four certificate modules plus a dedicated </a:t>
            </a:r>
            <a:r>
              <a:rPr b="1" dirty="0">
                <a:solidFill>
                  <a:srgbClr val="1F2937"/>
                </a:solidFill>
                <a:latin typeface="Calibri"/>
              </a:rPr>
              <a:t>RA 9048 petition workflow.</a:t>
            </a:r>
          </a:p>
          <a:p>
            <a:pPr algn="l">
              <a:lnSpc>
                <a:spcPct val="120000"/>
              </a:lnSpc>
              <a:spcAft>
                <a:spcPts val="500"/>
              </a:spcAft>
            </a:pPr>
            <a:r>
              <a:rPr b="1" dirty="0">
                <a:solidFill>
                  <a:srgbClr val="F59E0B"/>
                </a:solidFill>
                <a:latin typeface="Calibri"/>
              </a:rPr>
              <a:t>▸  </a:t>
            </a:r>
            <a:r>
              <a:rPr b="0" dirty="0">
                <a:solidFill>
                  <a:srgbClr val="1F2937"/>
                </a:solidFill>
                <a:latin typeface="Calibri"/>
              </a:rPr>
              <a:t>Built under the leadership of </a:t>
            </a:r>
            <a:r>
              <a:rPr b="1" dirty="0">
                <a:solidFill>
                  <a:srgbClr val="1F2937"/>
                </a:solidFill>
                <a:latin typeface="Calibri"/>
              </a:rPr>
              <a:t>Sir Atanacio G. Tungpalan, MCR.</a:t>
            </a:r>
          </a:p>
          <a:p>
            <a:pPr algn="l">
              <a:lnSpc>
                <a:spcPct val="120000"/>
              </a:lnSpc>
              <a:spcAft>
                <a:spcPts val="500"/>
              </a:spcAft>
            </a:pPr>
            <a:r>
              <a:rPr b="1" dirty="0">
                <a:solidFill>
                  <a:srgbClr val="F59E0B"/>
                </a:solidFill>
                <a:latin typeface="Calibri"/>
              </a:rPr>
              <a:t>▸  </a:t>
            </a:r>
            <a:r>
              <a:rPr b="0" dirty="0">
                <a:solidFill>
                  <a:srgbClr val="1F2937"/>
                </a:solidFill>
                <a:latin typeface="Calibri"/>
              </a:rPr>
              <a:t>Hosted on the office's own </a:t>
            </a:r>
            <a:r>
              <a:rPr b="1" dirty="0">
                <a:solidFill>
                  <a:srgbClr val="1F2937"/>
                </a:solidFill>
                <a:latin typeface="Calibri"/>
              </a:rPr>
              <a:t>Synology DS925+ NAS</a:t>
            </a:r>
            <a:r>
              <a:rPr b="0" dirty="0">
                <a:solidFill>
                  <a:srgbClr val="1F2937"/>
                </a:solidFill>
                <a:latin typeface="Calibri"/>
              </a:rPr>
              <a:t> — no third-party cloud.</a:t>
            </a:r>
          </a:p>
          <a:p>
            <a:pPr algn="l">
              <a:lnSpc>
                <a:spcPct val="120000"/>
              </a:lnSpc>
              <a:spcAft>
                <a:spcPts val="500"/>
              </a:spcAft>
            </a:pPr>
            <a:r>
              <a:rPr b="1" dirty="0">
                <a:solidFill>
                  <a:srgbClr val="F59E0B"/>
                </a:solidFill>
                <a:latin typeface="Calibri"/>
              </a:rPr>
              <a:t>▸  </a:t>
            </a:r>
            <a:r>
              <a:rPr b="0" dirty="0">
                <a:solidFill>
                  <a:srgbClr val="1F2937"/>
                </a:solidFill>
                <a:latin typeface="Calibri"/>
              </a:rPr>
              <a:t>Reachable at </a:t>
            </a:r>
            <a:r>
              <a:rPr b="1" dirty="0">
                <a:solidFill>
                  <a:srgbClr val="1F2937"/>
                </a:solidFill>
                <a:latin typeface="Calibri"/>
              </a:rPr>
              <a:t>https://iscan.cdrms.online</a:t>
            </a:r>
            <a:r>
              <a:rPr b="0" dirty="0">
                <a:solidFill>
                  <a:srgbClr val="1F2937"/>
                </a:solidFill>
                <a:latin typeface="Calibri"/>
              </a:rPr>
              <a:t> through a secure Cloudflare Tunnel.</a:t>
            </a:r>
          </a:p>
        </p:txBody>
      </p:sp>
      <p:sp>
        <p:nvSpPr>
          <p:cNvPr id="15" name="Rounded Rectangle 14"/>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The municipality's records stay with the municipality — secured, searchable, and always available.</a:t>
            </a:r>
          </a:p>
        </p:txBody>
      </p:sp>
      <p:sp>
        <p:nvSpPr>
          <p:cNvPr id="16" name="Rectangle 15"/>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19" name="TextBox 18"/>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2  /  22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CONTEXT</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The Operational Problem We Are Addressing</a:t>
            </a: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207008"/>
            <a:ext cx="914400" cy="914400"/>
          </a:xfrm>
          <a:prstGeom prst="rect">
            <a:avLst/>
          </a:prstGeom>
          <a:noFill/>
        </p:spPr>
        <p:txBody>
          <a:bodyPr wrap="square" lIns="45720" tIns="27432" rIns="45720" bIns="27432" anchor="ctr">
            <a:spAutoFit/>
          </a:bodyPr>
          <a:lstStyle/>
          <a:p>
            <a:pPr algn="ctr"/>
            <a:r>
              <a:rPr sz="4400" b="1" i="0">
                <a:solidFill>
                  <a:srgbClr val="FFFFFF"/>
                </a:solidFill>
                <a:latin typeface="Calibri"/>
              </a:rPr>
              <a:t>!</a:t>
            </a:r>
          </a:p>
        </p:txBody>
      </p:sp>
      <p:sp>
        <p:nvSpPr>
          <p:cNvPr id="13" name="TextBox 12"/>
          <p:cNvSpPr txBox="1"/>
          <p:nvPr/>
        </p:nvSpPr>
        <p:spPr>
          <a:xfrm>
            <a:off x="1691640" y="1143000"/>
            <a:ext cx="10012680" cy="2372188"/>
          </a:xfrm>
          <a:prstGeom prst="rect">
            <a:avLst/>
          </a:prstGeom>
          <a:noFill/>
        </p:spPr>
        <p:txBody>
          <a:bodyPr wrap="square" lIns="45720">
            <a:spAutoFit/>
          </a:bodyPr>
          <a:lstStyle/>
          <a:p>
            <a:pPr algn="l">
              <a:lnSpc>
                <a:spcPct val="125000"/>
              </a:lnSpc>
            </a:pPr>
            <a:r>
              <a:rPr sz="2000" b="1" dirty="0">
                <a:solidFill>
                  <a:srgbClr val="374151"/>
                </a:solidFill>
                <a:latin typeface="Calibri"/>
              </a:rPr>
              <a:t>For decades, civil registry work in </a:t>
            </a:r>
            <a:r>
              <a:rPr sz="2000" b="1" dirty="0" err="1">
                <a:solidFill>
                  <a:srgbClr val="374151"/>
                </a:solidFill>
                <a:latin typeface="Calibri"/>
              </a:rPr>
              <a:t>Baggao</a:t>
            </a:r>
            <a:r>
              <a:rPr sz="2000" b="1" dirty="0">
                <a:solidFill>
                  <a:srgbClr val="374151"/>
                </a:solidFill>
                <a:latin typeface="Calibri"/>
              </a:rPr>
              <a:t> has depended almost entirely on paper logbooks, loose certificates, and steel filing cabinets. This traditional approach exposes irreplaceable documents to physical deterioration and catastrophic loss, slows down every citizen request, makes duplicate registrations almost impossible to detect, and leaves the office without any reliable trail of who edited what — let alone the ability to produce timely management information.</a:t>
            </a:r>
          </a:p>
        </p:txBody>
      </p:sp>
      <p:sp>
        <p:nvSpPr>
          <p:cNvPr id="14" name="TextBox 13"/>
          <p:cNvSpPr txBox="1"/>
          <p:nvPr/>
        </p:nvSpPr>
        <p:spPr>
          <a:xfrm>
            <a:off x="1676400" y="3515188"/>
            <a:ext cx="10012680" cy="1735411"/>
          </a:xfrm>
          <a:prstGeom prst="rect">
            <a:avLst/>
          </a:prstGeom>
          <a:noFill/>
        </p:spPr>
        <p:txBody>
          <a:bodyPr wrap="square" lIns="45720">
            <a:spAutoFit/>
          </a:bodyPr>
          <a:lstStyle/>
          <a:p>
            <a:pPr algn="l">
              <a:lnSpc>
                <a:spcPct val="120000"/>
              </a:lnSpc>
              <a:spcAft>
                <a:spcPts val="500"/>
              </a:spcAft>
            </a:pPr>
            <a:r>
              <a:rPr sz="2000" b="1" dirty="0">
                <a:solidFill>
                  <a:srgbClr val="F59E0B"/>
                </a:solidFill>
                <a:latin typeface="Calibri"/>
              </a:rPr>
              <a:t>▸  </a:t>
            </a:r>
            <a:r>
              <a:rPr sz="2000" b="0" dirty="0">
                <a:solidFill>
                  <a:srgbClr val="1F2937"/>
                </a:solidFill>
                <a:latin typeface="Calibri"/>
              </a:rPr>
              <a:t>Paper records are vulnerable to </a:t>
            </a:r>
            <a:r>
              <a:rPr sz="2000" b="1" dirty="0">
                <a:solidFill>
                  <a:srgbClr val="1F2937"/>
                </a:solidFill>
                <a:latin typeface="Calibri"/>
              </a:rPr>
              <a:t>fire, flooding, pest damage, fading, and misfiling.</a:t>
            </a:r>
          </a:p>
          <a:p>
            <a:pPr algn="l">
              <a:lnSpc>
                <a:spcPct val="120000"/>
              </a:lnSpc>
              <a:spcAft>
                <a:spcPts val="500"/>
              </a:spcAft>
            </a:pPr>
            <a:r>
              <a:rPr sz="2000" b="1" dirty="0">
                <a:solidFill>
                  <a:srgbClr val="F59E0B"/>
                </a:solidFill>
                <a:latin typeface="Calibri"/>
              </a:rPr>
              <a:t>▸  </a:t>
            </a:r>
            <a:r>
              <a:rPr sz="2000" b="0" dirty="0">
                <a:solidFill>
                  <a:srgbClr val="1F2937"/>
                </a:solidFill>
                <a:latin typeface="Calibri"/>
              </a:rPr>
              <a:t>Manual retrieval of a single certificate can take hours.</a:t>
            </a:r>
          </a:p>
          <a:p>
            <a:pPr algn="l">
              <a:lnSpc>
                <a:spcPct val="120000"/>
              </a:lnSpc>
              <a:spcAft>
                <a:spcPts val="500"/>
              </a:spcAft>
            </a:pPr>
            <a:r>
              <a:rPr sz="2000" b="1" dirty="0">
                <a:solidFill>
                  <a:srgbClr val="F59E0B"/>
                </a:solidFill>
                <a:latin typeface="Calibri"/>
              </a:rPr>
              <a:t>▸  </a:t>
            </a:r>
            <a:r>
              <a:rPr sz="2000" b="0" dirty="0">
                <a:solidFill>
                  <a:srgbClr val="1F2937"/>
                </a:solidFill>
                <a:latin typeface="Calibri"/>
              </a:rPr>
              <a:t>Duplicates and clerical errors are difficult to detect once filed.</a:t>
            </a:r>
          </a:p>
          <a:p>
            <a:pPr algn="l">
              <a:lnSpc>
                <a:spcPct val="120000"/>
              </a:lnSpc>
              <a:spcAft>
                <a:spcPts val="500"/>
              </a:spcAft>
            </a:pPr>
            <a:r>
              <a:rPr sz="2000" b="1" dirty="0">
                <a:solidFill>
                  <a:srgbClr val="F59E0B"/>
                </a:solidFill>
                <a:latin typeface="Calibri"/>
              </a:rPr>
              <a:t>▸  </a:t>
            </a:r>
            <a:r>
              <a:rPr sz="2000" b="0" dirty="0">
                <a:solidFill>
                  <a:srgbClr val="1F2937"/>
                </a:solidFill>
                <a:latin typeface="Calibri"/>
              </a:rPr>
              <a:t>Accountability is limited — paper offers </a:t>
            </a:r>
            <a:r>
              <a:rPr sz="2000" b="1" dirty="0">
                <a:solidFill>
                  <a:srgbClr val="1F2937"/>
                </a:solidFill>
                <a:latin typeface="Calibri"/>
              </a:rPr>
              <a:t>no audit trail.</a:t>
            </a:r>
          </a:p>
        </p:txBody>
      </p:sp>
      <p:sp>
        <p:nvSpPr>
          <p:cNvPr id="15" name="Rounded Rectangle 14"/>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dirty="0">
                <a:solidFill>
                  <a:srgbClr val="7C2D12"/>
                </a:solidFill>
                <a:latin typeface="Calibri"/>
              </a:rPr>
              <a:t>In plain terms:   </a:t>
            </a:r>
            <a:r>
              <a:rPr b="1" dirty="0">
                <a:solidFill>
                  <a:srgbClr val="1F2937"/>
                </a:solidFill>
                <a:latin typeface="Calibri"/>
              </a:rPr>
              <a:t>The current process is fragile, slow, and offers no way to prove who changed what.</a:t>
            </a:r>
          </a:p>
        </p:txBody>
      </p:sp>
      <p:sp>
        <p:nvSpPr>
          <p:cNvPr id="16" name="Rectangle 15"/>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19" name="TextBox 18"/>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3  /  22</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RATIONALE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Why iScan-CRDMS Was Built</a:t>
            </a: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7512" y="1371600"/>
            <a:ext cx="585216" cy="585216"/>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13816" y="1517904"/>
            <a:ext cx="292608" cy="292608"/>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96112" y="1600200"/>
            <a:ext cx="128016" cy="128016"/>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1143000"/>
            <a:ext cx="10012680" cy="2372188"/>
          </a:xfrm>
          <a:prstGeom prst="rect">
            <a:avLst/>
          </a:prstGeom>
          <a:noFill/>
        </p:spPr>
        <p:txBody>
          <a:bodyPr wrap="square" lIns="45720">
            <a:spAutoFit/>
          </a:bodyPr>
          <a:lstStyle/>
          <a:p>
            <a:pPr algn="l">
              <a:lnSpc>
                <a:spcPct val="125000"/>
              </a:lnSpc>
            </a:pPr>
            <a:r>
              <a:rPr sz="2000" b="1" dirty="0">
                <a:solidFill>
                  <a:srgbClr val="374151"/>
                </a:solidFill>
                <a:latin typeface="Calibri"/>
              </a:rPr>
              <a:t>Civil registry data is the foundation of every citizen's legal identity — it determines citizenship, inheritance, marital status, parental authority, and access to government services. The platform was conceived to protect these records with the same seriousness a bank protects money, while remaining fully under the LGU's own control. It is designed to bring instant retrieval, modern security, and disaster-resilient storage into the registrar's office without ever surrendering data to an external commercial cloud.</a:t>
            </a:r>
          </a:p>
        </p:txBody>
      </p:sp>
      <p:sp>
        <p:nvSpPr>
          <p:cNvPr id="16" name="TextBox 15"/>
          <p:cNvSpPr txBox="1"/>
          <p:nvPr/>
        </p:nvSpPr>
        <p:spPr>
          <a:xfrm>
            <a:off x="1691640" y="3561588"/>
            <a:ext cx="10012680" cy="1590307"/>
          </a:xfrm>
          <a:prstGeom prst="rect">
            <a:avLst/>
          </a:prstGeom>
          <a:noFill/>
        </p:spPr>
        <p:txBody>
          <a:bodyPr wrap="square" lIns="45720">
            <a:spAutoFit/>
          </a:bodyPr>
          <a:lstStyle/>
          <a:p>
            <a:pPr algn="l">
              <a:lnSpc>
                <a:spcPct val="120000"/>
              </a:lnSpc>
              <a:spcAft>
                <a:spcPts val="500"/>
              </a:spcAft>
            </a:pPr>
            <a:r>
              <a:rPr b="1" dirty="0">
                <a:solidFill>
                  <a:srgbClr val="F59E0B"/>
                </a:solidFill>
                <a:latin typeface="Calibri"/>
              </a:rPr>
              <a:t>▸  </a:t>
            </a:r>
            <a:r>
              <a:rPr b="0" dirty="0">
                <a:solidFill>
                  <a:srgbClr val="1F2937"/>
                </a:solidFill>
                <a:latin typeface="Calibri"/>
              </a:rPr>
              <a:t>Protect the records that define </a:t>
            </a:r>
            <a:r>
              <a:rPr b="1" dirty="0">
                <a:solidFill>
                  <a:srgbClr val="1F2937"/>
                </a:solidFill>
                <a:latin typeface="Calibri"/>
              </a:rPr>
              <a:t>citizenship, inheritance, and legal identity.</a:t>
            </a:r>
          </a:p>
          <a:p>
            <a:pPr algn="l">
              <a:lnSpc>
                <a:spcPct val="120000"/>
              </a:lnSpc>
              <a:spcAft>
                <a:spcPts val="500"/>
              </a:spcAft>
            </a:pPr>
            <a:r>
              <a:rPr b="1" dirty="0">
                <a:solidFill>
                  <a:srgbClr val="F59E0B"/>
                </a:solidFill>
                <a:latin typeface="Calibri"/>
              </a:rPr>
              <a:t>▸  </a:t>
            </a:r>
            <a:r>
              <a:rPr b="0" dirty="0">
                <a:solidFill>
                  <a:srgbClr val="1F2937"/>
                </a:solidFill>
                <a:latin typeface="Calibri"/>
              </a:rPr>
              <a:t>Deliver </a:t>
            </a:r>
            <a:r>
              <a:rPr b="1" dirty="0">
                <a:solidFill>
                  <a:srgbClr val="1F2937"/>
                </a:solidFill>
                <a:latin typeface="Calibri"/>
              </a:rPr>
              <a:t>instant retrieval, modern audit visibility, and disaster resilience.</a:t>
            </a:r>
          </a:p>
          <a:p>
            <a:pPr algn="l">
              <a:lnSpc>
                <a:spcPct val="120000"/>
              </a:lnSpc>
              <a:spcAft>
                <a:spcPts val="500"/>
              </a:spcAft>
            </a:pPr>
            <a:r>
              <a:rPr b="1" dirty="0">
                <a:solidFill>
                  <a:srgbClr val="F59E0B"/>
                </a:solidFill>
                <a:latin typeface="Calibri"/>
              </a:rPr>
              <a:t>▸  </a:t>
            </a:r>
            <a:r>
              <a:rPr b="0" dirty="0">
                <a:solidFill>
                  <a:srgbClr val="1F2937"/>
                </a:solidFill>
                <a:latin typeface="Calibri"/>
              </a:rPr>
              <a:t>Preserve full </a:t>
            </a:r>
            <a:r>
              <a:rPr b="1" dirty="0">
                <a:solidFill>
                  <a:srgbClr val="1F2937"/>
                </a:solidFill>
                <a:latin typeface="Calibri"/>
              </a:rPr>
              <a:t>data sovereignty</a:t>
            </a:r>
            <a:r>
              <a:rPr b="0" dirty="0">
                <a:solidFill>
                  <a:srgbClr val="1F2937"/>
                </a:solidFill>
                <a:latin typeface="Calibri"/>
              </a:rPr>
              <a:t> — records remain on LGU hardware.</a:t>
            </a:r>
          </a:p>
          <a:p>
            <a:pPr algn="l">
              <a:lnSpc>
                <a:spcPct val="120000"/>
              </a:lnSpc>
              <a:spcAft>
                <a:spcPts val="500"/>
              </a:spcAft>
            </a:pPr>
            <a:r>
              <a:rPr b="1" dirty="0">
                <a:solidFill>
                  <a:srgbClr val="F59E0B"/>
                </a:solidFill>
                <a:latin typeface="Calibri"/>
              </a:rPr>
              <a:t>▸  </a:t>
            </a:r>
            <a:r>
              <a:rPr b="0" dirty="0">
                <a:solidFill>
                  <a:srgbClr val="1F2937"/>
                </a:solidFill>
                <a:latin typeface="Calibri"/>
              </a:rPr>
              <a:t>Uphold the registrar's responsibility to the residents of </a:t>
            </a:r>
            <a:r>
              <a:rPr b="0" dirty="0" err="1">
                <a:solidFill>
                  <a:srgbClr val="1F2937"/>
                </a:solidFill>
                <a:latin typeface="Calibri"/>
              </a:rPr>
              <a:t>Baggao</a:t>
            </a:r>
            <a:r>
              <a:rPr b="0" dirty="0">
                <a:solidFill>
                  <a:srgbClr val="1F2937"/>
                </a:solidFill>
                <a:latin typeface="Calibri"/>
              </a:rPr>
              <a:t>.</a:t>
            </a:r>
          </a:p>
        </p:txBody>
      </p:sp>
      <p:sp>
        <p:nvSpPr>
          <p:cNvPr id="17" name="Rounded Rectangle 16"/>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dirty="0">
                <a:solidFill>
                  <a:srgbClr val="7C2D12"/>
                </a:solidFill>
                <a:latin typeface="Calibri"/>
              </a:rPr>
              <a:t>In plain terms:   </a:t>
            </a:r>
            <a:r>
              <a:rPr sz="2000" b="1" dirty="0">
                <a:solidFill>
                  <a:srgbClr val="1F2937"/>
                </a:solidFill>
                <a:latin typeface="Calibri"/>
              </a:rPr>
              <a:t>The same records, in safer hands, with better tools</a:t>
            </a:r>
            <a:r>
              <a:rPr sz="1300" dirty="0">
                <a:solidFill>
                  <a:srgbClr val="1F2937"/>
                </a:solidFill>
                <a:latin typeface="Calibri"/>
              </a:rPr>
              <a:t>.</a:t>
            </a:r>
          </a:p>
        </p:txBody>
      </p:sp>
      <p:sp>
        <p:nvSpPr>
          <p:cNvPr id="18" name="Rectangle 17"/>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1" name="TextBox 20"/>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4  /  22</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AT A GLANCE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System Overview</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04088" y="1408176"/>
            <a:ext cx="219456"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69264" y="1408176"/>
            <a:ext cx="219456"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04088" y="1673352"/>
            <a:ext cx="219456"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969264" y="1673352"/>
            <a:ext cx="219456" cy="21945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91640" y="1143000"/>
            <a:ext cx="10012680" cy="1602746"/>
          </a:xfrm>
          <a:prstGeom prst="rect">
            <a:avLst/>
          </a:prstGeom>
          <a:noFill/>
        </p:spPr>
        <p:txBody>
          <a:bodyPr wrap="square" lIns="45720">
            <a:spAutoFit/>
          </a:bodyPr>
          <a:lstStyle/>
          <a:p>
            <a:pPr algn="l">
              <a:lnSpc>
                <a:spcPct val="125000"/>
              </a:lnSpc>
            </a:pPr>
            <a:r>
              <a:rPr sz="2000" b="1" i="1" dirty="0" err="1">
                <a:solidFill>
                  <a:srgbClr val="374151"/>
                </a:solidFill>
                <a:latin typeface="Calibri"/>
              </a:rPr>
              <a:t>iScan</a:t>
            </a:r>
            <a:r>
              <a:rPr sz="2000" b="1" i="1" dirty="0">
                <a:solidFill>
                  <a:srgbClr val="374151"/>
                </a:solidFill>
                <a:latin typeface="Calibri"/>
              </a:rPr>
              <a:t>-CRDMS is a single, unified web application that consolidates every civil registry activity into one platform. It pairs purpose-built data entry forms with server-side OCR, integrated scanner hardware, a structured approval workflow, and a full audit trail — all engineered to fit the day-to-day reality of LGU's civil registry office</a:t>
            </a:r>
            <a:r>
              <a:rPr sz="1300" i="1" dirty="0">
                <a:solidFill>
                  <a:srgbClr val="374151"/>
                </a:solidFill>
                <a:latin typeface="Calibri"/>
              </a:rPr>
              <a:t>.</a:t>
            </a:r>
          </a:p>
        </p:txBody>
      </p:sp>
      <p:sp>
        <p:nvSpPr>
          <p:cNvPr id="17" name="TextBox 16"/>
          <p:cNvSpPr txBox="1"/>
          <p:nvPr/>
        </p:nvSpPr>
        <p:spPr>
          <a:xfrm>
            <a:off x="1676400" y="3351276"/>
            <a:ext cx="10012680" cy="1590307"/>
          </a:xfrm>
          <a:prstGeom prst="rect">
            <a:avLst/>
          </a:prstGeom>
          <a:noFill/>
        </p:spPr>
        <p:txBody>
          <a:bodyPr wrap="square" lIns="45720">
            <a:spAutoFit/>
          </a:bodyPr>
          <a:lstStyle/>
          <a:p>
            <a:pPr algn="l">
              <a:lnSpc>
                <a:spcPct val="120000"/>
              </a:lnSpc>
              <a:spcAft>
                <a:spcPts val="500"/>
              </a:spcAft>
            </a:pPr>
            <a:r>
              <a:rPr b="1" dirty="0">
                <a:solidFill>
                  <a:srgbClr val="F59E0B"/>
                </a:solidFill>
                <a:latin typeface="Calibri"/>
              </a:rPr>
              <a:t>▸  </a:t>
            </a:r>
            <a:r>
              <a:rPr b="0" dirty="0">
                <a:solidFill>
                  <a:srgbClr val="1F2937"/>
                </a:solidFill>
                <a:latin typeface="Calibri"/>
              </a:rPr>
              <a:t>Four certificate modules: </a:t>
            </a:r>
            <a:r>
              <a:rPr b="1" dirty="0">
                <a:solidFill>
                  <a:srgbClr val="1F2937"/>
                </a:solidFill>
                <a:latin typeface="Calibri"/>
              </a:rPr>
              <a:t>Live Birth, Marriage, Death, Marriage License.</a:t>
            </a:r>
          </a:p>
          <a:p>
            <a:pPr algn="l">
              <a:lnSpc>
                <a:spcPct val="120000"/>
              </a:lnSpc>
              <a:spcAft>
                <a:spcPts val="500"/>
              </a:spcAft>
            </a:pPr>
            <a:r>
              <a:rPr b="1" dirty="0">
                <a:solidFill>
                  <a:srgbClr val="F59E0B"/>
                </a:solidFill>
                <a:latin typeface="Calibri"/>
              </a:rPr>
              <a:t>▸  </a:t>
            </a:r>
            <a:r>
              <a:rPr b="0" dirty="0">
                <a:solidFill>
                  <a:srgbClr val="1F2937"/>
                </a:solidFill>
                <a:latin typeface="Calibri"/>
              </a:rPr>
              <a:t>Dedicated </a:t>
            </a:r>
            <a:r>
              <a:rPr b="1" dirty="0">
                <a:solidFill>
                  <a:srgbClr val="1F2937"/>
                </a:solidFill>
                <a:latin typeface="Calibri"/>
              </a:rPr>
              <a:t>RA 9048 petition module</a:t>
            </a:r>
            <a:r>
              <a:rPr b="0" dirty="0">
                <a:solidFill>
                  <a:srgbClr val="1F2937"/>
                </a:solidFill>
                <a:latin typeface="Calibri"/>
              </a:rPr>
              <a:t> (CCE and CFN workflows).</a:t>
            </a:r>
          </a:p>
          <a:p>
            <a:pPr algn="l">
              <a:lnSpc>
                <a:spcPct val="120000"/>
              </a:lnSpc>
              <a:spcAft>
                <a:spcPts val="500"/>
              </a:spcAft>
            </a:pPr>
            <a:r>
              <a:rPr b="1" dirty="0">
                <a:solidFill>
                  <a:srgbClr val="F59E0B"/>
                </a:solidFill>
                <a:latin typeface="Calibri"/>
              </a:rPr>
              <a:t>▸  </a:t>
            </a:r>
            <a:r>
              <a:rPr b="1" dirty="0">
                <a:solidFill>
                  <a:srgbClr val="1F2937"/>
                </a:solidFill>
                <a:latin typeface="Calibri"/>
              </a:rPr>
              <a:t>19 user-facing pages • 9 admin pages • 35+ secured APIs.</a:t>
            </a:r>
          </a:p>
          <a:p>
            <a:pPr algn="l">
              <a:lnSpc>
                <a:spcPct val="120000"/>
              </a:lnSpc>
              <a:spcAft>
                <a:spcPts val="500"/>
              </a:spcAft>
            </a:pPr>
            <a:r>
              <a:rPr b="1" dirty="0">
                <a:solidFill>
                  <a:srgbClr val="F59E0B"/>
                </a:solidFill>
                <a:latin typeface="Calibri"/>
              </a:rPr>
              <a:t>▸  </a:t>
            </a:r>
            <a:r>
              <a:rPr b="0" dirty="0">
                <a:solidFill>
                  <a:srgbClr val="1F2937"/>
                </a:solidFill>
                <a:latin typeface="Calibri"/>
              </a:rPr>
              <a:t>Server-side OCR, scanner integration, workflow engine, complete audit trail.</a:t>
            </a:r>
          </a:p>
        </p:txBody>
      </p:sp>
      <p:sp>
        <p:nvSpPr>
          <p:cNvPr id="18" name="Rounded Rectangle 17"/>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dirty="0">
                <a:solidFill>
                  <a:srgbClr val="7C2D12"/>
                </a:solidFill>
                <a:latin typeface="Calibri"/>
              </a:rPr>
              <a:t>In plain terms:   </a:t>
            </a:r>
            <a:r>
              <a:rPr sz="2000" dirty="0">
                <a:solidFill>
                  <a:srgbClr val="1F2937"/>
                </a:solidFill>
                <a:latin typeface="Calibri"/>
              </a:rPr>
              <a:t>One complete platform for everything the Civil Registrar's Office does</a:t>
            </a:r>
            <a:r>
              <a:rPr sz="1300" dirty="0">
                <a:solidFill>
                  <a:srgbClr val="1F2937"/>
                </a:solidFill>
                <a:latin typeface="Calibri"/>
              </a:rPr>
              <a:t>.</a:t>
            </a:r>
          </a:p>
        </p:txBody>
      </p:sp>
      <p:sp>
        <p:nvSpPr>
          <p:cNvPr id="19" name="Rectangle 18"/>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2" name="TextBox 21"/>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5  /  22</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FEATURE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Integrated Document Scanning</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30936" y="1709928"/>
            <a:ext cx="658368"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58952" y="1371600"/>
            <a:ext cx="402336" cy="3657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822960" y="1453896"/>
            <a:ext cx="274320" cy="274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22960" y="1536192"/>
            <a:ext cx="274320" cy="274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22960" y="1627632"/>
            <a:ext cx="274320" cy="27432"/>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91640" y="1143000"/>
            <a:ext cx="6263640" cy="1188720"/>
          </a:xfrm>
          <a:prstGeom prst="rect">
            <a:avLst/>
          </a:prstGeom>
          <a:noFill/>
        </p:spPr>
        <p:txBody>
          <a:bodyPr wrap="square" lIns="45720">
            <a:spAutoFit/>
          </a:bodyPr>
          <a:lstStyle/>
          <a:p>
            <a:pPr algn="l">
              <a:lnSpc>
                <a:spcPct val="125000"/>
              </a:lnSpc>
            </a:pPr>
            <a:r>
              <a:rPr sz="1300" i="1">
                <a:solidFill>
                  <a:srgbClr val="374151"/>
                </a:solidFill>
                <a:latin typeface="Calibri"/>
              </a:rPr>
              <a:t>iScan-CRDMS speaks directly to the office's existing Epson DS-530 II flatbed scanner through a dedicated Python-Flask microservice. Staff place a certificate on the scanner and click a single button inside the data entry form — the resulting multi-page PDF is produced, uploaded, and attached to the record without ever leaving the browser. There is no separate scanning application to launch, no temporary files to manage, and no opportunity for a scan to be lost between systems.</a:t>
            </a:r>
          </a:p>
        </p:txBody>
      </p:sp>
      <p:sp>
        <p:nvSpPr>
          <p:cNvPr id="18" name="TextBox 17"/>
          <p:cNvSpPr txBox="1"/>
          <p:nvPr/>
        </p:nvSpPr>
        <p:spPr>
          <a:xfrm>
            <a:off x="1691640" y="2729484"/>
            <a:ext cx="6263640" cy="2788920"/>
          </a:xfrm>
          <a:prstGeom prst="rect">
            <a:avLst/>
          </a:prstGeom>
          <a:noFill/>
        </p:spPr>
        <p:txBody>
          <a:bodyPr wrap="square" lIns="45720">
            <a:spAutoFit/>
          </a:bodyPr>
          <a:lstStyle/>
          <a:p>
            <a:pPr algn="l">
              <a:lnSpc>
                <a:spcPct val="120000"/>
              </a:lnSpc>
              <a:spcAft>
                <a:spcPts val="500"/>
              </a:spcAft>
            </a:pPr>
            <a:r>
              <a:rPr sz="1400" b="1" dirty="0">
                <a:solidFill>
                  <a:srgbClr val="F59E0B"/>
                </a:solidFill>
                <a:latin typeface="Calibri"/>
              </a:rPr>
              <a:t>▸  </a:t>
            </a:r>
            <a:r>
              <a:rPr sz="1400" b="0" dirty="0">
                <a:solidFill>
                  <a:srgbClr val="1F2937"/>
                </a:solidFill>
                <a:latin typeface="Calibri"/>
              </a:rPr>
              <a:t>Direct browser-to-scanner integration with the </a:t>
            </a:r>
            <a:r>
              <a:rPr sz="1400" b="1" dirty="0">
                <a:solidFill>
                  <a:srgbClr val="1F2937"/>
                </a:solidFill>
                <a:latin typeface="Calibri"/>
              </a:rPr>
              <a:t>Epson DS-530 II.</a:t>
            </a:r>
          </a:p>
          <a:p>
            <a:pPr algn="l">
              <a:lnSpc>
                <a:spcPct val="120000"/>
              </a:lnSpc>
              <a:spcAft>
                <a:spcPts val="500"/>
              </a:spcAft>
            </a:pPr>
            <a:r>
              <a:rPr sz="1400" b="1" dirty="0">
                <a:solidFill>
                  <a:srgbClr val="F59E0B"/>
                </a:solidFill>
                <a:latin typeface="Calibri"/>
              </a:rPr>
              <a:t>▸  </a:t>
            </a:r>
            <a:r>
              <a:rPr sz="1400" b="0" dirty="0">
                <a:solidFill>
                  <a:srgbClr val="1F2937"/>
                </a:solidFill>
                <a:latin typeface="Calibri"/>
              </a:rPr>
              <a:t>Dedicated Python-Flask scanner microservice on port 18622.</a:t>
            </a:r>
          </a:p>
          <a:p>
            <a:pPr algn="l">
              <a:lnSpc>
                <a:spcPct val="120000"/>
              </a:lnSpc>
              <a:spcAft>
                <a:spcPts val="500"/>
              </a:spcAft>
            </a:pPr>
            <a:r>
              <a:rPr sz="1400" b="1" dirty="0">
                <a:solidFill>
                  <a:srgbClr val="F59E0B"/>
                </a:solidFill>
                <a:latin typeface="Calibri"/>
              </a:rPr>
              <a:t>▸  </a:t>
            </a:r>
            <a:r>
              <a:rPr sz="1400" b="0" dirty="0">
                <a:solidFill>
                  <a:srgbClr val="1F2937"/>
                </a:solidFill>
                <a:latin typeface="Calibri"/>
              </a:rPr>
              <a:t>Scans saved as multi-page PDFs, attached to the record automatically.</a:t>
            </a:r>
          </a:p>
          <a:p>
            <a:pPr algn="l">
              <a:lnSpc>
                <a:spcPct val="120000"/>
              </a:lnSpc>
              <a:spcAft>
                <a:spcPts val="500"/>
              </a:spcAft>
            </a:pPr>
            <a:r>
              <a:rPr sz="1400" b="1" dirty="0">
                <a:solidFill>
                  <a:srgbClr val="F59E0B"/>
                </a:solidFill>
                <a:latin typeface="Calibri"/>
              </a:rPr>
              <a:t>▸  </a:t>
            </a:r>
            <a:r>
              <a:rPr sz="1400" b="0" dirty="0">
                <a:solidFill>
                  <a:srgbClr val="1F2937"/>
                </a:solidFill>
                <a:latin typeface="Calibri"/>
              </a:rPr>
              <a:t>Uses the office's existing hardware — no additional purchase required.</a:t>
            </a:r>
          </a:p>
        </p:txBody>
      </p:sp>
      <p:sp>
        <p:nvSpPr>
          <p:cNvPr id="19" name="Rectangle 18"/>
          <p:cNvSpPr/>
          <p:nvPr/>
        </p:nvSpPr>
        <p:spPr>
          <a:xfrm>
            <a:off x="8129015" y="1179576"/>
            <a:ext cx="3721608" cy="4087367"/>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83879" y="1234440"/>
            <a:ext cx="3611880" cy="3977639"/>
          </a:xfrm>
          <a:prstGeom prst="rect">
            <a:avLst/>
          </a:prstGeom>
          <a:solidFill>
            <a:srgbClr val="F3F4F6"/>
          </a:solidFill>
          <a:ln w="19050">
            <a:solidFill>
              <a:srgbClr val="9CA3AF"/>
            </a:solidFill>
            <a:prstDash val="dash"/>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30000"/>
              </a:lnSpc>
            </a:pPr>
            <a:r>
              <a:rPr sz="4000">
                <a:solidFill>
                  <a:srgbClr val="9CA3AF"/>
                </a:solidFill>
              </a:rPr>
              <a:t>⌗
</a:t>
            </a:r>
            <a:r>
              <a:rPr sz="1200" b="1">
                <a:solidFill>
                  <a:srgbClr val="6B7280"/>
                </a:solidFill>
                <a:latin typeface="Calibri"/>
              </a:rPr>
              <a:t>
[ Screenshot Placeholder ]
</a:t>
            </a:r>
            <a:r>
              <a:rPr sz="900" i="1">
                <a:solidFill>
                  <a:srgbClr val="6B7280"/>
                </a:solidFill>
                <a:latin typeface="Calibri"/>
              </a:rPr>
              <a:t>Right-click  →  Change Picture</a:t>
            </a:r>
          </a:p>
        </p:txBody>
      </p:sp>
      <p:sp>
        <p:nvSpPr>
          <p:cNvPr id="21" name="Rectangle 20"/>
          <p:cNvSpPr/>
          <p:nvPr/>
        </p:nvSpPr>
        <p:spPr>
          <a:xfrm>
            <a:off x="8183879" y="4709159"/>
            <a:ext cx="3611880" cy="5029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1">
                <a:solidFill>
                  <a:srgbClr val="FFFFFF"/>
                </a:solidFill>
                <a:latin typeface="Calibri"/>
              </a:rPr>
              <a:t>Scanner panel inside the certificate form</a:t>
            </a:r>
          </a:p>
        </p:txBody>
      </p:sp>
      <p:sp>
        <p:nvSpPr>
          <p:cNvPr id="22" name="Rounded Rectangle 21"/>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Scan and attach in one step — without leaving the iScan screen.</a:t>
            </a:r>
          </a:p>
        </p:txBody>
      </p:sp>
      <p:sp>
        <p:nvSpPr>
          <p:cNvPr id="23" name="Rectangle 22"/>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6" name="TextBox 25"/>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6  /  22</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FEATURE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Advanced Search &amp; Retrieval</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7512" y="1371600"/>
            <a:ext cx="457200" cy="4572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740664" y="1444752"/>
            <a:ext cx="310896" cy="310896"/>
          </a:xfrm>
          <a:prstGeom prst="ellipse">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rot="2700000">
            <a:off x="1051560" y="1755648"/>
            <a:ext cx="237744" cy="7315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1143000"/>
            <a:ext cx="9997440" cy="2372188"/>
          </a:xfrm>
          <a:prstGeom prst="rect">
            <a:avLst/>
          </a:prstGeom>
          <a:noFill/>
        </p:spPr>
        <p:txBody>
          <a:bodyPr wrap="square" lIns="45720">
            <a:spAutoFit/>
          </a:bodyPr>
          <a:lstStyle/>
          <a:p>
            <a:pPr algn="l">
              <a:lnSpc>
                <a:spcPct val="125000"/>
              </a:lnSpc>
            </a:pPr>
            <a:r>
              <a:rPr sz="2000" dirty="0">
                <a:solidFill>
                  <a:srgbClr val="374151"/>
                </a:solidFill>
                <a:latin typeface="Calibri"/>
              </a:rPr>
              <a:t>Where the manual logbook required linear scanning of entire volumes, </a:t>
            </a:r>
            <a:r>
              <a:rPr sz="2000" dirty="0" err="1">
                <a:solidFill>
                  <a:srgbClr val="374151"/>
                </a:solidFill>
                <a:latin typeface="Calibri"/>
              </a:rPr>
              <a:t>iScan</a:t>
            </a:r>
            <a:r>
              <a:rPr sz="2000" dirty="0">
                <a:solidFill>
                  <a:srgbClr val="374151"/>
                </a:solidFill>
                <a:latin typeface="Calibri"/>
              </a:rPr>
              <a:t>-CRDMS retrieves any record in seconds. A two-pass search algorithm first attempts a strict multi-token match across all indexed fields — name, registry number, date, barangay, parent — and falls back to fuzzy matching only if no exact result exists. A side-by-side PDF Comparison Viewer then lets the registrar verify the form data against the original scanned certificate without leaving the browser.</a:t>
            </a:r>
          </a:p>
        </p:txBody>
      </p:sp>
      <p:sp>
        <p:nvSpPr>
          <p:cNvPr id="16" name="TextBox 15"/>
          <p:cNvSpPr txBox="1"/>
          <p:nvPr/>
        </p:nvSpPr>
        <p:spPr>
          <a:xfrm>
            <a:off x="1370223" y="3533476"/>
            <a:ext cx="10425537" cy="1590307"/>
          </a:xfrm>
          <a:prstGeom prst="rect">
            <a:avLst/>
          </a:prstGeom>
          <a:noFill/>
        </p:spPr>
        <p:txBody>
          <a:bodyPr wrap="square" lIns="45720">
            <a:spAutoFit/>
          </a:bodyPr>
          <a:lstStyle/>
          <a:p>
            <a:pPr algn="l">
              <a:lnSpc>
                <a:spcPct val="120000"/>
              </a:lnSpc>
              <a:spcAft>
                <a:spcPts val="500"/>
              </a:spcAft>
            </a:pPr>
            <a:r>
              <a:rPr b="1" dirty="0">
                <a:solidFill>
                  <a:srgbClr val="F59E0B"/>
                </a:solidFill>
                <a:latin typeface="Calibri"/>
              </a:rPr>
              <a:t>▸  </a:t>
            </a:r>
            <a:r>
              <a:rPr b="1" dirty="0">
                <a:solidFill>
                  <a:srgbClr val="1F2937"/>
                </a:solidFill>
                <a:latin typeface="Calibri"/>
              </a:rPr>
              <a:t>Two-pass algorithm:</a:t>
            </a:r>
            <a:r>
              <a:rPr b="0" dirty="0">
                <a:solidFill>
                  <a:srgbClr val="1F2937"/>
                </a:solidFill>
                <a:latin typeface="Calibri"/>
              </a:rPr>
              <a:t> strict multi-token match, then fuzzy fallback.</a:t>
            </a:r>
          </a:p>
          <a:p>
            <a:pPr algn="l">
              <a:lnSpc>
                <a:spcPct val="120000"/>
              </a:lnSpc>
              <a:spcAft>
                <a:spcPts val="500"/>
              </a:spcAft>
            </a:pPr>
            <a:r>
              <a:rPr b="1" dirty="0">
                <a:solidFill>
                  <a:srgbClr val="F59E0B"/>
                </a:solidFill>
                <a:latin typeface="Calibri"/>
              </a:rPr>
              <a:t>▸  </a:t>
            </a:r>
            <a:r>
              <a:rPr b="0" dirty="0">
                <a:solidFill>
                  <a:srgbClr val="1F2937"/>
                </a:solidFill>
                <a:latin typeface="Calibri"/>
              </a:rPr>
              <a:t>Search by </a:t>
            </a:r>
            <a:r>
              <a:rPr b="1" dirty="0">
                <a:solidFill>
                  <a:srgbClr val="1F2937"/>
                </a:solidFill>
                <a:latin typeface="Calibri"/>
              </a:rPr>
              <a:t>name, registry number, date range, barangay, or parent name.</a:t>
            </a:r>
          </a:p>
          <a:p>
            <a:pPr algn="l">
              <a:lnSpc>
                <a:spcPct val="120000"/>
              </a:lnSpc>
              <a:spcAft>
                <a:spcPts val="500"/>
              </a:spcAft>
            </a:pPr>
            <a:r>
              <a:rPr b="1" dirty="0">
                <a:solidFill>
                  <a:srgbClr val="F59E0B"/>
                </a:solidFill>
                <a:latin typeface="Calibri"/>
              </a:rPr>
              <a:t>▸  </a:t>
            </a:r>
            <a:r>
              <a:rPr b="1" dirty="0">
                <a:solidFill>
                  <a:srgbClr val="1F2937"/>
                </a:solidFill>
                <a:latin typeface="Calibri"/>
              </a:rPr>
              <a:t>PDF Comparison Viewer</a:t>
            </a:r>
            <a:r>
              <a:rPr b="0" dirty="0">
                <a:solidFill>
                  <a:srgbClr val="1F2937"/>
                </a:solidFill>
                <a:latin typeface="Calibri"/>
              </a:rPr>
              <a:t> for side-by-side verification.</a:t>
            </a:r>
          </a:p>
          <a:p>
            <a:pPr algn="l">
              <a:lnSpc>
                <a:spcPct val="120000"/>
              </a:lnSpc>
              <a:spcAft>
                <a:spcPts val="500"/>
              </a:spcAft>
            </a:pPr>
            <a:r>
              <a:rPr b="1" dirty="0">
                <a:solidFill>
                  <a:srgbClr val="F59E0B"/>
                </a:solidFill>
                <a:latin typeface="Calibri"/>
              </a:rPr>
              <a:t>▸  </a:t>
            </a:r>
            <a:r>
              <a:rPr b="1" dirty="0">
                <a:solidFill>
                  <a:srgbClr val="1F2937"/>
                </a:solidFill>
                <a:latin typeface="Calibri"/>
              </a:rPr>
              <a:t>92% faster retrieval</a:t>
            </a:r>
            <a:r>
              <a:rPr b="0" dirty="0">
                <a:solidFill>
                  <a:srgbClr val="1F2937"/>
                </a:solidFill>
                <a:latin typeface="Calibri"/>
              </a:rPr>
              <a:t> than manual logbook search.</a:t>
            </a:r>
          </a:p>
        </p:txBody>
      </p:sp>
      <p:sp>
        <p:nvSpPr>
          <p:cNvPr id="20" name="Rounded Rectangle 19"/>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dirty="0">
                <a:solidFill>
                  <a:srgbClr val="7C2D12"/>
                </a:solidFill>
                <a:latin typeface="Calibri"/>
              </a:rPr>
              <a:t>In plain terms:   </a:t>
            </a:r>
            <a:r>
              <a:rPr sz="2000" dirty="0">
                <a:solidFill>
                  <a:srgbClr val="1F2937"/>
                </a:solidFill>
                <a:latin typeface="Calibri"/>
              </a:rPr>
              <a:t>Any record, found in seconds</a:t>
            </a:r>
            <a:r>
              <a:rPr sz="1300" dirty="0">
                <a:solidFill>
                  <a:srgbClr val="1F2937"/>
                </a:solidFill>
                <a:latin typeface="Calibri"/>
              </a:rPr>
              <a:t>.</a:t>
            </a:r>
          </a:p>
        </p:txBody>
      </p:sp>
      <p:sp>
        <p:nvSpPr>
          <p:cNvPr id="21" name="Rectangle 20"/>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4" name="TextBox 23"/>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8  /  22</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FEATURE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Double-Registration Detection</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67512" y="1371600"/>
            <a:ext cx="411480" cy="5029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13816" y="1499616"/>
            <a:ext cx="411480" cy="502920"/>
          </a:xfrm>
          <a:prstGeom prst="rect">
            <a:avLst/>
          </a:prstGeom>
          <a:solidFill>
            <a:srgbClr val="F59E0B"/>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691640" y="1143000"/>
            <a:ext cx="10185728" cy="2372188"/>
          </a:xfrm>
          <a:prstGeom prst="rect">
            <a:avLst/>
          </a:prstGeom>
          <a:noFill/>
        </p:spPr>
        <p:txBody>
          <a:bodyPr wrap="square" lIns="45720">
            <a:spAutoFit/>
          </a:bodyPr>
          <a:lstStyle/>
          <a:p>
            <a:pPr algn="l">
              <a:lnSpc>
                <a:spcPct val="125000"/>
              </a:lnSpc>
            </a:pPr>
            <a:r>
              <a:rPr sz="2000" b="1" dirty="0">
                <a:solidFill>
                  <a:srgbClr val="374151"/>
                </a:solidFill>
                <a:latin typeface="Calibri"/>
              </a:rPr>
              <a:t>The same vital event is sometimes registered more than once — through clerical error, late filing, family relocation, or a citizen re-applying without disclosing a prior registration. Such duplicates are nearly impossible to spot in a paper system, yet they create serious legal complications when discovered years later. </a:t>
            </a:r>
            <a:r>
              <a:rPr sz="2000" b="1" dirty="0" err="1">
                <a:solidFill>
                  <a:srgbClr val="374151"/>
                </a:solidFill>
                <a:latin typeface="Calibri"/>
              </a:rPr>
              <a:t>iScan</a:t>
            </a:r>
            <a:r>
              <a:rPr sz="2000" b="1" dirty="0">
                <a:solidFill>
                  <a:srgbClr val="374151"/>
                </a:solidFill>
                <a:latin typeface="Calibri"/>
              </a:rPr>
              <a:t>-CRDMS automatically flags probable duplicates, scores how closely two records match, highlights field-level discrepancies as critical or minor, and tracks the correction process from detection to resolution.</a:t>
            </a:r>
          </a:p>
        </p:txBody>
      </p:sp>
      <p:sp>
        <p:nvSpPr>
          <p:cNvPr id="15" name="TextBox 14"/>
          <p:cNvSpPr txBox="1"/>
          <p:nvPr/>
        </p:nvSpPr>
        <p:spPr>
          <a:xfrm>
            <a:off x="1517216" y="3743788"/>
            <a:ext cx="10360152" cy="1590307"/>
          </a:xfrm>
          <a:prstGeom prst="rect">
            <a:avLst/>
          </a:prstGeom>
          <a:noFill/>
        </p:spPr>
        <p:txBody>
          <a:bodyPr wrap="square" lIns="45720">
            <a:spAutoFit/>
          </a:bodyPr>
          <a:lstStyle/>
          <a:p>
            <a:pPr algn="l">
              <a:lnSpc>
                <a:spcPct val="120000"/>
              </a:lnSpc>
              <a:spcAft>
                <a:spcPts val="500"/>
              </a:spcAft>
            </a:pPr>
            <a:r>
              <a:rPr b="1" dirty="0">
                <a:solidFill>
                  <a:srgbClr val="F59E0B"/>
                </a:solidFill>
                <a:latin typeface="Calibri"/>
              </a:rPr>
              <a:t>▸  </a:t>
            </a:r>
            <a:r>
              <a:rPr b="0" dirty="0">
                <a:solidFill>
                  <a:srgbClr val="1F2937"/>
                </a:solidFill>
                <a:latin typeface="Calibri"/>
              </a:rPr>
              <a:t>Automatic detection of probable </a:t>
            </a:r>
            <a:r>
              <a:rPr b="1" dirty="0">
                <a:solidFill>
                  <a:srgbClr val="1F2937"/>
                </a:solidFill>
                <a:latin typeface="Calibri"/>
              </a:rPr>
              <a:t>duplicate registrations</a:t>
            </a:r>
            <a:r>
              <a:rPr b="0" dirty="0">
                <a:solidFill>
                  <a:srgbClr val="1F2937"/>
                </a:solidFill>
                <a:latin typeface="Calibri"/>
              </a:rPr>
              <a:t> of the same event.</a:t>
            </a:r>
          </a:p>
          <a:p>
            <a:pPr algn="l">
              <a:lnSpc>
                <a:spcPct val="120000"/>
              </a:lnSpc>
              <a:spcAft>
                <a:spcPts val="500"/>
              </a:spcAft>
            </a:pPr>
            <a:r>
              <a:rPr b="1" dirty="0">
                <a:solidFill>
                  <a:srgbClr val="F59E0B"/>
                </a:solidFill>
                <a:latin typeface="Calibri"/>
              </a:rPr>
              <a:t>▸  </a:t>
            </a:r>
            <a:r>
              <a:rPr b="1" dirty="0">
                <a:solidFill>
                  <a:srgbClr val="1F2937"/>
                </a:solidFill>
                <a:latin typeface="Calibri"/>
              </a:rPr>
              <a:t>Match scoring</a:t>
            </a:r>
            <a:r>
              <a:rPr b="0" dirty="0">
                <a:solidFill>
                  <a:srgbClr val="1F2937"/>
                </a:solidFill>
                <a:latin typeface="Calibri"/>
              </a:rPr>
              <a:t> and field-level discrepancy classification.</a:t>
            </a:r>
          </a:p>
          <a:p>
            <a:pPr algn="l">
              <a:lnSpc>
                <a:spcPct val="120000"/>
              </a:lnSpc>
              <a:spcAft>
                <a:spcPts val="500"/>
              </a:spcAft>
            </a:pPr>
            <a:r>
              <a:rPr b="1" dirty="0">
                <a:solidFill>
                  <a:srgbClr val="F59E0B"/>
                </a:solidFill>
                <a:latin typeface="Calibri"/>
              </a:rPr>
              <a:t>▸  </a:t>
            </a:r>
            <a:r>
              <a:rPr b="0" dirty="0">
                <a:solidFill>
                  <a:srgbClr val="1F2937"/>
                </a:solidFill>
                <a:latin typeface="Calibri"/>
              </a:rPr>
              <a:t>Correction status tracked from detection through resolution.</a:t>
            </a:r>
          </a:p>
          <a:p>
            <a:pPr algn="l">
              <a:lnSpc>
                <a:spcPct val="120000"/>
              </a:lnSpc>
              <a:spcAft>
                <a:spcPts val="500"/>
              </a:spcAft>
            </a:pPr>
            <a:r>
              <a:rPr b="1" dirty="0">
                <a:solidFill>
                  <a:srgbClr val="F59E0B"/>
                </a:solidFill>
                <a:latin typeface="Calibri"/>
              </a:rPr>
              <a:t>▸  </a:t>
            </a:r>
            <a:r>
              <a:rPr b="0" dirty="0">
                <a:solidFill>
                  <a:srgbClr val="1F2937"/>
                </a:solidFill>
                <a:latin typeface="Calibri"/>
              </a:rPr>
              <a:t>Backed by a dedicated `</a:t>
            </a:r>
            <a:r>
              <a:rPr b="0" dirty="0" err="1">
                <a:solidFill>
                  <a:srgbClr val="1F2937"/>
                </a:solidFill>
                <a:latin typeface="Calibri"/>
              </a:rPr>
              <a:t>record_links</a:t>
            </a:r>
            <a:r>
              <a:rPr b="0" dirty="0">
                <a:solidFill>
                  <a:srgbClr val="1F2937"/>
                </a:solidFill>
                <a:latin typeface="Calibri"/>
              </a:rPr>
              <a:t>` table for traceability.</a:t>
            </a:r>
          </a:p>
        </p:txBody>
      </p:sp>
      <p:sp>
        <p:nvSpPr>
          <p:cNvPr id="19" name="Rounded Rectangle 18"/>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dirty="0">
                <a:solidFill>
                  <a:srgbClr val="7C2D12"/>
                </a:solidFill>
                <a:latin typeface="Calibri"/>
              </a:rPr>
              <a:t>In plain terms:   </a:t>
            </a:r>
            <a:r>
              <a:rPr sz="2000" dirty="0">
                <a:solidFill>
                  <a:srgbClr val="1F2937"/>
                </a:solidFill>
                <a:latin typeface="Calibri"/>
              </a:rPr>
              <a:t>Surfaces duplicate records that paper-based filing would hide for years.</a:t>
            </a:r>
          </a:p>
        </p:txBody>
      </p:sp>
      <p:sp>
        <p:nvSpPr>
          <p:cNvPr id="20" name="Rectangle 19"/>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3" name="TextBox 22"/>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9  /  22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FEATURE</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Analytics &amp; Reporting</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31520" y="1783080"/>
            <a:ext cx="128016"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914400" y="1655064"/>
            <a:ext cx="128016" cy="32918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097280" y="1527048"/>
            <a:ext cx="128016" cy="45720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1143000"/>
            <a:ext cx="6263640" cy="1188720"/>
          </a:xfrm>
          <a:prstGeom prst="rect">
            <a:avLst/>
          </a:prstGeom>
          <a:noFill/>
        </p:spPr>
        <p:txBody>
          <a:bodyPr wrap="square" lIns="45720">
            <a:spAutoFit/>
          </a:bodyPr>
          <a:lstStyle/>
          <a:p>
            <a:pPr algn="l">
              <a:lnSpc>
                <a:spcPct val="125000"/>
              </a:lnSpc>
            </a:pPr>
            <a:r>
              <a:rPr sz="1300" i="1">
                <a:solidFill>
                  <a:srgbClr val="374151"/>
                </a:solidFill>
                <a:latin typeface="Calibri"/>
              </a:rPr>
              <a:t>Without digital records, the registrar's office cannot easily produce trend reports, demographic summaries, or staff productivity metrics. iScan-CRDMS delivers all of these through a live dashboard built on Chart.js: monthly and year-over-year birth, marriage, and death trends; demographic breakdowns by gender, citizenship, and barangay; late-registration flags; and an encoder leaderboard that ranks users by recorded CREATE actions. Filtered records can be exported to XLS or CSV with a single click.</a:t>
            </a:r>
          </a:p>
        </p:txBody>
      </p:sp>
      <p:sp>
        <p:nvSpPr>
          <p:cNvPr id="16" name="TextBox 15"/>
          <p:cNvSpPr txBox="1"/>
          <p:nvPr/>
        </p:nvSpPr>
        <p:spPr>
          <a:xfrm>
            <a:off x="1691640" y="2423160"/>
            <a:ext cx="626364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Live dashboards with </a:t>
            </a:r>
            <a:r>
              <a:rPr sz="1400" b="1">
                <a:solidFill>
                  <a:srgbClr val="1F2937"/>
                </a:solidFill>
                <a:latin typeface="Calibri"/>
              </a:rPr>
              <a:t>monthly and year-over-year trends.</a:t>
            </a:r>
          </a:p>
          <a:p>
            <a:pPr algn="l">
              <a:lnSpc>
                <a:spcPct val="120000"/>
              </a:lnSpc>
              <a:spcAft>
                <a:spcPts val="500"/>
              </a:spcAft>
            </a:pPr>
            <a:r>
              <a:rPr sz="1400" b="1">
                <a:solidFill>
                  <a:srgbClr val="F59E0B"/>
                </a:solidFill>
                <a:latin typeface="Calibri"/>
              </a:rPr>
              <a:t>▸  </a:t>
            </a:r>
            <a:r>
              <a:rPr sz="1400" b="0">
                <a:solidFill>
                  <a:srgbClr val="1F2937"/>
                </a:solidFill>
                <a:latin typeface="Calibri"/>
              </a:rPr>
              <a:t>Demographics, gender distribution, citizenship, and late-registration flags.</a:t>
            </a:r>
          </a:p>
          <a:p>
            <a:pPr algn="l">
              <a:lnSpc>
                <a:spcPct val="120000"/>
              </a:lnSpc>
              <a:spcAft>
                <a:spcPts val="500"/>
              </a:spcAft>
            </a:pPr>
            <a:r>
              <a:rPr sz="1400" b="1">
                <a:solidFill>
                  <a:srgbClr val="F59E0B"/>
                </a:solidFill>
                <a:latin typeface="Calibri"/>
              </a:rPr>
              <a:t>▸  </a:t>
            </a:r>
            <a:r>
              <a:rPr sz="1400" b="1">
                <a:solidFill>
                  <a:srgbClr val="1F2937"/>
                </a:solidFill>
                <a:latin typeface="Calibri"/>
              </a:rPr>
              <a:t>Encoder leaderboard</a:t>
            </a:r>
            <a:r>
              <a:rPr sz="1400" b="0">
                <a:solidFill>
                  <a:srgbClr val="1F2937"/>
                </a:solidFill>
                <a:latin typeface="Calibri"/>
              </a:rPr>
              <a:t> ranking staff by recorded actions.</a:t>
            </a:r>
          </a:p>
          <a:p>
            <a:pPr algn="l">
              <a:lnSpc>
                <a:spcPct val="120000"/>
              </a:lnSpc>
              <a:spcAft>
                <a:spcPts val="500"/>
              </a:spcAft>
            </a:pPr>
            <a:r>
              <a:rPr sz="1400" b="1">
                <a:solidFill>
                  <a:srgbClr val="F59E0B"/>
                </a:solidFill>
                <a:latin typeface="Calibri"/>
              </a:rPr>
              <a:t>▸  </a:t>
            </a:r>
            <a:r>
              <a:rPr sz="1400" b="0">
                <a:solidFill>
                  <a:srgbClr val="1F2937"/>
                </a:solidFill>
                <a:latin typeface="Calibri"/>
              </a:rPr>
              <a:t>One-click export of filtered records to </a:t>
            </a:r>
            <a:r>
              <a:rPr sz="1400" b="1">
                <a:solidFill>
                  <a:srgbClr val="1F2937"/>
                </a:solidFill>
                <a:latin typeface="Calibri"/>
              </a:rPr>
              <a:t>XLS or CSV.</a:t>
            </a:r>
          </a:p>
        </p:txBody>
      </p:sp>
      <p:sp>
        <p:nvSpPr>
          <p:cNvPr id="17" name="Rectangle 16"/>
          <p:cNvSpPr/>
          <p:nvPr/>
        </p:nvSpPr>
        <p:spPr>
          <a:xfrm>
            <a:off x="8129015" y="1179576"/>
            <a:ext cx="3721608" cy="4087367"/>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83879" y="1234440"/>
            <a:ext cx="3611880" cy="3977639"/>
          </a:xfrm>
          <a:prstGeom prst="rect">
            <a:avLst/>
          </a:prstGeom>
          <a:solidFill>
            <a:srgbClr val="F3F4F6"/>
          </a:solidFill>
          <a:ln w="19050">
            <a:solidFill>
              <a:srgbClr val="9CA3AF"/>
            </a:solidFill>
            <a:prstDash val="dash"/>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30000"/>
              </a:lnSpc>
            </a:pPr>
            <a:r>
              <a:rPr sz="4000">
                <a:solidFill>
                  <a:srgbClr val="9CA3AF"/>
                </a:solidFill>
              </a:rPr>
              <a:t>⌗
</a:t>
            </a:r>
            <a:r>
              <a:rPr sz="1200" b="1">
                <a:solidFill>
                  <a:srgbClr val="6B7280"/>
                </a:solidFill>
                <a:latin typeface="Calibri"/>
              </a:rPr>
              <a:t>
[ Screenshot Placeholder ]
</a:t>
            </a:r>
            <a:r>
              <a:rPr sz="900" i="1">
                <a:solidFill>
                  <a:srgbClr val="6B7280"/>
                </a:solidFill>
                <a:latin typeface="Calibri"/>
              </a:rPr>
              <a:t>Right-click  →  Change Picture</a:t>
            </a:r>
          </a:p>
        </p:txBody>
      </p:sp>
      <p:sp>
        <p:nvSpPr>
          <p:cNvPr id="19" name="Rectangle 18"/>
          <p:cNvSpPr/>
          <p:nvPr/>
        </p:nvSpPr>
        <p:spPr>
          <a:xfrm>
            <a:off x="8183879" y="4709159"/>
            <a:ext cx="3611880" cy="5029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1">
                <a:solidFill>
                  <a:srgbClr val="FFFFFF"/>
                </a:solidFill>
                <a:latin typeface="Calibri"/>
              </a:rPr>
              <a:t>Admin dashboard with monthly trend charts</a:t>
            </a:r>
          </a:p>
        </p:txBody>
      </p:sp>
      <p:sp>
        <p:nvSpPr>
          <p:cNvPr id="20" name="Rounded Rectangle 19"/>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The registrar sees performance and trends without producing a single tally sheet by hand.</a:t>
            </a:r>
          </a:p>
        </p:txBody>
      </p:sp>
      <p:sp>
        <p:nvSpPr>
          <p:cNvPr id="21" name="Rectangle 20"/>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4" name="TextBox 23"/>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12  /  22</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A Layered, Defense-in-Depth Approach</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entagon 11"/>
          <p:cNvSpPr/>
          <p:nvPr/>
        </p:nvSpPr>
        <p:spPr>
          <a:xfrm rot="5400000">
            <a:off x="722376" y="1371600"/>
            <a:ext cx="457200" cy="603504"/>
          </a:xfrm>
          <a:prstGeom prst="homePlat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02920" y="1207008"/>
            <a:ext cx="914400" cy="914400"/>
          </a:xfrm>
          <a:prstGeom prst="rect">
            <a:avLst/>
          </a:prstGeom>
          <a:noFill/>
        </p:spPr>
        <p:txBody>
          <a:bodyPr wrap="square" lIns="45720" tIns="27432" rIns="45720" bIns="27432" anchor="ctr">
            <a:spAutoFit/>
          </a:bodyPr>
          <a:lstStyle/>
          <a:p>
            <a:pPr algn="ctr"/>
            <a:r>
              <a:rPr sz="2200" b="1" i="0">
                <a:solidFill>
                  <a:srgbClr val="0B2545"/>
                </a:solidFill>
                <a:latin typeface="Calibri"/>
              </a:rPr>
              <a:t>+</a:t>
            </a:r>
          </a:p>
        </p:txBody>
      </p:sp>
      <p:sp>
        <p:nvSpPr>
          <p:cNvPr id="14" name="TextBox 13"/>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Civil registry data is among the most sensitive personal information any government office holds. iScan-CRDMS treats security as a first-class concern, not an afterthought. Twelve distinct security categories — drawn from established industry best practice — work together so that if any single layer is bypassed, the next one still holds. The result is a system where unauthorized access requires defeating multiple, independent safeguards in sequence.</a:t>
            </a:r>
          </a:p>
        </p:txBody>
      </p:sp>
      <p:sp>
        <p:nvSpPr>
          <p:cNvPr id="15" name="TextBox 14"/>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1">
                <a:solidFill>
                  <a:srgbClr val="1F2937"/>
                </a:solidFill>
                <a:latin typeface="Calibri"/>
              </a:rPr>
              <a:t>Twelve distinct security categories</a:t>
            </a:r>
            <a:r>
              <a:rPr sz="1400" b="0">
                <a:solidFill>
                  <a:srgbClr val="1F2937"/>
                </a:solidFill>
                <a:latin typeface="Calibri"/>
              </a:rPr>
              <a:t> aligned with industry best practice.</a:t>
            </a:r>
          </a:p>
          <a:p>
            <a:pPr algn="l">
              <a:lnSpc>
                <a:spcPct val="120000"/>
              </a:lnSpc>
              <a:spcAft>
                <a:spcPts val="500"/>
              </a:spcAft>
            </a:pPr>
            <a:r>
              <a:rPr sz="1400" b="1">
                <a:solidFill>
                  <a:srgbClr val="F59E0B"/>
                </a:solidFill>
                <a:latin typeface="Calibri"/>
              </a:rPr>
              <a:t>▸  </a:t>
            </a:r>
            <a:r>
              <a:rPr sz="1400" b="1">
                <a:solidFill>
                  <a:srgbClr val="1F2937"/>
                </a:solidFill>
                <a:latin typeface="Calibri"/>
              </a:rPr>
              <a:t>Defense-in-depth design</a:t>
            </a:r>
            <a:r>
              <a:rPr sz="1400" b="0">
                <a:solidFill>
                  <a:srgbClr val="1F2937"/>
                </a:solidFill>
                <a:latin typeface="Calibri"/>
              </a:rPr>
              <a:t> — every layer is independent of the next.</a:t>
            </a:r>
          </a:p>
          <a:p>
            <a:pPr algn="l">
              <a:lnSpc>
                <a:spcPct val="120000"/>
              </a:lnSpc>
              <a:spcAft>
                <a:spcPts val="500"/>
              </a:spcAft>
            </a:pPr>
            <a:r>
              <a:rPr sz="1400" b="1">
                <a:solidFill>
                  <a:srgbClr val="F59E0B"/>
                </a:solidFill>
                <a:latin typeface="Calibri"/>
              </a:rPr>
              <a:t>▸  </a:t>
            </a:r>
            <a:r>
              <a:rPr sz="1400" b="0">
                <a:solidFill>
                  <a:srgbClr val="1F2937"/>
                </a:solidFill>
                <a:latin typeface="Calibri"/>
              </a:rPr>
              <a:t>Covers authentication, authorization, transport, integrity, audit, infrastructure.</a:t>
            </a:r>
          </a:p>
          <a:p>
            <a:pPr algn="l">
              <a:lnSpc>
                <a:spcPct val="120000"/>
              </a:lnSpc>
              <a:spcAft>
                <a:spcPts val="500"/>
              </a:spcAft>
            </a:pPr>
            <a:r>
              <a:rPr sz="1400" b="1">
                <a:solidFill>
                  <a:srgbClr val="F59E0B"/>
                </a:solidFill>
                <a:latin typeface="Calibri"/>
              </a:rPr>
              <a:t>▸  </a:t>
            </a:r>
            <a:r>
              <a:rPr sz="1400" b="0">
                <a:solidFill>
                  <a:srgbClr val="1F2937"/>
                </a:solidFill>
                <a:latin typeface="Calibri"/>
              </a:rPr>
              <a:t>Configurable per environment (development vs. production) via `.env` settings.</a:t>
            </a:r>
          </a:p>
        </p:txBody>
      </p:sp>
      <p:sp>
        <p:nvSpPr>
          <p:cNvPr id="16" name="Rounded Rectangle 15"/>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12</a:t>
            </a:r>
          </a:p>
          <a:p>
            <a:pPr algn="ctr"/>
            <a:r>
              <a:rPr sz="900">
                <a:solidFill>
                  <a:srgbClr val="FFFFFF"/>
                </a:solidFill>
                <a:latin typeface="Calibri"/>
              </a:rPr>
              <a:t>SECURITY
LAYERS</a:t>
            </a:r>
          </a:p>
        </p:txBody>
      </p:sp>
      <p:sp>
        <p:nvSpPr>
          <p:cNvPr id="17" name="Rounded Rectangle 16"/>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Multiple independent locks protect the same data.</a:t>
            </a:r>
          </a:p>
        </p:txBody>
      </p:sp>
      <p:sp>
        <p:nvSpPr>
          <p:cNvPr id="18" name="Rectangle 17"/>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1" name="TextBox 20"/>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14  /  22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Login &amp; Account Protection</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Block Arc 11"/>
          <p:cNvSpPr/>
          <p:nvPr/>
        </p:nvSpPr>
        <p:spPr>
          <a:xfrm>
            <a:off x="777240" y="1371600"/>
            <a:ext cx="384048" cy="347472"/>
          </a:xfrm>
          <a:prstGeom prst="blockArc">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22376" y="1627632"/>
            <a:ext cx="493776"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932688" y="1737360"/>
            <a:ext cx="64008" cy="16459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User credentials never sit in the database in a form anyone can read. Passwords are hashed with bcrypt — a deliberately slow, computation-heavy algorithm that makes password cracking economically infeasible even if the database is somehow obtained. Repeated failed attempts are detected by IP-based rate limiting; the offender is locked out automatically. Active sessions regenerate their identifier every thirty minutes and self-terminate after an hour of inactivity.</a:t>
            </a:r>
          </a:p>
        </p:txBody>
      </p:sp>
      <p:sp>
        <p:nvSpPr>
          <p:cNvPr id="16" name="TextBox 15"/>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Passwords stored with </a:t>
            </a:r>
            <a:r>
              <a:rPr sz="1400" b="1">
                <a:solidFill>
                  <a:srgbClr val="1F2937"/>
                </a:solidFill>
                <a:latin typeface="Calibri"/>
              </a:rPr>
              <a:t>bcrypt hashing</a:t>
            </a:r>
            <a:r>
              <a:rPr sz="1400" b="0">
                <a:solidFill>
                  <a:srgbClr val="1F2937"/>
                </a:solidFill>
                <a:latin typeface="Calibri"/>
              </a:rPr>
              <a:t> — irreversible, never plain text.</a:t>
            </a:r>
          </a:p>
          <a:p>
            <a:pPr algn="l">
              <a:lnSpc>
                <a:spcPct val="120000"/>
              </a:lnSpc>
              <a:spcAft>
                <a:spcPts val="500"/>
              </a:spcAft>
            </a:pPr>
            <a:r>
              <a:rPr sz="1400" b="1">
                <a:solidFill>
                  <a:srgbClr val="F59E0B"/>
                </a:solidFill>
                <a:latin typeface="Calibri"/>
              </a:rPr>
              <a:t>▸  </a:t>
            </a:r>
            <a:r>
              <a:rPr sz="1400" b="1">
                <a:solidFill>
                  <a:srgbClr val="1F2937"/>
                </a:solidFill>
                <a:latin typeface="Calibri"/>
              </a:rPr>
              <a:t>Rate limiting:</a:t>
            </a:r>
            <a:r>
              <a:rPr sz="1400" b="0">
                <a:solidFill>
                  <a:srgbClr val="1F2937"/>
                </a:solidFill>
                <a:latin typeface="Calibri"/>
              </a:rPr>
              <a:t> five attempts per five minutes; fifteen-minute lockout.</a:t>
            </a:r>
          </a:p>
          <a:p>
            <a:pPr algn="l">
              <a:lnSpc>
                <a:spcPct val="120000"/>
              </a:lnSpc>
              <a:spcAft>
                <a:spcPts val="500"/>
              </a:spcAft>
            </a:pPr>
            <a:r>
              <a:rPr sz="1400" b="1">
                <a:solidFill>
                  <a:srgbClr val="F59E0B"/>
                </a:solidFill>
                <a:latin typeface="Calibri"/>
              </a:rPr>
              <a:t>▸  </a:t>
            </a:r>
            <a:r>
              <a:rPr sz="1400" b="0">
                <a:solidFill>
                  <a:srgbClr val="1F2937"/>
                </a:solidFill>
                <a:latin typeface="Calibri"/>
              </a:rPr>
              <a:t>Session regeneration every thirty minutes.</a:t>
            </a:r>
          </a:p>
          <a:p>
            <a:pPr algn="l">
              <a:lnSpc>
                <a:spcPct val="120000"/>
              </a:lnSpc>
              <a:spcAft>
                <a:spcPts val="500"/>
              </a:spcAft>
            </a:pPr>
            <a:r>
              <a:rPr sz="1400" b="1">
                <a:solidFill>
                  <a:srgbClr val="F59E0B"/>
                </a:solidFill>
                <a:latin typeface="Calibri"/>
              </a:rPr>
              <a:t>▸  </a:t>
            </a:r>
            <a:r>
              <a:rPr sz="1400" b="0">
                <a:solidFill>
                  <a:srgbClr val="1F2937"/>
                </a:solidFill>
                <a:latin typeface="Calibri"/>
              </a:rPr>
              <a:t>Automatic timeout after one hour of inactivity with clean termination.</a:t>
            </a:r>
          </a:p>
        </p:txBody>
      </p:sp>
      <p:sp>
        <p:nvSpPr>
          <p:cNvPr id="17" name="Rounded Rectangle 16"/>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5×</a:t>
            </a:r>
          </a:p>
          <a:p>
            <a:pPr algn="ctr"/>
            <a:r>
              <a:rPr sz="900">
                <a:solidFill>
                  <a:srgbClr val="FFFFFF"/>
                </a:solidFill>
                <a:latin typeface="Calibri"/>
              </a:rPr>
              <a:t>FAIL-SAFE
ATTEMPTS</a:t>
            </a:r>
          </a:p>
        </p:txBody>
      </p:sp>
      <p:sp>
        <p:nvSpPr>
          <p:cNvPr id="18" name="Rounded Rectangle 17"/>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Brute-force guessing is mathematically blocked; idle sessions close themselves.</a:t>
            </a:r>
          </a:p>
        </p:txBody>
      </p:sp>
      <p:sp>
        <p:nvSpPr>
          <p:cNvPr id="19" name="Rectangle 18"/>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2" name="TextBox 21"/>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15  /  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  •  DEFINING SAFEGUARD</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Device Lock — Approved Devices Only</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67512" y="1426464"/>
            <a:ext cx="585216"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21792" y="1828800"/>
            <a:ext cx="676656" cy="6400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67512" y="1426464"/>
            <a:ext cx="585216" cy="384048"/>
          </a:xfrm>
          <a:prstGeom prst="rect">
            <a:avLst/>
          </a:prstGeom>
          <a:noFill/>
        </p:spPr>
        <p:txBody>
          <a:bodyPr wrap="square" lIns="45720" tIns="27432" rIns="45720" bIns="27432" anchor="ctr">
            <a:spAutoFit/>
          </a:bodyPr>
          <a:lstStyle/>
          <a:p>
            <a:pPr algn="ctr"/>
            <a:r>
              <a:rPr sz="2200" b="1" i="0">
                <a:solidFill>
                  <a:srgbClr val="0B2545"/>
                </a:solidFill>
                <a:latin typeface="Calibri"/>
              </a:rPr>
              <a:t>✓</a:t>
            </a:r>
          </a:p>
        </p:txBody>
      </p:sp>
      <p:sp>
        <p:nvSpPr>
          <p:cNvPr id="15" name="TextBox 14"/>
          <p:cNvSpPr txBox="1"/>
          <p:nvPr/>
        </p:nvSpPr>
        <p:spPr>
          <a:xfrm>
            <a:off x="1691640" y="1143000"/>
            <a:ext cx="6263640" cy="1188720"/>
          </a:xfrm>
          <a:prstGeom prst="rect">
            <a:avLst/>
          </a:prstGeom>
          <a:noFill/>
        </p:spPr>
        <p:txBody>
          <a:bodyPr wrap="square" lIns="45720">
            <a:spAutoFit/>
          </a:bodyPr>
          <a:lstStyle/>
          <a:p>
            <a:pPr algn="l">
              <a:lnSpc>
                <a:spcPct val="125000"/>
              </a:lnSpc>
            </a:pPr>
            <a:r>
              <a:rPr sz="1300" i="1">
                <a:solidFill>
                  <a:srgbClr val="374151"/>
                </a:solidFill>
                <a:latin typeface="Calibri"/>
              </a:rPr>
              <a:t>Device Lock is the system's most distinctive safeguard. Even if an attacker somehow obtains a valid username and password, the login page itself refuses to load on any device that has not been pre-approved by an administrator. Each device is fingerprinted from eleven independent browser and hardware signals — user agent, platform, screen resolution, GPU renderer, timezone, and more — hashed together with SHA-256. The check happens before credentials are even submitted.</a:t>
            </a:r>
          </a:p>
        </p:txBody>
      </p:sp>
      <p:sp>
        <p:nvSpPr>
          <p:cNvPr id="16" name="TextBox 15"/>
          <p:cNvSpPr txBox="1"/>
          <p:nvPr/>
        </p:nvSpPr>
        <p:spPr>
          <a:xfrm>
            <a:off x="1691640" y="2423160"/>
            <a:ext cx="626364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Only </a:t>
            </a:r>
            <a:r>
              <a:rPr sz="1400" b="1">
                <a:solidFill>
                  <a:srgbClr val="1F2937"/>
                </a:solidFill>
                <a:latin typeface="Calibri"/>
              </a:rPr>
              <a:t>pre-approved devices</a:t>
            </a:r>
            <a:r>
              <a:rPr sz="1400" b="0">
                <a:solidFill>
                  <a:srgbClr val="1F2937"/>
                </a:solidFill>
                <a:latin typeface="Calibri"/>
              </a:rPr>
              <a:t> can reach the login page.</a:t>
            </a:r>
          </a:p>
          <a:p>
            <a:pPr algn="l">
              <a:lnSpc>
                <a:spcPct val="120000"/>
              </a:lnSpc>
              <a:spcAft>
                <a:spcPts val="500"/>
              </a:spcAft>
            </a:pPr>
            <a:r>
              <a:rPr sz="1400" b="1">
                <a:solidFill>
                  <a:srgbClr val="F59E0B"/>
                </a:solidFill>
                <a:latin typeface="Calibri"/>
              </a:rPr>
              <a:t>▸  </a:t>
            </a:r>
            <a:r>
              <a:rPr sz="1400" b="0">
                <a:solidFill>
                  <a:srgbClr val="1F2937"/>
                </a:solidFill>
                <a:latin typeface="Calibri"/>
              </a:rPr>
              <a:t>Fingerprint derived from </a:t>
            </a:r>
            <a:r>
              <a:rPr sz="1400" b="1">
                <a:solidFill>
                  <a:srgbClr val="1F2937"/>
                </a:solidFill>
                <a:latin typeface="Calibri"/>
              </a:rPr>
              <a:t>eleven signals</a:t>
            </a:r>
            <a:r>
              <a:rPr sz="1400" b="0">
                <a:solidFill>
                  <a:srgbClr val="1F2937"/>
                </a:solidFill>
                <a:latin typeface="Calibri"/>
              </a:rPr>
              <a:t>, hashed with SHA-256.</a:t>
            </a:r>
          </a:p>
          <a:p>
            <a:pPr algn="l">
              <a:lnSpc>
                <a:spcPct val="120000"/>
              </a:lnSpc>
              <a:spcAft>
                <a:spcPts val="500"/>
              </a:spcAft>
            </a:pPr>
            <a:r>
              <a:rPr sz="1400" b="1">
                <a:solidFill>
                  <a:srgbClr val="F59E0B"/>
                </a:solidFill>
                <a:latin typeface="Calibri"/>
              </a:rPr>
              <a:t>▸  </a:t>
            </a:r>
            <a:r>
              <a:rPr sz="1400" b="0">
                <a:solidFill>
                  <a:srgbClr val="1F2937"/>
                </a:solidFill>
                <a:latin typeface="Calibri"/>
              </a:rPr>
              <a:t>Unregistered devices are blocked </a:t>
            </a:r>
            <a:r>
              <a:rPr sz="1400" b="1">
                <a:solidFill>
                  <a:srgbClr val="1F2937"/>
                </a:solidFill>
                <a:latin typeface="Calibri"/>
              </a:rPr>
              <a:t>before credentials are checked.</a:t>
            </a:r>
          </a:p>
          <a:p>
            <a:pPr algn="l">
              <a:lnSpc>
                <a:spcPct val="120000"/>
              </a:lnSpc>
              <a:spcAft>
                <a:spcPts val="500"/>
              </a:spcAft>
            </a:pPr>
            <a:r>
              <a:rPr sz="1400" b="1">
                <a:solidFill>
                  <a:srgbClr val="F59E0B"/>
                </a:solidFill>
                <a:latin typeface="Calibri"/>
              </a:rPr>
              <a:t>▸  </a:t>
            </a:r>
            <a:r>
              <a:rPr sz="1400" b="0">
                <a:solidFill>
                  <a:srgbClr val="1F2937"/>
                </a:solidFill>
                <a:latin typeface="Calibri"/>
              </a:rPr>
              <a:t>Admin-managed enrollment, revocation, and full event audit.</a:t>
            </a:r>
          </a:p>
        </p:txBody>
      </p:sp>
      <p:sp>
        <p:nvSpPr>
          <p:cNvPr id="17" name="Rectangle 16"/>
          <p:cNvSpPr/>
          <p:nvPr/>
        </p:nvSpPr>
        <p:spPr>
          <a:xfrm>
            <a:off x="8129015" y="1179576"/>
            <a:ext cx="3721608" cy="4087367"/>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8183879" y="1234440"/>
            <a:ext cx="3611880" cy="3977639"/>
          </a:xfrm>
          <a:prstGeom prst="rect">
            <a:avLst/>
          </a:prstGeom>
          <a:solidFill>
            <a:srgbClr val="F3F4F6"/>
          </a:solidFill>
          <a:ln w="19050">
            <a:solidFill>
              <a:srgbClr val="9CA3AF"/>
            </a:solidFill>
            <a:prstDash val="dash"/>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30000"/>
              </a:lnSpc>
            </a:pPr>
            <a:r>
              <a:rPr sz="4000">
                <a:solidFill>
                  <a:srgbClr val="9CA3AF"/>
                </a:solidFill>
              </a:rPr>
              <a:t>⌗
</a:t>
            </a:r>
            <a:r>
              <a:rPr sz="1200" b="1">
                <a:solidFill>
                  <a:srgbClr val="6B7280"/>
                </a:solidFill>
                <a:latin typeface="Calibri"/>
              </a:rPr>
              <a:t>
[ Screenshot Placeholder ]
</a:t>
            </a:r>
            <a:r>
              <a:rPr sz="900" i="1">
                <a:solidFill>
                  <a:srgbClr val="6B7280"/>
                </a:solidFill>
                <a:latin typeface="Calibri"/>
              </a:rPr>
              <a:t>Right-click  →  Change Picture</a:t>
            </a:r>
          </a:p>
        </p:txBody>
      </p:sp>
      <p:sp>
        <p:nvSpPr>
          <p:cNvPr id="19" name="Rectangle 18"/>
          <p:cNvSpPr/>
          <p:nvPr/>
        </p:nvSpPr>
        <p:spPr>
          <a:xfrm>
            <a:off x="8183879" y="4709159"/>
            <a:ext cx="3611880" cy="5029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1">
                <a:solidFill>
                  <a:srgbClr val="FFFFFF"/>
                </a:solidFill>
                <a:latin typeface="Calibri"/>
              </a:rPr>
              <a:t>Admin → Devices management page</a:t>
            </a:r>
          </a:p>
        </p:txBody>
      </p:sp>
      <p:sp>
        <p:nvSpPr>
          <p:cNvPr id="20" name="Rounded Rectangle 19"/>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A stolen password is useless on an unknown laptop.</a:t>
            </a:r>
          </a:p>
        </p:txBody>
      </p:sp>
      <p:sp>
        <p:nvSpPr>
          <p:cNvPr id="21" name="Rectangle 20"/>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4" name="TextBox 23"/>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16  /  22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Role-Based Access Control</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67512" y="1463040"/>
            <a:ext cx="164592" cy="16459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30936" y="1664208"/>
            <a:ext cx="182880" cy="27432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868679" y="1426464"/>
            <a:ext cx="164592" cy="16459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32104" y="1627632"/>
            <a:ext cx="219456" cy="31089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1069848" y="1389888"/>
            <a:ext cx="164592" cy="164592"/>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1033272" y="1591056"/>
            <a:ext cx="256032"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Not every staff member needs access to every record or every function. iScan-CRDMS implements three carefully scoped roles — Admin, Encoder, and Viewer — with permissions configurable at the level of individual certificate types. An encoder responsible for marriages may have no permission to touch death certificates; a viewer may be allowed to retrieve records but never to modify them. Delete operations are restricted to administrators alone, and every API endpoint checks permissions on every call.</a:t>
            </a:r>
          </a:p>
        </p:txBody>
      </p:sp>
      <p:sp>
        <p:nvSpPr>
          <p:cNvPr id="19" name="TextBox 18"/>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Three roles: </a:t>
            </a:r>
            <a:r>
              <a:rPr sz="1400" b="1">
                <a:solidFill>
                  <a:srgbClr val="1F2937"/>
                </a:solidFill>
                <a:latin typeface="Calibri"/>
              </a:rPr>
              <a:t>Admin, Encoder, Viewer.</a:t>
            </a:r>
          </a:p>
          <a:p>
            <a:pPr algn="l">
              <a:lnSpc>
                <a:spcPct val="120000"/>
              </a:lnSpc>
              <a:spcAft>
                <a:spcPts val="500"/>
              </a:spcAft>
            </a:pPr>
            <a:r>
              <a:rPr sz="1400" b="1">
                <a:solidFill>
                  <a:srgbClr val="F59E0B"/>
                </a:solidFill>
                <a:latin typeface="Calibri"/>
              </a:rPr>
              <a:t>▸  </a:t>
            </a:r>
            <a:r>
              <a:rPr sz="1400" b="0">
                <a:solidFill>
                  <a:srgbClr val="1F2937"/>
                </a:solidFill>
                <a:latin typeface="Calibri"/>
              </a:rPr>
              <a:t>Permissions configurable </a:t>
            </a:r>
            <a:r>
              <a:rPr sz="1400" b="1">
                <a:solidFill>
                  <a:srgbClr val="1F2937"/>
                </a:solidFill>
                <a:latin typeface="Calibri"/>
              </a:rPr>
              <a:t>per certificate type</a:t>
            </a:r>
            <a:r>
              <a:rPr sz="1400" b="0">
                <a:solidFill>
                  <a:srgbClr val="1F2937"/>
                </a:solidFill>
                <a:latin typeface="Calibri"/>
              </a:rPr>
              <a:t> (view, create, edit, archive).</a:t>
            </a:r>
          </a:p>
          <a:p>
            <a:pPr algn="l">
              <a:lnSpc>
                <a:spcPct val="120000"/>
              </a:lnSpc>
              <a:spcAft>
                <a:spcPts val="500"/>
              </a:spcAft>
            </a:pPr>
            <a:r>
              <a:rPr sz="1400" b="1">
                <a:solidFill>
                  <a:srgbClr val="F59E0B"/>
                </a:solidFill>
                <a:latin typeface="Calibri"/>
              </a:rPr>
              <a:t>▸  </a:t>
            </a:r>
            <a:r>
              <a:rPr sz="1400" b="1">
                <a:solidFill>
                  <a:srgbClr val="1F2937"/>
                </a:solidFill>
                <a:latin typeface="Calibri"/>
              </a:rPr>
              <a:t>Delete operations restricted to administrators only.</a:t>
            </a:r>
          </a:p>
          <a:p>
            <a:pPr algn="l">
              <a:lnSpc>
                <a:spcPct val="120000"/>
              </a:lnSpc>
              <a:spcAft>
                <a:spcPts val="500"/>
              </a:spcAft>
            </a:pPr>
            <a:r>
              <a:rPr sz="1400" b="1">
                <a:solidFill>
                  <a:srgbClr val="F59E0B"/>
                </a:solidFill>
                <a:latin typeface="Calibri"/>
              </a:rPr>
              <a:t>▸  </a:t>
            </a:r>
            <a:r>
              <a:rPr sz="1400" b="0">
                <a:solidFill>
                  <a:srgbClr val="1F2937"/>
                </a:solidFill>
                <a:latin typeface="Calibri"/>
              </a:rPr>
              <a:t>Permission checks enforced on every page and API endpoint.</a:t>
            </a:r>
          </a:p>
        </p:txBody>
      </p:sp>
      <p:sp>
        <p:nvSpPr>
          <p:cNvPr id="20" name="Rounded Rectangle 19"/>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3</a:t>
            </a:r>
          </a:p>
          <a:p>
            <a:pPr algn="ctr"/>
            <a:r>
              <a:rPr sz="900">
                <a:solidFill>
                  <a:srgbClr val="FFFFFF"/>
                </a:solidFill>
                <a:latin typeface="Calibri"/>
              </a:rPr>
              <a:t>ROLES /
GRANULAR</a:t>
            </a:r>
          </a:p>
        </p:txBody>
      </p:sp>
      <p:sp>
        <p:nvSpPr>
          <p:cNvPr id="21" name="Rounded Rectangle 20"/>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Every user sees only what their position requires.</a:t>
            </a:r>
          </a:p>
        </p:txBody>
      </p:sp>
      <p:sp>
        <p:nvSpPr>
          <p:cNvPr id="22" name="Rectangle 21"/>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5" name="TextBox 24"/>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17  /  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Complete Audit Trail</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713232" y="1371600"/>
            <a:ext cx="475488" cy="64008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68096" y="1481328"/>
            <a:ext cx="365760"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68096" y="1591056"/>
            <a:ext cx="365760"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68096" y="1700784"/>
            <a:ext cx="365760"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68096" y="1810512"/>
            <a:ext cx="365760"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1691640" y="1143000"/>
            <a:ext cx="6263640" cy="1188720"/>
          </a:xfrm>
          <a:prstGeom prst="rect">
            <a:avLst/>
          </a:prstGeom>
          <a:noFill/>
        </p:spPr>
        <p:txBody>
          <a:bodyPr wrap="square" lIns="45720">
            <a:spAutoFit/>
          </a:bodyPr>
          <a:lstStyle/>
          <a:p>
            <a:pPr algn="l">
              <a:lnSpc>
                <a:spcPct val="125000"/>
              </a:lnSpc>
            </a:pPr>
            <a:r>
              <a:rPr sz="1300" i="1">
                <a:solidFill>
                  <a:srgbClr val="374151"/>
                </a:solidFill>
                <a:latin typeface="Calibri"/>
              </a:rPr>
              <a:t>Every meaningful action in iScan-CRDMS is captured in an append-only log. The activity log records every create, update, archive, delete, login, and logout — along with the user, the action, the IP address, the device user agent, and the precise timestamp. A separate security log captures higher-stakes events such as failed logins, CSRF violations, and device-lock blocks, classified by severity. Administrators can filter both logs by user, action, date, severity, and IP from a dedicated viewer.</a:t>
            </a:r>
          </a:p>
        </p:txBody>
      </p:sp>
      <p:sp>
        <p:nvSpPr>
          <p:cNvPr id="18" name="TextBox 17"/>
          <p:cNvSpPr txBox="1"/>
          <p:nvPr/>
        </p:nvSpPr>
        <p:spPr>
          <a:xfrm>
            <a:off x="1691640" y="2423160"/>
            <a:ext cx="626364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Append-only </a:t>
            </a:r>
            <a:r>
              <a:rPr sz="1400" b="1">
                <a:solidFill>
                  <a:srgbClr val="1F2937"/>
                </a:solidFill>
                <a:latin typeface="Calibri"/>
              </a:rPr>
              <a:t>activity_logs</a:t>
            </a:r>
            <a:r>
              <a:rPr sz="1400" b="0">
                <a:solidFill>
                  <a:srgbClr val="1F2937"/>
                </a:solidFill>
                <a:latin typeface="Calibri"/>
              </a:rPr>
              <a:t> — every create, update, archive, delete, login, logout.</a:t>
            </a:r>
          </a:p>
          <a:p>
            <a:pPr algn="l">
              <a:lnSpc>
                <a:spcPct val="120000"/>
              </a:lnSpc>
              <a:spcAft>
                <a:spcPts val="500"/>
              </a:spcAft>
            </a:pPr>
            <a:r>
              <a:rPr sz="1400" b="1">
                <a:solidFill>
                  <a:srgbClr val="F59E0B"/>
                </a:solidFill>
                <a:latin typeface="Calibri"/>
              </a:rPr>
              <a:t>▸  </a:t>
            </a:r>
            <a:r>
              <a:rPr sz="1400" b="0">
                <a:solidFill>
                  <a:srgbClr val="1F2937"/>
                </a:solidFill>
                <a:latin typeface="Calibri"/>
              </a:rPr>
              <a:t>Separate </a:t>
            </a:r>
            <a:r>
              <a:rPr sz="1400" b="1">
                <a:solidFill>
                  <a:srgbClr val="1F2937"/>
                </a:solidFill>
                <a:latin typeface="Calibri"/>
              </a:rPr>
              <a:t>security_logs</a:t>
            </a:r>
            <a:r>
              <a:rPr sz="1400" b="0">
                <a:solidFill>
                  <a:srgbClr val="1F2937"/>
                </a:solidFill>
                <a:latin typeface="Calibri"/>
              </a:rPr>
              <a:t> with severity: </a:t>
            </a:r>
            <a:r>
              <a:rPr sz="1400" b="1">
                <a:solidFill>
                  <a:srgbClr val="1F2937"/>
                </a:solidFill>
                <a:latin typeface="Calibri"/>
              </a:rPr>
              <a:t>Low / Medium / High / Critical.</a:t>
            </a:r>
          </a:p>
          <a:p>
            <a:pPr algn="l">
              <a:lnSpc>
                <a:spcPct val="120000"/>
              </a:lnSpc>
              <a:spcAft>
                <a:spcPts val="500"/>
              </a:spcAft>
            </a:pPr>
            <a:r>
              <a:rPr sz="1400" b="1">
                <a:solidFill>
                  <a:srgbClr val="F59E0B"/>
                </a:solidFill>
                <a:latin typeface="Calibri"/>
              </a:rPr>
              <a:t>▸  </a:t>
            </a:r>
            <a:r>
              <a:rPr sz="1400" b="0">
                <a:solidFill>
                  <a:srgbClr val="1F2937"/>
                </a:solidFill>
                <a:latin typeface="Calibri"/>
              </a:rPr>
              <a:t>Each entry records user, action, IP, user agent, and timestamp.</a:t>
            </a:r>
          </a:p>
          <a:p>
            <a:pPr algn="l">
              <a:lnSpc>
                <a:spcPct val="120000"/>
              </a:lnSpc>
              <a:spcAft>
                <a:spcPts val="500"/>
              </a:spcAft>
            </a:pPr>
            <a:r>
              <a:rPr sz="1400" b="1">
                <a:solidFill>
                  <a:srgbClr val="F59E0B"/>
                </a:solidFill>
                <a:latin typeface="Calibri"/>
              </a:rPr>
              <a:t>▸  </a:t>
            </a:r>
            <a:r>
              <a:rPr sz="1400" b="0">
                <a:solidFill>
                  <a:srgbClr val="1F2937"/>
                </a:solidFill>
                <a:latin typeface="Calibri"/>
              </a:rPr>
              <a:t>Admin viewer with filtering by user, action, date, severity, IP.</a:t>
            </a:r>
          </a:p>
        </p:txBody>
      </p:sp>
      <p:sp>
        <p:nvSpPr>
          <p:cNvPr id="19" name="Rectangle 18"/>
          <p:cNvSpPr/>
          <p:nvPr/>
        </p:nvSpPr>
        <p:spPr>
          <a:xfrm>
            <a:off x="8129015" y="1179576"/>
            <a:ext cx="3721608" cy="4087367"/>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83879" y="1234440"/>
            <a:ext cx="3611880" cy="3977639"/>
          </a:xfrm>
          <a:prstGeom prst="rect">
            <a:avLst/>
          </a:prstGeom>
          <a:solidFill>
            <a:srgbClr val="F3F4F6"/>
          </a:solidFill>
          <a:ln w="19050">
            <a:solidFill>
              <a:srgbClr val="9CA3AF"/>
            </a:solidFill>
            <a:prstDash val="dash"/>
          </a:ln>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30000"/>
              </a:lnSpc>
            </a:pPr>
            <a:r>
              <a:rPr sz="4000">
                <a:solidFill>
                  <a:srgbClr val="9CA3AF"/>
                </a:solidFill>
              </a:rPr>
              <a:t>⌗
</a:t>
            </a:r>
            <a:r>
              <a:rPr sz="1200" b="1">
                <a:solidFill>
                  <a:srgbClr val="6B7280"/>
                </a:solidFill>
                <a:latin typeface="Calibri"/>
              </a:rPr>
              <a:t>
[ Screenshot Placeholder ]
</a:t>
            </a:r>
            <a:r>
              <a:rPr sz="900" i="1">
                <a:solidFill>
                  <a:srgbClr val="6B7280"/>
                </a:solidFill>
                <a:latin typeface="Calibri"/>
              </a:rPr>
              <a:t>Right-click  →  Change Picture</a:t>
            </a:r>
          </a:p>
        </p:txBody>
      </p:sp>
      <p:sp>
        <p:nvSpPr>
          <p:cNvPr id="21" name="Rectangle 20"/>
          <p:cNvSpPr/>
          <p:nvPr/>
        </p:nvSpPr>
        <p:spPr>
          <a:xfrm>
            <a:off x="8183879" y="4709159"/>
            <a:ext cx="3611880" cy="50292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000" b="0" i="1">
                <a:solidFill>
                  <a:srgbClr val="FFFFFF"/>
                </a:solidFill>
                <a:latin typeface="Calibri"/>
              </a:rPr>
              <a:t>Activity Logs viewer with filters</a:t>
            </a:r>
          </a:p>
        </p:txBody>
      </p:sp>
      <p:sp>
        <p:nvSpPr>
          <p:cNvPr id="22" name="Rounded Rectangle 21"/>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Every action is traceable to a specific person, device, and moment.</a:t>
            </a:r>
          </a:p>
        </p:txBody>
      </p:sp>
      <p:sp>
        <p:nvSpPr>
          <p:cNvPr id="23" name="Rectangle 22"/>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6" name="TextBox 25"/>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18  /  22</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Data Integrity &amp; Backups</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85800" y="1463040"/>
            <a:ext cx="548640" cy="1463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685800" y="1536192"/>
            <a:ext cx="548640" cy="3200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685800" y="1783080"/>
            <a:ext cx="548640" cy="146304"/>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502920" y="1207008"/>
            <a:ext cx="914400" cy="914400"/>
          </a:xfrm>
          <a:prstGeom prst="rect">
            <a:avLst/>
          </a:prstGeom>
          <a:noFill/>
        </p:spPr>
        <p:txBody>
          <a:bodyPr wrap="square" lIns="45720" tIns="27432" rIns="45720" bIns="27432" anchor="ctr">
            <a:spAutoFit/>
          </a:bodyPr>
          <a:lstStyle/>
          <a:p>
            <a:pPr algn="ctr"/>
            <a:r>
              <a:rPr sz="2000" b="1" i="0">
                <a:solidFill>
                  <a:srgbClr val="0B2545"/>
                </a:solidFill>
                <a:latin typeface="Calibri"/>
              </a:rPr>
              <a:t>✓</a:t>
            </a:r>
          </a:p>
        </p:txBody>
      </p:sp>
      <p:sp>
        <p:nvSpPr>
          <p:cNvPr id="16" name="TextBox 15"/>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Every PDF that enters the system is hashed with SHA-256 at the moment of upload, and that hash becomes its fingerprint. Any subsequent alteration — accidental or deliberate — is immediately detectable. The PDF Integrity Scanner can audit the entire archive on demand, while the PDF Backup Manager automatically retains the previous version whenever a file is replaced and offers one-click restoration. Combined with a soft-delete lifecycle, the system makes it virtually impossible to lose a record permanently by accident.</a:t>
            </a:r>
          </a:p>
        </p:txBody>
      </p:sp>
      <p:sp>
        <p:nvSpPr>
          <p:cNvPr id="17" name="TextBox 16"/>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1">
                <a:solidFill>
                  <a:srgbClr val="1F2937"/>
                </a:solidFill>
                <a:latin typeface="Calibri"/>
              </a:rPr>
              <a:t>SHA-256 hashing</a:t>
            </a:r>
            <a:r>
              <a:rPr sz="1400" b="0">
                <a:solidFill>
                  <a:srgbClr val="1F2937"/>
                </a:solidFill>
                <a:latin typeface="Calibri"/>
              </a:rPr>
              <a:t> on every PDF — instantly detects tampering or corruption.</a:t>
            </a:r>
          </a:p>
          <a:p>
            <a:pPr algn="l">
              <a:lnSpc>
                <a:spcPct val="120000"/>
              </a:lnSpc>
              <a:spcAft>
                <a:spcPts val="500"/>
              </a:spcAft>
            </a:pPr>
            <a:r>
              <a:rPr sz="1400" b="1">
                <a:solidFill>
                  <a:srgbClr val="F59E0B"/>
                </a:solidFill>
                <a:latin typeface="Calibri"/>
              </a:rPr>
              <a:t>▸  </a:t>
            </a:r>
            <a:r>
              <a:rPr sz="1400" b="1">
                <a:solidFill>
                  <a:srgbClr val="1F2937"/>
                </a:solidFill>
                <a:latin typeface="Calibri"/>
              </a:rPr>
              <a:t>PDF Integrity Scanner</a:t>
            </a:r>
            <a:r>
              <a:rPr sz="1400" b="0">
                <a:solidFill>
                  <a:srgbClr val="1F2937"/>
                </a:solidFill>
                <a:latin typeface="Calibri"/>
              </a:rPr>
              <a:t> audits the entire archive on demand.</a:t>
            </a:r>
          </a:p>
          <a:p>
            <a:pPr algn="l">
              <a:lnSpc>
                <a:spcPct val="120000"/>
              </a:lnSpc>
              <a:spcAft>
                <a:spcPts val="500"/>
              </a:spcAft>
            </a:pPr>
            <a:r>
              <a:rPr sz="1400" b="1">
                <a:solidFill>
                  <a:srgbClr val="F59E0B"/>
                </a:solidFill>
                <a:latin typeface="Calibri"/>
              </a:rPr>
              <a:t>▸  </a:t>
            </a:r>
            <a:r>
              <a:rPr sz="1400" b="1">
                <a:solidFill>
                  <a:srgbClr val="1F2937"/>
                </a:solidFill>
                <a:latin typeface="Calibri"/>
              </a:rPr>
              <a:t>PDF Backup Manager:</a:t>
            </a:r>
            <a:r>
              <a:rPr sz="1400" b="0">
                <a:solidFill>
                  <a:srgbClr val="1F2937"/>
                </a:solidFill>
                <a:latin typeface="Calibri"/>
              </a:rPr>
              <a:t> automatic backups on replacement, one-click restore.</a:t>
            </a:r>
          </a:p>
          <a:p>
            <a:pPr algn="l">
              <a:lnSpc>
                <a:spcPct val="120000"/>
              </a:lnSpc>
              <a:spcAft>
                <a:spcPts val="500"/>
              </a:spcAft>
            </a:pPr>
            <a:r>
              <a:rPr sz="1400" b="1">
                <a:solidFill>
                  <a:srgbClr val="F59E0B"/>
                </a:solidFill>
                <a:latin typeface="Calibri"/>
              </a:rPr>
              <a:t>▸  </a:t>
            </a:r>
            <a:r>
              <a:rPr sz="1400" b="0">
                <a:solidFill>
                  <a:srgbClr val="1F2937"/>
                </a:solidFill>
                <a:latin typeface="Calibri"/>
              </a:rPr>
              <a:t>Soft-delete lifecycle (Active / Archived / Deleted); permanent deletion is admin-only.</a:t>
            </a:r>
          </a:p>
        </p:txBody>
      </p:sp>
      <p:sp>
        <p:nvSpPr>
          <p:cNvPr id="18" name="Rounded Rectangle 17"/>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SHA-256</a:t>
            </a:r>
          </a:p>
          <a:p>
            <a:pPr algn="ctr"/>
            <a:r>
              <a:rPr sz="900">
                <a:solidFill>
                  <a:srgbClr val="FFFFFF"/>
                </a:solidFill>
                <a:latin typeface="Calibri"/>
              </a:rPr>
              <a:t>FILE
INTEGRITY</a:t>
            </a:r>
          </a:p>
        </p:txBody>
      </p:sp>
      <p:sp>
        <p:nvSpPr>
          <p:cNvPr id="19" name="Rounded Rectangle 18"/>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Files cannot be silently altered, and nothing is ever truly lost.</a:t>
            </a:r>
          </a:p>
        </p:txBody>
      </p:sp>
      <p:sp>
        <p:nvSpPr>
          <p:cNvPr id="20" name="Rectangle 19"/>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3" name="TextBox 22"/>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19  /  22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SECURITY</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Web-Layer Defenses</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Pentagon 11"/>
          <p:cNvSpPr/>
          <p:nvPr/>
        </p:nvSpPr>
        <p:spPr>
          <a:xfrm rot="5400000">
            <a:off x="722376" y="1371600"/>
            <a:ext cx="457200" cy="603504"/>
          </a:xfrm>
          <a:prstGeom prst="homePlat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1536192"/>
            <a:ext cx="347472" cy="2286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77240" y="1664208"/>
            <a:ext cx="347472" cy="2286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77240" y="1792224"/>
            <a:ext cx="347472" cy="22860"/>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Beyond the visible safeguards, the system is hardened against the common catalogue of web attacks. CSRF tokens are required on every state-changing request. Database queries use prepared statements exclusively, eliminating SQL injection at the language level. File uploads are validated by content type rather than file extension. Browser-side protections include a strict Content Security Policy, HSTS, X-Frame-Options, and X-Content-Type-Options headers — invisible to the user but essential for safe operation.</a:t>
            </a:r>
          </a:p>
        </p:txBody>
      </p:sp>
      <p:sp>
        <p:nvSpPr>
          <p:cNvPr id="17" name="TextBox 16"/>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1">
                <a:solidFill>
                  <a:srgbClr val="1F2937"/>
                </a:solidFill>
                <a:latin typeface="Calibri"/>
              </a:rPr>
              <a:t>CSRF tokens</a:t>
            </a:r>
            <a:r>
              <a:rPr sz="1400" b="0">
                <a:solidFill>
                  <a:srgbClr val="1F2937"/>
                </a:solidFill>
                <a:latin typeface="Calibri"/>
              </a:rPr>
              <a:t> required on every state-changing request.</a:t>
            </a:r>
          </a:p>
          <a:p>
            <a:pPr algn="l">
              <a:lnSpc>
                <a:spcPct val="120000"/>
              </a:lnSpc>
              <a:spcAft>
                <a:spcPts val="500"/>
              </a:spcAft>
            </a:pPr>
            <a:r>
              <a:rPr sz="1400" b="1">
                <a:solidFill>
                  <a:srgbClr val="F59E0B"/>
                </a:solidFill>
                <a:latin typeface="Calibri"/>
              </a:rPr>
              <a:t>▸  </a:t>
            </a:r>
            <a:r>
              <a:rPr sz="1400" b="1">
                <a:solidFill>
                  <a:srgbClr val="1F2937"/>
                </a:solidFill>
                <a:latin typeface="Calibri"/>
              </a:rPr>
              <a:t>Prepared SQL statements</a:t>
            </a:r>
            <a:r>
              <a:rPr sz="1400" b="0">
                <a:solidFill>
                  <a:srgbClr val="1F2937"/>
                </a:solidFill>
                <a:latin typeface="Calibri"/>
              </a:rPr>
              <a:t> throughout — SQL injection blocked by design.</a:t>
            </a:r>
          </a:p>
          <a:p>
            <a:pPr algn="l">
              <a:lnSpc>
                <a:spcPct val="120000"/>
              </a:lnSpc>
              <a:spcAft>
                <a:spcPts val="500"/>
              </a:spcAft>
            </a:pPr>
            <a:r>
              <a:rPr sz="1400" b="1">
                <a:solidFill>
                  <a:srgbClr val="F59E0B"/>
                </a:solidFill>
                <a:latin typeface="Calibri"/>
              </a:rPr>
              <a:t>▸  </a:t>
            </a:r>
            <a:r>
              <a:rPr sz="1400" b="1">
                <a:solidFill>
                  <a:srgbClr val="1F2937"/>
                </a:solidFill>
                <a:latin typeface="Calibri"/>
              </a:rPr>
              <a:t>MIME-validated</a:t>
            </a:r>
            <a:r>
              <a:rPr sz="1400" b="0">
                <a:solidFill>
                  <a:srgbClr val="1F2937"/>
                </a:solidFill>
                <a:latin typeface="Calibri"/>
              </a:rPr>
              <a:t> file uploads (PDF only); path-traversal protection.</a:t>
            </a:r>
          </a:p>
          <a:p>
            <a:pPr algn="l">
              <a:lnSpc>
                <a:spcPct val="120000"/>
              </a:lnSpc>
              <a:spcAft>
                <a:spcPts val="500"/>
              </a:spcAft>
            </a:pPr>
            <a:r>
              <a:rPr sz="1400" b="1">
                <a:solidFill>
                  <a:srgbClr val="F59E0B"/>
                </a:solidFill>
                <a:latin typeface="Calibri"/>
              </a:rPr>
              <a:t>▸  </a:t>
            </a:r>
            <a:r>
              <a:rPr sz="1400" b="0">
                <a:solidFill>
                  <a:srgbClr val="1F2937"/>
                </a:solidFill>
                <a:latin typeface="Calibri"/>
              </a:rPr>
              <a:t>Strict </a:t>
            </a:r>
            <a:r>
              <a:rPr sz="1400" b="1">
                <a:solidFill>
                  <a:srgbClr val="1F2937"/>
                </a:solidFill>
                <a:latin typeface="Calibri"/>
              </a:rPr>
              <a:t>Content Security Policy, HSTS, X-Frame-Options, X-Content-Type-Options.</a:t>
            </a:r>
          </a:p>
        </p:txBody>
      </p:sp>
      <p:sp>
        <p:nvSpPr>
          <p:cNvPr id="18" name="Rounded Rectangle 17"/>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4+</a:t>
            </a:r>
          </a:p>
          <a:p>
            <a:pPr algn="ctr"/>
            <a:r>
              <a:rPr sz="900">
                <a:solidFill>
                  <a:srgbClr val="FFFFFF"/>
                </a:solidFill>
                <a:latin typeface="Calibri"/>
              </a:rPr>
              <a:t>HARDENING
LAYERS</a:t>
            </a:r>
          </a:p>
        </p:txBody>
      </p:sp>
      <p:sp>
        <p:nvSpPr>
          <p:cNvPr id="19" name="Rounded Rectangle 18"/>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The system is hardened against the standard catalogue of web attacks.</a:t>
            </a:r>
          </a:p>
        </p:txBody>
      </p:sp>
      <p:sp>
        <p:nvSpPr>
          <p:cNvPr id="20" name="Rectangle 19"/>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3" name="TextBox 22"/>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20  /  22</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02920" y="137160"/>
            <a:ext cx="7315200" cy="274320"/>
          </a:xfrm>
          <a:prstGeom prst="rect">
            <a:avLst/>
          </a:prstGeom>
          <a:noFill/>
        </p:spPr>
        <p:txBody>
          <a:bodyPr wrap="square" lIns="45720" tIns="27432" rIns="45720" bIns="27432" anchor="t">
            <a:spAutoFit/>
          </a:bodyPr>
          <a:lstStyle/>
          <a:p>
            <a:pPr algn="l"/>
            <a:r>
              <a:rPr sz="1100" b="1" i="0">
                <a:solidFill>
                  <a:srgbClr val="F59E0B"/>
                </a:solidFill>
                <a:latin typeface="Calibri"/>
              </a:rPr>
              <a:t>DEPLOYMENT</a:t>
            </a:r>
          </a:p>
        </p:txBody>
      </p:sp>
      <p:sp>
        <p:nvSpPr>
          <p:cNvPr id="8" name="TextBox 7"/>
          <p:cNvSpPr txBox="1"/>
          <p:nvPr/>
        </p:nvSpPr>
        <p:spPr>
          <a:xfrm>
            <a:off x="502920" y="365760"/>
            <a:ext cx="10515600" cy="594360"/>
          </a:xfrm>
          <a:prstGeom prst="rect">
            <a:avLst/>
          </a:prstGeom>
          <a:noFill/>
        </p:spPr>
        <p:txBody>
          <a:bodyPr wrap="square" lIns="45720" tIns="27432" rIns="45720" bIns="27432" anchor="ctr">
            <a:spAutoFit/>
          </a:bodyPr>
          <a:lstStyle/>
          <a:p>
            <a:pPr algn="l"/>
            <a:r>
              <a:rPr sz="2600" b="1" i="0">
                <a:solidFill>
                  <a:srgbClr val="FFFFFF"/>
                </a:solidFill>
                <a:latin typeface="Calibri"/>
              </a:rPr>
              <a:t>On-Premises Sovereignty</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Oval 11"/>
          <p:cNvSpPr/>
          <p:nvPr/>
        </p:nvSpPr>
        <p:spPr>
          <a:xfrm>
            <a:off x="630936" y="1353312"/>
            <a:ext cx="640080" cy="27432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04088" y="1664208"/>
            <a:ext cx="512064" cy="347472"/>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49808" y="1709928"/>
            <a:ext cx="420624" cy="365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749808" y="1783080"/>
            <a:ext cx="420624"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49808" y="1856232"/>
            <a:ext cx="420624"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749808" y="1929384"/>
            <a:ext cx="420624" cy="36576"/>
          </a:xfrm>
          <a:prstGeom prst="rect">
            <a:avLst/>
          </a:prstGeom>
          <a:solidFill>
            <a:srgbClr val="0B25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a:solidFill>
                  <a:srgbClr val="374151"/>
                </a:solidFill>
                <a:latin typeface="Calibri"/>
              </a:rPr>
              <a:t>iScan-CRDMS runs on a Synology DS925+ NAS installed inside the municipal hall itself. Public access is provided through a Cloudflare Tunnel — an outbound-only connection that requires no inbound port forwarding and exposes no router ports to the public internet. Daily automated database backups run at 02:00; the code base synchronizes itself with the central repository every hour; and all vendor assets are stored locally so the system remains fully operational even when internet connectivity is lost.</a:t>
            </a:r>
          </a:p>
        </p:txBody>
      </p:sp>
      <p:sp>
        <p:nvSpPr>
          <p:cNvPr id="19" name="TextBox 18"/>
          <p:cNvSpPr txBox="1"/>
          <p:nvPr/>
        </p:nvSpPr>
        <p:spPr>
          <a:xfrm>
            <a:off x="1691640" y="2423160"/>
            <a:ext cx="10012680" cy="2788920"/>
          </a:xfrm>
          <a:prstGeom prst="rect">
            <a:avLst/>
          </a:prstGeom>
          <a:noFill/>
        </p:spPr>
        <p:txBody>
          <a:bodyPr wrap="square" lIns="45720">
            <a:spAutoFit/>
          </a:bodyPr>
          <a:lstStyle/>
          <a:p>
            <a:pPr algn="l">
              <a:lnSpc>
                <a:spcPct val="120000"/>
              </a:lnSpc>
              <a:spcAft>
                <a:spcPts val="500"/>
              </a:spcAft>
            </a:pPr>
            <a:r>
              <a:rPr sz="1400" b="1">
                <a:solidFill>
                  <a:srgbClr val="F59E0B"/>
                </a:solidFill>
                <a:latin typeface="Calibri"/>
              </a:rPr>
              <a:t>▸  </a:t>
            </a:r>
            <a:r>
              <a:rPr sz="1400" b="0">
                <a:solidFill>
                  <a:srgbClr val="1F2937"/>
                </a:solidFill>
                <a:latin typeface="Calibri"/>
              </a:rPr>
              <a:t>Hosted on a </a:t>
            </a:r>
            <a:r>
              <a:rPr sz="1400" b="1">
                <a:solidFill>
                  <a:srgbClr val="1F2937"/>
                </a:solidFill>
                <a:latin typeface="Calibri"/>
              </a:rPr>
              <a:t>Synology DS925+ NAS</a:t>
            </a:r>
            <a:r>
              <a:rPr sz="1400" b="0">
                <a:solidFill>
                  <a:srgbClr val="1F2937"/>
                </a:solidFill>
                <a:latin typeface="Calibri"/>
              </a:rPr>
              <a:t> inside the municipal hall.</a:t>
            </a:r>
          </a:p>
          <a:p>
            <a:pPr algn="l">
              <a:lnSpc>
                <a:spcPct val="120000"/>
              </a:lnSpc>
              <a:spcAft>
                <a:spcPts val="500"/>
              </a:spcAft>
            </a:pPr>
            <a:r>
              <a:rPr sz="1400" b="1">
                <a:solidFill>
                  <a:srgbClr val="F59E0B"/>
                </a:solidFill>
                <a:latin typeface="Calibri"/>
              </a:rPr>
              <a:t>▸  </a:t>
            </a:r>
            <a:r>
              <a:rPr sz="1400" b="1">
                <a:solidFill>
                  <a:srgbClr val="1F2937"/>
                </a:solidFill>
                <a:latin typeface="Calibri"/>
              </a:rPr>
              <a:t>Cloudflare Tunnel</a:t>
            </a:r>
            <a:r>
              <a:rPr sz="1400" b="0">
                <a:solidFill>
                  <a:srgbClr val="1F2937"/>
                </a:solidFill>
                <a:latin typeface="Calibri"/>
              </a:rPr>
              <a:t> (https://iscan.cdrms.online) — outbound-only, no exposed ports.</a:t>
            </a:r>
          </a:p>
          <a:p>
            <a:pPr algn="l">
              <a:lnSpc>
                <a:spcPct val="120000"/>
              </a:lnSpc>
              <a:spcAft>
                <a:spcPts val="500"/>
              </a:spcAft>
            </a:pPr>
            <a:r>
              <a:rPr sz="1400" b="1">
                <a:solidFill>
                  <a:srgbClr val="F59E0B"/>
                </a:solidFill>
                <a:latin typeface="Calibri"/>
              </a:rPr>
              <a:t>▸  </a:t>
            </a:r>
            <a:r>
              <a:rPr sz="1400" b="1">
                <a:solidFill>
                  <a:srgbClr val="1F2937"/>
                </a:solidFill>
                <a:latin typeface="Calibri"/>
              </a:rPr>
              <a:t>Daily database backup at 02:00</a:t>
            </a:r>
            <a:r>
              <a:rPr sz="1400" b="0">
                <a:solidFill>
                  <a:srgbClr val="1F2937"/>
                </a:solidFill>
                <a:latin typeface="Calibri"/>
              </a:rPr>
              <a:t>; hourly code update from the repository.</a:t>
            </a:r>
          </a:p>
          <a:p>
            <a:pPr algn="l">
              <a:lnSpc>
                <a:spcPct val="120000"/>
              </a:lnSpc>
              <a:spcAft>
                <a:spcPts val="500"/>
              </a:spcAft>
            </a:pPr>
            <a:r>
              <a:rPr sz="1400" b="1">
                <a:solidFill>
                  <a:srgbClr val="F59E0B"/>
                </a:solidFill>
                <a:latin typeface="Calibri"/>
              </a:rPr>
              <a:t>▸  </a:t>
            </a:r>
            <a:r>
              <a:rPr sz="1400" b="1">
                <a:solidFill>
                  <a:srgbClr val="1F2937"/>
                </a:solidFill>
                <a:latin typeface="Calibri"/>
              </a:rPr>
              <a:t>Offline-capable:</a:t>
            </a:r>
            <a:r>
              <a:rPr sz="1400" b="0">
                <a:solidFill>
                  <a:srgbClr val="1F2937"/>
                </a:solidFill>
                <a:latin typeface="Calibri"/>
              </a:rPr>
              <a:t> functions during internet outages with local assets.</a:t>
            </a:r>
          </a:p>
        </p:txBody>
      </p:sp>
      <p:sp>
        <p:nvSpPr>
          <p:cNvPr id="20" name="Rounded Rectangle 19"/>
          <p:cNvSpPr/>
          <p:nvPr/>
        </p:nvSpPr>
        <p:spPr>
          <a:xfrm>
            <a:off x="10058400" y="1170432"/>
            <a:ext cx="1691640" cy="960120"/>
          </a:xfrm>
          <a:prstGeom prst="roundRect">
            <a:avLst/>
          </a:prstGeom>
          <a:gradFill flip="none" rotWithShape="1">
            <a:gsLst>
              <a:gs pos="0">
                <a:srgbClr val="0B2545"/>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a:solidFill>
                  <a:srgbClr val="F59E0B"/>
                </a:solidFill>
                <a:latin typeface="Calibri"/>
              </a:rPr>
              <a:t>100%</a:t>
            </a:r>
          </a:p>
          <a:p>
            <a:pPr algn="ctr"/>
            <a:r>
              <a:rPr sz="900">
                <a:solidFill>
                  <a:srgbClr val="FFFFFF"/>
                </a:solidFill>
                <a:latin typeface="Calibri"/>
              </a:rPr>
              <a:t>DATA
SOVEREIGN</a:t>
            </a:r>
          </a:p>
        </p:txBody>
      </p:sp>
      <p:sp>
        <p:nvSpPr>
          <p:cNvPr id="21" name="Rounded Rectangle 20"/>
          <p:cNvSpPr/>
          <p:nvPr/>
        </p:nvSpPr>
        <p:spPr>
          <a:xfrm>
            <a:off x="502920" y="5440680"/>
            <a:ext cx="11201400" cy="868680"/>
          </a:xfrm>
          <a:prstGeom prst="roundRect">
            <a:avLst/>
          </a:prstGeom>
          <a:solidFill>
            <a:srgbClr val="FEF3C7"/>
          </a:solidFill>
          <a:ln w="19050">
            <a:solidFill>
              <a:srgbClr val="B45309"/>
            </a:solidFill>
          </a:ln>
        </p:spPr>
        <p:style>
          <a:lnRef idx="1">
            <a:schemeClr val="accent1"/>
          </a:lnRef>
          <a:fillRef idx="3">
            <a:schemeClr val="accent1"/>
          </a:fillRef>
          <a:effectRef idx="2">
            <a:schemeClr val="accent1"/>
          </a:effectRef>
          <a:fontRef idx="minor">
            <a:schemeClr val="lt1"/>
          </a:fontRef>
        </p:style>
        <p:txBody>
          <a:bodyPr wrap="square" lIns="320040" rIns="228600" rtlCol="0" anchor="ctr"/>
          <a:lstStyle/>
          <a:p>
            <a:pPr algn="l"/>
            <a:r>
              <a:rPr sz="1300" b="1">
                <a:solidFill>
                  <a:srgbClr val="7C2D12"/>
                </a:solidFill>
                <a:latin typeface="Calibri"/>
              </a:rPr>
              <a:t>In plain terms:   </a:t>
            </a:r>
            <a:r>
              <a:rPr sz="1300">
                <a:solidFill>
                  <a:srgbClr val="1F2937"/>
                </a:solidFill>
                <a:latin typeface="Calibri"/>
              </a:rPr>
              <a:t>The data lives in this office. Authorized staff can still reach it securely from anywhere.</a:t>
            </a:r>
          </a:p>
        </p:txBody>
      </p:sp>
      <p:sp>
        <p:nvSpPr>
          <p:cNvPr id="22" name="Rectangle 21"/>
          <p:cNvSpPr/>
          <p:nvPr/>
        </p:nvSpPr>
        <p:spPr>
          <a:xfrm>
            <a:off x="502920" y="5440680"/>
            <a:ext cx="164592" cy="868680"/>
          </a:xfrm>
          <a:prstGeom prst="rect">
            <a:avLst/>
          </a:prstGeom>
          <a:solidFill>
            <a:srgbClr val="B453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25" name="TextBox 24"/>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21  /  22</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49240"/>
            <a:ext cx="12191695" cy="1508760"/>
          </a:xfrm>
          <a:prstGeom prst="rect">
            <a:avLst/>
          </a:prstGeom>
          <a:solidFill>
            <a:srgbClr val="F9FA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0"/>
            <a:ext cx="12191695" cy="960120"/>
          </a:xfrm>
          <a:prstGeom prst="rect">
            <a:avLst/>
          </a:prstGeom>
          <a:gradFill flip="none" rotWithShape="1">
            <a:gsLst>
              <a:gs pos="0">
                <a:srgbClr val="061830"/>
              </a:gs>
              <a:gs pos="100000">
                <a:srgbClr val="1B3A6B"/>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0" y="960120"/>
            <a:ext cx="12191695" cy="54864"/>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ight Triangle 5"/>
          <p:cNvSpPr/>
          <p:nvPr/>
        </p:nvSpPr>
        <p:spPr>
          <a:xfrm>
            <a:off x="10728655" y="0"/>
            <a:ext cx="1463040" cy="960120"/>
          </a:xfrm>
          <a:prstGeom prst="rtTriangle">
            <a:avLst/>
          </a:prstGeom>
          <a:solidFill>
            <a:srgbClr val="0618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789471" y="340614"/>
            <a:ext cx="9843565" cy="547842"/>
          </a:xfrm>
          <a:prstGeom prst="rect">
            <a:avLst/>
          </a:prstGeom>
          <a:noFill/>
        </p:spPr>
        <p:txBody>
          <a:bodyPr wrap="square" lIns="45720" tIns="27432" rIns="45720" bIns="27432" anchor="t">
            <a:spAutoFit/>
          </a:bodyPr>
          <a:lstStyle/>
          <a:p>
            <a:pPr algn="l"/>
            <a:r>
              <a:rPr sz="3200" b="1" i="0" dirty="0">
                <a:solidFill>
                  <a:schemeClr val="bg1"/>
                </a:solidFill>
                <a:latin typeface="Calibri"/>
              </a:rPr>
              <a:t>A MODERN FOUNDATION, BUILT TO LAST</a:t>
            </a:r>
          </a:p>
        </p:txBody>
      </p:sp>
      <p:sp>
        <p:nvSpPr>
          <p:cNvPr id="9" name="Rectangle 8"/>
          <p:cNvSpPr/>
          <p:nvPr/>
        </p:nvSpPr>
        <p:spPr>
          <a:xfrm>
            <a:off x="0" y="1014984"/>
            <a:ext cx="164592" cy="5522976"/>
          </a:xfrm>
          <a:prstGeom prst="rect">
            <a:avLst/>
          </a:prstGeom>
          <a:gradFill flip="none" rotWithShape="1">
            <a:gsLst>
              <a:gs pos="0">
                <a:srgbClr val="1B3A6B"/>
              </a:gs>
              <a:gs pos="100000">
                <a:srgbClr val="0E7690"/>
              </a:gs>
            </a:gsLst>
            <a:lin ang="54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438912" y="1143000"/>
            <a:ext cx="1042416" cy="1042416"/>
          </a:xfrm>
          <a:prstGeom prst="ellipse">
            <a:avLst/>
          </a:prstGeom>
          <a:solidFill>
            <a:srgbClr val="FEF3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502920" y="1207008"/>
            <a:ext cx="914400" cy="914400"/>
          </a:xfrm>
          <a:prstGeom prst="ellipse">
            <a:avLst/>
          </a:prstGeom>
          <a:gradFill flip="none" rotWithShape="1">
            <a:gsLst>
              <a:gs pos="0">
                <a:srgbClr val="061830"/>
              </a:gs>
              <a:gs pos="100000">
                <a:srgbClr val="0E7690"/>
              </a:gs>
            </a:gsLst>
            <a:lin ang="8100000" scaled="0"/>
            <a:tileRect/>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02920" y="1207008"/>
            <a:ext cx="914400" cy="914400"/>
          </a:xfrm>
          <a:prstGeom prst="rect">
            <a:avLst/>
          </a:prstGeom>
          <a:noFill/>
        </p:spPr>
        <p:txBody>
          <a:bodyPr wrap="square" lIns="45720" tIns="27432" rIns="45720" bIns="27432" anchor="ctr">
            <a:spAutoFit/>
          </a:bodyPr>
          <a:lstStyle/>
          <a:p>
            <a:pPr algn="ctr"/>
            <a:r>
              <a:rPr sz="4600" b="1" i="0">
                <a:solidFill>
                  <a:srgbClr val="FFFFFF"/>
                </a:solidFill>
                <a:latin typeface="Calibri"/>
              </a:rPr>
              <a:t>✓</a:t>
            </a:r>
          </a:p>
        </p:txBody>
      </p:sp>
      <p:sp>
        <p:nvSpPr>
          <p:cNvPr id="13" name="TextBox 12"/>
          <p:cNvSpPr txBox="1"/>
          <p:nvPr/>
        </p:nvSpPr>
        <p:spPr>
          <a:xfrm>
            <a:off x="1691640" y="1143000"/>
            <a:ext cx="10012680" cy="1188720"/>
          </a:xfrm>
          <a:prstGeom prst="rect">
            <a:avLst/>
          </a:prstGeom>
          <a:noFill/>
        </p:spPr>
        <p:txBody>
          <a:bodyPr wrap="square" lIns="45720">
            <a:spAutoFit/>
          </a:bodyPr>
          <a:lstStyle/>
          <a:p>
            <a:pPr algn="l">
              <a:lnSpc>
                <a:spcPct val="125000"/>
              </a:lnSpc>
            </a:pPr>
            <a:r>
              <a:rPr sz="1300" i="1" dirty="0" err="1">
                <a:solidFill>
                  <a:srgbClr val="374151"/>
                </a:solidFill>
                <a:latin typeface="Calibri"/>
              </a:rPr>
              <a:t>iScan</a:t>
            </a:r>
            <a:r>
              <a:rPr sz="1300" i="1" dirty="0">
                <a:solidFill>
                  <a:srgbClr val="374151"/>
                </a:solidFill>
                <a:latin typeface="Calibri"/>
              </a:rPr>
              <a:t>-CRDMS replaces a fragile paper-based workflow with a secure, auditable, and resilient digital platform — built specifically for the Municipality of </a:t>
            </a:r>
            <a:r>
              <a:rPr sz="1300" i="1" dirty="0" err="1">
                <a:solidFill>
                  <a:srgbClr val="374151"/>
                </a:solidFill>
                <a:latin typeface="Calibri"/>
              </a:rPr>
              <a:t>Baggao</a:t>
            </a:r>
            <a:r>
              <a:rPr sz="1300" i="1" dirty="0">
                <a:solidFill>
                  <a:srgbClr val="374151"/>
                </a:solidFill>
                <a:latin typeface="Calibri"/>
              </a:rPr>
              <a:t> and operated entirely on the office's own infrastructure. It delivers measurable gains today and a durable foundation for the decades of civil registry service to come.</a:t>
            </a:r>
          </a:p>
        </p:txBody>
      </p:sp>
      <p:sp>
        <p:nvSpPr>
          <p:cNvPr id="14" name="TextBox 13"/>
          <p:cNvSpPr txBox="1"/>
          <p:nvPr/>
        </p:nvSpPr>
        <p:spPr>
          <a:xfrm>
            <a:off x="1704913" y="2788723"/>
            <a:ext cx="10012680" cy="2788920"/>
          </a:xfrm>
          <a:prstGeom prst="rect">
            <a:avLst/>
          </a:prstGeom>
          <a:noFill/>
        </p:spPr>
        <p:txBody>
          <a:bodyPr wrap="square" lIns="45720">
            <a:spAutoFit/>
          </a:bodyPr>
          <a:lstStyle/>
          <a:p>
            <a:pPr algn="l">
              <a:lnSpc>
                <a:spcPct val="120000"/>
              </a:lnSpc>
              <a:spcAft>
                <a:spcPts val="500"/>
              </a:spcAft>
            </a:pPr>
            <a:r>
              <a:rPr sz="1500" b="1" dirty="0">
                <a:solidFill>
                  <a:srgbClr val="F59E0B"/>
                </a:solidFill>
                <a:latin typeface="Calibri"/>
              </a:rPr>
              <a:t>▸  </a:t>
            </a:r>
            <a:r>
              <a:rPr sz="1500" b="1" dirty="0">
                <a:solidFill>
                  <a:srgbClr val="1F2937"/>
                </a:solidFill>
                <a:latin typeface="Calibri"/>
              </a:rPr>
              <a:t>Faster service.</a:t>
            </a:r>
            <a:r>
              <a:rPr sz="1500" b="0" dirty="0">
                <a:solidFill>
                  <a:srgbClr val="1F2937"/>
                </a:solidFill>
                <a:latin typeface="Calibri"/>
              </a:rPr>
              <a:t> Records retrieved in seconds; data entry reduced by 83%.</a:t>
            </a:r>
          </a:p>
          <a:p>
            <a:pPr algn="l">
              <a:lnSpc>
                <a:spcPct val="120000"/>
              </a:lnSpc>
              <a:spcAft>
                <a:spcPts val="500"/>
              </a:spcAft>
            </a:pPr>
            <a:r>
              <a:rPr sz="1500" b="1" dirty="0">
                <a:solidFill>
                  <a:srgbClr val="F59E0B"/>
                </a:solidFill>
                <a:latin typeface="Calibri"/>
              </a:rPr>
              <a:t>▸  </a:t>
            </a:r>
            <a:r>
              <a:rPr sz="1500" b="1" dirty="0">
                <a:solidFill>
                  <a:srgbClr val="1F2937"/>
                </a:solidFill>
                <a:latin typeface="Calibri"/>
              </a:rPr>
              <a:t>Fewer errors.</a:t>
            </a:r>
            <a:r>
              <a:rPr sz="1500" b="0" dirty="0">
                <a:solidFill>
                  <a:srgbClr val="1F2937"/>
                </a:solidFill>
                <a:latin typeface="Calibri"/>
              </a:rPr>
              <a:t> OCR confidence scoring, automated double-registration detection, and structured validation.</a:t>
            </a:r>
          </a:p>
          <a:p>
            <a:pPr algn="l">
              <a:lnSpc>
                <a:spcPct val="120000"/>
              </a:lnSpc>
              <a:spcAft>
                <a:spcPts val="500"/>
              </a:spcAft>
            </a:pPr>
            <a:r>
              <a:rPr sz="1500" b="1" dirty="0">
                <a:solidFill>
                  <a:srgbClr val="F59E0B"/>
                </a:solidFill>
                <a:latin typeface="Calibri"/>
              </a:rPr>
              <a:t>▸  </a:t>
            </a:r>
            <a:r>
              <a:rPr sz="1500" b="1" dirty="0">
                <a:solidFill>
                  <a:srgbClr val="1F2937"/>
                </a:solidFill>
                <a:latin typeface="Calibri"/>
              </a:rPr>
              <a:t>Complete accountability.</a:t>
            </a:r>
            <a:r>
              <a:rPr sz="1500" b="0" dirty="0">
                <a:solidFill>
                  <a:srgbClr val="1F2937"/>
                </a:solidFill>
                <a:latin typeface="Calibri"/>
              </a:rPr>
              <a:t> Every action attributable to a specific user, device, and moment.</a:t>
            </a:r>
          </a:p>
          <a:p>
            <a:pPr algn="l">
              <a:lnSpc>
                <a:spcPct val="120000"/>
              </a:lnSpc>
              <a:spcAft>
                <a:spcPts val="500"/>
              </a:spcAft>
            </a:pPr>
            <a:r>
              <a:rPr sz="1500" b="1" dirty="0">
                <a:solidFill>
                  <a:srgbClr val="F59E0B"/>
                </a:solidFill>
                <a:latin typeface="Calibri"/>
              </a:rPr>
              <a:t>▸  </a:t>
            </a:r>
            <a:r>
              <a:rPr sz="1500" b="1" dirty="0">
                <a:solidFill>
                  <a:srgbClr val="1F2937"/>
                </a:solidFill>
                <a:latin typeface="Calibri"/>
              </a:rPr>
              <a:t>Full data sovereignty.</a:t>
            </a:r>
            <a:r>
              <a:rPr sz="1500" b="0" dirty="0">
                <a:solidFill>
                  <a:srgbClr val="1F2937"/>
                </a:solidFill>
                <a:latin typeface="Calibri"/>
              </a:rPr>
              <a:t> Records stay on the LGU's own NAS — not in a third-party cloud.</a:t>
            </a:r>
          </a:p>
        </p:txBody>
      </p:sp>
      <p:sp>
        <p:nvSpPr>
          <p:cNvPr id="15" name="Rounded Rectangle 14"/>
          <p:cNvSpPr/>
          <p:nvPr/>
        </p:nvSpPr>
        <p:spPr>
          <a:xfrm>
            <a:off x="502920" y="5440680"/>
            <a:ext cx="11201400" cy="868680"/>
          </a:xfrm>
          <a:prstGeom prst="roundRect">
            <a:avLst/>
          </a:prstGeom>
          <a:gradFill flip="none" rotWithShape="1">
            <a:gsLst>
              <a:gs pos="0">
                <a:srgbClr val="061830"/>
              </a:gs>
              <a:gs pos="100000">
                <a:srgbClr val="0E7690"/>
              </a:gs>
            </a:gsLst>
            <a:lin ang="0" scaled="0"/>
            <a:tileRect/>
          </a:gradFill>
          <a:ln>
            <a:noFill/>
          </a:ln>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000" b="1" i="0">
                <a:solidFill>
                  <a:srgbClr val="FFFFFF"/>
                </a:solidFill>
                <a:latin typeface="Calibri"/>
              </a:rPr>
              <a:t>Thank you.   Questions are most welcome.</a:t>
            </a:r>
          </a:p>
        </p:txBody>
      </p:sp>
      <p:sp>
        <p:nvSpPr>
          <p:cNvPr id="16" name="Rectangle 15"/>
          <p:cNvSpPr/>
          <p:nvPr/>
        </p:nvSpPr>
        <p:spPr>
          <a:xfrm>
            <a:off x="365760" y="6556248"/>
            <a:ext cx="11430000" cy="10972"/>
          </a:xfrm>
          <a:prstGeom prst="rect">
            <a:avLst/>
          </a:prstGeom>
          <a:solidFill>
            <a:srgbClr val="E5E7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65760" y="6537960"/>
            <a:ext cx="8229600" cy="320040"/>
          </a:xfrm>
          <a:prstGeom prst="rect">
            <a:avLst/>
          </a:prstGeom>
          <a:noFill/>
        </p:spPr>
        <p:txBody>
          <a:bodyPr wrap="square" lIns="45720" tIns="27432" rIns="45720" bIns="27432" anchor="ctr">
            <a:spAutoFit/>
          </a:bodyPr>
          <a:lstStyle/>
          <a:p>
            <a:pPr algn="l"/>
            <a:r>
              <a:rPr sz="900" b="0" i="0">
                <a:solidFill>
                  <a:srgbClr val="6B7280"/>
                </a:solidFill>
                <a:latin typeface="Calibri"/>
              </a:rPr>
              <a:t>iScan-CRDMS  •  Municipal Civil Registrar's Office, Municipality of Baggao</a:t>
            </a:r>
          </a:p>
        </p:txBody>
      </p:sp>
      <p:sp>
        <p:nvSpPr>
          <p:cNvPr id="18" name="TextBox 17"/>
          <p:cNvSpPr txBox="1"/>
          <p:nvPr/>
        </p:nvSpPr>
        <p:spPr>
          <a:xfrm>
            <a:off x="10424160" y="6537960"/>
            <a:ext cx="1554480" cy="320040"/>
          </a:xfrm>
          <a:prstGeom prst="rect">
            <a:avLst/>
          </a:prstGeom>
          <a:noFill/>
        </p:spPr>
        <p:txBody>
          <a:bodyPr wrap="square" lIns="45720" tIns="27432" rIns="45720" bIns="27432" anchor="ctr">
            <a:spAutoFit/>
          </a:bodyPr>
          <a:lstStyle/>
          <a:p>
            <a:pPr algn="r"/>
            <a:r>
              <a:rPr sz="900" b="1" i="0">
                <a:solidFill>
                  <a:srgbClr val="0B2545"/>
                </a:solidFill>
                <a:latin typeface="Calibri"/>
              </a:rPr>
              <a:t>22  /  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263</TotalTime>
  <Words>2911</Words>
  <Application>Microsoft Office PowerPoint</Application>
  <PresentationFormat>Widescreen</PresentationFormat>
  <Paragraphs>199</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MDRRMO</cp:lastModifiedBy>
  <cp:revision>2</cp:revision>
  <dcterms:created xsi:type="dcterms:W3CDTF">2013-01-27T09:14:16Z</dcterms:created>
  <dcterms:modified xsi:type="dcterms:W3CDTF">2026-05-12T05:30:06Z</dcterms:modified>
  <cp:category/>
</cp:coreProperties>
</file>