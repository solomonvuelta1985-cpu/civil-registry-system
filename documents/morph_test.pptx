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A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SYSTEM_SHOWCASE_SUMMARY.md; SYSTEM_OVERVIEW.md. The deck describes the deployed iScan CRDMS and its documented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SYSTEM_OVERVIEW.md sections 1 and 4; SYSTEM_SHOWCASE_SUMMARY.md. Four certificate categories are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SYSTEM_OVERVIEW.md sections 2, 3, 12, and 19; NAS_DEPLOYMENT_GUIDE.md. The Cloudflare route is for remote access; the local route remains available on the 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SYSTEM_OVERVIEW.md section 13; COMPLETE_FEATURES_LIST.md Phase 3. The workflow states and transition tracking are documented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assets/js/certificate-form-handler.js auto-save/restore implementation; public/logout.php cleanup; docs/NARRATIVE_REPORT.md section 9.4. The deck distinguishes draft recovery from a database save.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includes/functions.php upload_sub_dir(), reconcile_pdf_folder(), and upload_file(); public/folder_browser.php; docs/UPLOAD_FOLDER_REORGANIZATION.md.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SYSTEM_OVERVIEW.md section 12; scanner_service/scanner_service.py; includes/config.php MAX_FILE_SIZE; includes/functions.php compute_file_hash() and check_pdf_duplicate().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assets/js/ocr-processor.js; assets/js/ocr-form-integration.js; public/pdf_comparison_viewer.php; COMPLETE_FEATURES_LIST.md Phases 2 and 4. OCR suggestions require encoder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public/folder_browser.php; public/advanced_search.php; public/records_viewer.php; SYSTEM_OVERVIEW.md sections 6 and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includes/auth.php; includes/permissions.php; admin/activity_logs.php; public/workflow_dashboard.php; SYSTEM_OVERVIEW.md sections 9, 10, and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includes/functions.php backup_pdf_file(); admin/pdf_backup_manager.php; admin/pdf_integrity_report.php; public/trash.php; SYSTEM_OVERVIEW.md section 14. NAS file/database backup statements refer to the documented deployment procedure and the verified pre-update backups created for this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includes/security.php; includes/security_headers.php; includes/auth.php; docs/NAS_SECURITY_REMEDIATION.md; docs/SECURITY_AUDIT_2026-09-07.md. Present these as implemented application controls, with operational review and restore testing still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includes/asset_urls.php; .env.example OFFLINE_MODE; docs/SYNOLOGY_NAS_DEPLOYMENT.md sections 10 and 17; NAS_DEPLOYMENT_GUIDE.md. Offline mode requires locally downloaded assets and a local access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includes/permissions.php; public/trash.php; admin/activity_logs.php. RA 9048 is intentionally out of scope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deck content synthesized from the system repository and deployment notes. Use only features that have been tested in the current NAS deployment during the live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includes/permissions.php; public/trash.php; admin/activity_logs.php; SYSTEM_OVERVIEW.md sections 9, 10, and 14. Permanent delete is restricted to administrators; soft-deleted records remain restorable through Trash.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CDC71D-4AFB-441B-98F9-AE484F6797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8007896-C595-4A85-A9CD-2B1C5B69456A}"/>
              </a:ext>
            </a:extLst>
          </p:cNvPr>
          <p:cNvSpPr>
            <a:spLocks noGrp="1"/>
          </p:cNvSpPr>
          <p:nvPr/>
        </p:nvSpPr>
        <p:spPr>
          <a:xfrm>
            <a:off x="8334375" y="-1524000"/>
            <a:ext cx="4953000" cy="4953000"/>
          </a:xfrm>
          <a:prstGeom prst="ellipse">
            <a:avLst/>
          </a:prstGeom>
          <a:solidFill>
            <a:srgbClr val="1D4771"/>
          </a:solidFill>
          <a:ln w="0">
            <a:noFill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9236E7-BA40-4BEB-BB0F-85D92F0A1A19}"/>
              </a:ext>
            </a:extLst>
          </p:cNvPr>
          <p:cNvSpPr>
            <a:spLocks noGrp="1"/>
          </p:cNvSpPr>
          <p:nvPr/>
        </p:nvSpPr>
        <p:spPr>
          <a:xfrm>
            <a:off x="9525000" y="3952875"/>
            <a:ext cx="2857500" cy="2857500"/>
          </a:xfrm>
          <a:prstGeom prst="ellipse">
            <a:avLst/>
          </a:prstGeom>
          <a:solidFill>
            <a:srgbClr val="1B3F63"/>
          </a:solidFill>
          <a:ln w="0">
            <a:noFill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922618"/>
            <a:ext cx="2095500" cy="20790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3CF31E-3895-4F59-ACFB-E290997A8B1F}"/>
              </a:ext>
            </a:extLst>
          </p:cNvPr>
          <p:cNvSpPr>
            <a:spLocks noGrp="1"/>
          </p:cNvSpPr>
          <p:nvPr/>
        </p:nvSpPr>
        <p:spPr>
          <a:xfrm>
            <a:off x="4686300" y="1390650"/>
            <a:ext cx="6191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iScan CRDMS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CA239F-B14C-4161-9FDF-2637F016389A}"/>
              </a:ext>
            </a:extLst>
          </p:cNvPr>
          <p:cNvSpPr>
            <a:spLocks noGrp="1"/>
          </p:cNvSpPr>
          <p:nvPr/>
        </p:nvSpPr>
        <p:spPr>
          <a:xfrm>
            <a:off x="4724400" y="21336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BDD0E7"/>
                </a:solidFill>
                <a:latin typeface="Arial"/>
                <a:ea typeface="Arial"/>
                <a:cs typeface="Arial"/>
              </a:rPr>
              <a:t>Civil Registry Records Management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2ADEC-706C-43C8-B6C6-0A08B6BB294C}"/>
              </a:ext>
            </a:extLst>
          </p:cNvPr>
          <p:cNvSpPr>
            <a:spLocks noGrp="1"/>
          </p:cNvSpPr>
          <p:nvPr/>
        </p:nvSpPr>
        <p:spPr>
          <a:xfrm>
            <a:off x="4724400" y="3048000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features, operating workflow, security, backup, and online/offline 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EE8F8C-C956-4640-B4CA-B2B4E142746A}"/>
              </a:ext>
            </a:extLst>
          </p:cNvPr>
          <p:cNvSpPr>
            <a:spLocks noGrp="1"/>
          </p:cNvSpPr>
          <p:nvPr/>
        </p:nvSpPr>
        <p:spPr>
          <a:xfrm>
            <a:off x="4724400" y="5657850"/>
            <a:ext cx="6096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DD0E7"/>
                </a:solidFill>
                <a:latin typeface="Arial"/>
                <a:ea typeface="Arial"/>
                <a:cs typeface="Arial"/>
              </a:rPr>
              <a:t>Municipal Civil Registrar's Office  |  Municipality of Baggao</a:t>
            </a:r>
          </a:p>
        </p:txBody>
      </p:sp>
    </p:spTree>
    <p:extLst>
      <p:ext uri="{BB962C8B-B14F-4D97-AF65-F5344CB8AC3E}">
        <p14:creationId xmlns:p14="http://schemas.microsoft.com/office/powerpoint/2010/main" val="813497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E4175E5-B633-4F99-8FC8-84EAB6D8ABB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SYSTEM PURPOSE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56BBF-7801-4F81-82C2-BB6BD411232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CRDMS at a glance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F8D4E6-2208-4804-8BA8-862A55AAB6DD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093ADA-8204-4120-95BE-D62E1E25CD36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85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E6C80"/>
                </a:solidFill>
                <a:latin typeface="Arial"/>
                <a:ea typeface="Arial"/>
                <a:cs typeface="Arial"/>
              </a:rPr>
              <a:t>A single workspace for capturing, encoding, reviewing, finding, and protecting civil registry records.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B6640D-F738-4AB7-AA08-D2C9EEDCCE51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381250" cy="1238250"/>
          </a:xfrm>
          <a:prstGeom prst="roundRect">
            <a:avLst>
              <a:gd name="adj" fmla="val 13846"/>
            </a:avLst>
          </a:prstGeom>
          <a:solidFill>
            <a:srgbClr val="EAF2FF"/>
          </a:solidFill>
          <a:ln w="0">
            <a:solidFill>
              <a:srgbClr val="EAF2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18428-2DC6-4317-B74C-1BDC7FAD2B3C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Birth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329252-AE14-418A-8E5E-35ED70578489}"/>
              </a:ext>
            </a:extLst>
          </p:cNvPr>
          <p:cNvSpPr>
            <a:spLocks noGrp="1"/>
          </p:cNvSpPr>
          <p:nvPr/>
        </p:nvSpPr>
        <p:spPr>
          <a:xfrm>
            <a:off x="781050" y="3038475"/>
            <a:ext cx="20383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Live Birth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FA5C59-8D5C-41C1-87C3-0033525E0F8B}"/>
              </a:ext>
            </a:extLst>
          </p:cNvPr>
          <p:cNvSpPr>
            <a:spLocks noGrp="1"/>
          </p:cNvSpPr>
          <p:nvPr/>
        </p:nvSpPr>
        <p:spPr>
          <a:xfrm>
            <a:off x="3181350" y="2571750"/>
            <a:ext cx="2381250" cy="1238250"/>
          </a:xfrm>
          <a:prstGeom prst="roundRect">
            <a:avLst>
              <a:gd name="adj" fmla="val 13846"/>
            </a:avLst>
          </a:prstGeom>
          <a:solidFill>
            <a:srgbClr val="E9F8F1"/>
          </a:solidFill>
          <a:ln w="0">
            <a:solidFill>
              <a:srgbClr val="E9F8F1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AAF7BB-F7DF-499E-804E-14A10AFD3F99}"/>
              </a:ext>
            </a:extLst>
          </p:cNvPr>
          <p:cNvSpPr>
            <a:spLocks noGrp="1"/>
          </p:cNvSpPr>
          <p:nvPr/>
        </p:nvSpPr>
        <p:spPr>
          <a:xfrm>
            <a:off x="3352800" y="2724150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FA92F2-602B-4427-9A5B-1ADE1ECB37F2}"/>
              </a:ext>
            </a:extLst>
          </p:cNvPr>
          <p:cNvSpPr>
            <a:spLocks noGrp="1"/>
          </p:cNvSpPr>
          <p:nvPr/>
        </p:nvSpPr>
        <p:spPr>
          <a:xfrm>
            <a:off x="3352800" y="3038475"/>
            <a:ext cx="20383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Marriage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BC6DFE-B196-4F4B-9E00-9719E9BB69A7}"/>
              </a:ext>
            </a:extLst>
          </p:cNvPr>
          <p:cNvSpPr>
            <a:spLocks noGrp="1"/>
          </p:cNvSpPr>
          <p:nvPr/>
        </p:nvSpPr>
        <p:spPr>
          <a:xfrm>
            <a:off x="5753100" y="2571750"/>
            <a:ext cx="2381250" cy="1238250"/>
          </a:xfrm>
          <a:prstGeom prst="roundRect">
            <a:avLst>
              <a:gd name="adj" fmla="val 13846"/>
            </a:avLst>
          </a:prstGeom>
          <a:solidFill>
            <a:srgbClr val="FFF5DE"/>
          </a:solidFill>
          <a:ln w="0">
            <a:solidFill>
              <a:srgbClr val="FFF5DE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FA06F7-0BEC-423E-93EE-7A91CEAC46EC}"/>
              </a:ext>
            </a:extLst>
          </p:cNvPr>
          <p:cNvSpPr>
            <a:spLocks noGrp="1"/>
          </p:cNvSpPr>
          <p:nvPr/>
        </p:nvSpPr>
        <p:spPr>
          <a:xfrm>
            <a:off x="5924550" y="2724150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2C28F2-FD49-47F8-8164-6AF0E8BFC924}"/>
              </a:ext>
            </a:extLst>
          </p:cNvPr>
          <p:cNvSpPr>
            <a:spLocks noGrp="1"/>
          </p:cNvSpPr>
          <p:nvPr/>
        </p:nvSpPr>
        <p:spPr>
          <a:xfrm>
            <a:off x="5924550" y="3038475"/>
            <a:ext cx="20383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Death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5C2B2D-0CA5-4942-81E0-91ABEFD4EE34}"/>
              </a:ext>
            </a:extLst>
          </p:cNvPr>
          <p:cNvSpPr>
            <a:spLocks noGrp="1"/>
          </p:cNvSpPr>
          <p:nvPr/>
        </p:nvSpPr>
        <p:spPr>
          <a:xfrm>
            <a:off x="8324850" y="2571750"/>
            <a:ext cx="3048000" cy="1238250"/>
          </a:xfrm>
          <a:prstGeom prst="roundRect">
            <a:avLst>
              <a:gd name="adj" fmla="val 13846"/>
            </a:avLst>
          </a:prstGeom>
          <a:solidFill>
            <a:srgbClr val="FDECEF"/>
          </a:solidFill>
          <a:ln w="0">
            <a:solidFill>
              <a:srgbClr val="FDECE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FE2C56-1A02-4BCE-B6DF-501E6C5E8447}"/>
              </a:ext>
            </a:extLst>
          </p:cNvPr>
          <p:cNvSpPr>
            <a:spLocks noGrp="1"/>
          </p:cNvSpPr>
          <p:nvPr/>
        </p:nvSpPr>
        <p:spPr>
          <a:xfrm>
            <a:off x="8496300" y="2724150"/>
            <a:ext cx="2705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 License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8247E1-9712-4FF9-8C83-11C3D9038E01}"/>
              </a:ext>
            </a:extLst>
          </p:cNvPr>
          <p:cNvSpPr>
            <a:spLocks noGrp="1"/>
          </p:cNvSpPr>
          <p:nvPr/>
        </p:nvSpPr>
        <p:spPr>
          <a:xfrm>
            <a:off x="8496300" y="3038475"/>
            <a:ext cx="27051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Application for Marriage License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796BBC-C5CB-4FAC-9E59-105199C841F3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Runs on the office NAS with a local database and local PDF storage. Authorized staff can use the public Cloudflare URL or the local LAN address.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E5DACA-74D8-482C-9249-296CDE52D65B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result is a searchable digital registry with a controlled record lifecycle and a clear accountability trail.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D0EC08-49FA-4C9C-80FF-F51E980E10A5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A3D22D-D527-4565-BD2C-CBB6A1428525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127509583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09FA8A6-DEF8-4C0E-8BF9-E6F84090012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039B2D-70B8-4F65-AA66-2124022CEEF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the system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7F04CA-B5CC-48A8-A806-4562EB3A1F0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B479BB-7C09-4253-93F8-18782D1C18C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7076"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browser is the work surface. The NAS holds the application, database, and PDF archive.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B9BBF7-6A86-4357-A6C8-24D401D8F81C}"/>
              </a:ext>
            </a:extLst>
          </p:cNvPr>
          <p:cNvSpPr>
            <a:spLocks noGrp="1"/>
          </p:cNvSpPr>
          <p:nvPr/>
        </p:nvSpPr>
        <p:spPr>
          <a:xfrm>
            <a:off x="666750" y="2705100"/>
            <a:ext cx="2095500" cy="1219200"/>
          </a:xfrm>
          <a:prstGeom prst="roundRect">
            <a:avLst>
              <a:gd name="adj" fmla="val 14063"/>
            </a:avLst>
          </a:prstGeom>
          <a:solidFill>
            <a:srgbClr val="EAF2FF"/>
          </a:solidFill>
          <a:ln w="0">
            <a:solidFill>
              <a:srgbClr val="EAF2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EA105-5CC0-4A76-A814-C4B5223DB703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Staff browser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130731-D403-4989-A395-315F2A5422E2}"/>
              </a:ext>
            </a:extLst>
          </p:cNvPr>
          <p:cNvSpPr>
            <a:spLocks noGrp="1"/>
          </p:cNvSpPr>
          <p:nvPr/>
        </p:nvSpPr>
        <p:spPr>
          <a:xfrm>
            <a:off x="838200" y="3171825"/>
            <a:ext cx="17526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Forms, folder tree, viewer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1565C3C-5021-4950-AB10-F1212847572B}"/>
              </a:ext>
            </a:extLst>
          </p:cNvPr>
          <p:cNvSpPr>
            <a:spLocks noGrp="1"/>
          </p:cNvSpPr>
          <p:nvPr/>
        </p:nvSpPr>
        <p:spPr>
          <a:xfrm>
            <a:off x="2876550" y="3143250"/>
            <a:ext cx="857250" cy="38100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15696B-BD17-4128-9595-8A4BDE993697}"/>
              </a:ext>
            </a:extLst>
          </p:cNvPr>
          <p:cNvSpPr>
            <a:spLocks noGrp="1"/>
          </p:cNvSpPr>
          <p:nvPr/>
        </p:nvSpPr>
        <p:spPr>
          <a:xfrm>
            <a:off x="3924300" y="2419350"/>
            <a:ext cx="2476500" cy="1790700"/>
          </a:xfrm>
          <a:prstGeom prst="roundRect">
            <a:avLst>
              <a:gd name="adj" fmla="val 9574"/>
            </a:avLst>
          </a:prstGeom>
          <a:solidFill>
            <a:srgbClr val="10243E"/>
          </a:solidFill>
          <a:ln w="0">
            <a:solidFill>
              <a:srgbClr val="10243E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B1A243-6F1B-4B36-8B68-EDBBFA9F03B4}"/>
              </a:ext>
            </a:extLst>
          </p:cNvPr>
          <p:cNvSpPr>
            <a:spLocks noGrp="1"/>
          </p:cNvSpPr>
          <p:nvPr/>
        </p:nvSpPr>
        <p:spPr>
          <a:xfrm>
            <a:off x="4095750" y="2571750"/>
            <a:ext cx="2133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Synology NAS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FB2A19-FE7A-4C41-ADAF-8BEBFF81E59F}"/>
              </a:ext>
            </a:extLst>
          </p:cNvPr>
          <p:cNvSpPr>
            <a:spLocks noGrp="1"/>
          </p:cNvSpPr>
          <p:nvPr/>
        </p:nvSpPr>
        <p:spPr>
          <a:xfrm>
            <a:off x="4095750" y="2886075"/>
            <a:ext cx="2133600" cy="1266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Station + PHP</a:t>
            </a:r>
          </a:p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scanner service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1D75DFF-D4B5-4714-80D2-FC05AA0430B5}"/>
              </a:ext>
            </a:extLst>
          </p:cNvPr>
          <p:cNvSpPr>
            <a:spLocks noGrp="1"/>
          </p:cNvSpPr>
          <p:nvPr/>
        </p:nvSpPr>
        <p:spPr>
          <a:xfrm>
            <a:off x="6534150" y="3143250"/>
            <a:ext cx="857250" cy="381000"/>
          </a:xfrm>
          <a:prstGeom prst="rightArrow">
            <a:avLst/>
          </a:prstGeom>
          <a:solidFill>
            <a:srgbClr val="17A673"/>
          </a:solidFill>
          <a:ln w="0">
            <a:noFill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D2564D-CD48-4F04-ACA9-68168DE0E2F4}"/>
              </a:ext>
            </a:extLst>
          </p:cNvPr>
          <p:cNvSpPr>
            <a:spLocks noGrp="1"/>
          </p:cNvSpPr>
          <p:nvPr/>
        </p:nvSpPr>
        <p:spPr>
          <a:xfrm>
            <a:off x="7581900" y="2705100"/>
            <a:ext cx="1905000" cy="1219200"/>
          </a:xfrm>
          <a:prstGeom prst="roundRect">
            <a:avLst>
              <a:gd name="adj" fmla="val 14063"/>
            </a:avLst>
          </a:prstGeom>
          <a:solidFill>
            <a:srgbClr val="E9F8F1"/>
          </a:solidFill>
          <a:ln w="0">
            <a:solidFill>
              <a:srgbClr val="E9F8F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247DC2-2FBF-428A-8066-A78FD0899973}"/>
              </a:ext>
            </a:extLst>
          </p:cNvPr>
          <p:cNvSpPr>
            <a:spLocks noGrp="1"/>
          </p:cNvSpPr>
          <p:nvPr/>
        </p:nvSpPr>
        <p:spPr>
          <a:xfrm>
            <a:off x="7753350" y="285750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E1A8CC-0A74-4DA6-8689-1F785D253F64}"/>
              </a:ext>
            </a:extLst>
          </p:cNvPr>
          <p:cNvSpPr>
            <a:spLocks noGrp="1"/>
          </p:cNvSpPr>
          <p:nvPr/>
        </p:nvSpPr>
        <p:spPr>
          <a:xfrm>
            <a:off x="7753350" y="3171825"/>
            <a:ext cx="15621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Structured record data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8496A18-A908-4147-968E-2F6D652BD163}"/>
              </a:ext>
            </a:extLst>
          </p:cNvPr>
          <p:cNvSpPr>
            <a:spLocks noGrp="1"/>
          </p:cNvSpPr>
          <p:nvPr/>
        </p:nvSpPr>
        <p:spPr>
          <a:xfrm>
            <a:off x="9696450" y="2705100"/>
            <a:ext cx="1905000" cy="1219200"/>
          </a:xfrm>
          <a:prstGeom prst="roundRect">
            <a:avLst>
              <a:gd name="adj" fmla="val 14063"/>
            </a:avLst>
          </a:prstGeom>
          <a:solidFill>
            <a:srgbClr val="FFF5DE"/>
          </a:solidFill>
          <a:ln w="0">
            <a:solidFill>
              <a:srgbClr val="FFF5DE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871FE0-5722-4B11-9F2E-0E901D1F132F}"/>
              </a:ext>
            </a:extLst>
          </p:cNvPr>
          <p:cNvSpPr>
            <a:spLocks noGrp="1"/>
          </p:cNvSpPr>
          <p:nvPr/>
        </p:nvSpPr>
        <p:spPr>
          <a:xfrm>
            <a:off x="9867900" y="285750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archive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CEADC9-6E2B-4F1D-A8FB-B8E919851A82}"/>
              </a:ext>
            </a:extLst>
          </p:cNvPr>
          <p:cNvSpPr>
            <a:spLocks noGrp="1"/>
          </p:cNvSpPr>
          <p:nvPr/>
        </p:nvSpPr>
        <p:spPr>
          <a:xfrm>
            <a:off x="9867900" y="3171825"/>
            <a:ext cx="15621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Uploads and backups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49A69EFC-718B-4492-A7C0-C55A05EBB813}"/>
              </a:ext>
            </a:extLst>
          </p:cNvPr>
          <p:cNvSpPr>
            <a:spLocks noGrp="1"/>
          </p:cNvSpPr>
          <p:nvPr/>
        </p:nvSpPr>
        <p:spPr>
          <a:xfrm>
            <a:off x="5162550" y="4257675"/>
            <a:ext cx="0" cy="876300"/>
          </a:xfrm>
          <a:prstGeom prst="line">
            <a:avLst/>
          </a:prstGeom>
          <a:noFill/>
          <a:ln w="28575">
            <a:solidFill>
              <a:srgbClr val="D8E1ED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1AF2B4-293F-481F-BDBE-7B7CA1C482EB}"/>
              </a:ext>
            </a:extLst>
          </p:cNvPr>
          <p:cNvSpPr>
            <a:spLocks noGrp="1"/>
          </p:cNvSpPr>
          <p:nvPr/>
        </p:nvSpPr>
        <p:spPr>
          <a:xfrm>
            <a:off x="4000500" y="528637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Remote access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664AC-9488-42AA-BF8C-3168AE3DF34A}"/>
              </a:ext>
            </a:extLst>
          </p:cNvPr>
          <p:cNvSpPr>
            <a:spLocks noGrp="1"/>
          </p:cNvSpPr>
          <p:nvPr/>
        </p:nvSpPr>
        <p:spPr>
          <a:xfrm>
            <a:off x="5638800" y="52387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Cloudflare Tunnel → https://iscan.cdrms.online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B2B236-C26F-4F02-AB5C-C0DD3DC603E1}"/>
              </a:ext>
            </a:extLst>
          </p:cNvPr>
          <p:cNvSpPr>
            <a:spLocks noGrp="1"/>
          </p:cNvSpPr>
          <p:nvPr/>
        </p:nvSpPr>
        <p:spPr>
          <a:xfrm>
            <a:off x="4000500" y="58102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83A535-8442-43DF-A312-38EA83C79B5D}"/>
              </a:ext>
            </a:extLst>
          </p:cNvPr>
          <p:cNvSpPr>
            <a:spLocks noGrp="1"/>
          </p:cNvSpPr>
          <p:nvPr/>
        </p:nvSpPr>
        <p:spPr>
          <a:xfrm>
            <a:off x="5638800" y="57626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Same-LAN access → NAS IP and Web Station 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46BEDE-E4FE-4FBC-A7F6-67D7E56C6A62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A85BD4-47C8-41FA-AA5E-12EDB3297932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2250" y="4286250"/>
            <a:ext cx="857250" cy="857250"/>
          </a:xfrm>
          <a:prstGeom prst="roundRect">
            <a:avLst>
              <a:gd name="adj" fmla="val 20000"/>
            </a:avLst>
          </a:prstGeom>
        </p:spPr>
      </p:pic>
    </p:spTree>
    <p:extLst>
      <p:ext uri="{BB962C8B-B14F-4D97-AF65-F5344CB8AC3E}">
        <p14:creationId xmlns:p14="http://schemas.microsoft.com/office/powerpoint/2010/main" val="108115263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D78BA0F-C74C-4E95-9E5E-1559454F136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FROM PAPER TO ARCHIVE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6DEF7D-09A6-4775-B2A1-B800357A4DE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record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B723D-EFCE-464C-9EB3-4C42A195080F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32CBD-8F6F-4734-B3B3-9524D80E388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6350"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Each record follows a visible path so staff can see what needs encoding, review, approval, or correction.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994B96-8D10-43B6-8470-CAF4A284C74F}"/>
              </a:ext>
            </a:extLst>
          </p:cNvPr>
          <p:cNvSpPr>
            <a:spLocks noGrp="1"/>
          </p:cNvSpPr>
          <p:nvPr/>
        </p:nvSpPr>
        <p:spPr>
          <a:xfrm>
            <a:off x="1447800" y="249555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99437-47BC-41BE-97FF-6A0F9020FDF8}"/>
              </a:ext>
            </a:extLst>
          </p:cNvPr>
          <p:cNvSpPr>
            <a:spLocks noGrp="1"/>
          </p:cNvSpPr>
          <p:nvPr/>
        </p:nvSpPr>
        <p:spPr>
          <a:xfrm>
            <a:off x="1447800" y="25431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57A9C7-DD83-4EC7-A740-4B3B4E17C057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18097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C93319-0033-4CEB-B01E-F8F824E982DA}"/>
              </a:ext>
            </a:extLst>
          </p:cNvPr>
          <p:cNvSpPr>
            <a:spLocks noGrp="1"/>
          </p:cNvSpPr>
          <p:nvPr/>
        </p:nvSpPr>
        <p:spPr>
          <a:xfrm>
            <a:off x="895350" y="32004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4670F4-07A5-4339-A4EE-AE5CF22A6D51}"/>
              </a:ext>
            </a:extLst>
          </p:cNvPr>
          <p:cNvSpPr>
            <a:spLocks noGrp="1"/>
          </p:cNvSpPr>
          <p:nvPr/>
        </p:nvSpPr>
        <p:spPr>
          <a:xfrm>
            <a:off x="895350" y="3514725"/>
            <a:ext cx="14668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or upload PDF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0E3C9F-3B51-4622-B9AB-91E23327DFCD}"/>
              </a:ext>
            </a:extLst>
          </p:cNvPr>
          <p:cNvSpPr>
            <a:spLocks noGrp="1"/>
          </p:cNvSpPr>
          <p:nvPr/>
        </p:nvSpPr>
        <p:spPr>
          <a:xfrm>
            <a:off x="2571750" y="3390900"/>
            <a:ext cx="514350" cy="323850"/>
          </a:xfrm>
          <a:prstGeom prst="rightArrow">
            <a:avLst/>
          </a:prstGeom>
          <a:solidFill>
            <a:srgbClr val="D8E1E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115343-EF2F-4B08-9559-90B60C346059}"/>
              </a:ext>
            </a:extLst>
          </p:cNvPr>
          <p:cNvSpPr>
            <a:spLocks noGrp="1"/>
          </p:cNvSpPr>
          <p:nvPr/>
        </p:nvSpPr>
        <p:spPr>
          <a:xfrm>
            <a:off x="3524250" y="249555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C08F7A-0020-4D43-9DC3-31B00964B67C}"/>
              </a:ext>
            </a:extLst>
          </p:cNvPr>
          <p:cNvSpPr>
            <a:spLocks noGrp="1"/>
          </p:cNvSpPr>
          <p:nvPr/>
        </p:nvSpPr>
        <p:spPr>
          <a:xfrm>
            <a:off x="3524250" y="25431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A9DF01-EAC7-4012-A706-2AD44F86C0B7}"/>
              </a:ext>
            </a:extLst>
          </p:cNvPr>
          <p:cNvSpPr>
            <a:spLocks noGrp="1"/>
          </p:cNvSpPr>
          <p:nvPr/>
        </p:nvSpPr>
        <p:spPr>
          <a:xfrm>
            <a:off x="2800350" y="3048000"/>
            <a:ext cx="18097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6EE4F7-14B9-4103-A461-A92BA8003763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E9FBEE-CBF7-46C9-A4DF-6E6911E6CECB}"/>
              </a:ext>
            </a:extLst>
          </p:cNvPr>
          <p:cNvSpPr>
            <a:spLocks noGrp="1"/>
          </p:cNvSpPr>
          <p:nvPr/>
        </p:nvSpPr>
        <p:spPr>
          <a:xfrm>
            <a:off x="2971800" y="3514725"/>
            <a:ext cx="14668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OCR assists data entry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867E7CC-C359-4A53-8DA7-0440ED368B6F}"/>
              </a:ext>
            </a:extLst>
          </p:cNvPr>
          <p:cNvSpPr>
            <a:spLocks noGrp="1"/>
          </p:cNvSpPr>
          <p:nvPr/>
        </p:nvSpPr>
        <p:spPr>
          <a:xfrm>
            <a:off x="4648200" y="3390900"/>
            <a:ext cx="514350" cy="323850"/>
          </a:xfrm>
          <a:prstGeom prst="rightArrow">
            <a:avLst/>
          </a:prstGeom>
          <a:solidFill>
            <a:srgbClr val="D8E1E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D940594-AA81-4A9E-8716-066A88B45661}"/>
              </a:ext>
            </a:extLst>
          </p:cNvPr>
          <p:cNvSpPr>
            <a:spLocks noGrp="1"/>
          </p:cNvSpPr>
          <p:nvPr/>
        </p:nvSpPr>
        <p:spPr>
          <a:xfrm>
            <a:off x="5600700" y="249555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2938BD-08D4-4481-AD88-91E2850A8546}"/>
              </a:ext>
            </a:extLst>
          </p:cNvPr>
          <p:cNvSpPr>
            <a:spLocks noGrp="1"/>
          </p:cNvSpPr>
          <p:nvPr/>
        </p:nvSpPr>
        <p:spPr>
          <a:xfrm>
            <a:off x="5600700" y="25431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6D2A8E-EF0A-481E-8866-B47992111AD1}"/>
              </a:ext>
            </a:extLst>
          </p:cNvPr>
          <p:cNvSpPr>
            <a:spLocks noGrp="1"/>
          </p:cNvSpPr>
          <p:nvPr/>
        </p:nvSpPr>
        <p:spPr>
          <a:xfrm>
            <a:off x="4876800" y="3048000"/>
            <a:ext cx="18097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CBF69C-E4D1-42EC-A150-0E234D2661DB}"/>
              </a:ext>
            </a:extLst>
          </p:cNvPr>
          <p:cNvSpPr>
            <a:spLocks noGrp="1"/>
          </p:cNvSpPr>
          <p:nvPr/>
        </p:nvSpPr>
        <p:spPr>
          <a:xfrm>
            <a:off x="5048250" y="32004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E422A8-D3A4-4BDA-84B2-938D7DB7A7A9}"/>
              </a:ext>
            </a:extLst>
          </p:cNvPr>
          <p:cNvSpPr>
            <a:spLocks noGrp="1"/>
          </p:cNvSpPr>
          <p:nvPr/>
        </p:nvSpPr>
        <p:spPr>
          <a:xfrm>
            <a:off x="5048250" y="3514725"/>
            <a:ext cx="14668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Compare PDF and fields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200086F-474F-4C46-BC39-DA0006910BDD}"/>
              </a:ext>
            </a:extLst>
          </p:cNvPr>
          <p:cNvSpPr>
            <a:spLocks noGrp="1"/>
          </p:cNvSpPr>
          <p:nvPr/>
        </p:nvSpPr>
        <p:spPr>
          <a:xfrm>
            <a:off x="6724650" y="3390900"/>
            <a:ext cx="514350" cy="323850"/>
          </a:xfrm>
          <a:prstGeom prst="rightArrow">
            <a:avLst/>
          </a:prstGeom>
          <a:solidFill>
            <a:srgbClr val="D8E1ED"/>
          </a:solidFill>
          <a:ln w="0">
            <a:noFill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109FE9-E1E5-4799-BBB3-05D636A4C4E7}"/>
              </a:ext>
            </a:extLst>
          </p:cNvPr>
          <p:cNvSpPr>
            <a:spLocks noGrp="1"/>
          </p:cNvSpPr>
          <p:nvPr/>
        </p:nvSpPr>
        <p:spPr>
          <a:xfrm>
            <a:off x="7677150" y="249555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A49F99-EFD6-4466-BFE9-248DD64B4BC4}"/>
              </a:ext>
            </a:extLst>
          </p:cNvPr>
          <p:cNvSpPr>
            <a:spLocks noGrp="1"/>
          </p:cNvSpPr>
          <p:nvPr/>
        </p:nvSpPr>
        <p:spPr>
          <a:xfrm>
            <a:off x="7677150" y="25431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30B4A98-BFBE-42A1-8283-D642850BD35E}"/>
              </a:ext>
            </a:extLst>
          </p:cNvPr>
          <p:cNvSpPr>
            <a:spLocks noGrp="1"/>
          </p:cNvSpPr>
          <p:nvPr/>
        </p:nvSpPr>
        <p:spPr>
          <a:xfrm>
            <a:off x="6953250" y="3048000"/>
            <a:ext cx="18097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37830D-0C34-41E0-A7D7-83A5586F771A}"/>
              </a:ext>
            </a:extLst>
          </p:cNvPr>
          <p:cNvSpPr>
            <a:spLocks noGrp="1"/>
          </p:cNvSpPr>
          <p:nvPr/>
        </p:nvSpPr>
        <p:spPr>
          <a:xfrm>
            <a:off x="7124700" y="32004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B02797-BF9B-4609-A11E-A1C9906F0A14}"/>
              </a:ext>
            </a:extLst>
          </p:cNvPr>
          <p:cNvSpPr>
            <a:spLocks noGrp="1"/>
          </p:cNvSpPr>
          <p:nvPr/>
        </p:nvSpPr>
        <p:spPr>
          <a:xfrm>
            <a:off x="7124700" y="3514725"/>
            <a:ext cx="14668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Role-based transition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8C6D53C-E97C-47DF-9670-AAC049CF16EF}"/>
              </a:ext>
            </a:extLst>
          </p:cNvPr>
          <p:cNvSpPr>
            <a:spLocks noGrp="1"/>
          </p:cNvSpPr>
          <p:nvPr/>
        </p:nvSpPr>
        <p:spPr>
          <a:xfrm>
            <a:off x="8801100" y="3390900"/>
            <a:ext cx="514350" cy="323850"/>
          </a:xfrm>
          <a:prstGeom prst="rightArrow">
            <a:avLst/>
          </a:prstGeom>
          <a:solidFill>
            <a:srgbClr val="D8E1ED"/>
          </a:solidFill>
          <a:ln w="0">
            <a:noFill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E42665B-CB72-48EB-910D-2AA42F469C53}"/>
              </a:ext>
            </a:extLst>
          </p:cNvPr>
          <p:cNvSpPr>
            <a:spLocks noGrp="1"/>
          </p:cNvSpPr>
          <p:nvPr/>
        </p:nvSpPr>
        <p:spPr>
          <a:xfrm>
            <a:off x="9753600" y="2495550"/>
            <a:ext cx="361950" cy="361950"/>
          </a:xfrm>
          <a:prstGeom prst="ellipse">
            <a:avLst/>
          </a:prstGeom>
          <a:solidFill>
            <a:srgbClr val="17A673"/>
          </a:solidFill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DD1025-8F9D-4E6B-8C39-56DAD29A6130}"/>
              </a:ext>
            </a:extLst>
          </p:cNvPr>
          <p:cNvSpPr>
            <a:spLocks noGrp="1"/>
          </p:cNvSpPr>
          <p:nvPr/>
        </p:nvSpPr>
        <p:spPr>
          <a:xfrm>
            <a:off x="9753600" y="25431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339CEE2-1737-4423-B089-14FFB98BA084}"/>
              </a:ext>
            </a:extLst>
          </p:cNvPr>
          <p:cNvSpPr>
            <a:spLocks noGrp="1"/>
          </p:cNvSpPr>
          <p:nvPr/>
        </p:nvSpPr>
        <p:spPr>
          <a:xfrm>
            <a:off x="9029700" y="3048000"/>
            <a:ext cx="1809750" cy="1066800"/>
          </a:xfrm>
          <a:prstGeom prst="roundRect">
            <a:avLst>
              <a:gd name="adj" fmla="val 16071"/>
            </a:avLst>
          </a:prstGeom>
          <a:solidFill>
            <a:srgbClr val="E9F8F1"/>
          </a:solidFill>
          <a:ln w="0">
            <a:solidFill>
              <a:srgbClr val="E9F8F1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0608D3-D4FA-4B08-9981-749F2DDD21BF}"/>
              </a:ext>
            </a:extLst>
          </p:cNvPr>
          <p:cNvSpPr>
            <a:spLocks noGrp="1"/>
          </p:cNvSpPr>
          <p:nvPr/>
        </p:nvSpPr>
        <p:spPr>
          <a:xfrm>
            <a:off x="9201150" y="32004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FEBB98-4BDB-41CA-A857-9ACBAA321E02}"/>
              </a:ext>
            </a:extLst>
          </p:cNvPr>
          <p:cNvSpPr>
            <a:spLocks noGrp="1"/>
          </p:cNvSpPr>
          <p:nvPr/>
        </p:nvSpPr>
        <p:spPr>
          <a:xfrm>
            <a:off x="9201150" y="3514725"/>
            <a:ext cx="14668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Searchable record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3C6841-A5BC-4860-8432-60AA207E25BA}"/>
              </a:ext>
            </a:extLst>
          </p:cNvPr>
          <p:cNvSpPr>
            <a:spLocks noGrp="1"/>
          </p:cNvSpPr>
          <p:nvPr/>
        </p:nvSpPr>
        <p:spPr>
          <a:xfrm>
            <a:off x="1657350" y="4667250"/>
            <a:ext cx="857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B5AFAD-0F3E-48E2-A68B-4E492A547F65}"/>
              </a:ext>
            </a:extLst>
          </p:cNvPr>
          <p:cNvSpPr>
            <a:spLocks noGrp="1"/>
          </p:cNvSpPr>
          <p:nvPr/>
        </p:nvSpPr>
        <p:spPr>
          <a:xfrm>
            <a:off x="1752600" y="5238750"/>
            <a:ext cx="828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branches remain traceable with the responsible user, timestamp, and notes.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7C2E52-BCA2-4F93-A374-B55AAD50CC7A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E2816D-EDEA-4F4C-9579-15BFCB9854AD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181958925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C590E32-2574-4579-A1B4-AE71A1DDB46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RECOVERY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89E4C2-31FA-4CFF-A922-E1FE73BC3C5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Auto-save and restore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B98F3-01C6-4A73-ABD1-64BCA1F35193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1D55AF-9931-4428-9186-01E7EFADCBF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191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7037"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Auto-save protects work in progress when a browser closes, a laptop restarts, or a user needs to return later.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1544EA-2FB3-4385-A3AE-2ECBA971C288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2095500" cy="1257300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0">
            <a:solidFill>
              <a:srgbClr val="EAF2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6A59FD-4CD1-4D15-B3D7-BB351188AEE4}"/>
              </a:ext>
            </a:extLst>
          </p:cNvPr>
          <p:cNvSpPr>
            <a:spLocks noGrp="1"/>
          </p:cNvSpPr>
          <p:nvPr/>
        </p:nvSpPr>
        <p:spPr>
          <a:xfrm>
            <a:off x="857250" y="28384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1  Enter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165CE-938E-4E38-B9CC-E8D881122EC4}"/>
              </a:ext>
            </a:extLst>
          </p:cNvPr>
          <p:cNvSpPr>
            <a:spLocks noGrp="1"/>
          </p:cNvSpPr>
          <p:nvPr/>
        </p:nvSpPr>
        <p:spPr>
          <a:xfrm>
            <a:off x="857250" y="3152775"/>
            <a:ext cx="17526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 fields change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D4B1D42-5735-42A9-BC0E-F46434EFD397}"/>
              </a:ext>
            </a:extLst>
          </p:cNvPr>
          <p:cNvSpPr>
            <a:spLocks noGrp="1"/>
          </p:cNvSpPr>
          <p:nvPr/>
        </p:nvSpPr>
        <p:spPr>
          <a:xfrm>
            <a:off x="2914650" y="3143250"/>
            <a:ext cx="704850" cy="36195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E45B80-252F-4B63-A19C-934EF6322EC4}"/>
              </a:ext>
            </a:extLst>
          </p:cNvPr>
          <p:cNvSpPr>
            <a:spLocks noGrp="1"/>
          </p:cNvSpPr>
          <p:nvPr/>
        </p:nvSpPr>
        <p:spPr>
          <a:xfrm>
            <a:off x="3790950" y="2686050"/>
            <a:ext cx="2095500" cy="1257300"/>
          </a:xfrm>
          <a:prstGeom prst="roundRect">
            <a:avLst>
              <a:gd name="adj" fmla="val 13636"/>
            </a:avLst>
          </a:prstGeom>
          <a:solidFill>
            <a:srgbClr val="E9F8F1"/>
          </a:solidFill>
          <a:ln w="0">
            <a:solidFill>
              <a:srgbClr val="E9F8F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CB0C7E-6250-41C6-9F42-25FC1510CE5F}"/>
              </a:ext>
            </a:extLst>
          </p:cNvPr>
          <p:cNvSpPr>
            <a:spLocks noGrp="1"/>
          </p:cNvSpPr>
          <p:nvPr/>
        </p:nvSpPr>
        <p:spPr>
          <a:xfrm>
            <a:off x="3962400" y="28384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2  Auto-save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12C12-D468-411E-ABC3-CFC361231FD3}"/>
              </a:ext>
            </a:extLst>
          </p:cNvPr>
          <p:cNvSpPr>
            <a:spLocks noGrp="1"/>
          </p:cNvSpPr>
          <p:nvPr/>
        </p:nvSpPr>
        <p:spPr>
          <a:xfrm>
            <a:off x="3962400" y="3152775"/>
            <a:ext cx="17526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stays in browser storage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53E90D0-D01D-4E3B-805D-C7809B79E087}"/>
              </a:ext>
            </a:extLst>
          </p:cNvPr>
          <p:cNvSpPr>
            <a:spLocks noGrp="1"/>
          </p:cNvSpPr>
          <p:nvPr/>
        </p:nvSpPr>
        <p:spPr>
          <a:xfrm>
            <a:off x="6019800" y="3143250"/>
            <a:ext cx="704850" cy="36195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04C3A5-8CD6-43D0-B6EF-CA0DED7A7807}"/>
              </a:ext>
            </a:extLst>
          </p:cNvPr>
          <p:cNvSpPr>
            <a:spLocks noGrp="1"/>
          </p:cNvSpPr>
          <p:nvPr/>
        </p:nvSpPr>
        <p:spPr>
          <a:xfrm>
            <a:off x="6896100" y="2686050"/>
            <a:ext cx="2095500" cy="1257300"/>
          </a:xfrm>
          <a:prstGeom prst="roundRect">
            <a:avLst>
              <a:gd name="adj" fmla="val 13636"/>
            </a:avLst>
          </a:prstGeom>
          <a:solidFill>
            <a:srgbClr val="FFF5DE"/>
          </a:solidFill>
          <a:ln w="0">
            <a:solidFill>
              <a:srgbClr val="FFF5DE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49DD4C-D3BA-4109-8914-B3DFAE185753}"/>
              </a:ext>
            </a:extLst>
          </p:cNvPr>
          <p:cNvSpPr>
            <a:spLocks noGrp="1"/>
          </p:cNvSpPr>
          <p:nvPr/>
        </p:nvSpPr>
        <p:spPr>
          <a:xfrm>
            <a:off x="7067550" y="28384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3  Restore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F72B00-C261-4F41-B151-9B9339D597CA}"/>
              </a:ext>
            </a:extLst>
          </p:cNvPr>
          <p:cNvSpPr>
            <a:spLocks noGrp="1"/>
          </p:cNvSpPr>
          <p:nvPr/>
        </p:nvSpPr>
        <p:spPr>
          <a:xfrm>
            <a:off x="7067550" y="3152775"/>
            <a:ext cx="17526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User is offered the draft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B172A99-A2C0-4190-86EC-4E719C0B1AFD}"/>
              </a:ext>
            </a:extLst>
          </p:cNvPr>
          <p:cNvSpPr>
            <a:spLocks noGrp="1"/>
          </p:cNvSpPr>
          <p:nvPr/>
        </p:nvSpPr>
        <p:spPr>
          <a:xfrm>
            <a:off x="9124950" y="3143250"/>
            <a:ext cx="704850" cy="36195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82B88D-6A60-48DC-AE1B-238068F94C79}"/>
              </a:ext>
            </a:extLst>
          </p:cNvPr>
          <p:cNvSpPr>
            <a:spLocks noGrp="1"/>
          </p:cNvSpPr>
          <p:nvPr/>
        </p:nvSpPr>
        <p:spPr>
          <a:xfrm>
            <a:off x="10001250" y="2686050"/>
            <a:ext cx="1619250" cy="1257300"/>
          </a:xfrm>
          <a:prstGeom prst="roundRect">
            <a:avLst>
              <a:gd name="adj" fmla="val 13636"/>
            </a:avLst>
          </a:prstGeom>
          <a:solidFill>
            <a:srgbClr val="10243E"/>
          </a:solidFill>
          <a:ln w="0">
            <a:solidFill>
              <a:srgbClr val="10243E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77141E-1C94-4BFE-9094-F99DF2972595}"/>
              </a:ext>
            </a:extLst>
          </p:cNvPr>
          <p:cNvSpPr>
            <a:spLocks noGrp="1"/>
          </p:cNvSpPr>
          <p:nvPr/>
        </p:nvSpPr>
        <p:spPr>
          <a:xfrm>
            <a:off x="10172700" y="28384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Save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543C02-DEC7-4EB0-A18B-00C634A4E082}"/>
              </a:ext>
            </a:extLst>
          </p:cNvPr>
          <p:cNvSpPr>
            <a:spLocks noGrp="1"/>
          </p:cNvSpPr>
          <p:nvPr/>
        </p:nvSpPr>
        <p:spPr>
          <a:xfrm>
            <a:off x="10172700" y="3152775"/>
            <a:ext cx="12763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commit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76758A-87FE-4BF5-BF4B-ECE952B470E0}"/>
              </a:ext>
            </a:extLst>
          </p:cNvPr>
          <p:cNvSpPr>
            <a:spLocks noGrp="1"/>
          </p:cNvSpPr>
          <p:nvPr/>
        </p:nvSpPr>
        <p:spPr>
          <a:xfrm>
            <a:off x="1047750" y="4629150"/>
            <a:ext cx="10001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Draft keys are scoped to the user/session and certificate type.</a:t>
            </a:r>
          </a:p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Saved records clear their draft; edit mode clears stale draft data.</a:t>
            </a:r>
          </a:p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Auto-save is a recovery aid. The official record is created only after the Save action succeeds.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52EDE1-99BB-4992-B255-46A9D97BE23D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10B45F-867A-4586-87BA-ED01656358B8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1148007197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DF4010E-4A6A-4853-989F-B6D8C9CB25B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ORGANIZED STORAGE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D378C-49A4-490D-8AF9-1394A2381F9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Automatic folders and Folder Browser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FDB8E-93A1-49E8-882D-4A1B9C972E6D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66B99-9BAF-460E-A728-3D42EE2253F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upload path follows the record itself, so staff can browse by certificate type, year, and last name.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43BA30-8DDC-49E8-BCC1-C4D8688A60D1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5334000" cy="2324100"/>
          </a:xfrm>
          <a:prstGeom prst="roundRect">
            <a:avLst>
              <a:gd name="adj" fmla="val 9836"/>
            </a:avLst>
          </a:prstGeom>
          <a:solidFill>
            <a:srgbClr val="10243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2E488C-8C1F-4D04-AEDD-2002FAFBB1B1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birth / 1972 / TARUBAL 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866C1-3067-44A5-880A-88B749A58E06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6196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4EF"/>
                </a:solidFill>
                <a:latin typeface="Arial"/>
                <a:ea typeface="Arial"/>
                <a:cs typeface="Arial"/>
              </a:rPr>
              <a:t>cert_...pdf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AF74B-1677-4BA8-8760-EC88480BA253}"/>
              </a:ext>
            </a:extLst>
          </p:cNvPr>
          <p:cNvSpPr>
            <a:spLocks noGrp="1"/>
          </p:cNvSpPr>
          <p:nvPr/>
        </p:nvSpPr>
        <p:spPr>
          <a:xfrm>
            <a:off x="1009650" y="3981450"/>
            <a:ext cx="4619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FD4EF"/>
                </a:solidFill>
                <a:latin typeface="Arial"/>
                <a:ea typeface="Arial"/>
                <a:cs typeface="Arial"/>
              </a:rPr>
              <a:t>type  /  year  /  normalized last 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A18CD-65BC-4219-B0EF-32A043F9307F}"/>
              </a:ext>
            </a:extLst>
          </p:cNvPr>
          <p:cNvSpPr>
            <a:spLocks noGrp="1"/>
          </p:cNvSpPr>
          <p:nvPr/>
        </p:nvSpPr>
        <p:spPr>
          <a:xfrm>
            <a:off x="6762750" y="24193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folders are created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F3A3A8-F294-467B-B7D8-9A642F6CB304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4381500" cy="1962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system derives the year from the event date when available.</a:t>
            </a:r>
          </a:p>
          <a:p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It normalizes the last name for a consistent folder name.</a:t>
            </a:r>
          </a:p>
          <a:p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directory is created on first upload and reconciled when a record's name or date changes.</a:t>
            </a:r>
          </a:p>
          <a:p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Folder Browser counts and filters records without exposing raw server paths.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B08787-7CBF-4554-AD16-D72190AD3BC7}"/>
              </a:ext>
            </a:extLst>
          </p:cNvPr>
          <p:cNvSpPr>
            <a:spLocks noGrp="1"/>
          </p:cNvSpPr>
          <p:nvPr/>
        </p:nvSpPr>
        <p:spPr>
          <a:xfrm>
            <a:off x="6762750" y="531495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6771"/>
          </a:bodyPr>
          <a:lstStyle/>
          <a:p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This structure makes historical records easier to browse while the database remains the source of truth.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41045F-CE50-4B20-B52D-87E37D398559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D8FBCF-3F5F-4B0C-809C-201E843373EF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49544567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9326143-FF4A-4917-9DFF-1553605703A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7406A3-5720-4108-92EC-25D8E3839DD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Scanning and PDF upload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E53AC-FA5F-475F-9E6E-1A6983C1700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EC8C3-955F-4085-AE68-64BEBA590B94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746"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Paper certificates can enter the system through a connected Epson DS-530 II scanner or a normal PDF upload.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6E7DA9-D92A-492E-B41A-7B915EBAAC1F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2286000" cy="142875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0">
            <a:solidFill>
              <a:srgbClr val="EAF2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A3269D-EE44-463B-85D4-AFA914CD7FDB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Epson DS-530 II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3B031-51B7-4490-A0E7-3791E2A5BD19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19431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Scanner service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300 dpi / color or BW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61EDC93-DB4D-4399-B509-923ED4D26C30}"/>
              </a:ext>
            </a:extLst>
          </p:cNvPr>
          <p:cNvSpPr>
            <a:spLocks noGrp="1"/>
          </p:cNvSpPr>
          <p:nvPr/>
        </p:nvSpPr>
        <p:spPr>
          <a:xfrm>
            <a:off x="3124200" y="3295650"/>
            <a:ext cx="781050" cy="38100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8452F6-26B5-4C7A-9A4F-59421894FBC9}"/>
              </a:ext>
            </a:extLst>
          </p:cNvPr>
          <p:cNvSpPr>
            <a:spLocks noGrp="1"/>
          </p:cNvSpPr>
          <p:nvPr/>
        </p:nvSpPr>
        <p:spPr>
          <a:xfrm>
            <a:off x="4133850" y="2781300"/>
            <a:ext cx="2286000" cy="1428750"/>
          </a:xfrm>
          <a:prstGeom prst="roundRect">
            <a:avLst>
              <a:gd name="adj" fmla="val 12000"/>
            </a:avLst>
          </a:prstGeom>
          <a:solidFill>
            <a:srgbClr val="E9F8F1"/>
          </a:solidFill>
          <a:ln w="0">
            <a:solidFill>
              <a:srgbClr val="E9F8F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5AB98-36C0-4BE9-8C89-182CCB8EC249}"/>
              </a:ext>
            </a:extLst>
          </p:cNvPr>
          <p:cNvSpPr>
            <a:spLocks noGrp="1"/>
          </p:cNvSpPr>
          <p:nvPr/>
        </p:nvSpPr>
        <p:spPr>
          <a:xfrm>
            <a:off x="4305300" y="29337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3AC09C-656A-47E5-A579-B3C1C0047C59}"/>
              </a:ext>
            </a:extLst>
          </p:cNvPr>
          <p:cNvSpPr>
            <a:spLocks noGrp="1"/>
          </p:cNvSpPr>
          <p:nvPr/>
        </p:nvSpPr>
        <p:spPr>
          <a:xfrm>
            <a:off x="4305300" y="3248025"/>
            <a:ext cx="19431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Document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or Choose File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C94BF75-3769-4F38-980D-6173C71CAB43}"/>
              </a:ext>
            </a:extLst>
          </p:cNvPr>
          <p:cNvSpPr>
            <a:spLocks noGrp="1"/>
          </p:cNvSpPr>
          <p:nvPr/>
        </p:nvSpPr>
        <p:spPr>
          <a:xfrm>
            <a:off x="6648450" y="3295650"/>
            <a:ext cx="781050" cy="38100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53815C-608A-4641-BFA5-11AF43098BA1}"/>
              </a:ext>
            </a:extLst>
          </p:cNvPr>
          <p:cNvSpPr>
            <a:spLocks noGrp="1"/>
          </p:cNvSpPr>
          <p:nvPr/>
        </p:nvSpPr>
        <p:spPr>
          <a:xfrm>
            <a:off x="7658100" y="2781300"/>
            <a:ext cx="2286000" cy="1428750"/>
          </a:xfrm>
          <a:prstGeom prst="roundRect">
            <a:avLst>
              <a:gd name="adj" fmla="val 12000"/>
            </a:avLst>
          </a:prstGeom>
          <a:solidFill>
            <a:srgbClr val="FFF5DE"/>
          </a:solidFill>
          <a:ln w="0">
            <a:solidFill>
              <a:srgbClr val="FFF5DE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C7D6F9-A139-4D7D-BA48-1457C32E280C}"/>
              </a:ext>
            </a:extLst>
          </p:cNvPr>
          <p:cNvSpPr>
            <a:spLocks noGrp="1"/>
          </p:cNvSpPr>
          <p:nvPr/>
        </p:nvSpPr>
        <p:spPr>
          <a:xfrm>
            <a:off x="7829550" y="29337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2EFF4D-AD23-4580-9EC0-59B5152385BC}"/>
              </a:ext>
            </a:extLst>
          </p:cNvPr>
          <p:cNvSpPr>
            <a:spLocks noGrp="1"/>
          </p:cNvSpPr>
          <p:nvPr/>
        </p:nvSpPr>
        <p:spPr>
          <a:xfrm>
            <a:off x="7829550" y="3248025"/>
            <a:ext cx="19431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only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25 MB max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A05E1CB-402B-4C51-9E47-EF5EE3A20429}"/>
              </a:ext>
            </a:extLst>
          </p:cNvPr>
          <p:cNvSpPr>
            <a:spLocks noGrp="1"/>
          </p:cNvSpPr>
          <p:nvPr/>
        </p:nvSpPr>
        <p:spPr>
          <a:xfrm>
            <a:off x="10172700" y="3295650"/>
            <a:ext cx="781050" cy="38100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40163C-BC27-4715-A1C9-F1FF0FC73BB9}"/>
              </a:ext>
            </a:extLst>
          </p:cNvPr>
          <p:cNvSpPr>
            <a:spLocks noGrp="1"/>
          </p:cNvSpPr>
          <p:nvPr/>
        </p:nvSpPr>
        <p:spPr>
          <a:xfrm>
            <a:off x="10363200" y="2781300"/>
            <a:ext cx="1238250" cy="1428750"/>
          </a:xfrm>
          <a:prstGeom prst="roundRect">
            <a:avLst>
              <a:gd name="adj" fmla="val 13846"/>
            </a:avLst>
          </a:prstGeom>
          <a:solidFill>
            <a:srgbClr val="10243E"/>
          </a:solidFill>
          <a:ln w="0">
            <a:solidFill>
              <a:srgbClr val="10243E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FEE426-AEC2-42A0-870E-2DCDED0575E8}"/>
              </a:ext>
            </a:extLst>
          </p:cNvPr>
          <p:cNvSpPr>
            <a:spLocks noGrp="1"/>
          </p:cNvSpPr>
          <p:nvPr/>
        </p:nvSpPr>
        <p:spPr>
          <a:xfrm>
            <a:off x="10534650" y="2933700"/>
            <a:ext cx="895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0CCF2D-A947-4D9A-BC6F-516C53E532FD}"/>
              </a:ext>
            </a:extLst>
          </p:cNvPr>
          <p:cNvSpPr>
            <a:spLocks noGrp="1"/>
          </p:cNvSpPr>
          <p:nvPr/>
        </p:nvSpPr>
        <p:spPr>
          <a:xfrm>
            <a:off x="10534650" y="3248025"/>
            <a:ext cx="8953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Hash +</a:t>
            </a:r>
          </a:p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folder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EA8AB8-23F7-44B1-A512-876D6DC257C8}"/>
              </a:ext>
            </a:extLst>
          </p:cNvPr>
          <p:cNvSpPr>
            <a:spLocks noGrp="1"/>
          </p:cNvSpPr>
          <p:nvPr/>
        </p:nvSpPr>
        <p:spPr>
          <a:xfrm>
            <a:off x="1104900" y="4953000"/>
            <a:ext cx="9667875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scanner service returns a PDF to the browser for review.</a:t>
            </a:r>
          </a:p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upload path validates file type and size before it is stored.</a:t>
            </a:r>
          </a:p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file receives a SHA-256 hash and is checked for duplicate attachment.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250A32-7ACD-4E17-BE99-8AEB1980BBFD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C9C8BC-1F64-4363-9705-A790B19F5ACB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121658755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B16CC7A-0CCA-47FC-8A59-99648946869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9A23AC-ECEB-4BB2-BCEB-871C602FE6F9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OCR-assisted encoding and verification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9B8B9E-C72C-4586-A007-6AFE00A2EAB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B03DED-B7E9-4721-8E93-10E9265C7B44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OCR reduces retyping, while the encoder remains responsible for checking every extracted value.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EA1D1B-C009-4D42-87BA-A39C9B8C563F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4667250" cy="2952750"/>
          </a:xfrm>
          <a:prstGeom prst="roundRect">
            <a:avLst>
              <a:gd name="adj" fmla="val 7742"/>
            </a:avLst>
          </a:prstGeom>
          <a:solidFill>
            <a:srgbClr val="10243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4F89F-E4A5-40DC-BB06-3888B33478EA}"/>
              </a:ext>
            </a:extLst>
          </p:cNvPr>
          <p:cNvSpPr>
            <a:spLocks noGrp="1"/>
          </p:cNvSpPr>
          <p:nvPr/>
        </p:nvSpPr>
        <p:spPr>
          <a:xfrm>
            <a:off x="1123950" y="27622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6C1E-F481-438D-BD6A-0FDA6806B203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5E0EC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3EFD9F-2B02-4DC4-B5EB-21BE2F438F95}"/>
              </a:ext>
            </a:extLst>
          </p:cNvPr>
          <p:cNvSpPr>
            <a:spLocks noGrp="1"/>
          </p:cNvSpPr>
          <p:nvPr/>
        </p:nvSpPr>
        <p:spPr>
          <a:xfrm>
            <a:off x="1943100" y="3686175"/>
            <a:ext cx="2000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</a:t>
            </a:r>
          </a:p>
          <a:p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 LIVE BIRTH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F066B07-1AC0-4ACD-86F1-AB926E469E7D}"/>
              </a:ext>
            </a:extLst>
          </p:cNvPr>
          <p:cNvSpPr>
            <a:spLocks noGrp="1"/>
          </p:cNvSpPr>
          <p:nvPr/>
        </p:nvSpPr>
        <p:spPr>
          <a:xfrm>
            <a:off x="5524500" y="3638550"/>
            <a:ext cx="1047750" cy="41910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1DC19F-2F5F-4C3B-AC7D-ED374C3F4CF5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4667250" cy="295275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D8E1ED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C7B1CF-6065-4EA4-B82E-63DA80555C77}"/>
              </a:ext>
            </a:extLst>
          </p:cNvPr>
          <p:cNvSpPr>
            <a:spLocks noGrp="1"/>
          </p:cNvSpPr>
          <p:nvPr/>
        </p:nvSpPr>
        <p:spPr>
          <a:xfrm>
            <a:off x="7334250" y="27622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Suggested fields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4E45EC-773E-4409-95FC-F7DF23230490}"/>
              </a:ext>
            </a:extLst>
          </p:cNvPr>
          <p:cNvSpPr>
            <a:spLocks noGrp="1"/>
          </p:cNvSpPr>
          <p:nvPr/>
        </p:nvSpPr>
        <p:spPr>
          <a:xfrm>
            <a:off x="7334250" y="340995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Child name     Juan Dela Cruz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6825D4-4897-4F37-8600-34208E5E0A98}"/>
              </a:ext>
            </a:extLst>
          </p:cNvPr>
          <p:cNvSpPr>
            <a:spLocks noGrp="1"/>
          </p:cNvSpPr>
          <p:nvPr/>
        </p:nvSpPr>
        <p:spPr>
          <a:xfrm>
            <a:off x="7334250" y="382905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Date of birth  12 May 1972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C25C75-25A8-43FD-B09F-67A259E57029}"/>
              </a:ext>
            </a:extLst>
          </p:cNvPr>
          <p:cNvSpPr>
            <a:spLocks noGrp="1"/>
          </p:cNvSpPr>
          <p:nvPr/>
        </p:nvSpPr>
        <p:spPr>
          <a:xfrm>
            <a:off x="7334250" y="424815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Confidence     94%   •   Verify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933C3C-AD3F-4184-8157-BD19B60B54BB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963"/>
          </a:bodyPr>
          <a:lstStyle/>
          <a:p>
            <a:pPr algn="ctr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PDF Comparison Viewer places the original document beside the encoded fields for final checking.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98B205-B9BB-463D-B3B6-8B71531E6E16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43D765-FF41-4F6F-BFC3-18EE7AF1F6F2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1916350285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C9924AC-2685-4774-9881-388225B153C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A79351-91E2-433C-8F3D-0C4C8D4B648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 and record 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8F9889-1FF6-4E19-A28A-09FF5E517A9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04FCFF-1987-4327-A5EB-CF9A350C989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Records can be found by folder, name, registry number, date, location, or parent information.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BC5A9E-E3AF-4C72-B81C-94A8F7F97BD8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476500" cy="1485900"/>
          </a:xfrm>
          <a:prstGeom prst="roundRect">
            <a:avLst>
              <a:gd name="adj" fmla="val 11538"/>
            </a:avLst>
          </a:prstGeom>
          <a:solidFill>
            <a:srgbClr val="EAF2FF"/>
          </a:solidFill>
          <a:ln w="0">
            <a:solidFill>
              <a:srgbClr val="EAF2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C608FA-BA15-41DB-974D-F2AAB7EA723E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133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Folder Browser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44DA87-8DDD-4F0E-A3F2-2B8E1E994E0C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213360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Type → Year → Last name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Counts and quick selection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D1E54B-8DC7-4B04-B8AF-DA0D96E36A0E}"/>
              </a:ext>
            </a:extLst>
          </p:cNvPr>
          <p:cNvSpPr>
            <a:spLocks noGrp="1"/>
          </p:cNvSpPr>
          <p:nvPr/>
        </p:nvSpPr>
        <p:spPr>
          <a:xfrm>
            <a:off x="3562350" y="2724150"/>
            <a:ext cx="2476500" cy="1485900"/>
          </a:xfrm>
          <a:prstGeom prst="roundRect">
            <a:avLst>
              <a:gd name="adj" fmla="val 11538"/>
            </a:avLst>
          </a:prstGeom>
          <a:solidFill>
            <a:srgbClr val="E9F8F1"/>
          </a:solidFill>
          <a:ln w="0">
            <a:solidFill>
              <a:srgbClr val="E9F8F1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53431-77B7-4C1C-A29E-6438CF1E459E}"/>
              </a:ext>
            </a:extLst>
          </p:cNvPr>
          <p:cNvSpPr>
            <a:spLocks noGrp="1"/>
          </p:cNvSpPr>
          <p:nvPr/>
        </p:nvSpPr>
        <p:spPr>
          <a:xfrm>
            <a:off x="3733800" y="2876550"/>
            <a:ext cx="2133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Advanced 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790C28-AF22-44D0-80EF-B8CC78F2F490}"/>
              </a:ext>
            </a:extLst>
          </p:cNvPr>
          <p:cNvSpPr>
            <a:spLocks noGrp="1"/>
          </p:cNvSpPr>
          <p:nvPr/>
        </p:nvSpPr>
        <p:spPr>
          <a:xfrm>
            <a:off x="3733800" y="3190875"/>
            <a:ext cx="213360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Exact multi-token match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Fuzzy fallback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3ED8E4-2F90-4BB9-9AAE-E8E7A3FE688F}"/>
              </a:ext>
            </a:extLst>
          </p:cNvPr>
          <p:cNvSpPr>
            <a:spLocks noGrp="1"/>
          </p:cNvSpPr>
          <p:nvPr/>
        </p:nvSpPr>
        <p:spPr>
          <a:xfrm>
            <a:off x="6438900" y="2724150"/>
            <a:ext cx="2476500" cy="1485900"/>
          </a:xfrm>
          <a:prstGeom prst="roundRect">
            <a:avLst>
              <a:gd name="adj" fmla="val 11538"/>
            </a:avLst>
          </a:prstGeom>
          <a:solidFill>
            <a:srgbClr val="FFF5DE"/>
          </a:solidFill>
          <a:ln w="0">
            <a:solidFill>
              <a:srgbClr val="FFF5DE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E43C4-5DCD-4EFD-AA0D-D0A43071BC07}"/>
              </a:ext>
            </a:extLst>
          </p:cNvPr>
          <p:cNvSpPr>
            <a:spLocks noGrp="1"/>
          </p:cNvSpPr>
          <p:nvPr/>
        </p:nvSpPr>
        <p:spPr>
          <a:xfrm>
            <a:off x="6610350" y="2876550"/>
            <a:ext cx="2133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Records Viewer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E84307-BF23-4639-A65F-2B5B5B6B4384}"/>
              </a:ext>
            </a:extLst>
          </p:cNvPr>
          <p:cNvSpPr>
            <a:spLocks noGrp="1"/>
          </p:cNvSpPr>
          <p:nvPr/>
        </p:nvSpPr>
        <p:spPr>
          <a:xfrm>
            <a:off x="6610350" y="3190875"/>
            <a:ext cx="213360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Paging, filters, previews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Controlled PDF access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61AE6E-B7F1-4CD3-9AAA-C89565EBA772}"/>
              </a:ext>
            </a:extLst>
          </p:cNvPr>
          <p:cNvSpPr>
            <a:spLocks noGrp="1"/>
          </p:cNvSpPr>
          <p:nvPr/>
        </p:nvSpPr>
        <p:spPr>
          <a:xfrm>
            <a:off x="9315450" y="2724150"/>
            <a:ext cx="2286000" cy="1485900"/>
          </a:xfrm>
          <a:prstGeom prst="roundRect">
            <a:avLst>
              <a:gd name="adj" fmla="val 11538"/>
            </a:avLst>
          </a:prstGeom>
          <a:solidFill>
            <a:srgbClr val="10243E"/>
          </a:solidFill>
          <a:ln w="0">
            <a:solidFill>
              <a:srgbClr val="10243E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1DE969-67E1-4A64-8CEF-376F2AC2FE9F}"/>
              </a:ext>
            </a:extLst>
          </p:cNvPr>
          <p:cNvSpPr>
            <a:spLocks noGrp="1"/>
          </p:cNvSpPr>
          <p:nvPr/>
        </p:nvSpPr>
        <p:spPr>
          <a:xfrm>
            <a:off x="9486900" y="28765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612CCA-6F21-4888-86E9-E33659C44E8E}"/>
              </a:ext>
            </a:extLst>
          </p:cNvPr>
          <p:cNvSpPr>
            <a:spLocks noGrp="1"/>
          </p:cNvSpPr>
          <p:nvPr/>
        </p:nvSpPr>
        <p:spPr>
          <a:xfrm>
            <a:off x="9486900" y="3190875"/>
            <a:ext cx="194310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View, edit, archive</a:t>
            </a:r>
          </a:p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or restore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69A910B-1769-4DEA-A3AB-4FEBE786C08C}"/>
              </a:ext>
            </a:extLst>
          </p:cNvPr>
          <p:cNvSpPr>
            <a:spLocks noGrp="1"/>
          </p:cNvSpPr>
          <p:nvPr/>
        </p:nvSpPr>
        <p:spPr>
          <a:xfrm>
            <a:off x="3219450" y="3257550"/>
            <a:ext cx="266700" cy="285750"/>
          </a:xfrm>
          <a:prstGeom prst="rightArrow">
            <a:avLst/>
          </a:prstGeom>
          <a:solidFill>
            <a:srgbClr val="D8E1ED"/>
          </a:solidFill>
          <a:ln w="0">
            <a:noFill/>
          </a:ln>
        </p:spPr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560F04B-7A25-4AC1-A95F-495C3BA933BC}"/>
              </a:ext>
            </a:extLst>
          </p:cNvPr>
          <p:cNvSpPr>
            <a:spLocks noGrp="1"/>
          </p:cNvSpPr>
          <p:nvPr/>
        </p:nvSpPr>
        <p:spPr>
          <a:xfrm>
            <a:off x="6096000" y="3257550"/>
            <a:ext cx="266700" cy="285750"/>
          </a:xfrm>
          <a:prstGeom prst="rightArrow">
            <a:avLst/>
          </a:prstGeom>
          <a:solidFill>
            <a:srgbClr val="D8E1ED"/>
          </a:solidFill>
          <a:ln w="0">
            <a:noFill/>
          </a:ln>
        </p:spPr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9ABD46B-6589-49AF-A764-6CF0C0F3761D}"/>
              </a:ext>
            </a:extLst>
          </p:cNvPr>
          <p:cNvSpPr>
            <a:spLocks noGrp="1"/>
          </p:cNvSpPr>
          <p:nvPr/>
        </p:nvSpPr>
        <p:spPr>
          <a:xfrm>
            <a:off x="8972550" y="3257550"/>
            <a:ext cx="266700" cy="285750"/>
          </a:xfrm>
          <a:prstGeom prst="rightArrow">
            <a:avLst/>
          </a:prstGeom>
          <a:solidFill>
            <a:srgbClr val="D8E1ED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320706-CF44-4011-BD1B-309B5FEF89F7}"/>
              </a:ext>
            </a:extLst>
          </p:cNvPr>
          <p:cNvSpPr>
            <a:spLocks noGrp="1"/>
          </p:cNvSpPr>
          <p:nvPr/>
        </p:nvSpPr>
        <p:spPr>
          <a:xfrm>
            <a:off x="1428750" y="5010150"/>
            <a:ext cx="885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Two-pass search starts with strict multi-field matching, then falls back to fuzzy matching when needed.</a:t>
            </a:r>
          </a:p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viewer keeps the record data and PDF reference together for a faster retrieval process.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FF38F7-E74D-4358-90A7-A42126EAD866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BB883-48D5-440E-B08C-8EFD1189D855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83784286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66F4C05-6F36-4F74-8AF5-7B30C8C3A1E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8C6D78-73D6-4C34-8ADB-1B68F851613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Roles, approvals, and accountability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5E0B49-7FBC-4BE9-8D1F-DD1C5B50EBAD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8E7BC-6116-4024-BCFD-FFD8FBFA895C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system limits what each user can do and records the actions that matter.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B9062F-DBC9-478A-BFC2-911C0C1EA366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2095500" cy="1181100"/>
          </a:xfrm>
          <a:prstGeom prst="roundRect">
            <a:avLst>
              <a:gd name="adj" fmla="val 14516"/>
            </a:avLst>
          </a:prstGeom>
          <a:solidFill>
            <a:srgbClr val="10243E"/>
          </a:solidFill>
          <a:ln w="0">
            <a:solidFill>
              <a:srgbClr val="10243E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D2CDA8-64FF-43B1-B8E3-8017E918A27A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42730E-EB33-4B68-843F-6192B88FD5DF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17526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users, settings,</a:t>
            </a:r>
          </a:p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restore, delete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2029B1-6DBD-4FDC-B457-F9568499C61F}"/>
              </a:ext>
            </a:extLst>
          </p:cNvPr>
          <p:cNvSpPr>
            <a:spLocks noGrp="1"/>
          </p:cNvSpPr>
          <p:nvPr/>
        </p:nvSpPr>
        <p:spPr>
          <a:xfrm>
            <a:off x="3105150" y="2457450"/>
            <a:ext cx="2095500" cy="1181100"/>
          </a:xfrm>
          <a:prstGeom prst="roundRect">
            <a:avLst>
              <a:gd name="adj" fmla="val 14516"/>
            </a:avLst>
          </a:prstGeom>
          <a:solidFill>
            <a:srgbClr val="EAF2FF"/>
          </a:solidFill>
          <a:ln w="0">
            <a:solidFill>
              <a:srgbClr val="EAF2F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85F6E-4208-4F2E-A191-17FBEC8522BA}"/>
              </a:ext>
            </a:extLst>
          </p:cNvPr>
          <p:cNvSpPr>
            <a:spLocks noGrp="1"/>
          </p:cNvSpPr>
          <p:nvPr/>
        </p:nvSpPr>
        <p:spPr>
          <a:xfrm>
            <a:off x="3276600" y="26098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AD4854-791E-45F6-8311-E1DC11986AEB}"/>
              </a:ext>
            </a:extLst>
          </p:cNvPr>
          <p:cNvSpPr>
            <a:spLocks noGrp="1"/>
          </p:cNvSpPr>
          <p:nvPr/>
        </p:nvSpPr>
        <p:spPr>
          <a:xfrm>
            <a:off x="3276600" y="2924175"/>
            <a:ext cx="17526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Create and update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assigned records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308FB07-AD22-4263-AD08-4996440269A3}"/>
              </a:ext>
            </a:extLst>
          </p:cNvPr>
          <p:cNvSpPr>
            <a:spLocks noGrp="1"/>
          </p:cNvSpPr>
          <p:nvPr/>
        </p:nvSpPr>
        <p:spPr>
          <a:xfrm>
            <a:off x="5505450" y="2457450"/>
            <a:ext cx="2095500" cy="1181100"/>
          </a:xfrm>
          <a:prstGeom prst="roundRect">
            <a:avLst>
              <a:gd name="adj" fmla="val 14516"/>
            </a:avLst>
          </a:prstGeom>
          <a:solidFill>
            <a:srgbClr val="E9F8F1"/>
          </a:solidFill>
          <a:ln w="0">
            <a:solidFill>
              <a:srgbClr val="E9F8F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E7663B-DF2F-4C3E-AFB3-A4391BDA3746}"/>
              </a:ext>
            </a:extLst>
          </p:cNvPr>
          <p:cNvSpPr>
            <a:spLocks noGrp="1"/>
          </p:cNvSpPr>
          <p:nvPr/>
        </p:nvSpPr>
        <p:spPr>
          <a:xfrm>
            <a:off x="5676900" y="26098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893468-35CA-4003-A4F1-BEDF0A7AEC62}"/>
              </a:ext>
            </a:extLst>
          </p:cNvPr>
          <p:cNvSpPr>
            <a:spLocks noGrp="1"/>
          </p:cNvSpPr>
          <p:nvPr/>
        </p:nvSpPr>
        <p:spPr>
          <a:xfrm>
            <a:off x="5676900" y="2924175"/>
            <a:ext cx="17526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Read and retrieve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permitted records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C8A2E4-9281-468C-87F0-E332E04F536E}"/>
              </a:ext>
            </a:extLst>
          </p:cNvPr>
          <p:cNvSpPr>
            <a:spLocks noGrp="1"/>
          </p:cNvSpPr>
          <p:nvPr/>
        </p:nvSpPr>
        <p:spPr>
          <a:xfrm>
            <a:off x="8058150" y="2266950"/>
            <a:ext cx="3333750" cy="156210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9050">
            <a:solidFill>
              <a:srgbClr val="D8E1ED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62B08A-AF5D-461B-A006-58D20FB1D39F}"/>
              </a:ext>
            </a:extLst>
          </p:cNvPr>
          <p:cNvSpPr>
            <a:spLocks noGrp="1"/>
          </p:cNvSpPr>
          <p:nvPr/>
        </p:nvSpPr>
        <p:spPr>
          <a:xfrm>
            <a:off x="8401050" y="2533650"/>
            <a:ext cx="26289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Every significant 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31326B-2813-42FE-8247-EBBF62D4E0B0}"/>
              </a:ext>
            </a:extLst>
          </p:cNvPr>
          <p:cNvSpPr>
            <a:spLocks noGrp="1"/>
          </p:cNvSpPr>
          <p:nvPr/>
        </p:nvSpPr>
        <p:spPr>
          <a:xfrm>
            <a:off x="8324850" y="306705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985"/>
          </a:bodyPr>
          <a:lstStyle/>
          <a:p>
            <a:pPr algn="ctr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user  •  action  •  IP  •  device  •  timestamp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C93F17C-DDC4-4399-83D6-D2A0C8C8C1C0}"/>
              </a:ext>
            </a:extLst>
          </p:cNvPr>
          <p:cNvSpPr>
            <a:spLocks noGrp="1"/>
          </p:cNvSpPr>
          <p:nvPr/>
        </p:nvSpPr>
        <p:spPr>
          <a:xfrm>
            <a:off x="704850" y="4476750"/>
            <a:ext cx="10668000" cy="0"/>
          </a:xfrm>
          <a:prstGeom prst="line">
            <a:avLst/>
          </a:prstGeom>
          <a:noFill/>
          <a:ln w="19050">
            <a:solidFill>
              <a:srgbClr val="D8E1ED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350E8E-FF90-4EF7-8246-3F26638853AA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Workflow states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81851F-126C-4C64-9B8E-3ACBA8B361A2}"/>
              </a:ext>
            </a:extLst>
          </p:cNvPr>
          <p:cNvSpPr>
            <a:spLocks noGrp="1"/>
          </p:cNvSpPr>
          <p:nvPr/>
        </p:nvSpPr>
        <p:spPr>
          <a:xfrm>
            <a:off x="2667000" y="476250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2FDDE-DC78-420B-951D-54E67BEDD661}"/>
              </a:ext>
            </a:extLst>
          </p:cNvPr>
          <p:cNvSpPr>
            <a:spLocks noGrp="1"/>
          </p:cNvSpPr>
          <p:nvPr/>
        </p:nvSpPr>
        <p:spPr>
          <a:xfrm>
            <a:off x="2667000" y="5219700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transitions retain notes and timestamps for follow-up.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EA2559-EAA7-4FE4-986E-6186538DD312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C8B367-EA8A-4477-ABC1-C230C28415D5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838234460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CF2A3DC-FD0A-4A6D-B6C2-47F84137A00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638CCE-C512-4069-B9F6-DA7CCB19E6E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Backup, restore, and document integrity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939869-8DE7-40B7-9881-9F3EF8227EA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1D1FF1-6460-42A2-9517-20CA08DB079C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Backups protect both the current file and the ability to return to a known-good state.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76A704-47ED-4ADC-B9DA-841A7842A577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2190750" cy="1333500"/>
          </a:xfrm>
          <a:prstGeom prst="roundRect">
            <a:avLst>
              <a:gd name="adj" fmla="val 12857"/>
            </a:avLst>
          </a:prstGeom>
          <a:solidFill>
            <a:srgbClr val="EAF2FF"/>
          </a:solidFill>
          <a:ln w="0">
            <a:solidFill>
              <a:srgbClr val="EAF2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27AA52-2ED8-43FA-BECF-AD9532B76394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Replace PDF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AF250D-F403-4A9C-9EE7-49BFEC06309A}"/>
              </a:ext>
            </a:extLst>
          </p:cNvPr>
          <p:cNvSpPr>
            <a:spLocks noGrp="1"/>
          </p:cNvSpPr>
          <p:nvPr/>
        </p:nvSpPr>
        <p:spPr>
          <a:xfrm>
            <a:off x="838200" y="3209925"/>
            <a:ext cx="18478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New attachment arrives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023913F-9EE5-4D88-BF02-AAFAA3E75E27}"/>
              </a:ext>
            </a:extLst>
          </p:cNvPr>
          <p:cNvSpPr>
            <a:spLocks noGrp="1"/>
          </p:cNvSpPr>
          <p:nvPr/>
        </p:nvSpPr>
        <p:spPr>
          <a:xfrm>
            <a:off x="3067050" y="3219450"/>
            <a:ext cx="666750" cy="34290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DC0F90-4886-4530-A0E7-6A13A0B17560}"/>
              </a:ext>
            </a:extLst>
          </p:cNvPr>
          <p:cNvSpPr>
            <a:spLocks noGrp="1"/>
          </p:cNvSpPr>
          <p:nvPr/>
        </p:nvSpPr>
        <p:spPr>
          <a:xfrm>
            <a:off x="3924300" y="2743200"/>
            <a:ext cx="2190750" cy="1333500"/>
          </a:xfrm>
          <a:prstGeom prst="roundRect">
            <a:avLst>
              <a:gd name="adj" fmla="val 12857"/>
            </a:avLst>
          </a:prstGeom>
          <a:solidFill>
            <a:srgbClr val="FFF5DE"/>
          </a:solidFill>
          <a:ln w="0">
            <a:solidFill>
              <a:srgbClr val="FFF5DE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3C5E89-A701-4644-9A93-9C9BF6C1A8D4}"/>
              </a:ext>
            </a:extLst>
          </p:cNvPr>
          <p:cNvSpPr>
            <a:spLocks noGrp="1"/>
          </p:cNvSpPr>
          <p:nvPr/>
        </p:nvSpPr>
        <p:spPr>
          <a:xfrm>
            <a:off x="4095750" y="289560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 old PDF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5CA7AD-8C0B-413E-BB95-4654CAE99795}"/>
              </a:ext>
            </a:extLst>
          </p:cNvPr>
          <p:cNvSpPr>
            <a:spLocks noGrp="1"/>
          </p:cNvSpPr>
          <p:nvPr/>
        </p:nvSpPr>
        <p:spPr>
          <a:xfrm>
            <a:off x="4095750" y="3209925"/>
            <a:ext cx="18478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Timestamped backup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keeps prior version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AF1A696-0DAA-4D23-A639-2F05BDD81B8A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666750" cy="34290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4487168-88AF-49E0-83EB-E5B8CD2471BA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2190750" cy="1333500"/>
          </a:xfrm>
          <a:prstGeom prst="roundRect">
            <a:avLst>
              <a:gd name="adj" fmla="val 12857"/>
            </a:avLst>
          </a:prstGeom>
          <a:solidFill>
            <a:srgbClr val="E9F8F1"/>
          </a:solidFill>
          <a:ln w="0">
            <a:solidFill>
              <a:srgbClr val="E9F8F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9FEEDB-5494-48E5-B0D0-FD22C2542F2E}"/>
              </a:ext>
            </a:extLst>
          </p:cNvPr>
          <p:cNvSpPr>
            <a:spLocks noGrp="1"/>
          </p:cNvSpPr>
          <p:nvPr/>
        </p:nvSpPr>
        <p:spPr>
          <a:xfrm>
            <a:off x="7353300" y="289560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Verify hash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B5F201-2474-47D1-A244-FB24DCF0E30D}"/>
              </a:ext>
            </a:extLst>
          </p:cNvPr>
          <p:cNvSpPr>
            <a:spLocks noGrp="1"/>
          </p:cNvSpPr>
          <p:nvPr/>
        </p:nvSpPr>
        <p:spPr>
          <a:xfrm>
            <a:off x="7353300" y="3209925"/>
            <a:ext cx="18478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SHA-256 detects</a:t>
            </a:r>
          </a:p>
          <a:p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change or corruption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2F7A6BC-58E5-4DB2-9165-4AC3D73A74F4}"/>
              </a:ext>
            </a:extLst>
          </p:cNvPr>
          <p:cNvSpPr>
            <a:spLocks noGrp="1"/>
          </p:cNvSpPr>
          <p:nvPr/>
        </p:nvSpPr>
        <p:spPr>
          <a:xfrm>
            <a:off x="9582150" y="3219450"/>
            <a:ext cx="666750" cy="342900"/>
          </a:xfrm>
          <a:prstGeom prst="rightArrow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B199A6-4DAE-4B5A-808D-A8073838E93C}"/>
              </a:ext>
            </a:extLst>
          </p:cNvPr>
          <p:cNvSpPr>
            <a:spLocks noGrp="1"/>
          </p:cNvSpPr>
          <p:nvPr/>
        </p:nvSpPr>
        <p:spPr>
          <a:xfrm>
            <a:off x="10439400" y="2743200"/>
            <a:ext cx="1219200" cy="1333500"/>
          </a:xfrm>
          <a:prstGeom prst="roundRect">
            <a:avLst>
              <a:gd name="adj" fmla="val 14063"/>
            </a:avLst>
          </a:prstGeom>
          <a:solidFill>
            <a:srgbClr val="10243E"/>
          </a:solidFill>
          <a:ln w="0">
            <a:solidFill>
              <a:srgbClr val="10243E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5BF58-0439-4850-9F41-FC6E48FE7F43}"/>
              </a:ext>
            </a:extLst>
          </p:cNvPr>
          <p:cNvSpPr>
            <a:spLocks noGrp="1"/>
          </p:cNvSpPr>
          <p:nvPr/>
        </p:nvSpPr>
        <p:spPr>
          <a:xfrm>
            <a:off x="10610850" y="2895600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764A21-0AA3-4EF2-8F83-93DFBEC5BD3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8763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1802FE-2FEB-4F0E-87DA-5E5955B8567C}"/>
              </a:ext>
            </a:extLst>
          </p:cNvPr>
          <p:cNvSpPr>
            <a:spLocks noGrp="1"/>
          </p:cNvSpPr>
          <p:nvPr/>
        </p:nvSpPr>
        <p:spPr>
          <a:xfrm>
            <a:off x="1123950" y="4876800"/>
            <a:ext cx="9763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PDF Backup Manager supports verification, restore, and cleanup of orphaned files.</a:t>
            </a:r>
          </a:p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Soft-deleted records remain restorable through Trash; permanent deletion is restricted.</a:t>
            </a:r>
          </a:p>
          <a:p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NAS deployment backups include a verified file archive and a database dump for rollback planning.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894E1E-2632-4208-9F8C-CE193759198F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7E9984-031B-4E0F-8666-A113D80AED44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416725519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8A72531-58F2-4ECC-BD97-6A5AF5A8A2F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DEFENSE IN DEPTH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832FCF-82E4-4D30-BB82-D4EB6DBE772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A3BB57-546B-4B82-95AB-841E0D66307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4A8DF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14DB02-568F-4CE4-AFA4-664F6171FCB7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9239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Controls are layered so the system does not rely on one safeguard alone.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4EBB94-003A-4266-AE54-27D2CD6C2293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3238500" cy="1181100"/>
          </a:xfrm>
          <a:prstGeom prst="roundRect">
            <a:avLst>
              <a:gd name="adj" fmla="val 16129"/>
            </a:avLst>
          </a:prstGeom>
          <a:solidFill>
            <a:srgbClr val="183657"/>
          </a:solidFill>
          <a:ln w="28575">
            <a:solidFill>
              <a:srgbClr val="2F6BDE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ECF8B-4BF2-44B9-9670-A49890879CE0}"/>
              </a:ext>
            </a:extLst>
          </p:cNvPr>
          <p:cNvSpPr>
            <a:spLocks noGrp="1"/>
          </p:cNvSpPr>
          <p:nvPr/>
        </p:nvSpPr>
        <p:spPr>
          <a:xfrm>
            <a:off x="895350" y="2628900"/>
            <a:ext cx="2781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68073-4639-4BCE-9A12-1B5C2D980526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146"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bcrypt passwords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rate limits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session timeout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6D5618-BC89-433C-ADA3-D01C8B3EDAE8}"/>
              </a:ext>
            </a:extLst>
          </p:cNvPr>
          <p:cNvSpPr>
            <a:spLocks noGrp="1"/>
          </p:cNvSpPr>
          <p:nvPr/>
        </p:nvSpPr>
        <p:spPr>
          <a:xfrm>
            <a:off x="4381500" y="2457450"/>
            <a:ext cx="3238500" cy="1181100"/>
          </a:xfrm>
          <a:prstGeom prst="roundRect">
            <a:avLst>
              <a:gd name="adj" fmla="val 16129"/>
            </a:avLst>
          </a:prstGeom>
          <a:solidFill>
            <a:srgbClr val="183657"/>
          </a:solidFill>
          <a:ln w="28575">
            <a:solidFill>
              <a:srgbClr val="17A673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C7C705-B4DC-4E46-BBB4-A3E823C006B8}"/>
              </a:ext>
            </a:extLst>
          </p:cNvPr>
          <p:cNvSpPr>
            <a:spLocks noGrp="1"/>
          </p:cNvSpPr>
          <p:nvPr/>
        </p:nvSpPr>
        <p:spPr>
          <a:xfrm>
            <a:off x="4610100" y="2628900"/>
            <a:ext cx="2781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930703-F872-43BA-8991-DFF44273C347}"/>
              </a:ext>
            </a:extLst>
          </p:cNvPr>
          <p:cNvSpPr>
            <a:spLocks noGrp="1"/>
          </p:cNvSpPr>
          <p:nvPr/>
        </p:nvSpPr>
        <p:spPr>
          <a:xfrm>
            <a:off x="4610100" y="299085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146"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 / Encoder / Viewer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per-record checks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admin-only delete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D48A79-23C5-4E83-8EF0-D092197971D2}"/>
              </a:ext>
            </a:extLst>
          </p:cNvPr>
          <p:cNvSpPr>
            <a:spLocks noGrp="1"/>
          </p:cNvSpPr>
          <p:nvPr/>
        </p:nvSpPr>
        <p:spPr>
          <a:xfrm>
            <a:off x="8096250" y="2457450"/>
            <a:ext cx="3238500" cy="1181100"/>
          </a:xfrm>
          <a:prstGeom prst="roundRect">
            <a:avLst>
              <a:gd name="adj" fmla="val 16129"/>
            </a:avLst>
          </a:prstGeom>
          <a:solidFill>
            <a:srgbClr val="183657"/>
          </a:solidFill>
          <a:ln w="28575">
            <a:solidFill>
              <a:srgbClr val="D98B16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8D546C-269A-4BC2-A687-5D5906F44420}"/>
              </a:ext>
            </a:extLst>
          </p:cNvPr>
          <p:cNvSpPr>
            <a:spLocks noGrp="1"/>
          </p:cNvSpPr>
          <p:nvPr/>
        </p:nvSpPr>
        <p:spPr>
          <a:xfrm>
            <a:off x="8324850" y="2628900"/>
            <a:ext cx="2781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5EB371-BD42-46E5-ACFE-CBB357571B08}"/>
              </a:ext>
            </a:extLst>
          </p:cNvPr>
          <p:cNvSpPr>
            <a:spLocks noGrp="1"/>
          </p:cNvSpPr>
          <p:nvPr/>
        </p:nvSpPr>
        <p:spPr>
          <a:xfrm>
            <a:off x="8324850" y="299085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146"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CSRF tokens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prepared SQL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MIME + path checks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0E1173-475E-49BE-93C7-6F718A427E13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3238500" cy="1181100"/>
          </a:xfrm>
          <a:prstGeom prst="roundRect">
            <a:avLst>
              <a:gd name="adj" fmla="val 16129"/>
            </a:avLst>
          </a:prstGeom>
          <a:solidFill>
            <a:srgbClr val="183657"/>
          </a:solidFill>
          <a:ln w="28575">
            <a:solidFill>
              <a:srgbClr val="D94F62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A17773-F124-41E8-928F-164AE74CB589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2781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2830DF-CEAF-43C8-B019-7657FAC2978E}"/>
              </a:ext>
            </a:extLst>
          </p:cNvPr>
          <p:cNvSpPr>
            <a:spLocks noGrp="1"/>
          </p:cNvSpPr>
          <p:nvPr/>
        </p:nvSpPr>
        <p:spPr>
          <a:xfrm>
            <a:off x="895350" y="453390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146"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CSP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HSTS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frame and type headers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9646E4-377F-4531-ADA4-69ED4A68BB7E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238500" cy="1181100"/>
          </a:xfrm>
          <a:prstGeom prst="roundRect">
            <a:avLst>
              <a:gd name="adj" fmla="val 16129"/>
            </a:avLst>
          </a:prstGeom>
          <a:solidFill>
            <a:srgbClr val="183657"/>
          </a:solidFill>
          <a:ln w="28575">
            <a:solidFill>
              <a:srgbClr val="7F62D9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FE2FDF-3590-49A8-B254-20F70163E88C}"/>
              </a:ext>
            </a:extLst>
          </p:cNvPr>
          <p:cNvSpPr>
            <a:spLocks noGrp="1"/>
          </p:cNvSpPr>
          <p:nvPr/>
        </p:nvSpPr>
        <p:spPr>
          <a:xfrm>
            <a:off x="4610100" y="4171950"/>
            <a:ext cx="2781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A9DDC0-030E-4797-A88F-A0798E448615}"/>
              </a:ext>
            </a:extLst>
          </p:cNvPr>
          <p:cNvSpPr>
            <a:spLocks noGrp="1"/>
          </p:cNvSpPr>
          <p:nvPr/>
        </p:nvSpPr>
        <p:spPr>
          <a:xfrm>
            <a:off x="4610100" y="453390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146"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activity logs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logs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IP + device trail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F49399-10BB-48BC-8077-0F2510E29A85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238500" cy="1181100"/>
          </a:xfrm>
          <a:prstGeom prst="roundRect">
            <a:avLst>
              <a:gd name="adj" fmla="val 16129"/>
            </a:avLst>
          </a:prstGeom>
          <a:solidFill>
            <a:srgbClr val="183657"/>
          </a:solidFill>
          <a:ln w="28575">
            <a:solidFill>
              <a:srgbClr val="3E9DB7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D73FFB-D83F-48A1-A5F6-5F979EB68039}"/>
              </a:ext>
            </a:extLst>
          </p:cNvPr>
          <p:cNvSpPr>
            <a:spLocks noGrp="1"/>
          </p:cNvSpPr>
          <p:nvPr/>
        </p:nvSpPr>
        <p:spPr>
          <a:xfrm>
            <a:off x="8324850" y="4171950"/>
            <a:ext cx="2781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44F4FB-1DA2-4B88-A1FC-8E89381DC342}"/>
              </a:ext>
            </a:extLst>
          </p:cNvPr>
          <p:cNvSpPr>
            <a:spLocks noGrp="1"/>
          </p:cNvSpPr>
          <p:nvPr/>
        </p:nvSpPr>
        <p:spPr>
          <a:xfrm>
            <a:off x="8324850" y="4533900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146"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SHA-256 PDFs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duplicate checks</a:t>
            </a:r>
          </a:p>
          <a:p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backup restore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E73806-3A75-4121-B153-F39421C70CF8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is an operating practice: review logs, keep backups, test restores, and update the deployment deliberately.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648C56-0379-4E37-A38B-4D2424B09390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535A90-8549-424F-9B85-586BC1305683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929886508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CED4267-5DA0-4746-B438-383F941DF52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BB507-AE88-45B9-B1DD-6F3073A2DED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Online and offline operation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F423C-5276-4A5E-81FF-4DE955F930C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E16811-2B6D-4DA0-B34B-E14130C850A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same local system supports remote access when internet is available and LAN access when it is not.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D6F0A2-27D5-404D-B2F1-67FB80C06EB3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5010150" cy="3009900"/>
          </a:xfrm>
          <a:prstGeom prst="roundRect">
            <a:avLst>
              <a:gd name="adj" fmla="val 6962"/>
            </a:avLst>
          </a:prstGeom>
          <a:solidFill>
            <a:srgbClr val="FFFFFF"/>
          </a:solidFill>
          <a:ln w="28575">
            <a:solidFill>
              <a:srgbClr val="2F6BDE"/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4A92DC-1925-4289-8485-BAA4E38CADB0}"/>
              </a:ext>
            </a:extLst>
          </p:cNvPr>
          <p:cNvSpPr>
            <a:spLocks noGrp="1"/>
          </p:cNvSpPr>
          <p:nvPr/>
        </p:nvSpPr>
        <p:spPr>
          <a:xfrm>
            <a:off x="6477000" y="2457450"/>
            <a:ext cx="5010150" cy="3009900"/>
          </a:xfrm>
          <a:prstGeom prst="roundRect">
            <a:avLst>
              <a:gd name="adj" fmla="val 6962"/>
            </a:avLst>
          </a:prstGeom>
          <a:solidFill>
            <a:srgbClr val="FFFFFF"/>
          </a:solidFill>
          <a:ln w="28575">
            <a:solidFill>
              <a:srgbClr val="17A67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6285B-DB5D-4E6F-8F9C-0038CC00063B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With internet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C2A00-3A9D-4BD9-BE03-F2038C84F1B8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4095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https://iscan.cdrms.online</a:t>
            </a:r>
          </a:p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Cloudflare Tunnel provides remote access</a:t>
            </a:r>
          </a:p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CDN assets can load normally</a:t>
            </a:r>
          </a:p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Staff can connect from outside the office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8709AC-FEE6-4B0B-89EC-F91DD5957A63}"/>
              </a:ext>
            </a:extLst>
          </p:cNvPr>
          <p:cNvSpPr>
            <a:spLocks noGrp="1"/>
          </p:cNvSpPr>
          <p:nvPr/>
        </p:nvSpPr>
        <p:spPr>
          <a:xfrm>
            <a:off x="6838950" y="2781300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Without internet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96548E-38BF-4D66-914D-A41C449D89D1}"/>
              </a:ext>
            </a:extLst>
          </p:cNvPr>
          <p:cNvSpPr>
            <a:spLocks noGrp="1"/>
          </p:cNvSpPr>
          <p:nvPr/>
        </p:nvSpPr>
        <p:spPr>
          <a:xfrm>
            <a:off x="6934200" y="3371850"/>
            <a:ext cx="409575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127"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the NAS local IP and Web Station port</a:t>
            </a:r>
          </a:p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Database, PDFs, folders, and core PHP remain local</a:t>
            </a:r>
          </a:p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Set OFFLINE_MODE=true after local vendor assets are prepared</a:t>
            </a:r>
          </a:p>
          <a:p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Remote Cloudflare access is unavailable until internet returns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80B430-C823-4059-B715-D054634D6A26}"/>
              </a:ext>
            </a:extLst>
          </p:cNvPr>
          <p:cNvSpPr>
            <a:spLocks noGrp="1"/>
          </p:cNvSpPr>
          <p:nvPr/>
        </p:nvSpPr>
        <p:spPr>
          <a:xfrm>
            <a:off x="1619250" y="5867400"/>
            <a:ext cx="885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Offline readiness is a deployment setting to verify before relying on it during an outage.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A681F-E6BC-4999-9539-977EAFB33AD8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C212F4-2603-4FBD-A571-862054208E08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851180331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F3BE142-7508-44B6-97B0-C75112E8F05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BEYOND THE CORE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78A598-CA44-49AB-B6B7-05B266018089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Additional features worth highlighting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A8715A-9AE6-43D4-92AB-AF50643627C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739E8-F3E8-471D-8A65-88BB2D1C975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These modules show how the platform can support daily operations and future scale.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AF447D3-40FF-49CF-8B62-298111E7A652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400050" cy="4000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64BD93-8CD2-45D3-ABED-CEF54C524237}"/>
              </a:ext>
            </a:extLst>
          </p:cNvPr>
          <p:cNvSpPr>
            <a:spLocks noGrp="1"/>
          </p:cNvSpPr>
          <p:nvPr/>
        </p:nvSpPr>
        <p:spPr>
          <a:xfrm>
            <a:off x="781050" y="2486025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EFAE4E-23E0-4B06-AA78-663C0E8AA8F1}"/>
              </a:ext>
            </a:extLst>
          </p:cNvPr>
          <p:cNvSpPr>
            <a:spLocks noGrp="1"/>
          </p:cNvSpPr>
          <p:nvPr/>
        </p:nvSpPr>
        <p:spPr>
          <a:xfrm>
            <a:off x="1371600" y="23812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Batch upload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EBB9A-CA0C-4C4E-B807-C83E5B58AB30}"/>
              </a:ext>
            </a:extLst>
          </p:cNvPr>
          <p:cNvSpPr>
            <a:spLocks noGrp="1"/>
          </p:cNvSpPr>
          <p:nvPr/>
        </p:nvSpPr>
        <p:spPr>
          <a:xfrm>
            <a:off x="1371600" y="27051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Process historical files with progress tracking and optional OCR.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00AF77-2BD0-496A-813E-C0063D815AE5}"/>
              </a:ext>
            </a:extLst>
          </p:cNvPr>
          <p:cNvSpPr>
            <a:spLocks noGrp="1"/>
          </p:cNvSpPr>
          <p:nvPr/>
        </p:nvSpPr>
        <p:spPr>
          <a:xfrm>
            <a:off x="6267450" y="2428875"/>
            <a:ext cx="400050" cy="400050"/>
          </a:xfrm>
          <a:prstGeom prst="ellipse">
            <a:avLst/>
          </a:prstGeom>
          <a:solidFill>
            <a:srgbClr val="17A673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3E68D5-A959-4C08-BB16-3D464B693C20}"/>
              </a:ext>
            </a:extLst>
          </p:cNvPr>
          <p:cNvSpPr>
            <a:spLocks noGrp="1"/>
          </p:cNvSpPr>
          <p:nvPr/>
        </p:nvSpPr>
        <p:spPr>
          <a:xfrm>
            <a:off x="6267450" y="2486025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622A5-F673-49B6-AD86-7FE477EE57CB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Duplicate detection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3E800-FE94-4E6E-A23F-F967A4E321B6}"/>
              </a:ext>
            </a:extLst>
          </p:cNvPr>
          <p:cNvSpPr>
            <a:spLocks noGrp="1"/>
          </p:cNvSpPr>
          <p:nvPr/>
        </p:nvSpPr>
        <p:spPr>
          <a:xfrm>
            <a:off x="6858000" y="27051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Flag probable duplicate registrations before they create confusion.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51D73E-F3CC-4122-BB88-59E703B22306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400050" cy="4000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33AF2E-393B-4B4F-837A-45A1F160A6D8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7FB0C6-5537-4EA0-A556-26BF6A34BCE7}"/>
              </a:ext>
            </a:extLst>
          </p:cNvPr>
          <p:cNvSpPr>
            <a:spLocks noGrp="1"/>
          </p:cNvSpPr>
          <p:nvPr/>
        </p:nvSpPr>
        <p:spPr>
          <a:xfrm>
            <a:off x="1371600" y="34861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461217-31A1-4B00-A0D7-D02BE5DABE0A}"/>
              </a:ext>
            </a:extLst>
          </p:cNvPr>
          <p:cNvSpPr>
            <a:spLocks noGrp="1"/>
          </p:cNvSpPr>
          <p:nvPr/>
        </p:nvSpPr>
        <p:spPr>
          <a:xfrm>
            <a:off x="1371600" y="38100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View trends, demographics, quality metrics, and encoder activity.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CC8EF1-F32C-4C5A-9A67-D4D5B7B1FE97}"/>
              </a:ext>
            </a:extLst>
          </p:cNvPr>
          <p:cNvSpPr>
            <a:spLocks noGrp="1"/>
          </p:cNvSpPr>
          <p:nvPr/>
        </p:nvSpPr>
        <p:spPr>
          <a:xfrm>
            <a:off x="6267450" y="3533775"/>
            <a:ext cx="400050" cy="400050"/>
          </a:xfrm>
          <a:prstGeom prst="ellipse">
            <a:avLst/>
          </a:prstGeom>
          <a:solidFill>
            <a:srgbClr val="17A673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B2AF7B-D656-4121-A3CF-EE60AF3F3B81}"/>
              </a:ext>
            </a:extLst>
          </p:cNvPr>
          <p:cNvSpPr>
            <a:spLocks noGrp="1"/>
          </p:cNvSpPr>
          <p:nvPr/>
        </p:nvSpPr>
        <p:spPr>
          <a:xfrm>
            <a:off x="6267450" y="3590925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B55225-726C-43B9-8FD7-613BC0C3057E}"/>
              </a:ext>
            </a:extLst>
          </p:cNvPr>
          <p:cNvSpPr>
            <a:spLocks noGrp="1"/>
          </p:cNvSpPr>
          <p:nvPr/>
        </p:nvSpPr>
        <p:spPr>
          <a:xfrm>
            <a:off x="6858000" y="34861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 deletion 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1713A8-57BF-43B1-96E6-B9AE4AE3BD50}"/>
              </a:ext>
            </a:extLst>
          </p:cNvPr>
          <p:cNvSpPr>
            <a:spLocks noGrp="1"/>
          </p:cNvSpPr>
          <p:nvPr/>
        </p:nvSpPr>
        <p:spPr>
          <a:xfrm>
            <a:off x="6858000" y="38100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Only administrators can permanently delete records; other roles do not receive delete permission.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AD0357-78EC-4306-BDF9-C707B10FCD96}"/>
              </a:ext>
            </a:extLst>
          </p:cNvPr>
          <p:cNvSpPr>
            <a:spLocks noGrp="1"/>
          </p:cNvSpPr>
          <p:nvPr/>
        </p:nvSpPr>
        <p:spPr>
          <a:xfrm>
            <a:off x="781050" y="4638675"/>
            <a:ext cx="400050" cy="4000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D8DCDE-7A40-4C08-9D30-33909A90E45E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74D51E-A3DD-45DD-B671-030B84EB46C1}"/>
              </a:ext>
            </a:extLst>
          </p:cNvPr>
          <p:cNvSpPr>
            <a:spLocks noGrp="1"/>
          </p:cNvSpPr>
          <p:nvPr/>
        </p:nvSpPr>
        <p:spPr>
          <a:xfrm>
            <a:off x="1371600" y="45910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Device lock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69447E-7E25-40D6-9FD8-8A047AFF681E}"/>
              </a:ext>
            </a:extLst>
          </p:cNvPr>
          <p:cNvSpPr>
            <a:spLocks noGrp="1"/>
          </p:cNvSpPr>
          <p:nvPr/>
        </p:nvSpPr>
        <p:spPr>
          <a:xfrm>
            <a:off x="1371600" y="49149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Restrict login to administrator-approved devices when enabled.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3C6B7F9-D2D4-428E-A996-596D4F000A5B}"/>
              </a:ext>
            </a:extLst>
          </p:cNvPr>
          <p:cNvSpPr>
            <a:spLocks noGrp="1"/>
          </p:cNvSpPr>
          <p:nvPr/>
        </p:nvSpPr>
        <p:spPr>
          <a:xfrm>
            <a:off x="6267450" y="4638675"/>
            <a:ext cx="400050" cy="400050"/>
          </a:xfrm>
          <a:prstGeom prst="ellipse">
            <a:avLst/>
          </a:prstGeom>
          <a:solidFill>
            <a:srgbClr val="17A673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ADC57-0DD0-40B4-865F-B639A0BBAD04}"/>
              </a:ext>
            </a:extLst>
          </p:cNvPr>
          <p:cNvSpPr>
            <a:spLocks noGrp="1"/>
          </p:cNvSpPr>
          <p:nvPr/>
        </p:nvSpPr>
        <p:spPr>
          <a:xfrm>
            <a:off x="6267450" y="4695825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2047F5-C6FB-46DA-BB7B-4B677E70E927}"/>
              </a:ext>
            </a:extLst>
          </p:cNvPr>
          <p:cNvSpPr>
            <a:spLocks noGrp="1"/>
          </p:cNvSpPr>
          <p:nvPr/>
        </p:nvSpPr>
        <p:spPr>
          <a:xfrm>
            <a:off x="6858000" y="45910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Calendar and notes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4C26D-FA0D-46B2-8F52-38CABD3B223F}"/>
              </a:ext>
            </a:extLst>
          </p:cNvPr>
          <p:cNvSpPr>
            <a:spLocks noGrp="1"/>
          </p:cNvSpPr>
          <p:nvPr/>
        </p:nvSpPr>
        <p:spPr>
          <a:xfrm>
            <a:off x="6858000" y="49149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Keep operational reminders beside the registry workflow.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33EEB-47F6-495E-8186-14DC28D93D9F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969"/>
          </a:bodyPr>
          <a:lstStyle/>
          <a:p>
            <a:pPr algn="l">
              <a:buNone/>
              <a:defRPr sz="13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For the presentation, show the features that match the office's current operating scope, then label future modules as planned or optional.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631367-4ADB-4790-BB90-FA65D3D3F7C4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B06A04-D31A-4381-874D-315377B45C8D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446865846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0CE1AF0-47F3-42A2-BEAB-6D843E3B986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PRESENTATION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FF237-A9EE-4FC9-8660-5F915CDAC2C9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live demonstration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E0813A-9656-486A-B7E4-10135CF2094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4A8DF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21240E-0D0B-456A-AB42-B3D44DEFBB5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9239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A short sequence can show the full value without opening every module.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04BEFB-8CF8-4BE0-8F8E-F70EFA334ED3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B1F16-CA4A-47B0-A6BC-653411B5B54F}"/>
              </a:ext>
            </a:extLst>
          </p:cNvPr>
          <p:cNvSpPr>
            <a:spLocks noGrp="1"/>
          </p:cNvSpPr>
          <p:nvPr/>
        </p:nvSpPr>
        <p:spPr>
          <a:xfrm>
            <a:off x="819150" y="244792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619D71-3211-445C-B08D-9B0B52F79CEB}"/>
              </a:ext>
            </a:extLst>
          </p:cNvPr>
          <p:cNvSpPr>
            <a:spLocks noGrp="1"/>
          </p:cNvSpPr>
          <p:nvPr/>
        </p:nvSpPr>
        <p:spPr>
          <a:xfrm>
            <a:off x="1371600" y="24288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and show the role-based dashboard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79E9E7-9347-485C-AF58-49CADCA65F54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F00EF2-E7EE-4D91-807C-561A4C4449D4}"/>
              </a:ext>
            </a:extLst>
          </p:cNvPr>
          <p:cNvSpPr>
            <a:spLocks noGrp="1"/>
          </p:cNvSpPr>
          <p:nvPr/>
        </p:nvSpPr>
        <p:spPr>
          <a:xfrm>
            <a:off x="819150" y="32289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C071D2-CC97-480F-A6D8-2E6046D4418C}"/>
              </a:ext>
            </a:extLst>
          </p:cNvPr>
          <p:cNvSpPr>
            <a:spLocks noGrp="1"/>
          </p:cNvSpPr>
          <p:nvPr/>
        </p:nvSpPr>
        <p:spPr>
          <a:xfrm>
            <a:off x="1371600" y="320992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record and demonstrate auto-save / restore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519B76-FD31-486D-AB8E-5EB08216363C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4959A6-22EE-46AC-A312-581706C39D0B}"/>
              </a:ext>
            </a:extLst>
          </p:cNvPr>
          <p:cNvSpPr>
            <a:spLocks noGrp="1"/>
          </p:cNvSpPr>
          <p:nvPr/>
        </p:nvSpPr>
        <p:spPr>
          <a:xfrm>
            <a:off x="819150" y="401002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5A874C-4F9D-4D65-ADE9-16C96F8C21D3}"/>
              </a:ext>
            </a:extLst>
          </p:cNvPr>
          <p:cNvSpPr>
            <a:spLocks noGrp="1"/>
          </p:cNvSpPr>
          <p:nvPr/>
        </p:nvSpPr>
        <p:spPr>
          <a:xfrm>
            <a:off x="1371600" y="39909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or upload a PDF, then show OCR suggestions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973C29-CA5C-4BE0-9790-205EE0402A4B}"/>
              </a:ext>
            </a:extLst>
          </p:cNvPr>
          <p:cNvSpPr>
            <a:spLocks noGrp="1"/>
          </p:cNvSpPr>
          <p:nvPr/>
        </p:nvSpPr>
        <p:spPr>
          <a:xfrm>
            <a:off x="819150" y="474345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88F01B-06CB-4A03-8C4C-773EB1A9B0CD}"/>
              </a:ext>
            </a:extLst>
          </p:cNvPr>
          <p:cNvSpPr>
            <a:spLocks noGrp="1"/>
          </p:cNvSpPr>
          <p:nvPr/>
        </p:nvSpPr>
        <p:spPr>
          <a:xfrm>
            <a:off x="819150" y="47910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64F458-70D3-4275-9AD2-52B443C82B46}"/>
              </a:ext>
            </a:extLst>
          </p:cNvPr>
          <p:cNvSpPr>
            <a:spLocks noGrp="1"/>
          </p:cNvSpPr>
          <p:nvPr/>
        </p:nvSpPr>
        <p:spPr>
          <a:xfrm>
            <a:off x="1371600" y="477202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9677"/>
          </a:bodyPr>
          <a:lstStyle/>
          <a:p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and open Folder Browser: type, year, last name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B5C7D5E-C744-4AB0-8AD1-76D8FB1FEED3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4A0E88-D491-45D9-A947-CBF3CE632E2C}"/>
              </a:ext>
            </a:extLst>
          </p:cNvPr>
          <p:cNvSpPr>
            <a:spLocks noGrp="1"/>
          </p:cNvSpPr>
          <p:nvPr/>
        </p:nvSpPr>
        <p:spPr>
          <a:xfrm>
            <a:off x="6191250" y="244792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125456-5473-40C0-B328-4E2C31592F4A}"/>
              </a:ext>
            </a:extLst>
          </p:cNvPr>
          <p:cNvSpPr>
            <a:spLocks noGrp="1"/>
          </p:cNvSpPr>
          <p:nvPr/>
        </p:nvSpPr>
        <p:spPr>
          <a:xfrm>
            <a:off x="6743700" y="24288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0692"/>
          </a:bodyPr>
          <a:lstStyle/>
          <a:p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record with search and open the PDF comparison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3143A9-F737-4869-B6FB-28C5783B9230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361950" cy="361950"/>
          </a:xfrm>
          <a:prstGeom prst="ellipse">
            <a:avLst/>
          </a:prstGeom>
          <a:solidFill>
            <a:srgbClr val="2F6BDE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C21DA0-7B7C-41E5-A769-6A2E1B79EF1A}"/>
              </a:ext>
            </a:extLst>
          </p:cNvPr>
          <p:cNvSpPr>
            <a:spLocks noGrp="1"/>
          </p:cNvSpPr>
          <p:nvPr/>
        </p:nvSpPr>
        <p:spPr>
          <a:xfrm>
            <a:off x="6191250" y="32289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09D903-311C-44DB-AAD8-7C1AA7B3CAB1}"/>
              </a:ext>
            </a:extLst>
          </p:cNvPr>
          <p:cNvSpPr>
            <a:spLocks noGrp="1"/>
          </p:cNvSpPr>
          <p:nvPr/>
        </p:nvSpPr>
        <p:spPr>
          <a:xfrm>
            <a:off x="6743700" y="320992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workflow state and activity/security log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FE24F78-5CAE-4C31-B2C4-362B1B5F35FB}"/>
              </a:ext>
            </a:extLst>
          </p:cNvPr>
          <p:cNvSpPr>
            <a:spLocks noGrp="1"/>
          </p:cNvSpPr>
          <p:nvPr/>
        </p:nvSpPr>
        <p:spPr>
          <a:xfrm>
            <a:off x="6191250" y="3962400"/>
            <a:ext cx="361950" cy="361950"/>
          </a:xfrm>
          <a:prstGeom prst="ellipse">
            <a:avLst/>
          </a:prstGeom>
          <a:solidFill>
            <a:srgbClr val="17A673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5749C2-172D-4BCD-8F52-A190F3025A3C}"/>
              </a:ext>
            </a:extLst>
          </p:cNvPr>
          <p:cNvSpPr>
            <a:spLocks noGrp="1"/>
          </p:cNvSpPr>
          <p:nvPr/>
        </p:nvSpPr>
        <p:spPr>
          <a:xfrm>
            <a:off x="6191250" y="401002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BD7C52-7342-4F30-9FE9-31D8CA093AF3}"/>
              </a:ext>
            </a:extLst>
          </p:cNvPr>
          <p:cNvSpPr>
            <a:spLocks noGrp="1"/>
          </p:cNvSpPr>
          <p:nvPr/>
        </p:nvSpPr>
        <p:spPr>
          <a:xfrm>
            <a:off x="6743700" y="39909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public URL versus local LAN 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938D6D-5A30-4146-8729-B13897C2BBAA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970"/>
          </a:bodyPr>
          <a:lstStyle/>
          <a:p>
            <a:pPr algn="l">
              <a:buNone/>
              <a:defRPr sz="16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message to leave with the audience: records become faster to encode, easier to find, and safer to protect.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D87947-BB80-4D53-B57B-D29E8096B97F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E5AA84-F2A9-468D-93B5-8CA7C53FDFB4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679911319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3D47B3F-8E1C-4037-AE25-D0C97949C4C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ACCESS POLICY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E81E6C-160E-403F-83DA-88C51E3D798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can delete records?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7EDA6B-1AB0-4A4B-A48D-89E0320591C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85800" cy="47625"/>
          </a:xfrm>
          <a:prstGeom prst="rect">
            <a:avLst/>
          </a:prstGeom>
          <a:solidFill>
            <a:srgbClr val="4A8DF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78122A-E865-4F57-A989-309E51D9B9C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619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7826"/>
          </a:bodyPr>
          <a:lstStyle/>
          <a:p>
            <a:pPr algn="l"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Deletion follows a controlled path so accidental removal does not become permanent loss.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979D27-C3E3-4EBA-9F81-DBD05FC83C4A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5429250" cy="2952750"/>
          </a:xfrm>
          <a:prstGeom prst="roundRect">
            <a:avLst>
              <a:gd name="adj" fmla="val 7742"/>
            </a:avLst>
          </a:prstGeom>
          <a:solidFill>
            <a:srgbClr val="183657"/>
          </a:solidFill>
          <a:ln w="28575">
            <a:solidFill>
              <a:srgbClr val="17A673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6E924E-33AA-40C9-A3F5-BDC4BC42BB40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CDF7C6-9F3F-456B-92E7-B4F36AC278C7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548"/>
          </a:bodyPr>
          <a:lstStyle/>
          <a:p>
            <a:pPr algn="ctr">
              <a:defRPr sz="1650" b="1">
                <a:solidFill>
                  <a:srgbClr val="8DE1B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DE1BD"/>
                </a:solidFill>
                <a:latin typeface="Arial"/>
                <a:ea typeface="Arial"/>
                <a:cs typeface="Arial"/>
              </a:rPr>
              <a:t>Only Admin can permanently delete a record.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CF04E1-04A2-4EC4-B0DD-3C3EDB4D994D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AF64FD-3A91-40F3-B471-3876913B922B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262"/>
          </a:bodyPr>
          <a:lstStyle/>
          <a:p>
            <a:pPr algn="ctr"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create / update assigned records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C8A880-EED3-4FBA-91BC-5336D5DA55E9}"/>
              </a:ext>
            </a:extLst>
          </p:cNvPr>
          <p:cNvSpPr>
            <a:spLocks noGrp="1"/>
          </p:cNvSpPr>
          <p:nvPr/>
        </p:nvSpPr>
        <p:spPr>
          <a:xfrm>
            <a:off x="3543300" y="40386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98E60F-38F4-4AA8-BA95-BA783829D072}"/>
              </a:ext>
            </a:extLst>
          </p:cNvPr>
          <p:cNvSpPr>
            <a:spLocks noGrp="1"/>
          </p:cNvSpPr>
          <p:nvPr/>
        </p:nvSpPr>
        <p:spPr>
          <a:xfrm>
            <a:off x="3543300" y="440055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read-only access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160D20-CE13-4DB6-836E-7E319EDF02C1}"/>
              </a:ext>
            </a:extLst>
          </p:cNvPr>
          <p:cNvSpPr>
            <a:spLocks noGrp="1"/>
          </p:cNvSpPr>
          <p:nvPr/>
        </p:nvSpPr>
        <p:spPr>
          <a:xfrm>
            <a:off x="952500" y="5067300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D5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58A"/>
                </a:solidFill>
                <a:latin typeface="Arial"/>
                <a:ea typeface="Arial"/>
                <a:cs typeface="Arial"/>
              </a:rPr>
              <a:t>Soft delete → Trash → Admin restore or permanent delete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67550" y="2230998"/>
            <a:ext cx="4000500" cy="2738904"/>
          </a:xfrm>
          <a:prstGeom prst="roundRect">
            <a:avLst>
              <a:gd name="adj" fmla="val 7500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9B94D1F-3DF4-4E6D-A676-E4DC300AD128}"/>
              </a:ext>
            </a:extLst>
          </p:cNvPr>
          <p:cNvSpPr>
            <a:spLocks noGrp="1"/>
          </p:cNvSpPr>
          <p:nvPr/>
        </p:nvSpPr>
        <p:spPr>
          <a:xfrm>
            <a:off x="7067550" y="5391150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Every delete and restore action is logged with the user, IP address, device, and timestamp.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570DEA-976A-41B7-8194-AE48A2968394}"/>
              </a:ext>
            </a:extLst>
          </p:cNvPr>
          <p:cNvSpPr>
            <a:spLocks noGrp="1"/>
          </p:cNvSpPr>
          <p:nvPr/>
        </p:nvSpPr>
        <p:spPr>
          <a:xfrm>
            <a:off x="514350" y="6543675"/>
            <a:ext cx="6572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2FE330-87A5-4418-A337-DB216673CF4D}"/>
              </a:ext>
            </a:extLst>
          </p:cNvPr>
          <p:cNvSpPr>
            <a:spLocks noGrp="1"/>
          </p:cNvSpPr>
          <p:nvPr/>
        </p:nvSpPr>
        <p:spPr>
          <a:xfrm>
            <a:off x="10382250" y="6543675"/>
            <a:ext cx="1295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64799600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2237</Words>
  <Application>Microsoft Office PowerPoint</Application>
  <DocSecurity>0</DocSecurity>
  <PresentationFormat>Widescreen</PresentationFormat>
  <Paragraphs>298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MDRRMO</cp:lastModifiedBy>
  <cp:revision>1</cp:revision>
  <dcterms:created xsi:type="dcterms:W3CDTF">2026-09-08T11:48:07Z</dcterms:created>
  <dcterms:modified xsi:type="dcterms:W3CDTF">2026-09-08T11:56:56Z</dcterms:modified>
</cp:coreProperties>
</file>