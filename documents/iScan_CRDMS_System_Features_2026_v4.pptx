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09d8ffc7b445c" /><Relationship Type="http://schemas.openxmlformats.org/officeDocument/2006/relationships/extended-properties" Target="/docProps/app.xml" Id="R9b889f1148384688" /><Relationship Type="http://schemas.openxmlformats.org/officeDocument/2006/relationships/officeDocument" Target="/ppt/presentation.xml" Id="Rbd7335a6769b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f7611405a14ba3"/>
  </p:sldMasterIdLst>
  <p:notesMasterIdLst>
    <p:notesMasterId xmlns:r="http://schemas.openxmlformats.org/officeDocument/2006/relationships" r:id="Rae4699dbd26b4e2c"/>
  </p:notesMasterIdLst>
  <p:sldIdLst>
    <p:sldId xmlns:r="http://schemas.openxmlformats.org/officeDocument/2006/relationships" id="256" r:id="Rce71a9e398914f45"/>
    <p:sldId xmlns:r="http://schemas.openxmlformats.org/officeDocument/2006/relationships" id="257" r:id="R75b6a32d42f542fb"/>
    <p:sldId xmlns:r="http://schemas.openxmlformats.org/officeDocument/2006/relationships" id="258" r:id="R51672d76cf7d4606"/>
    <p:sldId xmlns:r="http://schemas.openxmlformats.org/officeDocument/2006/relationships" id="259" r:id="R023a42cdbc204d16"/>
    <p:sldId xmlns:r="http://schemas.openxmlformats.org/officeDocument/2006/relationships" id="260" r:id="R4f02ed257ce94ea3"/>
    <p:sldId xmlns:r="http://schemas.openxmlformats.org/officeDocument/2006/relationships" id="261" r:id="Re5c820607e474678"/>
    <p:sldId xmlns:r="http://schemas.openxmlformats.org/officeDocument/2006/relationships" id="262" r:id="R145b9636e6a14d43"/>
    <p:sldId xmlns:r="http://schemas.openxmlformats.org/officeDocument/2006/relationships" id="263" r:id="Re191effe8ed5453d"/>
    <p:sldId xmlns:r="http://schemas.openxmlformats.org/officeDocument/2006/relationships" id="264" r:id="R0e487e1975a64893"/>
    <p:sldId xmlns:r="http://schemas.openxmlformats.org/officeDocument/2006/relationships" id="265" r:id="Raf092702d9af4478"/>
    <p:sldId xmlns:r="http://schemas.openxmlformats.org/officeDocument/2006/relationships" id="266" r:id="Rb12954557d3c46a5"/>
    <p:sldId xmlns:r="http://schemas.openxmlformats.org/officeDocument/2006/relationships" id="267" r:id="R4a3f20dca0ed406e"/>
    <p:sldId xmlns:r="http://schemas.openxmlformats.org/officeDocument/2006/relationships" id="268" r:id="R93c39a7e8e4b42d1"/>
    <p:sldId xmlns:r="http://schemas.openxmlformats.org/officeDocument/2006/relationships" id="269" r:id="R2de5c138b599425c"/>
    <p:sldId xmlns:r="http://schemas.openxmlformats.org/officeDocument/2006/relationships" id="270" r:id="R165303c32bc649f2"/>
    <p:sldId xmlns:r="http://schemas.openxmlformats.org/officeDocument/2006/relationships" id="271" r:id="R6ea9f3c1eac3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fc64d1dd154e6f" /><Relationship Type="http://schemas.openxmlformats.org/officeDocument/2006/relationships/slideMaster" Target="/ppt/slideMasters/slideMaster1.xml" Id="R5bf7611405a14ba3" /><Relationship Type="http://schemas.openxmlformats.org/officeDocument/2006/relationships/notesMaster" Target="/ppt/notesMasters/notesMaster1.xml" Id="Rae4699dbd26b4e2c" /><Relationship Type="http://schemas.openxmlformats.org/officeDocument/2006/relationships/presProps" Target="/ppt/presProps.xml" Id="Rf162dddc37624fea" /><Relationship Type="http://schemas.openxmlformats.org/officeDocument/2006/relationships/tableStyles" Target="/ppt/tableStyles.xml" Id="Rb93d691f02f94a6c" /><Relationship Type="http://schemas.openxmlformats.org/officeDocument/2006/relationships/slide" Target="/ppt/slides/slide1.xml" Id="Rce71a9e398914f45" /><Relationship Type="http://schemas.openxmlformats.org/officeDocument/2006/relationships/slide" Target="/ppt/slides/slide2.xml" Id="R75b6a32d42f542fb" /><Relationship Type="http://schemas.openxmlformats.org/officeDocument/2006/relationships/slide" Target="/ppt/slides/slide3.xml" Id="R51672d76cf7d4606" /><Relationship Type="http://schemas.openxmlformats.org/officeDocument/2006/relationships/slide" Target="/ppt/slides/slide4.xml" Id="R023a42cdbc204d16" /><Relationship Type="http://schemas.openxmlformats.org/officeDocument/2006/relationships/slide" Target="/ppt/slides/slide5.xml" Id="R4f02ed257ce94ea3" /><Relationship Type="http://schemas.openxmlformats.org/officeDocument/2006/relationships/slide" Target="/ppt/slides/slide6.xml" Id="Re5c820607e474678" /><Relationship Type="http://schemas.openxmlformats.org/officeDocument/2006/relationships/slide" Target="/ppt/slides/slide7.xml" Id="R145b9636e6a14d43" /><Relationship Type="http://schemas.openxmlformats.org/officeDocument/2006/relationships/slide" Target="/ppt/slides/slide8.xml" Id="Re191effe8ed5453d" /><Relationship Type="http://schemas.openxmlformats.org/officeDocument/2006/relationships/slide" Target="/ppt/slides/slide9.xml" Id="R0e487e1975a64893" /><Relationship Type="http://schemas.openxmlformats.org/officeDocument/2006/relationships/slide" Target="/ppt/slides/slide10.xml" Id="Raf092702d9af4478" /><Relationship Type="http://schemas.openxmlformats.org/officeDocument/2006/relationships/slide" Target="/ppt/slides/slide11.xml" Id="Rb12954557d3c46a5" /><Relationship Type="http://schemas.openxmlformats.org/officeDocument/2006/relationships/slide" Target="/ppt/slides/slide12.xml" Id="R4a3f20dca0ed406e" /><Relationship Type="http://schemas.openxmlformats.org/officeDocument/2006/relationships/slide" Target="/ppt/slides/slide13.xml" Id="R93c39a7e8e4b42d1" /><Relationship Type="http://schemas.openxmlformats.org/officeDocument/2006/relationships/slide" Target="/ppt/slides/slide14.xml" Id="R2de5c138b599425c" /><Relationship Type="http://schemas.openxmlformats.org/officeDocument/2006/relationships/slide" Target="/ppt/slides/slide15.xml" Id="R165303c32bc649f2" /><Relationship Type="http://schemas.openxmlformats.org/officeDocument/2006/relationships/slide" Target="/ppt/slides/slide16.xml" Id="R6ea9f3c1eac3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88b9f0ed9a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dbff7a73e46ee" /><Relationship Type="http://schemas.openxmlformats.org/officeDocument/2006/relationships/notesMaster" Target="/ppt/notesMasters/notesMaster1.xml" Id="Rd4c617da3f57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0e0699d81346d7" /><Relationship Type="http://schemas.openxmlformats.org/officeDocument/2006/relationships/notesMaster" Target="/ppt/notesMasters/notesMaster1.xml" Id="R217daeb0f5cf48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5bc4e09e1c4c85" /><Relationship Type="http://schemas.openxmlformats.org/officeDocument/2006/relationships/notesMaster" Target="/ppt/notesMasters/notesMaster1.xml" Id="R8735e9229b8b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23ce57de24ecc" /><Relationship Type="http://schemas.openxmlformats.org/officeDocument/2006/relationships/notesMaster" Target="/ppt/notesMasters/notesMaster1.xml" Id="Ra56a685a822b48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df9fed793f4815" /><Relationship Type="http://schemas.openxmlformats.org/officeDocument/2006/relationships/notesMaster" Target="/ppt/notesMasters/notesMaster1.xml" Id="Rff0e1afb4ba648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9043aeb3164ab7" /><Relationship Type="http://schemas.openxmlformats.org/officeDocument/2006/relationships/notesMaster" Target="/ppt/notesMasters/notesMaster1.xml" Id="Raa2bb1e0f3654a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2fdc286bc94910" /><Relationship Type="http://schemas.openxmlformats.org/officeDocument/2006/relationships/notesMaster" Target="/ppt/notesMasters/notesMaster1.xml" Id="R0a3ab0607e3845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953747955d45c9" /><Relationship Type="http://schemas.openxmlformats.org/officeDocument/2006/relationships/notesMaster" Target="/ppt/notesMasters/notesMaster1.xml" Id="R4e6f2258e0c246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a4b92c3e1548ff" /><Relationship Type="http://schemas.openxmlformats.org/officeDocument/2006/relationships/notesMaster" Target="/ppt/notesMasters/notesMaster1.xml" Id="Re82758424ba946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412db17bc145e8" /><Relationship Type="http://schemas.openxmlformats.org/officeDocument/2006/relationships/notesMaster" Target="/ppt/notesMasters/notesMaster1.xml" Id="Rbde07f51512f45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bd7357bcd04321" /><Relationship Type="http://schemas.openxmlformats.org/officeDocument/2006/relationships/notesMaster" Target="/ppt/notesMasters/notesMaster1.xml" Id="R96462cbd845b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db99b4ee6c431d" /><Relationship Type="http://schemas.openxmlformats.org/officeDocument/2006/relationships/notesMaster" Target="/ppt/notesMasters/notesMaster1.xml" Id="R0f1325096ab44e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1f6a632acf49d1" /><Relationship Type="http://schemas.openxmlformats.org/officeDocument/2006/relationships/notesMaster" Target="/ppt/notesMasters/notesMaster1.xml" Id="Rfacd31258de54d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73c360977e42dc" /><Relationship Type="http://schemas.openxmlformats.org/officeDocument/2006/relationships/notesMaster" Target="/ppt/notesMasters/notesMaster1.xml" Id="R5c3add5e9c4d4b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68b35778794ab5" /><Relationship Type="http://schemas.openxmlformats.org/officeDocument/2006/relationships/notesMaster" Target="/ppt/notesMasters/notesMaster1.xml" Id="R44ab1f75ada445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75c69116f5488a" /><Relationship Type="http://schemas.openxmlformats.org/officeDocument/2006/relationships/notesMaster" Target="/ppt/notesMasters/notesMaster1.xml" Id="R4fbe6c9618c6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SYSTEM_SHOWCASE_SUMMARY.md; SYSTEM_OVERVIEW.md. The deck describes the deployed iScan CRDMS and its documented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1 and 4; SYSTEM_SHOWCASE_SUMMARY.md. Four certificate categories are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2, 3, 12, and 19; NAS_DEPLOYMENT_GUIDE.md. The Cloudflare route is for remote access; the local route remains available on the 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13; COMPLETE_FEATURES_LIST.md Phase 3. The workflow states and transition tracking are documented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assets/js/certificate-form-handler.js auto-save/restore implementation; public/logout.php cleanup; docs/NARRATIVE_REPORT.md section 9.4. The deck distinguishes draft recovery from a database save.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upload_sub_dir(), reconcile_pdf_folder(), and upload_file(); public/folder_browser.php; docs/UPLOAD_FOLDER_REORGANIZATION.md.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12; scanner_service/scanner_service.py; includes/config.php MAX_FILE_SIZE; includes/functions.php compute_file_hash() and check_pdf_duplicate().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assets/js/ocr-processor.js; assets/js/ocr-form-integration.js; public/pdf_comparison_viewer.php; COMPLETE_FEATURES_LIST.md Phases 2 and 4. OCR suggestions require encoder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public/folder_browser.php; public/advanced_search.php; public/records_viewer.php; SYSTEM_OVERVIEW.md sections 6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includes/auth.php; includes/permissions.php; admin/activity_logs.php; public/workflow_dashboard.php; SYSTEM_OVERVIEW.md sections 9, 10, and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backup_pdf_file(); admin/pdf_backup_manager.php; admin/pdf_integrity_report.php; public/trash.php; SYSTEM_OVERVIEW.md section 14. NAS file/database backup statements refer to the documented deployment procedure and the verified pre-update backups created for this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includes/security.php; includes/security_headers.php; includes/auth.php; docs/NAS_SECURITY_REMEDIATION.md; docs/SECURITY_AUDIT_2026-09-07.md. Present these as implemented application controls, with operational review and restore testing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includes/asset_urls.php; .env.example OFFLINE_MODE; docs/SYNOLOGY_NAS_DEPLOYMENT.md sections 10 and 17; NAS_DEPLOYMENT_GUIDE.md. Offline mode requires locally downloaded assets and a local access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admin/activity_logs.php. RA 9048 is intentionally out of scope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deck content synthesized from the system repository and deployment notes. Use only features that have been tested in the current NAS deployment during the live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includes/permissions.php; public/trash.php; admin/activity_logs.php; SYSTEM_OVERVIEW.md sections 9, 10, and 14. Permanent delete is restricted to administrators; soft-deleted records remain restorable through Trash.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3a2d06ea8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237eeaf6b44364" /><Relationship Type="http://schemas.openxmlformats.org/officeDocument/2006/relationships/slideLayout" Target="/ppt/slideLayouts/slideLayout1.xml" Id="R1ca2201b77b542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2201b77b542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19d2cd22e4f64" /><Relationship Type="http://schemas.openxmlformats.org/officeDocument/2006/relationships/image" Target="/ppt/media/image.png" Id="Rda373033c4be4d66" /><Relationship Type="http://schemas.openxmlformats.org/officeDocument/2006/relationships/notesSlide" Target="/ppt/notesSlides/notesSlide1.xml" Id="Rce13b7ced0bc48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69804e044614" /><Relationship Type="http://schemas.openxmlformats.org/officeDocument/2006/relationships/notesSlide" Target="/ppt/notesSlides/notesSlide2.xml" Id="Rc1fc2ce7ffc943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77bfeecce4368" /><Relationship Type="http://schemas.openxmlformats.org/officeDocument/2006/relationships/image" Target="/ppt/media/image.jpeg" Id="R4f53b09bc9f94b17" /><Relationship Type="http://schemas.openxmlformats.org/officeDocument/2006/relationships/notesSlide" Target="/ppt/notesSlides/notesSlide3.xml" Id="R53ddc72392484b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167fbe41e4021" /><Relationship Type="http://schemas.openxmlformats.org/officeDocument/2006/relationships/notesSlide" Target="/ppt/notesSlides/notesSlide4.xml" Id="R23a274abf1e646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ecd7552af4b12" /><Relationship Type="http://schemas.openxmlformats.org/officeDocument/2006/relationships/image" Target="/ppt/media/image2.jpeg" Id="Ra1e6f6ea18a0483d" /><Relationship Type="http://schemas.openxmlformats.org/officeDocument/2006/relationships/notesSlide" Target="/ppt/notesSlides/notesSlide5.xml" Id="R2945ad9bc165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943522b8b45cf" /><Relationship Type="http://schemas.openxmlformats.org/officeDocument/2006/relationships/notesSlide" Target="/ppt/notesSlides/notesSlide6.xml" Id="Rac9498fe5daf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203e565424e0c" /><Relationship Type="http://schemas.openxmlformats.org/officeDocument/2006/relationships/notesSlide" Target="/ppt/notesSlides/notesSlide7.xml" Id="R5446571941d24d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44c002f814ea9" /><Relationship Type="http://schemas.openxmlformats.org/officeDocument/2006/relationships/notesSlide" Target="/ppt/notesSlides/notesSlide8.xml" Id="R81a8e0e0ea4149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2a9a2097c4bd5" /><Relationship Type="http://schemas.openxmlformats.org/officeDocument/2006/relationships/notesSlide" Target="/ppt/notesSlides/notesSlide9.xml" Id="R795807baef924e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540b0651a47b2" /><Relationship Type="http://schemas.openxmlformats.org/officeDocument/2006/relationships/notesSlide" Target="/ppt/notesSlides/notesSlide10.xml" Id="Rca679ea049f540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9e77bb5744d75" /><Relationship Type="http://schemas.openxmlformats.org/officeDocument/2006/relationships/image" Target="/ppt/media/image3.jpeg" Id="R81193a6b45654048" /><Relationship Type="http://schemas.openxmlformats.org/officeDocument/2006/relationships/notesSlide" Target="/ppt/notesSlides/notesSlide11.xml" Id="R63899571abb843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770e86d3e4911" /><Relationship Type="http://schemas.openxmlformats.org/officeDocument/2006/relationships/notesSlide" Target="/ppt/notesSlides/notesSlide12.xml" Id="R491201776abb4d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555080c4f407f" /><Relationship Type="http://schemas.openxmlformats.org/officeDocument/2006/relationships/notesSlide" Target="/ppt/notesSlides/notesSlide13.xml" Id="Rdd5dc0eaccab4e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57537c2f4c96" /><Relationship Type="http://schemas.openxmlformats.org/officeDocument/2006/relationships/notesSlide" Target="/ppt/notesSlides/notesSlide14.xml" Id="R5375bab3d2734c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89311acae4d23" /><Relationship Type="http://schemas.openxmlformats.org/officeDocument/2006/relationships/notesSlide" Target="/ppt/notesSlides/notesSlide15.xml" Id="R89c89e95a7334a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e72e380fd4bef" /><Relationship Type="http://schemas.openxmlformats.org/officeDocument/2006/relationships/image" Target="/ppt/media/image4.jpeg" Id="R1df71ce31dd54f25" /><Relationship Type="http://schemas.openxmlformats.org/officeDocument/2006/relationships/notesSlide" Target="/ppt/notesSlides/notesSlide16.xml" Id="R18b0bc9b7ed7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DC71D-4AFB-441B-98F9-AE484F6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07896-C595-4A85-A9CD-2B1C5B6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236E7-BA40-4BEB-BB0F-85D92F0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F63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3033c4be4d66"/>
          <a:stretch xmlns:a="http://schemas.openxmlformats.org/drawingml/2006/main"/>
        </p:blipFill>
        <p:spPr>
          <a:xfrm xmlns:a="http://schemas.openxmlformats.org/drawingml/2006/main">
            <a:off x="876300" y="922618"/>
            <a:ext cx="2095500" cy="20790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F31E-3895-4F59-ACFB-E290997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90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A239F-B14C-4161-9FDF-2637F01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D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ADEC-706C-43C8-B6C6-0A08B6B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features, operating workflow, security, backup, and online/offline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8F8C-C956-4640-B4CA-B2B4E1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57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DD0E7"/>
                </a:solidFill>
                <a:latin typeface="Arial"/>
                <a:ea typeface="Arial"/>
                <a:cs typeface="Arial"/>
              </a:rPr>
              <a:t>Municipal Civil Registrar's Office  |  Municipality of Baggao</a:t>
            </a:r>
          </a:p>
        </p:txBody>
      </p:sp>
    </p:spTree>
    <p:extLst>
      <p:ext uri="{BB962C8B-B14F-4D97-AF65-F5344CB8AC3E}">
        <p14:creationId xmlns:p14="http://schemas.microsoft.com/office/powerpoint/2010/main" val="813497792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175E5-B633-4F99-8FC8-84EAB6D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56BBF-7801-4F81-82C2-BB6BD41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CRDMS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8D4E6-2208-4804-8BA8-862A55A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3ADA-8204-4120-95BE-D62E1E2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workspace for capturing, encoding, reviewing, finding, and protecting civil registry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640D-F738-4AB7-AA08-D2C9EED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8428-2DC6-4317-B74C-1BDC7FA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Birth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29252-AE14-418A-8E5E-35ED705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Live Birth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5C59-8D5C-41C1-87C3-0033525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F7BB-F7DF-499E-804E-14A10AFD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A92F2-602B-4427-9A5B-1ADE1EC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Marriage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6DFE-B196-4F4B-9E00-9719E9B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06F7-0BEC-423E-93EE-7A91CEA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C28F2-FD49-47F8-8164-6AF0E8B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Death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C2B2D-0CA5-4942-81E0-91ABEFD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48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FDEC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E2C56-1A02-4BCE-B6DF-501E6C5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47E1-9712-4FF9-8C83-11C3D90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Application for Marriage License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96BBC-C5CB-4FAC-9E59-105199C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Runs on the office NAS with a local database and local PDF storage. Authorized staff can use the public Cloudflare URL or the local LAN address.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5DACA-74D8-482C-9249-296CDE5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result is a searchable digital registry with a controlled record lifecycle and a clear accountability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EC08-49FA-4C9C-80FF-F51E980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D22D-D527-4565-BD2C-CBB6A14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27509583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FA8A6-DEF8-4C0E-8BF9-E6F8409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39B2D-70B8-4F65-AA66-2124022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04CA-B5CC-48A8-A806-4562EB3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79BB-7C09-4253-93F8-18782D1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browser is the work surface. The NAS holds the application, database, and PDF archive.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BBF7-6A86-4357-A6C8-24D401D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95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A105-5CC0-4A76-A814-C4B5223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0731-D403-4989-A395-315F2A5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Forms, folder tree,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5C3C-5021-4950-AB10-F121284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696B-BD17-4128-9595-8A4BDE9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4765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A243-6F1B-4B36-8B68-EDBBFA9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B2A19-FE7A-4C41-ADAF-8BEBFF8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21336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Station + PHP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75DFF-D4B5-4714-80D2-FC05AA0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2564D-CD48-4F04-ACA9-68168DE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7DC2-2FBF-428A-8066-A78FD08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1A8CC-0A74-4DA6-8689-1F785D25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96A18-A908-4147-968E-2F6D652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1FE0-5722-4B11-9F2E-0E901D1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ADC9-6E2B-4F1D-A8FB-B8E9198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Uploads and backups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69EFC-718B-4492-A7C0-C55A05E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5767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F2B4-293F-481F-BDBE-7B7CA1C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Remote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664AC-9488-42AA-BF8C-3168AE3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Cloudflare Tunnel → https://iscan.cdrms.online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2B236-C26F-4F02-AB5C-C0DD3DC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3A535-8442-43DF-A312-38EA83C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Same-LAN access → NAS IP and Web Station 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6BEDE-E4FE-4FBC-A7F6-67D7E56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85BD4-47C8-41FA-AA5E-12EDB329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3b09bc9f94b17"/>
          <a:stretch xmlns:a="http://schemas.openxmlformats.org/drawingml/2006/main"/>
        </p:blipFill>
        <p:spPr>
          <a:xfrm xmlns:a="http://schemas.openxmlformats.org/drawingml/2006/main">
            <a:off x="10382250" y="4286250"/>
            <a:ext cx="857250" cy="85725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</p:spTree>
    <p:extLst>
      <p:ext uri="{BB962C8B-B14F-4D97-AF65-F5344CB8AC3E}">
        <p14:creationId xmlns:p14="http://schemas.microsoft.com/office/powerpoint/2010/main" val="108115263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8BA0F-C74C-4E95-9E5E-1559454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FROM PAPER TO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DEF7D-09A6-4775-B2A1-B800357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record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723D-EFCE-464C-9EB3-4C42A19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2CBD-8F6F-4734-B3B3-9524D80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3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Each record follows a visible path so staff can see what needs encoding, review, approval, or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4B96-8D10-43B6-8470-CAF4A28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9437-47BC-41BE-97FF-6A0F902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7A9C7-DD83-4EC7-A740-4B3B4E1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3319-0033-4CEB-B01E-F8F824E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70F4-07A5-4339-A4EE-AE5CF2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or 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E3C9F-3B51-4622-B9AB-91E2332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5343-EF2F-4B08-9559-90B60C3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08F7A-0020-4D43-9DC3-31B0096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9DF01-EAC7-4012-A706-2AD44F8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E4F7-14B9-4103-A461-A92BA80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9FBEE-CBF7-46C9-A4DF-6E6911E6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OCR assists data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7E7CC-C359-4A53-8DA7-0440ED3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40594-AA81-4A9E-8716-066A88B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38BD-08D4-4481-AD88-91E2850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D2A8E-EF0A-481E-8866-B479921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BF69C-E4D1-42EC-A150-0E234D2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422A8-D3A4-4BDA-84B2-938D7DB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0086F-474F-4C46-BC39-DA00069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09FE9-E1E5-4799-BBB3-05D636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49F99-EFD6-4466-BFE9-248DD64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B4A98-BFBE-42A1-8283-D642850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7830D-0C34-41E0-A7D7-83A5586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02797-BF9B-4609-A11E-A1C9906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6D53C-E97C-47DF-9670-AAC049C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2665B-CB72-48EB-910D-2AA42F4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D1025-8F9D-4E6B-8C39-56DAD29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9CEE2-1737-4423-B089-14FFB98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608D3-D4FA-4B08-9981-749F2DD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EBB98-4BDB-41CA-A857-9ACBAA3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C6841-A5BC-4860-8432-60AA207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B5AFAD-0F3E-48E2-A68B-4E492A5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branches remain traceable with the responsible user, timestamp, and notes.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C2E52-BCA2-4F93-A374-B55AAD5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2816D-EDEA-4F4C-9579-15BFCB9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8195892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0E32-2574-4579-A1B4-AE71A1D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9E4C2-31FA-4CFF-A922-E1FE73B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98F3-01C6-4A73-ABD1-64BCA1F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55AF-9931-4428-9186-01E7EFA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 when a browser closes, a laptop restarts, or a user needs to return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544EA-2FB3-4385-A3AE-2ECBA97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59FD-4CD1-4D15-B3D7-BB35118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65CE-938E-4E38-B9CC-E8D8811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 fields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1D42-5735-42A9-BC0E-F46434E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5B80-252F-4B63-A19C-934EF63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B0C7E-6250-41C6-9F42-25FC151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2C12-D468-411E-ABC3-CFC3612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E90D0-D01D-4E3B-805D-C7809B7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4C3A5-8CD6-43D0-B6EF-CA0DED7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9DD4C-D3BA-4109-8914-B3DFAE1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2B00-C261-4F41-B151-9B9339D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User is offered the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72A99-A2C0-4190-86EC-4E719C0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B88D-6A60-48DC-AE1B-238068F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141E-1C94-4BFE-9094-F99DF29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3C02-DEC7-4EB0-A18B-00C634A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52775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758A-87FE-4BF5-BF4B-ECE952B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keys are scoped to the user/session and certificate type.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Saved records clear their draft; edit mode clears stale draft data.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Auto-save is a recovery aid. The official record is created only after the Save action succeeds.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EDE1-99BB-4992-B255-46A9D97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0B45F-867A-4586-87BA-ED01656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6f6ea18a0483d"/>
          <a:stretch xmlns:a="http://schemas.openxmlformats.org/drawingml/2006/main"/>
        </p:blipFill>
        <p:spPr>
          <a:xfrm xmlns:a="http://schemas.openxmlformats.org/drawingml/2006/main">
            <a:off x="9858375" y="4580404"/>
            <a:ext cx="1714500" cy="1173816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</p:spTree>
    <p:extLst>
      <p:ext uri="{BB962C8B-B14F-4D97-AF65-F5344CB8AC3E}">
        <p14:creationId xmlns:p14="http://schemas.microsoft.com/office/powerpoint/2010/main" val="1148007197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4010E-4A6A-4853-989F-B6D8C9C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ORGANIZED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378C-49A4-490D-8AF9-1394A23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FDB8E-93A1-49E8-882D-4A1B9C9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6B99-9BAF-460E-A728-3D42EE2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record itself, so staff can browse by certificate type, year, and last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BA30-8DDC-49E8-BCC1-C4D8688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3340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488C-8C1F-4D04-AEDD-2002FAF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866C1-3067-44A5-880A-88B749A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4EF"/>
                </a:solidFill>
                <a:latin typeface="Arial"/>
                <a:ea typeface="Arial"/>
                <a:cs typeface="Arial"/>
              </a:rPr>
              <a:t>cert_...pdf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F74B-1677-4BA8-8760-EC88480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4EF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A18CD-65BC-4219-B0EF-32A043F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folders are 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A3A8-F294-467B-B7D8-9A642F6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381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system derives the year from the event date when available.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It normalizes the last name for a consistent folder name.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directory is created on first upload and reconciled when a record's name or date changes.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Folder Browser counts and filters records without exposing raw server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8787-7CBF-4554-AD16-D72190A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7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This structure makes historical records easier to browse while the database remains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045F-CE50-4B20-B52D-87E37D3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8FBCF-3F5F-4B0C-809C-201E843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495445670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26143-FF4A-4917-9DFF-1553605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406A3-5720-4108-92EC-25D8E38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Scanning and PDF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53AC-FA5F-475F-9E6E-1A6983C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C8C3-955F-4085-AE68-64BEBA5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can enter the system through a connected Epson DS-530 II scanner or a normal PDF upload.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E7DA9-D92A-492E-B41A-7B915EB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269D-EE44-463B-85D4-AFA914C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Epson DS-530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B031-51B7-4490-A0E7-3791E2A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Scanner service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300 dpi / color or BW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EDC93-DB4D-4399-B509-923ED4D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52F6-26B5-4C7A-9A4F-5942189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AB98-36C0-4BE9-8C89-182CCB8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C09C-656A-47E5-A579-B3C1C00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Document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or Choose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BF75-3769-4F38-980D-6173C71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3815C-608A-4641-BFA5-11AF43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D6F9-A139-4D7D-BA48-1457C32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EFF4D-AD23-4580-9EC0-59B5152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only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25 MB 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E1CB-402B-4C51-9E47-EF5EE3A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0163C-BC27-4715-A1C9-F1FF0FC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1238250" cy="14287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EE426-AEC2-42A0-870E-2DCDED0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337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CF2D-A947-4D9A-BC6F-516C53E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48025"/>
            <a:ext cx="895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 +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A8AB8-23F7-44B1-A512-876D6DC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66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scanner service returns a PDF to the browser for review.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upload path validates file type and size before it is stored.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file receives a SHA-256 hash and is checked for duplicate attachment.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50A32-7ACD-4E17-BE99-8AEB198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9C8BC-1F64-4363-9705-A790B19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1216587554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6CC7A-0CCA-47FC-8A59-9964894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A23AC-ECEB-4BB2-BCEB-871C602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OCR-assisted encoding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8B9E-C72C-4586-A007-6AFE00A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3DED-B7E9-4721-8E93-10E9265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OCR reduces retyping, while the encoder remains responsible for checking every extracted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A1D1B-C009-4D42-87BA-A39C9B8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F89F-E4A5-40DC-BB06-3888B33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6C1E-F481-438D-BD6A-0FDA680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FD9F-2B02-4DC4-B5EB-21BE2F4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861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 LIVE BIRTH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6B07-1AC0-4ACD-86F1-AB926E4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047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DC19F-2F5F-4C3B-AC7D-ED374C3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1CF-6065-4EA4-B82E-63DA805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Suggested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E45EC-773E-4409-95FC-F7DF232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Child name     Juan Dela Cruz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25D4-4897-4F37-8600-34208E5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Date of birth  12 May 1972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25C75-25A8-43FD-B09F-67A259E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Confidence     94%   •  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33C3C-AD3F-4184-8157-BD19B60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PDF Comparison Viewer places the original document beside the encoded fields for final checking.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8B205-B9BB-463D-B3B6-8B71531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3D765-FF41-4F6F-BFC3-18EE7AF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191635028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924AC-2685-4774-9881-388225B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9351-91E2-433C-8F3D-0C4C8D4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 and record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F9889-1FF6-4E19-A28A-09FF5E5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FCFF-1987-4327-A5EB-CF9A350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Records can be found by folder, name, registry number, date, location, or parent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C5A9E-E3AF-4C72-B81C-94A8F7F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08FA-BA15-41DB-974D-F2AAB7E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4DA87-8DDD-4F0E-A3F2-2B8E1E9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Type → Year → Last name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Counts and quick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E54B-8DC7-4B04-B8AF-DA0D96E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53431-77B7-4C1C-A29E-6438CF1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Advanced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90C28-AF22-44D0-80EF-B8CC78F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Exact multi-token match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Fuzzy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ED8E4-2F90-4BB9-9AAE-E8E7A3FE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43C4-5DCD-4EFD-AA0D-D0A4307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Records 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4307-BF23-4639-A65F-2B5B5B6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Paging, filters, previews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Controlled PDF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1AE6E-B7F1-4CD3-9AAA-C89565E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E969-67E1-4A64-8CEF-376F2AC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2CCA-6F21-4888-86E9-E33659C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1943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View, edit, archive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or 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910B-1769-4DEA-A3AB-4FEBE78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0F04B-7A25-4AC1-A95F-495C3BA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BD46B-6589-49AF-A764-6CF0C0F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20706-CF44-4011-BD1B-309B5FE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Two-pass search starts with strict multi-field matching, then falls back to fuzzy matching when needed.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viewer keeps the record data and PDF reference together for a faster retrieval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F38F7-E74D-4358-90A7-A42126E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BB883-48D5-440E-B08C-8EFD118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83784286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F4C05-6F36-4F74-8AF5-7B30C8C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6D78-73D6-4C34-8ADB-1B68F85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Roles, approvals,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B49-7FBC-4BE9-8D1F-DD1C5B5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8E7BC-6116-4024-BCFD-FFD8FBF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limits what each user can do and records the actions that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062F-DBC9-478A-BFC2-911C0C1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2CDA8-64FF-43B1-B8E3-8017E91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730E-EB33-4B68-843F-6192B88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users, settings,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restore,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29B1-6DBD-4FDC-B457-F956849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85F6E-4208-4F2E-A191-17FBEC8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4854-791E-45F6-8311-E1DC119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Create and update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FB07-AD22-4263-AD08-4996440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663B-DF2F-4C3E-AFB3-A4391BD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3468-35CA-4003-A4F1-BEDF0A7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Read and retrieve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permitted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8A2E4-9281-468C-87F0-E332E04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33375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2B08A-AF5D-461B-A006-58D20FB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Every significant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326B-2813-42FE-8247-EBBF62D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  •  action  •  IP  •  device  •  timestamp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3F17C-DDC4-4399-83D6-D2A0C8C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50E8E-FF90-4EF7-8246-3F26638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Workflow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1851F-126C-4C64-9B8E-3ACBA8B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2FDDE-DC78-420B-951D-54E67BE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transitions retain notes and timestamps for follow-up.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A2559-EAA7-4FE4-986E-6186538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B367-EA8A-4477-ABC1-C230C28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838234460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2A3DC-FD0A-4A6D-B6C2-47F8413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8CCE-C512-4069-B9F6-DA7CCB1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Backup, restore, and document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9869-8DE7-40B7-9881-9F3EF82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1FF1-6460-42A2-9517-20CA08D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Backups protect both the current file and the ability to return to a known-good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6A704-47ED-4ADC-B9DA-841A784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A52-2ED8-43FA-BECF-AD9532B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Replace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250D-F403-4A9C-9EE7-49BFEC0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attachment arrives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913F-9EE5-4D88-BF02-AAFAA3E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0F90-4886-4530-A0E7-6A13A0B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5E89-A701-4644-9A93-9C9BF6C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 old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A7AD-8C0B-413E-BB95-4654CAE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Timestamped backup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keeps prior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A696-0DAA-4D23-A639-2F05BDD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7168-88AF-49E0-83EB-E5B8CD2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EEDB-5494-48E5-B0D0-FD22C25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Verify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F201-2474-47D1-A244-FB24DCF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SHA-256 detects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change or corruption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7A6BC-58E5-4DB2-9165-4AC3D73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99A6-4DAE-4B5A-808D-A80738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219200" cy="13335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5BF58-0439-4850-9F41-FC6E48F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95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64A21-0AA3-4EF2-8F83-93DFBEC5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876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802FE-2FEB-4F0E-87DA-5E5955B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76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Backup Manager supports verification, restore, and cleanup of orphaned files.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Soft-deleted records remain restorable through Trash; permanent deletion is restricted.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NAS deployment backups include a verified file archive and a database dump for rollback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4E1E-2632-4208-9F8C-CE19375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E9984-031B-4E0F-8666-A113D8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93a6b45654048"/>
          <a:stretch xmlns:a="http://schemas.openxmlformats.org/drawingml/2006/main"/>
        </p:blipFill>
        <p:spPr>
          <a:xfrm xmlns:a="http://schemas.openxmlformats.org/drawingml/2006/main">
            <a:off x="10191750" y="4524375"/>
            <a:ext cx="1047750" cy="1047750"/>
          </a:xfrm>
          <a:prstGeom xmlns:a="http://schemas.openxmlformats.org/drawingml/2006/main" prst="roundRect">
            <a:avLst>
              <a:gd name="adj" fmla="val 16364"/>
            </a:avLst>
          </a:prstGeom>
        </p:spPr>
      </p:pic>
    </p:spTree>
    <p:extLst>
      <p:ext uri="{BB962C8B-B14F-4D97-AF65-F5344CB8AC3E}">
        <p14:creationId xmlns:p14="http://schemas.microsoft.com/office/powerpoint/2010/main" val="141672551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2531-58F2-4ECC-BD97-6A5AF5A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32FCF-82E4-4D30-BB82-D4EB6DB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B57-546B-4B82-95AB-841E0D6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DB02-568F-4CE4-AFA4-664F617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Controls are layered so the system does not rely on one safeguard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BB94-003A-4266-AE54-27D2CD6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CF8B-4BF2-44B9-9670-A498908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68073-4639-4BCE-9A12-1B5C2D9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bcrypt passwords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rate 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5618-BC89-433C-ADA3-D01C8B3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C705-B4DC-4E46-BBB4-A3E823C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30703-F872-43BA-8991-DFF4427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 / Encoder / 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per-record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admin-only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8A79-23C5-4E83-8EF0-D092197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8B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D546C-269A-4BC2-A687-5D5906F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EB371-BD42-46E5-ACFE-CBB3575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CSRF tokens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prepared SQL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MIME + path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E1173-475E-49BE-93C7-6F718A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4F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17773-F124-41E8-928F-164AE74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830DF-CEAF-43C8-B019-7657FAC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HSTS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frame and type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46E4-377F-4531-ADA4-69ED4A6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7F62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E2FDF-3590-49A8-B254-20F7016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9DDC0-030E-4797-A88F-A0798E4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activity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IP + device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49399-10BB-48BC-8077-0F2510E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3E9D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73FFB-D83F-48A1-A5F6-5F979EB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4F4FB-1DA2-4B88-A1FC-8E89381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SHA-256 PDFs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duplicate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backup 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73806-3A75-4121-B153-F39421C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is an operating practice: review logs, keep backups, test restores, and update the deployment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48C56-0379-4E37-A38B-4D2424B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35A90-8549-424F-9B85-586BC13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929886508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D4267-5DA0-4746-B438-383F941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B507-AE88-45B9-B1DD-6F3073A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Online and offline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423C-5276-4A5E-81FF-4DE955F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6811-2B6D-4DA0-B34B-E14130C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local system supports remote access when internet is available and LAN access when it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F0A2-27D5-404D-B2F1-67FB80C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92DC-1925-4289-8485-BAA4E38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285B-DB5D-4E6F-8F9C-0038CC0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With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C2A00-3A9D-4BD9-BE03-F2038C8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https://iscan.cdrms.online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Cloudflare Tunnel provides remote access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CDN assets can load normally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Staff can connect from outside the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09AC-FEE6-4B0B-89EC-F91DD5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Without internet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548E-38BF-4D66-914D-A41C449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27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the NAS local IP and Web Station port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Database, PDFs, folders, and core PHP remain local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Set OFFLINE_MODE=true after local vendor assets are prepared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Remote Cloudflare access is unavailable until internet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0B430-C823-4059-B715-D054634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readiness is a deployment setting to verify before relying on it during an outage.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A681F-E6BC-4999-9539-977EAFB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12F4-2603-4FBD-A571-8620542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85118033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E142-7508-44B6-97B0-C75112E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A598-CA44-49AB-B6B7-05B2660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Additional features worth highlighting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715A-9AE6-43D4-92AB-AF50643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39E8-F3E8-471D-8A65-88BB2D1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modules show how the platform can support daily operations and future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447D3-40FF-49CF-8B62-298111E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BD93-8CD2-45D3-ABED-CEF54C5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FAE4E-23E0-4B06-AA78-663C0E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Batch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EBB9A-CA0C-4C4E-B807-C83E5B5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Process historical files with progress tracking and optional OCR.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AF77-2BD0-496A-813E-C0063D8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E68D5-A959-4C08-BB16-3D464B6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622A5-F673-49B6-AD86-7FE477E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Duplicate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3E800-FE94-4E6E-A23F-F967A4E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Flag probable duplicate registrations before they create confusion.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D73E-F3CC-4122-BB88-59E703B2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3AF2E-393B-4B4F-837A-45A1F16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FB0C6-5537-4EA0-A556-26BF6A3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1217-31A1-4B00-A0D7-D02BE5D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View trends, demographics, quality metrics, and encoder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8EF1-F32C-4C5A-9A67-D4D5B7B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2AF7B-D656-4121-A3CF-EE60AF3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55225-726C-43B9-8FD7-613BC0C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 deletion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713A8-57BF-43B1-96E6-B9AE4AE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Only administrators can permanently delete records; other roles do not receive delete permission.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0357-78EC-4306-BDF9-C707B10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8DCDE-7A40-4C08-9D30-33909A9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4D51E-A3DD-45DD-B671-030B84E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Device 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447E-7E25-40D6-9FD8-8A047AF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Restrict login to administrator-approved devices when enabled.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6B7F9-D2D4-428E-A996-596D4F0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ADC57-0DD0-40B4-865F-B639A0BB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047F5-C6FB-46DA-BB7B-4B677E7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Calendar and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4C26D-FA0D-46B2-8F52-38CABD3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Keep operational reminders beside the registry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33EEB-47F6-495E-8186-14DC28D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9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For the presentation, show the features that match the office's current operating scope, then label future modules as planned or optional.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31367-4ADB-4790-BB90-FA65D3D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06A04-D31A-4381-874D-315377B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446865846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E1AF0-47F3-42A2-BEAB-6D843E3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PRESENTATION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FF237-A9EE-4FC9-8660-5F915CD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0813A-9656-486A-B7E4-10135CF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240E-0D0B-456A-AB42-B3D44DE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A short sequence can show the full value without opening every module.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4BEFB-8CF8-4BE0-8F8E-F70EFA3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1F16-CA4A-47B0-A6BC-653411B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9D71-3211-445C-B08D-9B0B52F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9E9E7-9347-485C-AF58-49CADCA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0EF2-E7EE-4D91-807C-561A4C4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71D2-CC97-480F-A6D8-2E6046D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 / 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19B76-FD31-486D-AB8E-5EB0821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59A6-22EE-46AC-A312-581706C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A874C-4F9D-4D65-ADE9-16C96F8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PDF, then show OCR suggestions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73C29-CA5C-4BE0-9790-205EE04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8F01B-06CB-4A03-8C4C-773EB1A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F458-70D3-4275-9AD2-52B443C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and open Folder Browser: type, year, last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C7D5E-C744-4AB0-8AD1-76D8FB1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A0E88-D491-45D9-A947-CBF3CE6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25456-5473-40C0-B328-4E2C315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6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record with search and open the PDF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143A9-F737-4869-B6FB-28C5783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21DA0-7B7C-41E5-A769-6A2E1B7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9D903-311C-44DB-AAD8-7C1AA7B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workflow state and activity/security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24F78-5CAE-4C31-B2C4-362B1B5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49C2-172D-4BCD-8F52-A190F30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D7C52-7342-4F30-9FE9-31D8CA0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public URL versus local LAN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38D6D-5A30-4146-8729-B13897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9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message to leave with the audience: records become faster to encode, easier to find, and safer to protect.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87947-BB80-4D53-B57B-D29E809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5AA84-F2A9-468D-93B5-8CA7C53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67991131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95539-CF4D-464A-8C80-0963609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ACCESS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D4214-B13E-42B4-8337-493BE1A2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can delete records?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45A5-D0CA-4AEC-AC97-93397C6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55B88-03E4-45EC-BD99-FD2896F6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Deletion follows a controlled path so accidental removal does not become permanent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25817-A4DA-4D2A-ABEF-B609C7F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429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1721B-B30E-4E6E-8183-229411BC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9281D-CE0E-4E46-8ED7-A96C01F4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5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DE1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DE1BD"/>
                </a:solidFill>
                <a:latin typeface="Arial"/>
                <a:ea typeface="Arial"/>
                <a:cs typeface="Arial"/>
              </a:rPr>
              <a:t>Only Admin can permanently delete a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84EBE-1A5C-40FE-9434-FD84EBD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6178B-8F76-4EB1-8315-EACD345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262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create / update assigned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4004D-D16F-46FE-94E0-570EB79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DDB8A-B661-4388-A3D5-6D8DE52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read-only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6E7D8-389B-4593-A265-9B20FD9F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D5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58A"/>
                </a:solidFill>
                <a:latin typeface="Arial"/>
                <a:ea typeface="Arial"/>
                <a:cs typeface="Arial"/>
              </a:rPr>
              <a:t>Soft delete → Trash → Admin restore or permanent delete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71ce31dd54f25"/>
          <a:stretch xmlns:a="http://schemas.openxmlformats.org/drawingml/2006/main"/>
        </p:blipFill>
        <p:spPr>
          <a:xfrm xmlns:a="http://schemas.openxmlformats.org/drawingml/2006/main">
            <a:off x="7067550" y="2230998"/>
            <a:ext cx="4000500" cy="2738904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25A5-D04A-4E5A-92A7-B3B2B2A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Every delete and restore action is logged with the user, IP address, device, and timestamp.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A5299-4A5C-4908-B711-7BC7EDC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F0F35-BA13-4158-842A-4722680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960071056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2026-09-08T12:00:00.4480000Z</dcterms:created>
  <dcterms:modified xsi:type="dcterms:W3CDTF">2026-09-08T12:00:00.4480000Z</dcterms:modified>
</coreProperties>
</file>