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68835df6564744" /><Relationship Type="http://schemas.openxmlformats.org/officeDocument/2006/relationships/extended-properties" Target="/docProps/app.xml" Id="R311fdcc53d934603" /><Relationship Type="http://schemas.openxmlformats.org/officeDocument/2006/relationships/officeDocument" Target="/ppt/presentation.xml" Id="Rc6177e748ba24b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60dedad08e4d19"/>
  </p:sldMasterIdLst>
  <p:notesMasterIdLst>
    <p:notesMasterId xmlns:r="http://schemas.openxmlformats.org/officeDocument/2006/relationships" r:id="Rc86265d3930b4903"/>
  </p:notesMasterIdLst>
  <p:sldIdLst>
    <p:sldId xmlns:r="http://schemas.openxmlformats.org/officeDocument/2006/relationships" id="256" r:id="R169a6499b3134c97"/>
    <p:sldId xmlns:r="http://schemas.openxmlformats.org/officeDocument/2006/relationships" id="257" r:id="Rdce9ec43f21a4ddf"/>
    <p:sldId xmlns:r="http://schemas.openxmlformats.org/officeDocument/2006/relationships" id="258" r:id="Rd394bbe5feb2463f"/>
    <p:sldId xmlns:r="http://schemas.openxmlformats.org/officeDocument/2006/relationships" id="259" r:id="R328e6c19b2a14637"/>
    <p:sldId xmlns:r="http://schemas.openxmlformats.org/officeDocument/2006/relationships" id="260" r:id="Rdc83393a325b4cd7"/>
    <p:sldId xmlns:r="http://schemas.openxmlformats.org/officeDocument/2006/relationships" id="261" r:id="R7646f6e92ad14008"/>
    <p:sldId xmlns:r="http://schemas.openxmlformats.org/officeDocument/2006/relationships" id="262" r:id="Rf81ba14dee65448e"/>
    <p:sldId xmlns:r="http://schemas.openxmlformats.org/officeDocument/2006/relationships" id="263" r:id="R7b3749d70bfc4275"/>
    <p:sldId xmlns:r="http://schemas.openxmlformats.org/officeDocument/2006/relationships" id="264" r:id="R13887de670e24488"/>
    <p:sldId xmlns:r="http://schemas.openxmlformats.org/officeDocument/2006/relationships" id="265" r:id="R2d55de3ccb5e4468"/>
    <p:sldId xmlns:r="http://schemas.openxmlformats.org/officeDocument/2006/relationships" id="266" r:id="R323d1d4e117e4e8a"/>
    <p:sldId xmlns:r="http://schemas.openxmlformats.org/officeDocument/2006/relationships" id="267" r:id="R26679908e3984e9f"/>
    <p:sldId xmlns:r="http://schemas.openxmlformats.org/officeDocument/2006/relationships" id="268" r:id="R5b8cf67190484c6b"/>
    <p:sldId xmlns:r="http://schemas.openxmlformats.org/officeDocument/2006/relationships" id="269" r:id="Rb556762513b64b3f"/>
    <p:sldId xmlns:r="http://schemas.openxmlformats.org/officeDocument/2006/relationships" id="270" r:id="Re2a4b3e09d314a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fac99288de4641" /><Relationship Type="http://schemas.openxmlformats.org/officeDocument/2006/relationships/slideMaster" Target="/ppt/slideMasters/slideMaster1.xml" Id="R5e60dedad08e4d19" /><Relationship Type="http://schemas.openxmlformats.org/officeDocument/2006/relationships/notesMaster" Target="/ppt/notesMasters/notesMaster1.xml" Id="Rc86265d3930b4903" /><Relationship Type="http://schemas.openxmlformats.org/officeDocument/2006/relationships/presProps" Target="/ppt/presProps.xml" Id="R2aeebef9b0564dc2" /><Relationship Type="http://schemas.openxmlformats.org/officeDocument/2006/relationships/tableStyles" Target="/ppt/tableStyles.xml" Id="R4aa12a8a354d4ead" /><Relationship Type="http://schemas.openxmlformats.org/officeDocument/2006/relationships/slide" Target="/ppt/slides/slide1.xml" Id="R169a6499b3134c97" /><Relationship Type="http://schemas.openxmlformats.org/officeDocument/2006/relationships/slide" Target="/ppt/slides/slide2.xml" Id="Rdce9ec43f21a4ddf" /><Relationship Type="http://schemas.openxmlformats.org/officeDocument/2006/relationships/slide" Target="/ppt/slides/slide3.xml" Id="Rd394bbe5feb2463f" /><Relationship Type="http://schemas.openxmlformats.org/officeDocument/2006/relationships/slide" Target="/ppt/slides/slide4.xml" Id="R328e6c19b2a14637" /><Relationship Type="http://schemas.openxmlformats.org/officeDocument/2006/relationships/slide" Target="/ppt/slides/slide5.xml" Id="Rdc83393a325b4cd7" /><Relationship Type="http://schemas.openxmlformats.org/officeDocument/2006/relationships/slide" Target="/ppt/slides/slide6.xml" Id="R7646f6e92ad14008" /><Relationship Type="http://schemas.openxmlformats.org/officeDocument/2006/relationships/slide" Target="/ppt/slides/slide7.xml" Id="Rf81ba14dee65448e" /><Relationship Type="http://schemas.openxmlformats.org/officeDocument/2006/relationships/slide" Target="/ppt/slides/slide8.xml" Id="R7b3749d70bfc4275" /><Relationship Type="http://schemas.openxmlformats.org/officeDocument/2006/relationships/slide" Target="/ppt/slides/slide9.xml" Id="R13887de670e24488" /><Relationship Type="http://schemas.openxmlformats.org/officeDocument/2006/relationships/slide" Target="/ppt/slides/slide10.xml" Id="R2d55de3ccb5e4468" /><Relationship Type="http://schemas.openxmlformats.org/officeDocument/2006/relationships/slide" Target="/ppt/slides/slide11.xml" Id="R323d1d4e117e4e8a" /><Relationship Type="http://schemas.openxmlformats.org/officeDocument/2006/relationships/slide" Target="/ppt/slides/slide12.xml" Id="R26679908e3984e9f" /><Relationship Type="http://schemas.openxmlformats.org/officeDocument/2006/relationships/slide" Target="/ppt/slides/slide13.xml" Id="R5b8cf67190484c6b" /><Relationship Type="http://schemas.openxmlformats.org/officeDocument/2006/relationships/slide" Target="/ppt/slides/slide14.xml" Id="Rb556762513b64b3f" /><Relationship Type="http://schemas.openxmlformats.org/officeDocument/2006/relationships/slide" Target="/ppt/slides/slide15.xml" Id="Re2a4b3e09d314a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756448f81140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80049c11014bba" /><Relationship Type="http://schemas.openxmlformats.org/officeDocument/2006/relationships/notesMaster" Target="/ppt/notesMasters/notesMaster1.xml" Id="Rd12d50c83c414d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527270405f4421" /><Relationship Type="http://schemas.openxmlformats.org/officeDocument/2006/relationships/notesMaster" Target="/ppt/notesMasters/notesMaster1.xml" Id="R844a8e1bd1b443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c6128980394b96" /><Relationship Type="http://schemas.openxmlformats.org/officeDocument/2006/relationships/notesMaster" Target="/ppt/notesMasters/notesMaster1.xml" Id="R3223ae9d1b184a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fbb81e9ed14b5b" /><Relationship Type="http://schemas.openxmlformats.org/officeDocument/2006/relationships/notesMaster" Target="/ppt/notesMasters/notesMaster1.xml" Id="R47cdd0fc6d0849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5ea9c8764f4989" /><Relationship Type="http://schemas.openxmlformats.org/officeDocument/2006/relationships/notesMaster" Target="/ppt/notesMasters/notesMaster1.xml" Id="Rf51f1ab0d5db4e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3dd8cfad4f4ec9" /><Relationship Type="http://schemas.openxmlformats.org/officeDocument/2006/relationships/notesMaster" Target="/ppt/notesMasters/notesMaster1.xml" Id="R7223e679428647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b2269218eb4aa3" /><Relationship Type="http://schemas.openxmlformats.org/officeDocument/2006/relationships/notesMaster" Target="/ppt/notesMasters/notesMaster1.xml" Id="R21143d6c087e4e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cf71d3b72c4098" /><Relationship Type="http://schemas.openxmlformats.org/officeDocument/2006/relationships/notesMaster" Target="/ppt/notesMasters/notesMaster1.xml" Id="Re767b11943474e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ff9b919e694335" /><Relationship Type="http://schemas.openxmlformats.org/officeDocument/2006/relationships/notesMaster" Target="/ppt/notesMasters/notesMaster1.xml" Id="Ra203508ef10c43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6934f08fac46b0" /><Relationship Type="http://schemas.openxmlformats.org/officeDocument/2006/relationships/notesMaster" Target="/ppt/notesMasters/notesMaster1.xml" Id="Re33cc15062b143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6c0614e7a943ef" /><Relationship Type="http://schemas.openxmlformats.org/officeDocument/2006/relationships/notesMaster" Target="/ppt/notesMasters/notesMaster1.xml" Id="R76148954570e46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e1bcccaa1f4b7f" /><Relationship Type="http://schemas.openxmlformats.org/officeDocument/2006/relationships/notesMaster" Target="/ppt/notesMasters/notesMaster1.xml" Id="R7f04ea867ce14e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f9630d3cd04f29" /><Relationship Type="http://schemas.openxmlformats.org/officeDocument/2006/relationships/notesMaster" Target="/ppt/notesMasters/notesMaster1.xml" Id="Rb254f929337f4b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bd00a3fee4499c" /><Relationship Type="http://schemas.openxmlformats.org/officeDocument/2006/relationships/notesMaster" Target="/ppt/notesMasters/notesMaster1.xml" Id="Rfb430e76b67342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6945dd1783400a" /><Relationship Type="http://schemas.openxmlformats.org/officeDocument/2006/relationships/notesMaster" Target="/ppt/notesMasters/notesMaster1.xml" Id="Rb25ff77b71fa41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Magandang araw. This presentation introduces iScan, the four civil registry modules, and the complete path from a scanned document to a protected, searchable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Ito ang outline. Uunahin natin ang purpose and modules, then the system map, the record workflow, the security and recovery controls, and finally the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Simple lang: iScan keeps the record information and the scanned document connected. It gives the office one repeatable process instead of separate paper, folders, and spreadsheets.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Dito makikita ang reason for the system. The benefit is not only faster encoding; it is also a more reliable way to find, verify, and account for every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four core modules. Kahit anong certificate type, the staff follow the same pattern for capture, encoding, review, approval, search, and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system map. The browser sends requests to the PHP application on the NAS; MariaDB stores structured values and the PDF archive stores the documents. Online and local LAN access use the same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flow to remember. The document is captured, encoded, checked against the PDF, routed through the approval role, and archived. Rejected or reopened records remain traceable.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Staff can scan from the Epson DS-530 II or select a PDF. The system validates the upload, then OCR can suggest values; the encoder still checks every extracted value before saving.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Auto-save is only a recovery aid. If the browser closes or the laptop restarts, the draft can be restored; the official database record exists only after Save succeeds. The default inactivity timeout is 60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creates the folder path from the record. Staff can browse by type, year, and last name, while the database remains the source of truth for the official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Search can use the name, registry number, date, folder, or location. The reviewer then compares the original PDF with the encoded fields before approving the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active controls include five login attempts within five minutes, a default 60-minute inactivity timeout, and role-based access. Permanent deletion is Admin-only; soft deletion goes to Trash first. The system also uses bcrypt password hashing, CSRF protection, prepared SQL, MIME/path checks, security logs, and audit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Backups create a recovery point for both database and PDFs. If internet access is unavailable, staff can continue through the NAS local address; remote access returns when connectivity is restored.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acknowledges the other screens without interrupting the main story: advanced search, archives, device and user administration, reports, linking, family relations, notes, and maintenance tools. They support the same core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demo, follow this exact order: dashboard, record creation, auto-save, scan or upload, Folder Browser, search and verification, then security logs and deletion policy. That order makes the value easy to follow for the audience.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46473cdca4b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56c43a9eef47f4" /><Relationship Type="http://schemas.openxmlformats.org/officeDocument/2006/relationships/slideLayout" Target="/ppt/slideLayouts/slideLayout1.xml" Id="R896cfd1e8a4147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6cfd1e8a4147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e7b9ba4bf4266" /><Relationship Type="http://schemas.openxmlformats.org/officeDocument/2006/relationships/image" Target="/ppt/media/image.png" Id="Rcce53b5b951d4acb" /><Relationship Type="http://schemas.openxmlformats.org/officeDocument/2006/relationships/notesSlide" Target="/ppt/notesSlides/notesSlide1.xml" Id="Rbaca4cfc668e4f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516f70da24fac" /><Relationship Type="http://schemas.openxmlformats.org/officeDocument/2006/relationships/notesSlide" Target="/ppt/notesSlides/notesSlide2.xml" Id="R96d3e3af34ab45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7d4a77eef4ce6" /><Relationship Type="http://schemas.openxmlformats.org/officeDocument/2006/relationships/notesSlide" Target="/ppt/notesSlides/notesSlide3.xml" Id="Redfe1566f5b244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a83c1017c4afb" /><Relationship Type="http://schemas.openxmlformats.org/officeDocument/2006/relationships/notesSlide" Target="/ppt/notesSlides/notesSlide4.xml" Id="R05271f3911ec4f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627a8b73a4d46" /><Relationship Type="http://schemas.openxmlformats.org/officeDocument/2006/relationships/notesSlide" Target="/ppt/notesSlides/notesSlide5.xml" Id="R5d0951832a0b46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ebb6b13704092" /><Relationship Type="http://schemas.openxmlformats.org/officeDocument/2006/relationships/notesSlide" Target="/ppt/notesSlides/notesSlide6.xml" Id="R3d04a58fe77a4e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d9344f06947b2" /><Relationship Type="http://schemas.openxmlformats.org/officeDocument/2006/relationships/notesSlide" Target="/ppt/notesSlides/notesSlide7.xml" Id="Rca69c6a2988b49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213a43cf14c18" /><Relationship Type="http://schemas.openxmlformats.org/officeDocument/2006/relationships/image" Target="/ppt/media/image2.png" Id="R7a0aa94617ed4ace" /><Relationship Type="http://schemas.openxmlformats.org/officeDocument/2006/relationships/notesSlide" Target="/ppt/notesSlides/notesSlide8.xml" Id="R6e4e7420b48f4d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ceec7c26a441a" /><Relationship Type="http://schemas.openxmlformats.org/officeDocument/2006/relationships/image" Target="/ppt/media/image3.png" Id="R7e0cf1c8a5d646f5" /><Relationship Type="http://schemas.openxmlformats.org/officeDocument/2006/relationships/notesSlide" Target="/ppt/notesSlides/notesSlide9.xml" Id="Ra832d3ec762940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10aec7a60450a" /><Relationship Type="http://schemas.openxmlformats.org/officeDocument/2006/relationships/image" Target="/ppt/media/image4.png" Id="R4739476d9e174fbd" /><Relationship Type="http://schemas.openxmlformats.org/officeDocument/2006/relationships/notesSlide" Target="/ppt/notesSlides/notesSlide10.xml" Id="R9ab3ccecff4e4e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cc734151c4f40" /><Relationship Type="http://schemas.openxmlformats.org/officeDocument/2006/relationships/notesSlide" Target="/ppt/notesSlides/notesSlide11.xml" Id="R0bd7f3df3b7f4e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2e71e42f04c3b" /><Relationship Type="http://schemas.openxmlformats.org/officeDocument/2006/relationships/image" Target="/ppt/media/image5.png" Id="Rb0fe61f79ecb4a37" /><Relationship Type="http://schemas.openxmlformats.org/officeDocument/2006/relationships/notesSlide" Target="/ppt/notesSlides/notesSlide12.xml" Id="Rd509a4ad4ea443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7cdd96d8e4333" /><Relationship Type="http://schemas.openxmlformats.org/officeDocument/2006/relationships/image" Target="/ppt/media/image6.png" Id="Ra7b5d85b023b4386" /><Relationship Type="http://schemas.openxmlformats.org/officeDocument/2006/relationships/notesSlide" Target="/ppt/notesSlides/notesSlide13.xml" Id="R9c740f6ec1e447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4b21dfb9c474b" /><Relationship Type="http://schemas.openxmlformats.org/officeDocument/2006/relationships/notesSlide" Target="/ppt/notesSlides/notesSlide14.xml" Id="Rab34b89fbb8c43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6085feb374e29" /><Relationship Type="http://schemas.openxmlformats.org/officeDocument/2006/relationships/notesSlide" Target="/ppt/notesSlides/notesSlide15.xml" Id="R92c17d4caac643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F561E-F246-4432-BFF0-46CFC22D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53b5b951d4acb"/>
          <a:stretch xmlns:a="http://schemas.openxmlformats.org/drawingml/2006/main"/>
        </p:blipFill>
        <p:spPr>
          <a:xfrm xmlns:a="http://schemas.openxmlformats.org/drawingml/2006/main">
            <a:off x="990600" y="1172957"/>
            <a:ext cx="2781300" cy="2759486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5E840-E995-4A33-AB35-1C3A37A5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66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iScan CRDMS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4E1AA-7DE0-4221-9153-726ABF80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695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BFD0E7"/>
                </a:solidFill>
                <a:latin typeface="Arial"/>
                <a:ea typeface="Arial"/>
                <a:cs typeface="Arial"/>
              </a:rPr>
              <a:t>Civil Registry Records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2126E-3179-443F-8A7E-99675134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861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0E7"/>
                </a:solidFill>
                <a:latin typeface="Arial"/>
                <a:ea typeface="Arial"/>
                <a:cs typeface="Arial"/>
              </a:rPr>
              <a:t>A guided introduction to the records, workflow, and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96E5C-DBAE-407C-8ABF-332C7DC7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95750"/>
            <a:ext cx="3429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17773-7C37-4AE8-A6A7-8DACB988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95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MUNICIPAL CIVIL REGISTRAR'S OFFICE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0E3B5-5B5A-416F-A1A6-8E24C42F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14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Municipality of Baggao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BADC4-AFDD-477D-8646-D78CAD3E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CC7B2-11AA-4925-818A-3CB23AF8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1127990831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913D48-5C83-4874-B35B-D31FB58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CFA3D-EA6A-4FE4-85B1-290825C8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What we will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D4DC5-826E-4C0C-804A-EF27A190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4BE8E-7552-4FC6-BCB8-38FBE2D5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presentation follows the same order a staff member follows in the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D2EE1-9015-4643-914E-E199FB1B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238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C7F54-ABA9-4E77-8120-1D6A0AD9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52387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C24F7-0542-4E9F-8D91-E7DB3636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600C3-639C-4269-954F-27B65778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D8702-43E7-47CA-BFD9-CA6E70DE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1FF28-15F1-4B97-A151-E1463EB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31412-12B5-4CE8-88DE-8D33632E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194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What problem iScan solves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176EE-F4E5-444F-8CCD-4AE080E5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AE724-776E-4214-9BCB-1DB7A21B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C2DBE-CE33-4778-926F-4AF2010D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671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Core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0E240-4275-4DB5-ACC4-7FBC5C70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719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four civil registry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169C4-A570-47C3-948B-78F730B2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7B61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1B416-E8E5-493C-8088-F6D06F07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E6553-9343-4C7A-96EE-E4E79A5B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19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System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2D564-33F1-484F-80D5-B8FBCCDC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244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Browser, NAS, database, archive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37552-81C3-4480-AEBC-08B9AC33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84B89-5B7E-4BE3-9B7B-491E98E8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9562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B63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B625E-6397-416F-AE1D-0A2F8EDB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95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D107D-C293-48E5-9499-E302F3A2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14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Record workflow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BC841-29DE-43DF-964A-DC1567C8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194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Capture to archive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FD376E-AB5F-4624-9D2A-4D6358D9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4812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557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883CFC-D41D-4016-862D-5C4F22F3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481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325D3-F508-484A-A83B-6987302A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671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476229-76C3-4C13-8353-2219D4F3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719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Security, backup, continuity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2CA90B-2184-42CA-8ED2-8C869584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00625"/>
            <a:ext cx="457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4A7D83-E1F1-4EFC-9AFD-64AE606B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0006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EA18DF-9210-494D-B1DD-B24E29B3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196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AE5604-240F-4396-B7CA-2801F6AB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3244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Show the real screens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6F61D9-0C44-4DC0-B436-E02618DA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95389F-E955-4651-AB0F-6E3B961E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30134245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061ED-9324-4ABD-BF05-BF1BC0A5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4CE75-B55C-4B0B-912B-9EDBC27D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What is iScan CRDMS?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D379E-F778-4487-837A-7BFD3E1C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5E42D-7606-4E31-B743-0B22DAFC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A single browser-based workspace for civil registry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EB51F-BB86-4C29-89D4-5AE4AF02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857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12C0D-64D4-4EB1-B82B-AAE757D1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office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038ED-9BB2-47CC-8BC9-2424F49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BFD0E7"/>
                </a:solidFill>
                <a:latin typeface="Arial"/>
                <a:ea typeface="Arial"/>
                <a:cs typeface="Arial"/>
              </a:rPr>
              <a:t>Encode the record, link its PDF, route it for review, and find it again when needed.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E8C85-1E81-4DCA-ADD1-35782607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529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221F6-9A9E-4EF5-8090-40E39B88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52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+ NAS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4A34F-1C48-43C5-8F25-C4539CF6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334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0F8ED-38B9-409C-AA46-AB7348A3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Designed for daily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477E7-1D3E-4098-86AA-206134A9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Less searching through paper and loose PDFs.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D9E86-6372-4D59-913B-23DD8EA2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Clear ownership of every important 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23FB7-9BDC-4AE8-8F06-B1B03558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Local operation with remote access when available.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9C63B-369A-4AF6-992E-876DD7BA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The goal: a record that is easy to create, retrieve, verify, and protect.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52885-FF5B-4958-8884-C3972CA5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7C8FF-F4D2-4101-9D75-F671DE04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457343679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FB441-A98A-4403-8616-E535A6E1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1CB55-DBD9-44BC-A062-18631318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From scattered files to an accountable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467C7-D2C4-49BC-907C-AFB58BCE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7CA29-D074-405F-BE8A-BF20B032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system solves a records-handling problem before it becomes a retrieval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17816-C424-4355-B0B4-41275C85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4F0"/>
          </a:solidFill>
          <a:ln xmlns:a="http://schemas.openxmlformats.org/drawingml/2006/main" w="19050">
            <a:solidFill>
              <a:srgbClr val="F3A28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95187-68A2-478C-B284-33913975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47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63C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63C2B"/>
                </a:solidFill>
                <a:latin typeface="Arial"/>
                <a:ea typeface="Arial"/>
                <a:cs typeface="Arial"/>
              </a:rPr>
              <a:t>Before iScan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D2CAA-55C1-4257-9BD8-C2AB13C4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733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7332C"/>
                </a:solidFill>
                <a:latin typeface="Arial"/>
                <a:ea typeface="Arial"/>
                <a:cs typeface="Arial"/>
              </a:rPr>
              <a:t>• Paper and PDFs are stored in different places.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9C582-8780-49C5-A054-86996ABF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2782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733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7332C"/>
                </a:solidFill>
                <a:latin typeface="Arial"/>
                <a:ea typeface="Arial"/>
                <a:cs typeface="Arial"/>
              </a:rPr>
              <a:t>• Finding a record depends on memory and manual checking.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F0D4C-E16C-4601-A176-02F6234F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9839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67332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7332C"/>
                </a:solidFill>
                <a:latin typeface="Arial"/>
                <a:ea typeface="Arial"/>
                <a:cs typeface="Arial"/>
              </a:rPr>
              <a:t>• It is difficult to prove who changed or removed a record.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57422-1B49-4B26-A94D-DF46088F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D8D86-6F0C-4CEC-80E2-932E11A1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19050">
            <a:solidFill>
              <a:srgbClr val="17A6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1E4CD-004C-4958-B876-199784CE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47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B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B55"/>
                </a:solidFill>
                <a:latin typeface="Arial"/>
                <a:ea typeface="Arial"/>
                <a:cs typeface="Arial"/>
              </a:rPr>
              <a:t>With iScan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FC17E-2EF3-428F-997E-20F892EE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19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55C4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5C47"/>
                </a:solidFill>
                <a:latin typeface="Arial"/>
                <a:ea typeface="Arial"/>
                <a:cs typeface="Arial"/>
              </a:rPr>
              <a:t>• The record and PDF stay linked.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BAAF6-6185-40F8-B24F-FEA038BB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62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108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55C4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5C47"/>
                </a:solidFill>
                <a:latin typeface="Arial"/>
                <a:ea typeface="Arial"/>
                <a:cs typeface="Arial"/>
              </a:rPr>
              <a:t>• Search, folders, and verification use the same record.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4818E-5EE1-4A7A-B119-01B5C88A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05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203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55C4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5C47"/>
                </a:solidFill>
                <a:latin typeface="Arial"/>
                <a:ea typeface="Arial"/>
                <a:cs typeface="Arial"/>
              </a:rPr>
              <a:t>• Roles, logs, and approvals make actions accountable.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CD382-5331-4B58-A42F-568F27F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D6D63-F08F-43C9-9F12-F0CA089E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936514390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3FE4C0-E249-41DC-B658-0B1A03B4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CORE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5E7AE-CA0F-4EB0-89B0-3B1C1836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Four civil registry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E5365-6BB2-42C4-B83A-8E5E9FCF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4CAC8-6049-435A-8376-9211F35D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same controlled workflow supports each record 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65F50-C372-4C97-B1CF-603FC49C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4288">
            <a:solidFill>
              <a:srgbClr val="D8E1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61153-947F-4E7F-9876-D1DCA149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A22B5-F67C-43B5-B23E-28A18930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8E8AC-69E4-457E-AE82-DE2B99FD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52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Birth Certificate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61242-401C-4DCD-8F60-AB6884FC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527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Birth records and scanned certificates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66440-D28E-4AAD-BB1B-EE0DF5B8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4288">
            <a:solidFill>
              <a:srgbClr val="D8E1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AEE7A-886A-47C0-8F60-AD9D5BE3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DC3A1-0CFE-4A30-8FFB-39B58D95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F7D29-A56F-443D-A168-F1D02E6C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527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Death Certificate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67F31-A4AD-4ED5-894B-E2138F02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Death records and supporting documents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46F0C-DE09-4BE4-8BA0-F9E587B1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4288">
            <a:solidFill>
              <a:srgbClr val="D8E1E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4A4AA-0C33-4A76-9578-84324178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B61D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46D75-E81F-434D-84F3-9FA62965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95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61F5B-68A8-4194-938D-6170F49A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195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Marriage Certificate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2C992-2BFE-4172-93E3-CC4D06C2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196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Marriage records and 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CA950-48F9-402D-8E97-CF11EEB2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4288">
            <a:solidFill>
              <a:srgbClr val="D8E1E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38816-8DC9-41A7-ADE0-00C5FA1B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6B63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725363-DA69-4642-82B1-A7D6098E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95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109B5-FE71-4035-9039-0A752476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195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Marriage License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431BC-3F62-464B-9A1E-A21785B7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196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Marriage license applications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09085-6E56-44C2-AE96-FCA6C514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One record standard: data + PDF + workflow + audit trail.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B2F5AC-4359-4478-B2D9-2B432E40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843A32-4890-4047-9090-79F26256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841518465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1614F7-182D-41CE-928B-5734FD67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SYSTEM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5F6FF-0A16-40B7-9325-F56EC7C5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the parts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011A5-50D0-4888-BEEE-71389752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27D0F-FEA2-44D9-918C-A23D096F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0E7"/>
                </a:solidFill>
                <a:latin typeface="Arial"/>
                <a:ea typeface="Arial"/>
                <a:cs typeface="Arial"/>
              </a:rPr>
              <a:t>The browser is the work surface; the NAS is the office system of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033DB-9240-4E4D-B0DA-7548ECB3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FE730-8A66-4DFF-98D6-7D4BE3FD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Staff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72462-742D-4905-9F82-475E3DB1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forms • search • 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F5149-90AA-4133-9237-0D414E7C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1D6A5-B07B-4FD3-A208-30F6F9CC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8575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19050">
            <a:solidFill>
              <a:srgbClr val="2F6B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31699-8B5F-4462-A405-7093E947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98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Synology 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E95C1-B716-47F4-96F4-BB422703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FD0E7"/>
                </a:solidFill>
                <a:latin typeface="Arial"/>
                <a:ea typeface="Arial"/>
                <a:cs typeface="Arial"/>
              </a:rPr>
              <a:t>Web Station + PHP</a:t>
            </a:r>
          </a:p>
          <a:p xmlns:a="http://schemas.openxmlformats.org/drawingml/2006/main">
            <a:pPr algn="ctr">
              <a:defRPr sz="150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BFD0E7"/>
                </a:solidFill>
                <a:latin typeface="Arial"/>
                <a:ea typeface="Arial"/>
                <a:cs typeface="Arial"/>
              </a:rPr>
              <a:t>scanner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A19F7-CE71-4D84-9C40-A8C4AE9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0CFC2-C33E-48CF-8C7E-9C2155B3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9A764-5D69-42B0-AB7D-CA493B7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95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CBA23-A620-4CA2-BB28-ACFCE381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78357-D94A-42A1-B9F3-2F7D6570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1809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B63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1644B-3BB1-4D8F-AA38-C7AB790F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95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PDF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27F8B-71E8-46E7-A972-755DB4EC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63A"/>
                </a:solidFill>
                <a:latin typeface="Arial"/>
                <a:ea typeface="Arial"/>
                <a:cs typeface="Arial"/>
              </a:rPr>
              <a:t>uploads + backups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F9789-2D09-41C6-861E-183BC4A2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00625"/>
            <a:ext cx="857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9525">
            <a:solidFill>
              <a:srgbClr val="BFD0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1A616-15F2-40CB-A0A2-37C9F2FF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911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Online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6BC9C5-BA45-46FC-B734-BDEFE365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91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iscan.cdrms.online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D0E351-717C-48D7-94F2-72B94455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E0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E0B0"/>
                </a:solidFill>
                <a:latin typeface="Arial"/>
                <a:ea typeface="Arial"/>
                <a:cs typeface="Arial"/>
              </a:rPr>
              <a:t>Local 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27DCB-00C3-431E-9BD9-9317D43A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281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FFFFF"/>
                </a:solidFill>
                <a:latin typeface="Arial"/>
                <a:ea typeface="Arial"/>
                <a:cs typeface="Arial"/>
              </a:rPr>
              <a:t>NAS IP + Web Station 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F203B-4C53-48C7-A927-343C4B91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1396E1-A198-467E-95EF-7FC55604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188394914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3563AE-720F-4B75-8903-3499DE5C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RECORD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8D70A-E92F-46D6-8690-5A4559AD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end-to-end record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FC672-00E0-4444-BFCC-06F19886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E93A1-19D5-441F-8560-A574CE60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record becomes official only after the correct review and save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69B3C-B525-41F6-A657-448E7DBD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952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9050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A1111-A8FA-4E54-90BB-F66A0258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670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25BFC-874A-4878-9C45-F9AAE9C9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670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22384-C4E7-4CE1-A462-620E2236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33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C424D-2846-4560-BCE7-638EA5F9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95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C80"/>
                </a:solidFill>
                <a:latin typeface="Arial"/>
                <a:ea typeface="Arial"/>
                <a:cs typeface="Arial"/>
              </a:rPr>
              <a:t>Scan or 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E15BA-AA6A-4607-A049-1CBED931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48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BB278-5771-4E14-98AC-9DEECB0B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76500"/>
            <a:ext cx="1952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9050">
            <a:solidFill>
              <a:srgbClr val="17A6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392F1-29FA-45A4-A544-8890E35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670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66616-0810-4474-9F3C-A6F1E9AA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670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7962C-0B3D-40E9-837F-E69A6DC0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242A7-3329-4CDD-A038-269CF4BF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95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C80"/>
                </a:solidFill>
                <a:latin typeface="Arial"/>
                <a:ea typeface="Arial"/>
                <a:cs typeface="Arial"/>
              </a:rPr>
              <a:t>Enter record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E3875-A2E0-43B6-9A38-AD7EACF5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48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507E3-75A8-4E88-9FCD-A632AF29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476500"/>
            <a:ext cx="1952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9050">
            <a:solidFill>
              <a:srgbClr val="F6B6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E537C-65FE-4328-A34D-523947D5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6670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B63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A800A-F7A3-47DA-B6FA-F3567F0E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6670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E4676-13E7-4F1C-B5ED-E2D4A199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33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0CBF9-5D23-49F7-98FB-D34373F1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695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C80"/>
                </a:solidFill>
                <a:latin typeface="Arial"/>
                <a:ea typeface="Arial"/>
                <a:cs typeface="Arial"/>
              </a:rPr>
              <a:t>Compare PDF and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320A2-9C15-4E5E-95C8-5647A77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6B6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B63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CD7C3-F839-46B0-A567-1EFC0248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476500"/>
            <a:ext cx="1952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9050">
            <a:solidFill>
              <a:srgbClr val="7B61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DB321-E3E0-4728-8297-FF722A2C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670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B61D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D7523-5325-4C8B-9D45-FECB3600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670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1D221-2880-4567-8D2E-C6EFDBB2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33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5D78BE-A58B-4241-8ADB-CA55017B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95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C80"/>
                </a:solidFill>
                <a:latin typeface="Arial"/>
                <a:ea typeface="Arial"/>
                <a:cs typeface="Arial"/>
              </a:rPr>
              <a:t>Role-based transition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F3E65-E319-45D5-89D3-3ECAFDAE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B61D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DA57C2-E230-4D29-AF8B-3DF4F23B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476500"/>
            <a:ext cx="1952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9050">
            <a:solidFill>
              <a:srgbClr val="DD557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252BF-09F2-43D1-A925-12D5E062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67000"/>
            <a:ext cx="571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D557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9B938E-1E8F-4229-870B-07B4F37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670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C31BBA-C315-48B3-B1D6-E41864F0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333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0CF353-D2F7-44F3-98A2-1BC181BB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695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C80"/>
                </a:solidFill>
                <a:latin typeface="Arial"/>
                <a:ea typeface="Arial"/>
                <a:cs typeface="Arial"/>
              </a:rPr>
              <a:t>Searchable 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AF2563-73A2-4E7E-BB97-1D584AFE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789F66-570C-4987-B1E1-403496F8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8157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B219C2-75C9-4EB7-A131-06930B5A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345DAF-0417-41E9-BF8C-06FADE55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1834917654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FE6A1-5997-448D-902D-5A4D68CB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1640E-1994-43C3-AC19-BD065BD0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Capture: scan, upload, and OCR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D440C-88F0-4B84-AB3B-4B527FA9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1D7F8-D63C-41E6-A640-15AA822D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Paper certificates enter through the Epson DS-530 II or a browser PDF upload.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aa94617ed4ace"/>
          <a:stretch xmlns:a="http://schemas.openxmlformats.org/drawingml/2006/main"/>
        </p:blipFill>
        <p:spPr>
          <a:xfrm xmlns:a="http://schemas.openxmlformats.org/drawingml/2006/main">
            <a:off x="609600" y="2303033"/>
            <a:ext cx="5524500" cy="3109183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22F22-ACF9-4A8D-A86E-673D93CE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E1E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3F7B9-F6D9-4687-8C9C-6094E9F8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14625"/>
            <a:ext cx="419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7EFAA-1DBF-4AA3-9C11-214AF98E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146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AB0BC-CFCA-4B54-B72E-6E654F03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05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Scan or choose a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67730-92F0-4814-8252-41DB772A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76625"/>
            <a:ext cx="419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71E4F-D585-476D-9ED9-49CE82DE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766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F768D-1A85-421A-8C41-3B5B1F95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67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Validate the 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89F41-07F0-476D-B853-DD97B3B1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81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Type, size, and content checks run first.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EB1B4-87C9-403D-8736-9326375B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33875"/>
            <a:ext cx="419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B6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7451D-C9DD-423E-A93C-578147CE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338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01D85-D7D5-4315-A5FD-5C7C9CB4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Review OCR suggestions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811F6-3B93-4599-A8D9-6B717132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386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Verify every value against the original.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C3F12-E97D-4E72-BBC5-E6D92D89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2293B-CEE6-4727-9FC5-69C4B774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1191118656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62E7AD-743E-416F-8ECA-203681D2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03D7D-F6BA-4A7B-93E2-B8B58B44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Encode with recovery built 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25AAB-AC72-4419-A3A8-02F8C6AD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9D561-B387-4C84-87E4-D9AF7ABE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Auto-save protects work in progress; the database Save creates the official record.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8D9DC-73C5-4AEB-A88C-8CEEF035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8BF77-0686-4B0F-922A-38FA4BCF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1  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4CEB0-97C5-47B4-9A56-F04D274A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C80"/>
                </a:solidFill>
                <a:latin typeface="Arial"/>
                <a:ea typeface="Arial"/>
                <a:cs typeface="Arial"/>
              </a:rPr>
              <a:t>Fields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6C808-9883-46A2-97AC-5B31675C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57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31AD5-93F1-4091-AABF-A5360757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A6882-F4C7-4210-9267-9BFACC73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2  Auto-save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060B8-5D4D-40FE-A717-30031C60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C80"/>
                </a:solidFill>
                <a:latin typeface="Arial"/>
                <a:ea typeface="Arial"/>
                <a:cs typeface="Arial"/>
              </a:rPr>
              <a:t>Draft stays in browser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1B937-5E47-4E1F-BE1C-8C39EA8F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9DC25-D5F4-46E5-8F99-6B210B8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8D26E-1348-4DFF-A3A5-35CF69AD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479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3  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4109A-103E-4688-B2A4-4F5CF00B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E6C80"/>
                </a:solidFill>
                <a:latin typeface="Arial"/>
                <a:ea typeface="Arial"/>
                <a:cs typeface="Arial"/>
              </a:rPr>
              <a:t>Draft can return after interruption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5F172-83B9-4414-A669-669F1FAD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ECD65-4560-43A9-87C6-C1EC0286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7C2B3-E57B-470C-8C89-38A3252B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Save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63112-919B-45B6-A9BB-9928B8F8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FD0E7"/>
                </a:solidFill>
                <a:latin typeface="Arial"/>
                <a:ea typeface="Arial"/>
                <a:cs typeface="Arial"/>
              </a:rPr>
              <a:t>Database commit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cf1c8a5d646f5"/>
          <a:stretch xmlns:a="http://schemas.openxmlformats.org/drawingml/2006/main"/>
        </p:blipFill>
        <p:spPr>
          <a:xfrm xmlns:a="http://schemas.openxmlformats.org/drawingml/2006/main">
            <a:off x="8750423" y="4333875"/>
            <a:ext cx="2454029" cy="1381125"/>
          </a:xfrm>
          <a:prstGeom xmlns:a="http://schemas.openxmlformats.org/drawingml/2006/main" prst="roundRect">
            <a:avLst>
              <a:gd name="adj" fmla="val 12414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90BE8-1684-4098-8D19-35D863A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Saved records clear their draft.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CFD60-3F13-483B-B0E7-14CA98E8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Edit mode clears stale draft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6DCAFD-D0AF-48EA-879E-029750DA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Default inactivity timeout: 60 minutes.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A648F-79B3-4548-AE32-8D2D1B3D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AE635-706F-47AA-9E98-ADE687CF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1047607339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DBDF2-227D-430F-B7B7-922BC7F0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B64CC-455C-4CBC-973D-F37EEB96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Automatic folders and Folder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D116C-B0BD-496A-9D72-CB3E39EE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B75B1-E952-46C9-8129-A24E1C2E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upload path follows the certificate type, year, and normalized last name.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3228B-AD29-45E0-85D6-FBB185AE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5334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FC446-8548-4F7C-AEEC-402B1923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birth / 1972 / TARUBAL 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D9351-A08A-42B8-B35C-ECBD614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0E7"/>
                </a:solidFill>
                <a:latin typeface="Arial"/>
                <a:ea typeface="Arial"/>
                <a:cs typeface="Arial"/>
              </a:rPr>
              <a:t>certificate.pdf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98469-58B7-4B6D-909C-FB2E5F0C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FD0E7"/>
                </a:solidFill>
                <a:latin typeface="Arial"/>
                <a:ea typeface="Arial"/>
                <a:cs typeface="Arial"/>
              </a:rPr>
              <a:t>type  /  year  /  normalized last name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9476d9e174fbd"/>
          <a:stretch xmlns:a="http://schemas.openxmlformats.org/drawingml/2006/main"/>
        </p:blipFill>
        <p:spPr>
          <a:xfrm xmlns:a="http://schemas.openxmlformats.org/drawingml/2006/main">
            <a:off x="1416844" y="5048250"/>
            <a:ext cx="1643063" cy="1095375"/>
          </a:xfrm>
          <a:prstGeom xmlns:a="http://schemas.openxmlformats.org/drawingml/2006/main" prst="roundRect">
            <a:avLst>
              <a:gd name="adj" fmla="val 1565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602DD-87E5-483D-9B8C-23D9DE1F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How browsing works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32F1E-736B-4075-AA8F-5C4D5DD0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Folder is created on first upload.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D13EC-66D5-4B77-914A-B01B4C23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Names are normalized for safe, predictable paths.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E4FBA-5D26-47AA-A1F8-FC1C040D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Folder Browser gives a visual route to the record.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E27B5-687C-4B43-84EE-982D2EEB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292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Database = source of truth  |  Folders = practical browsing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162A9-440F-482C-B290-FC1D3776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E91C5-6DC0-43E8-8331-2E4ECDA9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445267907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53D91-D983-4FE4-BB51-398BEC63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44184-E6D6-4186-A832-9C3786EE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Search, compare, and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DC859-8565-4DA1-90DE-AC1312F5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31813-5D49-4A04-BAE6-3FCDB175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Retrieval is a verification step, not only a lookup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4F0D2-A653-4B47-955F-56DFBCB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4288">
            <a:solidFill>
              <a:srgbClr val="D8E1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F4AB6-03CC-4496-95AD-D0F3892A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Search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04F5A-4F41-4E7B-B773-CEC2A061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4000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062F2-6935-4E05-88F1-77331715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Name / registry no. / date / folder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4EDC6-309D-4EB0-85E6-95A0D882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57625"/>
            <a:ext cx="1333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94055-AC4A-4688-BBDA-DB1FCBD4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5762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3982F-3437-4A9D-B54F-DEB6B0FC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Folder 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C2157-6B10-409E-9922-81E324F3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Advanced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FE28B-1009-46C0-9C57-17AC9359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334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D7EE4-3C8E-4C14-831E-01A67849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670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PDF Comparison Viewer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23147-710C-4891-9DF4-0DA4CA31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D2425-484A-47F9-9019-D97D8B69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623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30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Original</a:t>
            </a:r>
          </a:p>
          <a:p xmlns:a="http://schemas.openxmlformats.org/drawingml/2006/main">
            <a:pPr algn="ctr">
              <a:defRPr sz="210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09344-3DAB-4A9C-A9AD-1EDFA57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38500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2F783-6616-42C3-9C59-E0587FC7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623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30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210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fields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D93B5-CDDC-43F0-B79A-E5DD3932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48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FD0E7"/>
                </a:solidFill>
                <a:latin typeface="Arial"/>
                <a:ea typeface="Arial"/>
                <a:cs typeface="Arial"/>
              </a:rPr>
              <a:t>Compare before approval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58B8A-2A78-440C-A7FF-BF51396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742B7-B90F-4CFE-978E-962A3FFC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796974614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8A73D5-3CF7-4F57-A0CE-63D91810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CFC83-B488-4C89-9521-7DF440B7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Security, roles, and deletion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BDA58-3A21-45DE-BAD6-1BED5390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029D7-A65A-470C-B6C1-9D89F268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0E7"/>
                </a:solidFill>
                <a:latin typeface="Arial"/>
                <a:ea typeface="Arial"/>
                <a:cs typeface="Arial"/>
              </a:rPr>
              <a:t>Protection is layered across login, sessions, files, permissions, and logs.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e61f79ecb4a37"/>
          <a:stretch xmlns:a="http://schemas.openxmlformats.org/drawingml/2006/main"/>
        </p:blipFill>
        <p:spPr>
          <a:xfrm xmlns:a="http://schemas.openxmlformats.org/drawingml/2006/main">
            <a:off x="7953375" y="2270590"/>
            <a:ext cx="3524250" cy="1983445"/>
          </a:xfrm>
          <a:prstGeom xmlns:a="http://schemas.openxmlformats.org/drawingml/2006/main" prst="roundRect">
            <a:avLst>
              <a:gd name="adj" fmla="val 816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E3396-EF22-40A3-833F-90435470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19050">
            <a:solidFill>
              <a:srgbClr val="2F6B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8B289-29F4-4E90-86F6-B3F943CB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Rate limiting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93196-FA0C-4448-AE9D-3872EE58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FD0E7"/>
                </a:solidFill>
                <a:latin typeface="Arial"/>
                <a:ea typeface="Arial"/>
                <a:cs typeface="Arial"/>
              </a:rPr>
              <a:t>5 attempts / 5-minute window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1935A-CC0E-4141-944D-03069CC6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19050">
            <a:solidFill>
              <a:srgbClr val="17A67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074E2-2E60-47C8-9A88-BEDF3C31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336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Session timeout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005B-FC4F-45A5-8643-27340380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479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FD0E7"/>
                </a:solidFill>
                <a:latin typeface="Arial"/>
                <a:ea typeface="Arial"/>
                <a:cs typeface="Arial"/>
              </a:rPr>
              <a:t>60 minutes inactive by default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829A6-111E-4052-BA95-BD5F0FE8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19050">
            <a:solidFill>
              <a:srgbClr val="7B61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C8384-67E9-462D-9764-2AB9CFB5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290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75663-E1F5-4DF5-B4B9-3BAB63F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FD0E7"/>
                </a:solidFill>
                <a:latin typeface="Arial"/>
                <a:ea typeface="Arial"/>
                <a:cs typeface="Arial"/>
              </a:rPr>
              <a:t>Admin • Encoder • Viewer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34D04-14EC-46F2-9618-5B2AB0A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76625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19050">
            <a:solidFill>
              <a:srgbClr val="F6B63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7FC54-029E-4204-8059-58234490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29025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 logs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405BC-7A9B-44D0-95BA-23BF3A79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433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BFD0E7"/>
                </a:solidFill>
                <a:latin typeface="Arial"/>
                <a:ea typeface="Arial"/>
                <a:cs typeface="Arial"/>
              </a:rPr>
              <a:t>User • action • IP • device •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A1BFE-66E0-485C-A2A1-505D9B88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67151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19050">
            <a:solidFill>
              <a:srgbClr val="DD557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BB922-DEA1-4448-B675-53CC38B5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Permanent delete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D97A6-5048-4EC4-BDD4-AC422290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6C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6C7"/>
                </a:solidFill>
                <a:latin typeface="Arial"/>
                <a:ea typeface="Arial"/>
                <a:cs typeface="Arial"/>
              </a:rPr>
              <a:t>Admin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EBC6D-9506-43C7-A3D9-A6AC2560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38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FD0E7"/>
                </a:solidFill>
                <a:latin typeface="Arial"/>
                <a:ea typeface="Arial"/>
                <a:cs typeface="Arial"/>
              </a:rPr>
              <a:t>Soft delete → Trash → Admin restore or permanent delete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4F288-9FA5-4644-91C1-A4722CEA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6EBE7A-F0AF-46B0-9EDB-A0D5B535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142964449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3F6EC-C477-49DC-AEEC-693B7FEA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17822-1CE4-4904-9A30-FEE6ED63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Backup and online/offline continuity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92F94-D184-43D0-A48B-AC689171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59676-B0F9-4D75-906F-5C3720AF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office can recover records and keep working through a network interruption.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5d85b023b4386"/>
          <a:stretch xmlns:a="http://schemas.openxmlformats.org/drawingml/2006/main"/>
        </p:blipFill>
        <p:spPr>
          <a:xfrm xmlns:a="http://schemas.openxmlformats.org/drawingml/2006/main">
            <a:off x="720904" y="2381250"/>
            <a:ext cx="4654192" cy="2619375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16BC0-C686-4502-BEB8-2043350E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238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3A9F9-D1CD-4167-9331-DB055059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Backup and integrity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E2B69-B3C8-4660-AA80-0AF4D75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PDF and database backups support recovery.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CCCBA-D6F2-4CC1-BF34-B5F9BE76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SHA-256 detects changed or corrupted PDFs.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A5C90-7D70-4A50-9B15-17DB7CF4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5238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34AC7-21D0-435C-A717-B70F162B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Continuity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36BAB-8C2C-420C-9005-E2C9B5A3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Local LAN access works without internet.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CB1E1-964F-4F6B-AA59-21EAFFB8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• Remote Cloudflare access returns with internet.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36176-D05A-48CB-866D-C25D0CE5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A8D4C-3EA4-4BB6-B568-8AF9D252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589116521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41F9A-0667-4715-B6FA-0C6F2B98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BEYOND THE CORE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DC138-9F20-4F94-AEA7-316E84E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Supporting tools around the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3E29F-73EE-4C22-AD00-8E39A25F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7F85E-4ADF-4241-B72B-65CEBDCC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0"/>
                </a:solidFill>
                <a:latin typeface="Arial"/>
                <a:ea typeface="Arial"/>
                <a:cs typeface="Arial"/>
              </a:rPr>
              <a:t>These functions help administrators and staff manage the system at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8425A-54FB-4466-A4DC-D52460AA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1430">
            <a:solidFill>
              <a:srgbClr val="D8E1E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2F85D-0468-4C61-ABE4-4D36B24F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95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AB588-48E4-45FA-B54A-AF15D640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Search and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81987-3794-49B1-A5A7-40EF89BC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Advanced Search, analytics dashboard, records viewer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E8D2A-3378-40A4-BD5B-ED9AA807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1430">
            <a:solidFill>
              <a:srgbClr val="D8E1E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AAD8F-4E06-496C-A4F0-C748904A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95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ACA72-60F9-460A-9DB0-16332E3E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Archive and recovery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84E48-8EA0-440D-9AD2-B6CD6CA3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Archive, Trash, restore, PDF backup and integrity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2C5A0-11E3-4671-8580-BEF561FE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1430">
            <a:solidFill>
              <a:srgbClr val="D8E1E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2673C-8BD8-443C-BB5B-5A561E5D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95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65CB2-642A-4357-8D0D-C52465FB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Relationships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E19F3-9A21-4870-8FFF-D0F695F4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Double registration linking and family relations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F21C2-EA8C-4670-A6F7-5BB4813A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1430">
            <a:solidFill>
              <a:srgbClr val="D8E1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DA78A-1FBC-492D-B062-56557A0B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95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63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48DCE-06A3-44C2-B307-C734FB69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B4D7C-9BA7-47E1-AF7D-D10BD3F5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052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Batch upload, reports, export, calendar and notes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638B9-789A-4791-9B44-99D42011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1430">
            <a:solidFill>
              <a:srgbClr val="D8E1E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2E61B-96E8-4CA0-AE47-C18A6F66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95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557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1F889-4005-4394-9759-08C749DA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Administration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1E8BA-4FFC-4D89-AD0C-549A4808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Users, devices, settings, security and error logs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7643E6-60EA-4E01-83E9-CBC58D3A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5143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11430">
            <a:solidFill>
              <a:srgbClr val="D8E1E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E7587-1699-4E2E-A849-899DB8C7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95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64DD67-09F3-4105-B47E-7BAB5F60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63A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A165E0-2501-44D5-B6C8-F75CA439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E6C80"/>
                </a:solidFill>
                <a:latin typeface="Arial"/>
                <a:ea typeface="Arial"/>
                <a:cs typeface="Arial"/>
              </a:rPr>
              <a:t>Upload reconciliation and maintenance 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CAB2C-3184-4D9E-AA95-0B10B3CB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These tools support the same four civil registry records and their audit trail.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D425B-892F-456C-B3E9-555FEE1B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8FD97B-855A-433D-B395-03751128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731778554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1244A-59B6-44CF-AD69-D10E9E5B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009F0-C656-423B-83B1-5A197DDE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the system in the same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A98E1-518E-4A3F-92EF-3B1303D5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82099-45EB-49DB-BA13-D1FF8E92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0E7"/>
                </a:solidFill>
                <a:latin typeface="Arial"/>
                <a:ea typeface="Arial"/>
                <a:cs typeface="Arial"/>
              </a:rPr>
              <a:t>A clear demo follows the record instead of jumping between unrelated screens.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4DF84-1EE2-4FD6-B1A2-96F824E9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2100C-1109-40E7-894E-300908B1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5E158-1875-4739-A0BE-9B2C51A0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717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and show the role-based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9863D-1A74-4AC4-BC71-24831D4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2417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EDC8A-CEA0-4781-9EB7-1462A8C5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241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B5825-19ED-43E9-B8E1-E8B18AF2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 record and demonstrate auto-save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A9A08-A522-4EE4-936A-852FFF66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1472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AE7C4-7999-43DA-A7FE-B97E6A42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147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FB783-22FB-4378-9964-C6A86AC2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or upload a PDF and review OCR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15367-D5FB-41ED-9C27-EAEDD44C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0527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203E6-88A5-403E-99D1-2FAF7825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052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34B17-21CF-41FB-975D-4A471B04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433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Folder Browser and search the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57397-B5A3-4807-8D37-3539646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9582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B6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81EE7-2DFB-41B5-B22A-DC4916CD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958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F56E0-C9CD-457C-91C5-45BA5553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339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verification, audit log, and deletion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C4EC5-FD49-42F1-8AF4-876B546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476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448EC-72B6-491B-99CC-BFC29F36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takeaway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30273-E5BC-475A-883E-66209B40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53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Faster to encode.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Easier to find.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Safer to protect.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E3EB7-8742-48CB-8B17-1CBF4E1A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673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BFD0E7"/>
                </a:solidFill>
                <a:latin typeface="Arial"/>
                <a:ea typeface="Arial"/>
                <a:cs typeface="Arial"/>
              </a:rPr>
              <a:t>The flow is: understand → create → verify → protect → recover.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0D5FC-A56A-4D79-8561-DAA66FC1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19A39-03B1-4613-A877-CB50CD34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031195913"/>
      </p:ext>
    </p:extLst>
  </p:cSld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2026-09-09T00:15:58.6870000Z</dcterms:created>
  <dcterms:modified xsi:type="dcterms:W3CDTF">2026-09-09T00:15:58.6870000Z</dcterms:modified>
</coreProperties>
</file>